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73362" autoAdjust="0"/>
  </p:normalViewPr>
  <p:slideViewPr>
    <p:cSldViewPr snapToGrid="0">
      <p:cViewPr varScale="1">
        <p:scale>
          <a:sx n="87" d="100"/>
          <a:sy n="87" d="100"/>
        </p:scale>
        <p:origin x="1125"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 this is a hands-on technical session for developers. Today we trace the arc from single prompts to retrieval-augmented generation to full agents, then dig into the Model Context Protocol and actually build an MCP server. Frame the goal up front: by the end you should understand the agent loop, when to reach for RAG versus fine-tuning, and how MCP standardises tool access. Set expectations that we'll look at real code. Keep it conversational — ask who's already used Claude Code or Cursor to gauge the room.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blocks quickly — this is the map for the whole session. One: why single prompts hit a ceiling, and how retrieval and agents push past it. Two: the anatomy of an agent — the loop, tools, and the autonomy dial. Three: MCP as an open standard, plus a hands-on lab where we build a server. Four: what all this does to team workflows and code review. Tell them the MCP section is the practical heart of the talk and includes a live walkthrough. Promise to leave time for questions.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whole talk. A single prompt is one-shot: the model answers from frozen training data, no fresh facts and no actions. RAG adds a retrieval step so answers are grounded in your own sources at query time. Agents go further — the model plans, calls tools, observes the results, and loops until the goal is met. Stress that each step buys capability but also hands over more autonomy, which is the trade-off we manage for the rest of the session. The two arrows are the key idea: capability compounds left to right.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motivation before the solutions. A bare prompt has four hard limits: knowledge frozen at training time, no access to private context like your docs or codebase, no ability to take actions, and a finite context window you can't just stuff everything into. Give a concrete example for each — it can't know yesterday's outage, can't read your ticket system, can't run the migration, can't ingest the whole repo. Land the punchline: RAG answers the knowledge and context gaps, agents answer the action gap. Everything after this is filling in those two answers.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take the user query, embed it into a vector, search the vector store for the nearest passages, splice those into the prompt, and generate a grounded answer. Then point to the offline lane: documents are chunked, embedded, and stored ahead of time so retrieval is fast at query time. Emphasise the payoff line — no retraining, fewer hallucinations, and you can cite sources. A useful aside: retrieval quality is mostly an engineering problem — chunking and embeddings matter more than model choice. This sets up the building-blocks slide next.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is the component checklist: chunking splits sources into retrievable passages, embeddings map text to meaning vectors, the vector store does nearest-neighbour search, and reranking reorders hits so the best context lands in the prompt. Right side answers the question everyone asks — RAG versus fine-tuning. Rule of thumb: RAG for knowledge that changes, is private, or must be cited; fine-tuning for behaviour like tone, format, or a consistent skill. They're not rivals — teams often combine them. And note the trend: retrieval is becoming agentic, where the model itself decides what and when to retrieve, which bridges us into agents.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a crisp definition to hold onto: an agent is an LLM plus a loop plus tools plus a degree of autonomy. The LLM is the reasoning engine deciding what to do next; the loop repeats reason, act, observe; tools are its hands on the world; autonomy is how much it does without a human. The contrast at the bottom is the one to drive home — a chatbot answers in a single pass, an agent persists across many steps, adapting as it goes. We unpack each of these four pieces over the next few slides, starting with the loop itself.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for understanding agents. Every coding agent — Claude Code, Cursor — runs this exact cycle: assemble context, reason about the next step, act by calling a tool, observe the result, then loop. Walk the four boxes on the right in order, then highlight the loop-back arrow: it keeps going until a stop condition fires. Cover the three stop conditions on the left — goal achieved, budget or max-steps hit, or a human approval gate. Make the point that without stop conditions an agent can spin or run up cost, so they're a safety mechanism, not an afterthought.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 step made concrete. A tool is just a typed function you expose to the model, described by a JSON schema like the one on the right — a name, a description, and an input schema the model must fill in. The flow at the bottom is the contract: the model emits a structured tool_use call, your runtime executes it, and you hand back a tool_result for the next turn. The model never runs code itself — you stay in control of execution. Run through the common tools chips so they see the range: search, code execution, file and database access, HTTP, and MCP servers, which we're about to make the main event.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Autonomy is a dial, not an on-off switch. Walk the four levels: L0 the model only suggests and a human does the work; L1 human-in-the-loop, where every action needs approval; L2 supervised, where it acts and a human reviews after; L3 autonomous, running end-to-end inside guardrails. The governing principle is at the bottom — match the level to the blast radius of the action. Read-only tasks can run free at L2 or L3; anything irreversible, like deleting data or shipping to production, stays gated. Most real deployments live at L1 or L2 today. This sets up the guardrails slide later.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analogy on the left — MCP is a USB-C port for AI applications. One open protocol so any model can connect to any tool or data source, instead of writing a bespoke integration for every model-tool pair. The facts on the right: Anthropic open-sourced it and announced it in November 2024; it's built on plain JSON-RPC 2.0; and it solves the M-by-N integration explosion — M apps times N tools collapses to M plus N, because you build a connector once and reuse it everywhere. Note the ecosystem is now broad, with many servers and clients. Next we'll see how the pieces actually fit together.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roles, left to right. The host — your Claude app or IDE — runs the model and spins up one MCP client per server. The MCP servers are the connectors, each exposing tools, resources, and prompts over the protocol. And your systems are what those servers actually reach: files, databases, APIs, SaaS, dev environments. The double arrows are live MCP connections. Then the transports line at the bottom: stdio when the server runs as a local subprocess on your machine, and Streamable HTTP when it's remote. Keep this slide architectural and brief — the next two slides make it concrete with a server definition and a hands-on build.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concrete answer to 'what is a server.' It's a small program exposing three primitives: tools are model-controlled actions the model chooses to call; resources are app-controlled data the host reads in as context; prompts are user-controlled templates and reusable workflows. Knowing who controls each one is the key mental model. Walk the FastMCP code on the right — instantiate FastMCP, decorate a function with @mcp.tool(), give it a typed signature and a docstring the model reads, then mcp.run over stdio. That's a complete, working server. The payoff: define it once and any MCP client can use it — which is exactly what we'll do hands-on next.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hands-on payoff — walk it as a live demo if you can. Step one: install the SDK with pip install mcp[cli], which also gives you the dev tooling. Step two: write server.py exactly like the previous slide — FastMCP, a get_forecast function, the @mcp.tool() decorator. Step three: run it over stdio so the host can launch it as a subprocess. Step four: register it under mcpServers in the client config — show the small JSON block with command and args — then restart the client. Step five: ask a weather question and watch the model call get_forecast inside the loop. Call out 'mcp dev server.py' on the right — it opens the Inspector at localhost so you can test tools before wiring up a client. The closing line is the whole point: the same server drops into any MCP client with no per-app glue code. If short on time, demo just the Inspector.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out to the team impact. Agents now run first drafts across the software lifecycle, so the developer's job shifts from typing code to directing and verifying it. Walk the four shifts: from writing to directing, where engineers scope and delegate; parallel workstreams, with several agents drafting and testing at once; spec- and test-driven work, where clear specs become the brief; and agents moving into the pipeline itself, drafting PRs and triaging CI failures. Use the stat at the bottom as a forward marker — analysts expect roughly a third of enterprise software to have agentic capabilities by 2028, framed as illustrative of direction, not a precise forecast. This naturally raises the review question we tackle next.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shift: the bottleneck moves from writing code to reading it. Agents can open PRs faster than human review queues can absorb them, so review practices have to evolve. Walk the six tactics: keep diffs small and single-purpose so they stay reviewable; add an agentic reviewer that uses repo context to judge intent and cross-file impact; but keep humans on the merge with branch protection and sign-off. Lean on tests and evals as automated guardrails gating what ships, record provenance — which agent, which prompt, which tools produced a change — and review the spec and approach up front, not just the final diff. The theme: humans move up the stack from writing to judging.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practical checklist for rolling agents out safely — tie each item back to the autonomy dial. Scope autonomy to risk: free rein on read-only work, gates on anything irreversible. Grant least-privilege tools — only the scopes a task genuinely needs. Build observability by logging every action, tool call, and result so runs are replayable. Use evals and test harnesses to measure agents on real tasks before and after rollout. Keep human approval gates at the high-stakes steps. And manage context deliberately — curate what the agent sees, trim noise, supply the right docs. Frame these as the operational complement to everything we've covered, not bureaucracy.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through-line in five beats. One: the arc from prompts to RAG to agents — retrieval grounds the model in your data, agents let it act. Two: the loop is what makes an agent an agent — reason, act, observe, repeated until a stop condition, with tools as its hands. Three: match autonomy to risk, scoping what an agent can do to the blast radius. Four: MCP standardises the plumbing — one server exposes tools, resources, and prompts to any client, and we built one together. Five: workflows and review evolve — direct and verify more than you type, but keep humans on the merge. Close with a call to action: install the SDK, build a small server for a real tool in your stack, and wire it into your client this week. Then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2156471"/>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8"/>
        </a:solidFill>
        <a:effectLst/>
      </p:bgPr>
    </p:bg>
    <p:spTree>
      <p:nvGrpSpPr>
        <p:cNvPr id="1" name=""/>
        <p:cNvGrpSpPr/>
        <p:nvPr/>
      </p:nvGrpSpPr>
      <p:grpSpPr>
        <a:xfrm>
          <a:off x="0" y="0"/>
          <a:ext cx="0" cy="0"/>
          <a:chOff x="0" y="0"/>
          <a:chExt cx="0" cy="0"/>
        </a:xfrm>
      </p:grpSpPr>
      <p:pic>
        <p:nvPicPr>
          <p:cNvPr id="3" name="Image 1" descr="/agent/turn2/workspace/assets/spark-coral.png"/>
          <p:cNvPicPr>
            <a:picLocks noChangeAspect="1"/>
          </p:cNvPicPr>
          <p:nvPr/>
        </p:nvPicPr>
        <p:blipFill>
          <a:blip r:embed="rId3"/>
          <a:stretch>
            <a:fillRect/>
          </a:stretch>
        </p:blipFill>
        <p:spPr>
          <a:xfrm>
            <a:off x="548640" y="475488"/>
            <a:ext cx="274320" cy="274320"/>
          </a:xfrm>
          <a:prstGeom prst="rect">
            <a:avLst/>
          </a:prstGeom>
        </p:spPr>
      </p:pic>
      <p:sp>
        <p:nvSpPr>
          <p:cNvPr id="4" name="Text 0"/>
          <p:cNvSpPr/>
          <p:nvPr/>
        </p:nvSpPr>
        <p:spPr>
          <a:xfrm>
            <a:off x="914400" y="457200"/>
            <a:ext cx="5486400" cy="310896"/>
          </a:xfrm>
          <a:prstGeom prst="rect">
            <a:avLst/>
          </a:prstGeom>
          <a:noFill/>
          <a:ln/>
        </p:spPr>
        <p:txBody>
          <a:bodyPr wrap="square" lIns="0" tIns="0" rIns="0" bIns="0" rtlCol="0" anchor="ctr"/>
          <a:lstStyle/>
          <a:p>
            <a:pPr marL="0" indent="0">
              <a:buNone/>
            </a:pPr>
            <a:r>
              <a:rPr lang="en-US" sz="1100" b="1" kern="0" spc="240" dirty="0">
                <a:solidFill>
                  <a:srgbClr val="C9C4B8"/>
                </a:solidFill>
                <a:latin typeface="Arial" pitchFamily="34" charset="0"/>
                <a:ea typeface="Arial" pitchFamily="34" charset="-122"/>
                <a:cs typeface="Arial" pitchFamily="34" charset="-120"/>
              </a:rPr>
              <a:t>ANTHROPIC  ·  CLAUDE</a:t>
            </a:r>
            <a:endParaRPr lang="en-US" sz="1100" dirty="0"/>
          </a:p>
        </p:txBody>
      </p:sp>
      <p:sp>
        <p:nvSpPr>
          <p:cNvPr id="5" name="Text 1"/>
          <p:cNvSpPr/>
          <p:nvPr/>
        </p:nvSpPr>
        <p:spPr>
          <a:xfrm>
            <a:off x="566928" y="1339114"/>
            <a:ext cx="5486400" cy="329184"/>
          </a:xfrm>
          <a:prstGeom prst="rect">
            <a:avLst/>
          </a:prstGeom>
          <a:noFill/>
          <a:ln/>
        </p:spPr>
        <p:txBody>
          <a:bodyPr wrap="square" lIns="0" tIns="0" rIns="0" bIns="0" rtlCol="0" anchor="ctr"/>
          <a:lstStyle/>
          <a:p>
            <a:pPr marL="0" indent="0">
              <a:buNone/>
            </a:pPr>
            <a:r>
              <a:rPr lang="en-US" sz="1250" b="1" kern="0" spc="300" dirty="0">
                <a:solidFill>
                  <a:srgbClr val="D97757"/>
                </a:solidFill>
                <a:latin typeface="Arial" pitchFamily="34" charset="0"/>
                <a:ea typeface="Arial" pitchFamily="34" charset="-122"/>
                <a:cs typeface="Arial" pitchFamily="34" charset="-120"/>
              </a:rPr>
              <a:t>CLAUDE TRAINING</a:t>
            </a:r>
            <a:endParaRPr lang="en-US" sz="1250" dirty="0"/>
          </a:p>
        </p:txBody>
      </p:sp>
      <p:sp>
        <p:nvSpPr>
          <p:cNvPr id="6" name="Text 2"/>
          <p:cNvSpPr/>
          <p:nvPr/>
        </p:nvSpPr>
        <p:spPr>
          <a:xfrm>
            <a:off x="502920" y="1938528"/>
            <a:ext cx="7680960" cy="914400"/>
          </a:xfrm>
          <a:prstGeom prst="rect">
            <a:avLst/>
          </a:prstGeom>
          <a:noFill/>
          <a:ln/>
        </p:spPr>
        <p:txBody>
          <a:bodyPr wrap="square" lIns="0" tIns="0" rIns="0" bIns="0" rtlCol="0" anchor="ctr"/>
          <a:lstStyle/>
          <a:p>
            <a:pPr marL="0" indent="0">
              <a:buNone/>
            </a:pPr>
            <a:r>
              <a:rPr lang="en-US" sz="5000" b="1" dirty="0">
                <a:solidFill>
                  <a:srgbClr val="F0EEE6"/>
                </a:solidFill>
                <a:latin typeface="Georgia" pitchFamily="34" charset="0"/>
                <a:ea typeface="Georgia" pitchFamily="34" charset="-122"/>
                <a:cs typeface="Georgia" pitchFamily="34" charset="-120"/>
              </a:rPr>
              <a:t>From Prompts to Agents</a:t>
            </a:r>
            <a:endParaRPr lang="en-US" sz="5000" dirty="0"/>
          </a:p>
        </p:txBody>
      </p:sp>
      <p:sp>
        <p:nvSpPr>
          <p:cNvPr id="7" name="Text 3"/>
          <p:cNvSpPr/>
          <p:nvPr/>
        </p:nvSpPr>
        <p:spPr>
          <a:xfrm>
            <a:off x="548640" y="3064204"/>
            <a:ext cx="6949440" cy="457200"/>
          </a:xfrm>
          <a:prstGeom prst="rect">
            <a:avLst/>
          </a:prstGeom>
          <a:noFill/>
          <a:ln/>
        </p:spPr>
        <p:txBody>
          <a:bodyPr wrap="square" lIns="0" tIns="0" rIns="0" bIns="0" rtlCol="0" anchor="ctr"/>
          <a:lstStyle/>
          <a:p>
            <a:pPr marL="0" indent="0">
              <a:buNone/>
            </a:pPr>
            <a:r>
              <a:rPr lang="en-US" sz="2000" i="1" dirty="0">
                <a:solidFill>
                  <a:srgbClr val="D7D2C6"/>
                </a:solidFill>
                <a:latin typeface="Georgia" pitchFamily="34" charset="0"/>
                <a:ea typeface="Georgia" pitchFamily="34" charset="-122"/>
                <a:cs typeface="Georgia" pitchFamily="34" charset="-120"/>
              </a:rPr>
              <a:t>Agentic AI, RAG, and the Model Context Protocol</a:t>
            </a:r>
            <a:endParaRPr lang="en-US" sz="2000" dirty="0"/>
          </a:p>
        </p:txBody>
      </p:sp>
      <p:sp>
        <p:nvSpPr>
          <p:cNvPr id="8" name="Text 4"/>
          <p:cNvSpPr/>
          <p:nvPr/>
        </p:nvSpPr>
        <p:spPr>
          <a:xfrm>
            <a:off x="566928" y="3583484"/>
            <a:ext cx="6126480" cy="640080"/>
          </a:xfrm>
          <a:prstGeom prst="rect">
            <a:avLst/>
          </a:prstGeom>
          <a:noFill/>
          <a:ln/>
        </p:spPr>
        <p:txBody>
          <a:bodyPr wrap="square" lIns="0" tIns="0" rIns="0" bIns="0" rtlCol="0" anchor="ctr"/>
          <a:lstStyle/>
          <a:p>
            <a:pPr marL="0" indent="0">
              <a:lnSpc>
                <a:spcPct val="120000"/>
              </a:lnSpc>
              <a:buNone/>
            </a:pPr>
            <a:r>
              <a:rPr lang="en-US" sz="1250" dirty="0">
                <a:solidFill>
                  <a:srgbClr val="A8A398"/>
                </a:solidFill>
                <a:latin typeface="Arial" pitchFamily="34" charset="0"/>
                <a:ea typeface="Arial" pitchFamily="34" charset="-122"/>
                <a:cs typeface="Arial" pitchFamily="34" charset="-120"/>
              </a:rPr>
              <a:t>A hands-on technical session for Engineers — the agent loop, tools, retrieval, and building MCP servers.</a:t>
            </a:r>
            <a:endParaRPr lang="en-US" sz="1250" dirty="0"/>
          </a:p>
        </p:txBody>
      </p:sp>
      <p:sp>
        <p:nvSpPr>
          <p:cNvPr id="9" name="Shape 5"/>
          <p:cNvSpPr/>
          <p:nvPr/>
        </p:nvSpPr>
        <p:spPr>
          <a:xfrm>
            <a:off x="566928" y="4572000"/>
            <a:ext cx="7955280" cy="0"/>
          </a:xfrm>
          <a:prstGeom prst="line">
            <a:avLst/>
          </a:prstGeom>
          <a:noFill/>
          <a:ln w="12700">
            <a:solidFill>
              <a:srgbClr val="3A3833"/>
            </a:solidFill>
            <a:prstDash val="solid"/>
          </a:ln>
        </p:spPr>
        <p:txBody>
          <a:bodyPr/>
          <a:lstStyle/>
          <a:p>
            <a:endParaRPr lang="en-IN"/>
          </a:p>
        </p:txBody>
      </p:sp>
      <p:sp>
        <p:nvSpPr>
          <p:cNvPr id="10" name="Text 6"/>
          <p:cNvSpPr/>
          <p:nvPr/>
        </p:nvSpPr>
        <p:spPr>
          <a:xfrm>
            <a:off x="566928" y="4617720"/>
            <a:ext cx="7955280" cy="310896"/>
          </a:xfrm>
          <a:prstGeom prst="rect">
            <a:avLst/>
          </a:prstGeom>
          <a:noFill/>
          <a:ln/>
        </p:spPr>
        <p:txBody>
          <a:bodyPr wrap="square" lIns="0" tIns="0" rIns="0" bIns="0" rtlCol="0" anchor="ctr"/>
          <a:lstStyle/>
          <a:p>
            <a:pPr marL="0" indent="0">
              <a:buNone/>
            </a:pPr>
            <a:r>
              <a:rPr lang="en-US" sz="1050" b="1" kern="0" spc="150" dirty="0">
                <a:solidFill>
                  <a:srgbClr val="8A867C"/>
                </a:solidFill>
                <a:latin typeface="Arial" pitchFamily="34" charset="0"/>
                <a:ea typeface="Arial" pitchFamily="34" charset="-122"/>
                <a:cs typeface="Arial" pitchFamily="34" charset="-120"/>
              </a:rPr>
              <a:t>Prompts  →  RAG  →  Agents  →  MCP</a:t>
            </a:r>
            <a:endParaRPr lang="en-US" sz="1050" dirty="0"/>
          </a:p>
        </p:txBody>
      </p:sp>
    </p:spTree>
  </p:cSld>
  <p:clrMapOvr>
    <a:masterClrMapping/>
  </p:clrMapOvr>
  <mc:AlternateContent xmlns:mc="http://schemas.openxmlformats.org/markup-compatibility/2006" xmlns:p14="http://schemas.microsoft.com/office/powerpoint/2010/main">
    <mc:Choice Requires="p14">
      <p:transition spd="slow" p14:dur="2000" advTm="42119"/>
    </mc:Choice>
    <mc:Fallback xmlns="">
      <p:transition spd="slow" advTm="4211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EEE6"/>
        </a:solidFill>
        <a:effectLst/>
      </p:bgPr>
    </p:bg>
    <p:spTree>
      <p:nvGrpSpPr>
        <p:cNvPr id="1" name=""/>
        <p:cNvGrpSpPr/>
        <p:nvPr/>
      </p:nvGrpSpPr>
      <p:grpSpPr>
        <a:xfrm>
          <a:off x="0" y="0"/>
          <a:ext cx="0" cy="0"/>
          <a:chOff x="0" y="0"/>
          <a:chExt cx="0" cy="0"/>
        </a:xfrm>
      </p:grpSpPr>
      <p:pic>
        <p:nvPicPr>
          <p:cNvPr id="2" name="Image 0" descr="/agent/turn2/workspace/assets/spark-coral.png"/>
          <p:cNvPicPr>
            <a:picLocks noChangeAspect="1"/>
          </p:cNvPicPr>
          <p:nvPr/>
        </p:nvPicPr>
        <p:blipFill>
          <a:blip r:embed="rId3"/>
          <a:stretch>
            <a:fillRect/>
          </a:stretch>
        </p:blipFill>
        <p:spPr>
          <a:xfrm>
            <a:off x="502920" y="457200"/>
            <a:ext cx="237744" cy="237744"/>
          </a:xfrm>
          <a:prstGeom prst="rect">
            <a:avLst/>
          </a:prstGeom>
        </p:spPr>
      </p:pic>
      <p:sp>
        <p:nvSpPr>
          <p:cNvPr id="3" name="Text 0"/>
          <p:cNvSpPr/>
          <p:nvPr/>
        </p:nvSpPr>
        <p:spPr>
          <a:xfrm>
            <a:off x="841248" y="429768"/>
            <a:ext cx="7315200" cy="292608"/>
          </a:xfrm>
          <a:prstGeom prst="rect">
            <a:avLst/>
          </a:prstGeom>
          <a:noFill/>
          <a:ln/>
        </p:spPr>
        <p:txBody>
          <a:bodyPr wrap="square" lIns="0" tIns="0" rIns="0" bIns="0" rtlCol="0" anchor="ctr"/>
          <a:lstStyle/>
          <a:p>
            <a:pPr marL="0" indent="0" algn="l">
              <a:buNone/>
            </a:pPr>
            <a:r>
              <a:rPr lang="en-US" sz="1150" b="1" kern="0" spc="220" dirty="0">
                <a:solidFill>
                  <a:srgbClr val="B3522F"/>
                </a:solidFill>
                <a:latin typeface="Arial" pitchFamily="34" charset="0"/>
                <a:ea typeface="Arial" pitchFamily="34" charset="-122"/>
                <a:cs typeface="Arial" pitchFamily="34" charset="-120"/>
              </a:rPr>
              <a:t>SESSION OVERVIEW</a:t>
            </a:r>
            <a:endParaRPr lang="en-US" sz="1150" dirty="0"/>
          </a:p>
        </p:txBody>
      </p:sp>
      <p:sp>
        <p:nvSpPr>
          <p:cNvPr id="4" name="Text 1"/>
          <p:cNvSpPr/>
          <p:nvPr/>
        </p:nvSpPr>
        <p:spPr>
          <a:xfrm>
            <a:off x="484632" y="749808"/>
            <a:ext cx="8183880" cy="777240"/>
          </a:xfrm>
          <a:prstGeom prst="rect">
            <a:avLst/>
          </a:prstGeom>
          <a:noFill/>
          <a:ln/>
        </p:spPr>
        <p:txBody>
          <a:bodyPr wrap="square" lIns="0" tIns="0" rIns="0" bIns="0" rtlCol="0" anchor="t"/>
          <a:lstStyle/>
          <a:p>
            <a:pPr marL="0" indent="0" algn="l">
              <a:buNone/>
            </a:pPr>
            <a:r>
              <a:rPr lang="en-US" sz="3100" b="1" dirty="0">
                <a:solidFill>
                  <a:srgbClr val="1A1A18"/>
                </a:solidFill>
                <a:latin typeface="Georgia" pitchFamily="34" charset="0"/>
                <a:ea typeface="Georgia" pitchFamily="34" charset="-122"/>
                <a:cs typeface="Georgia" pitchFamily="34" charset="-120"/>
              </a:rPr>
              <a:t>What we'll cover</a:t>
            </a:r>
            <a:endParaRPr lang="en-US" sz="3100" dirty="0"/>
          </a:p>
        </p:txBody>
      </p:sp>
      <p:sp>
        <p:nvSpPr>
          <p:cNvPr id="5" name="Shape 2"/>
          <p:cNvSpPr/>
          <p:nvPr/>
        </p:nvSpPr>
        <p:spPr>
          <a:xfrm>
            <a:off x="502920" y="4754880"/>
            <a:ext cx="8138160" cy="0"/>
          </a:xfrm>
          <a:prstGeom prst="line">
            <a:avLst/>
          </a:prstGeom>
          <a:noFill/>
          <a:ln w="12700">
            <a:solidFill>
              <a:srgbClr val="DAD6C8"/>
            </a:solidFill>
            <a:prstDash val="solid"/>
          </a:ln>
        </p:spPr>
        <p:txBody>
          <a:bodyPr/>
          <a:lstStyle/>
          <a:p>
            <a:endParaRPr lang="en-IN"/>
          </a:p>
        </p:txBody>
      </p:sp>
      <p:sp>
        <p:nvSpPr>
          <p:cNvPr id="6" name="Text 3"/>
          <p:cNvSpPr/>
          <p:nvPr/>
        </p:nvSpPr>
        <p:spPr>
          <a:xfrm>
            <a:off x="502920" y="4791456"/>
            <a:ext cx="5486400" cy="274320"/>
          </a:xfrm>
          <a:prstGeom prst="rect">
            <a:avLst/>
          </a:prstGeom>
          <a:noFill/>
          <a:ln/>
        </p:spPr>
        <p:txBody>
          <a:bodyPr wrap="square" lIns="0" tIns="0" rIns="0" bIns="0" rtlCol="0" anchor="ctr"/>
          <a:lstStyle/>
          <a:p>
            <a:pPr marL="0" indent="0" algn="l">
              <a:buNone/>
            </a:pPr>
            <a:r>
              <a:rPr lang="en-US" sz="850" dirty="0">
                <a:solidFill>
                  <a:srgbClr val="6B6862"/>
                </a:solidFill>
                <a:latin typeface="Arial" pitchFamily="34" charset="0"/>
                <a:ea typeface="Arial" pitchFamily="34" charset="-122"/>
                <a:cs typeface="Arial" pitchFamily="34" charset="-120"/>
              </a:rPr>
              <a:t>Claude Training  ·  From Prompts to Agents</a:t>
            </a:r>
            <a:endParaRPr lang="en-US" sz="850" dirty="0"/>
          </a:p>
        </p:txBody>
      </p:sp>
      <p:sp>
        <p:nvSpPr>
          <p:cNvPr id="7" name="Text 4"/>
          <p:cNvSpPr/>
          <p:nvPr/>
        </p:nvSpPr>
        <p:spPr>
          <a:xfrm>
            <a:off x="8183880" y="4791456"/>
            <a:ext cx="457200" cy="274320"/>
          </a:xfrm>
          <a:prstGeom prst="rect">
            <a:avLst/>
          </a:prstGeom>
          <a:noFill/>
          <a:ln/>
        </p:spPr>
        <p:txBody>
          <a:bodyPr wrap="square" lIns="0" tIns="0" rIns="0" bIns="0" rtlCol="0" anchor="ctr"/>
          <a:lstStyle/>
          <a:p>
            <a:pPr marL="0" indent="0" algn="r">
              <a:buNone/>
            </a:pPr>
            <a:r>
              <a:rPr lang="en-US" sz="850" b="1" dirty="0">
                <a:solidFill>
                  <a:srgbClr val="6B6862"/>
                </a:solidFill>
                <a:latin typeface="Arial" pitchFamily="34" charset="0"/>
                <a:ea typeface="Arial" pitchFamily="34" charset="-122"/>
                <a:cs typeface="Arial" pitchFamily="34" charset="-120"/>
              </a:rPr>
              <a:t>01</a:t>
            </a:r>
            <a:endParaRPr lang="en-US" sz="850" dirty="0"/>
          </a:p>
        </p:txBody>
      </p:sp>
      <p:sp>
        <p:nvSpPr>
          <p:cNvPr id="8" name="Shape 5"/>
          <p:cNvSpPr/>
          <p:nvPr/>
        </p:nvSpPr>
        <p:spPr>
          <a:xfrm>
            <a:off x="502920" y="1755648"/>
            <a:ext cx="3913632" cy="1481328"/>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9" name="Text 6"/>
          <p:cNvSpPr/>
          <p:nvPr/>
        </p:nvSpPr>
        <p:spPr>
          <a:xfrm>
            <a:off x="758952" y="1938528"/>
            <a:ext cx="1097280" cy="640080"/>
          </a:xfrm>
          <a:prstGeom prst="rect">
            <a:avLst/>
          </a:prstGeom>
          <a:noFill/>
          <a:ln/>
        </p:spPr>
        <p:txBody>
          <a:bodyPr wrap="square" lIns="0" tIns="0" rIns="0" bIns="0" rtlCol="0" anchor="ctr"/>
          <a:lstStyle/>
          <a:p>
            <a:pPr marL="0" indent="0">
              <a:buNone/>
            </a:pPr>
            <a:r>
              <a:rPr lang="en-US" sz="3400" b="1" dirty="0">
                <a:solidFill>
                  <a:srgbClr val="D97757"/>
                </a:solidFill>
                <a:latin typeface="Georgia" pitchFamily="34" charset="0"/>
                <a:ea typeface="Georgia" pitchFamily="34" charset="-122"/>
                <a:cs typeface="Georgia" pitchFamily="34" charset="-120"/>
              </a:rPr>
              <a:t>01</a:t>
            </a:r>
            <a:endParaRPr lang="en-US" sz="3400" dirty="0"/>
          </a:p>
        </p:txBody>
      </p:sp>
      <p:sp>
        <p:nvSpPr>
          <p:cNvPr id="10" name="Text 7"/>
          <p:cNvSpPr/>
          <p:nvPr/>
        </p:nvSpPr>
        <p:spPr>
          <a:xfrm>
            <a:off x="1737360" y="1993392"/>
            <a:ext cx="2496312" cy="457200"/>
          </a:xfrm>
          <a:prstGeom prst="rect">
            <a:avLst/>
          </a:prstGeom>
          <a:noFill/>
          <a:ln/>
        </p:spPr>
        <p:txBody>
          <a:bodyPr wrap="square" lIns="0" tIns="0" rIns="0" bIns="0" rtlCol="0" anchor="ctr"/>
          <a:lstStyle/>
          <a:p>
            <a:pPr marL="0" indent="0">
              <a:buNone/>
            </a:pPr>
            <a:r>
              <a:rPr lang="en-US" sz="1650" b="1" dirty="0">
                <a:solidFill>
                  <a:srgbClr val="1A1A18"/>
                </a:solidFill>
                <a:latin typeface="Georgia" pitchFamily="34" charset="0"/>
                <a:ea typeface="Georgia" pitchFamily="34" charset="-122"/>
                <a:cs typeface="Georgia" pitchFamily="34" charset="-120"/>
              </a:rPr>
              <a:t>From prompts to RAG &amp; agents</a:t>
            </a:r>
            <a:endParaRPr lang="en-US" sz="1650" dirty="0"/>
          </a:p>
        </p:txBody>
      </p:sp>
      <p:sp>
        <p:nvSpPr>
          <p:cNvPr id="11" name="Text 8"/>
          <p:cNvSpPr/>
          <p:nvPr/>
        </p:nvSpPr>
        <p:spPr>
          <a:xfrm>
            <a:off x="1737360" y="2468880"/>
            <a:ext cx="2496312" cy="640080"/>
          </a:xfrm>
          <a:prstGeom prst="rect">
            <a:avLst/>
          </a:prstGeom>
          <a:noFill/>
          <a:ln/>
        </p:spPr>
        <p:txBody>
          <a:bodyPr wrap="square" lIns="0" tIns="0" rIns="0" bIns="0" rtlCol="0" anchor="ctr"/>
          <a:lstStyle/>
          <a:p>
            <a:pPr marL="0" indent="0">
              <a:lnSpc>
                <a:spcPct val="112000"/>
              </a:lnSpc>
              <a:buNone/>
            </a:pPr>
            <a:r>
              <a:rPr lang="en-US" sz="1100" dirty="0">
                <a:solidFill>
                  <a:srgbClr val="6B6862"/>
                </a:solidFill>
                <a:latin typeface="Arial" pitchFamily="34" charset="0"/>
                <a:ea typeface="Arial" pitchFamily="34" charset="-122"/>
                <a:cs typeface="Arial" pitchFamily="34" charset="-120"/>
              </a:rPr>
              <a:t>Why single prompts hit limits, and how retrieval and agents extend them.</a:t>
            </a:r>
            <a:endParaRPr lang="en-US" sz="1100" dirty="0"/>
          </a:p>
        </p:txBody>
      </p:sp>
      <p:sp>
        <p:nvSpPr>
          <p:cNvPr id="12" name="Shape 9"/>
          <p:cNvSpPr/>
          <p:nvPr/>
        </p:nvSpPr>
        <p:spPr>
          <a:xfrm>
            <a:off x="4727448" y="1755648"/>
            <a:ext cx="3913632" cy="1481328"/>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3" name="Text 10"/>
          <p:cNvSpPr/>
          <p:nvPr/>
        </p:nvSpPr>
        <p:spPr>
          <a:xfrm>
            <a:off x="4983480" y="1938528"/>
            <a:ext cx="1097280" cy="640080"/>
          </a:xfrm>
          <a:prstGeom prst="rect">
            <a:avLst/>
          </a:prstGeom>
          <a:noFill/>
          <a:ln/>
        </p:spPr>
        <p:txBody>
          <a:bodyPr wrap="square" lIns="0" tIns="0" rIns="0" bIns="0" rtlCol="0" anchor="ctr"/>
          <a:lstStyle/>
          <a:p>
            <a:pPr marL="0" indent="0">
              <a:buNone/>
            </a:pPr>
            <a:r>
              <a:rPr lang="en-US" sz="3400" b="1" dirty="0">
                <a:solidFill>
                  <a:srgbClr val="D97757"/>
                </a:solidFill>
                <a:latin typeface="Georgia" pitchFamily="34" charset="0"/>
                <a:ea typeface="Georgia" pitchFamily="34" charset="-122"/>
                <a:cs typeface="Georgia" pitchFamily="34" charset="-120"/>
              </a:rPr>
              <a:t>02</a:t>
            </a:r>
            <a:endParaRPr lang="en-US" sz="3400" dirty="0"/>
          </a:p>
        </p:txBody>
      </p:sp>
      <p:sp>
        <p:nvSpPr>
          <p:cNvPr id="14" name="Text 11"/>
          <p:cNvSpPr/>
          <p:nvPr/>
        </p:nvSpPr>
        <p:spPr>
          <a:xfrm>
            <a:off x="5961888" y="1993392"/>
            <a:ext cx="2496312" cy="457200"/>
          </a:xfrm>
          <a:prstGeom prst="rect">
            <a:avLst/>
          </a:prstGeom>
          <a:noFill/>
          <a:ln/>
        </p:spPr>
        <p:txBody>
          <a:bodyPr wrap="square" lIns="0" tIns="0" rIns="0" bIns="0" rtlCol="0" anchor="ctr"/>
          <a:lstStyle/>
          <a:p>
            <a:pPr marL="0" indent="0">
              <a:buNone/>
            </a:pPr>
            <a:r>
              <a:rPr lang="en-US" sz="1650" b="1" dirty="0">
                <a:solidFill>
                  <a:srgbClr val="1A1A18"/>
                </a:solidFill>
                <a:latin typeface="Georgia" pitchFamily="34" charset="0"/>
                <a:ea typeface="Georgia" pitchFamily="34" charset="-122"/>
                <a:cs typeface="Georgia" pitchFamily="34" charset="-120"/>
              </a:rPr>
              <a:t>Agentic systems</a:t>
            </a:r>
            <a:endParaRPr lang="en-US" sz="1650" dirty="0"/>
          </a:p>
        </p:txBody>
      </p:sp>
      <p:sp>
        <p:nvSpPr>
          <p:cNvPr id="15" name="Text 12"/>
          <p:cNvSpPr/>
          <p:nvPr/>
        </p:nvSpPr>
        <p:spPr>
          <a:xfrm>
            <a:off x="5961888" y="2468880"/>
            <a:ext cx="2496312" cy="640080"/>
          </a:xfrm>
          <a:prstGeom prst="rect">
            <a:avLst/>
          </a:prstGeom>
          <a:noFill/>
          <a:ln/>
        </p:spPr>
        <p:txBody>
          <a:bodyPr wrap="square" lIns="0" tIns="0" rIns="0" bIns="0" rtlCol="0" anchor="ctr"/>
          <a:lstStyle/>
          <a:p>
            <a:pPr marL="0" indent="0">
              <a:lnSpc>
                <a:spcPct val="112000"/>
              </a:lnSpc>
              <a:buNone/>
            </a:pPr>
            <a:r>
              <a:rPr lang="en-US" sz="1100" dirty="0">
                <a:solidFill>
                  <a:srgbClr val="6B6862"/>
                </a:solidFill>
                <a:latin typeface="Arial" pitchFamily="34" charset="0"/>
                <a:ea typeface="Arial" pitchFamily="34" charset="-122"/>
                <a:cs typeface="Arial" pitchFamily="34" charset="-120"/>
              </a:rPr>
              <a:t>The agent loop, tools, and the spectrum of autonomy.</a:t>
            </a:r>
            <a:endParaRPr lang="en-US" sz="1100" dirty="0"/>
          </a:p>
        </p:txBody>
      </p:sp>
      <p:sp>
        <p:nvSpPr>
          <p:cNvPr id="16" name="Shape 13"/>
          <p:cNvSpPr/>
          <p:nvPr/>
        </p:nvSpPr>
        <p:spPr>
          <a:xfrm>
            <a:off x="502920" y="3511296"/>
            <a:ext cx="3913632" cy="1481328"/>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7" name="Text 14"/>
          <p:cNvSpPr/>
          <p:nvPr/>
        </p:nvSpPr>
        <p:spPr>
          <a:xfrm>
            <a:off x="758952" y="3694176"/>
            <a:ext cx="1097280" cy="640080"/>
          </a:xfrm>
          <a:prstGeom prst="rect">
            <a:avLst/>
          </a:prstGeom>
          <a:noFill/>
          <a:ln/>
        </p:spPr>
        <p:txBody>
          <a:bodyPr wrap="square" lIns="0" tIns="0" rIns="0" bIns="0" rtlCol="0" anchor="ctr"/>
          <a:lstStyle/>
          <a:p>
            <a:pPr marL="0" indent="0">
              <a:buNone/>
            </a:pPr>
            <a:r>
              <a:rPr lang="en-US" sz="3400" b="1" dirty="0">
                <a:solidFill>
                  <a:srgbClr val="D97757"/>
                </a:solidFill>
                <a:latin typeface="Georgia" pitchFamily="34" charset="0"/>
                <a:ea typeface="Georgia" pitchFamily="34" charset="-122"/>
                <a:cs typeface="Georgia" pitchFamily="34" charset="-120"/>
              </a:rPr>
              <a:t>03</a:t>
            </a:r>
            <a:endParaRPr lang="en-US" sz="3400" dirty="0"/>
          </a:p>
        </p:txBody>
      </p:sp>
      <p:sp>
        <p:nvSpPr>
          <p:cNvPr id="18" name="Text 15"/>
          <p:cNvSpPr/>
          <p:nvPr/>
        </p:nvSpPr>
        <p:spPr>
          <a:xfrm>
            <a:off x="1737360" y="3749040"/>
            <a:ext cx="2496312" cy="457200"/>
          </a:xfrm>
          <a:prstGeom prst="rect">
            <a:avLst/>
          </a:prstGeom>
          <a:noFill/>
          <a:ln/>
        </p:spPr>
        <p:txBody>
          <a:bodyPr wrap="square" lIns="0" tIns="0" rIns="0" bIns="0" rtlCol="0" anchor="ctr"/>
          <a:lstStyle/>
          <a:p>
            <a:pPr marL="0" indent="0">
              <a:buNone/>
            </a:pPr>
            <a:r>
              <a:rPr lang="en-US" sz="1650" b="1" dirty="0">
                <a:solidFill>
                  <a:srgbClr val="1A1A18"/>
                </a:solidFill>
                <a:latin typeface="Georgia" pitchFamily="34" charset="0"/>
                <a:ea typeface="Georgia" pitchFamily="34" charset="-122"/>
                <a:cs typeface="Georgia" pitchFamily="34" charset="-120"/>
              </a:rPr>
              <a:t>The Model Context Protocol</a:t>
            </a:r>
            <a:endParaRPr lang="en-US" sz="1650" dirty="0"/>
          </a:p>
        </p:txBody>
      </p:sp>
      <p:sp>
        <p:nvSpPr>
          <p:cNvPr id="19" name="Text 16"/>
          <p:cNvSpPr/>
          <p:nvPr/>
        </p:nvSpPr>
        <p:spPr>
          <a:xfrm>
            <a:off x="1737360" y="4224528"/>
            <a:ext cx="2496312" cy="640080"/>
          </a:xfrm>
          <a:prstGeom prst="rect">
            <a:avLst/>
          </a:prstGeom>
          <a:noFill/>
          <a:ln/>
        </p:spPr>
        <p:txBody>
          <a:bodyPr wrap="square" lIns="0" tIns="0" rIns="0" bIns="0" rtlCol="0" anchor="ctr"/>
          <a:lstStyle/>
          <a:p>
            <a:pPr marL="0" indent="0">
              <a:lnSpc>
                <a:spcPct val="112000"/>
              </a:lnSpc>
              <a:buNone/>
            </a:pPr>
            <a:r>
              <a:rPr lang="en-US" sz="1100" dirty="0">
                <a:solidFill>
                  <a:srgbClr val="6B6862"/>
                </a:solidFill>
                <a:latin typeface="Arial" pitchFamily="34" charset="0"/>
                <a:ea typeface="Arial" pitchFamily="34" charset="-122"/>
                <a:cs typeface="Arial" pitchFamily="34" charset="-120"/>
              </a:rPr>
              <a:t>MCP as an open standard — and what an MCP server actually is.</a:t>
            </a:r>
            <a:endParaRPr lang="en-US" sz="1100" dirty="0"/>
          </a:p>
        </p:txBody>
      </p:sp>
      <p:sp>
        <p:nvSpPr>
          <p:cNvPr id="20" name="Shape 17"/>
          <p:cNvSpPr/>
          <p:nvPr/>
        </p:nvSpPr>
        <p:spPr>
          <a:xfrm>
            <a:off x="4727448" y="3511296"/>
            <a:ext cx="3913632" cy="1481328"/>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21" name="Text 18"/>
          <p:cNvSpPr/>
          <p:nvPr/>
        </p:nvSpPr>
        <p:spPr>
          <a:xfrm>
            <a:off x="4983480" y="3694176"/>
            <a:ext cx="1097280" cy="640080"/>
          </a:xfrm>
          <a:prstGeom prst="rect">
            <a:avLst/>
          </a:prstGeom>
          <a:noFill/>
          <a:ln/>
        </p:spPr>
        <p:txBody>
          <a:bodyPr wrap="square" lIns="0" tIns="0" rIns="0" bIns="0" rtlCol="0" anchor="ctr"/>
          <a:lstStyle/>
          <a:p>
            <a:pPr marL="0" indent="0">
              <a:buNone/>
            </a:pPr>
            <a:r>
              <a:rPr lang="en-US" sz="3400" b="1" dirty="0">
                <a:solidFill>
                  <a:srgbClr val="D97757"/>
                </a:solidFill>
                <a:latin typeface="Georgia" pitchFamily="34" charset="0"/>
                <a:ea typeface="Georgia" pitchFamily="34" charset="-122"/>
                <a:cs typeface="Georgia" pitchFamily="34" charset="-120"/>
              </a:rPr>
              <a:t>04</a:t>
            </a:r>
            <a:endParaRPr lang="en-US" sz="3400" dirty="0"/>
          </a:p>
        </p:txBody>
      </p:sp>
      <p:sp>
        <p:nvSpPr>
          <p:cNvPr id="22" name="Text 19"/>
          <p:cNvSpPr/>
          <p:nvPr/>
        </p:nvSpPr>
        <p:spPr>
          <a:xfrm>
            <a:off x="5961888" y="3749040"/>
            <a:ext cx="2496312" cy="457200"/>
          </a:xfrm>
          <a:prstGeom prst="rect">
            <a:avLst/>
          </a:prstGeom>
          <a:noFill/>
          <a:ln/>
        </p:spPr>
        <p:txBody>
          <a:bodyPr wrap="square" lIns="0" tIns="0" rIns="0" bIns="0" rtlCol="0" anchor="ctr"/>
          <a:lstStyle/>
          <a:p>
            <a:pPr marL="0" indent="0">
              <a:buNone/>
            </a:pPr>
            <a:r>
              <a:rPr lang="en-US" sz="1650" b="1" dirty="0">
                <a:solidFill>
                  <a:srgbClr val="1A1A18"/>
                </a:solidFill>
                <a:latin typeface="Georgia" pitchFamily="34" charset="0"/>
                <a:ea typeface="Georgia" pitchFamily="34" charset="-122"/>
                <a:cs typeface="Georgia" pitchFamily="34" charset="-120"/>
              </a:rPr>
              <a:t>Changing how teams work</a:t>
            </a:r>
            <a:endParaRPr lang="en-US" sz="1650" dirty="0"/>
          </a:p>
        </p:txBody>
      </p:sp>
      <p:sp>
        <p:nvSpPr>
          <p:cNvPr id="23" name="Text 20"/>
          <p:cNvSpPr/>
          <p:nvPr/>
        </p:nvSpPr>
        <p:spPr>
          <a:xfrm>
            <a:off x="5961888" y="4224528"/>
            <a:ext cx="2496312" cy="640080"/>
          </a:xfrm>
          <a:prstGeom prst="rect">
            <a:avLst/>
          </a:prstGeom>
          <a:noFill/>
          <a:ln/>
        </p:spPr>
        <p:txBody>
          <a:bodyPr wrap="square" lIns="0" tIns="0" rIns="0" bIns="0" rtlCol="0" anchor="ctr"/>
          <a:lstStyle/>
          <a:p>
            <a:pPr marL="0" indent="0">
              <a:lnSpc>
                <a:spcPct val="112000"/>
              </a:lnSpc>
              <a:buNone/>
            </a:pPr>
            <a:r>
              <a:rPr lang="en-US" sz="1100" dirty="0">
                <a:solidFill>
                  <a:srgbClr val="6B6862"/>
                </a:solidFill>
                <a:latin typeface="Arial" pitchFamily="34" charset="0"/>
                <a:ea typeface="Arial" pitchFamily="34" charset="-122"/>
                <a:cs typeface="Arial" pitchFamily="34" charset="-120"/>
              </a:rPr>
              <a:t>How agents reshape developer workflows and code review.</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14:dur="2000" advTm="22411"/>
    </mc:Choice>
    <mc:Fallback xmlns="">
      <p:transition spd="slow" advTm="22411"/>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EEE6"/>
        </a:solidFill>
        <a:effectLst/>
      </p:bgPr>
    </p:bg>
    <p:spTree>
      <p:nvGrpSpPr>
        <p:cNvPr id="1" name=""/>
        <p:cNvGrpSpPr/>
        <p:nvPr/>
      </p:nvGrpSpPr>
      <p:grpSpPr>
        <a:xfrm>
          <a:off x="0" y="0"/>
          <a:ext cx="0" cy="0"/>
          <a:chOff x="0" y="0"/>
          <a:chExt cx="0" cy="0"/>
        </a:xfrm>
      </p:grpSpPr>
      <p:pic>
        <p:nvPicPr>
          <p:cNvPr id="2" name="Image 0" descr="/agent/turn2/workspace/assets/spark-coral.png"/>
          <p:cNvPicPr>
            <a:picLocks noChangeAspect="1"/>
          </p:cNvPicPr>
          <p:nvPr/>
        </p:nvPicPr>
        <p:blipFill>
          <a:blip r:embed="rId3"/>
          <a:stretch>
            <a:fillRect/>
          </a:stretch>
        </p:blipFill>
        <p:spPr>
          <a:xfrm>
            <a:off x="502920" y="457200"/>
            <a:ext cx="237744" cy="237744"/>
          </a:xfrm>
          <a:prstGeom prst="rect">
            <a:avLst/>
          </a:prstGeom>
        </p:spPr>
      </p:pic>
      <p:sp>
        <p:nvSpPr>
          <p:cNvPr id="3" name="Text 0"/>
          <p:cNvSpPr/>
          <p:nvPr/>
        </p:nvSpPr>
        <p:spPr>
          <a:xfrm>
            <a:off x="841248" y="429768"/>
            <a:ext cx="7315200" cy="292608"/>
          </a:xfrm>
          <a:prstGeom prst="rect">
            <a:avLst/>
          </a:prstGeom>
          <a:noFill/>
          <a:ln/>
        </p:spPr>
        <p:txBody>
          <a:bodyPr wrap="square" lIns="0" tIns="0" rIns="0" bIns="0" rtlCol="0" anchor="ctr"/>
          <a:lstStyle/>
          <a:p>
            <a:pPr marL="0" indent="0" algn="l">
              <a:buNone/>
            </a:pPr>
            <a:r>
              <a:rPr lang="en-US" sz="1150" b="1" kern="0" spc="220" dirty="0">
                <a:solidFill>
                  <a:srgbClr val="B3522F"/>
                </a:solidFill>
                <a:latin typeface="Arial" pitchFamily="34" charset="0"/>
                <a:ea typeface="Arial" pitchFamily="34" charset="-122"/>
                <a:cs typeface="Arial" pitchFamily="34" charset="-120"/>
              </a:rPr>
              <a:t>THE ARC</a:t>
            </a:r>
            <a:endParaRPr lang="en-US" sz="1150" dirty="0"/>
          </a:p>
        </p:txBody>
      </p:sp>
      <p:sp>
        <p:nvSpPr>
          <p:cNvPr id="4" name="Text 1"/>
          <p:cNvSpPr/>
          <p:nvPr/>
        </p:nvSpPr>
        <p:spPr>
          <a:xfrm>
            <a:off x="484632" y="749808"/>
            <a:ext cx="8183880" cy="777240"/>
          </a:xfrm>
          <a:prstGeom prst="rect">
            <a:avLst/>
          </a:prstGeom>
          <a:noFill/>
          <a:ln/>
        </p:spPr>
        <p:txBody>
          <a:bodyPr wrap="square" lIns="0" tIns="0" rIns="0" bIns="0" rtlCol="0" anchor="t"/>
          <a:lstStyle/>
          <a:p>
            <a:pPr marL="0" indent="0" algn="l">
              <a:buNone/>
            </a:pPr>
            <a:r>
              <a:rPr lang="en-US" sz="3100" b="1" dirty="0">
                <a:solidFill>
                  <a:srgbClr val="1A1A18"/>
                </a:solidFill>
                <a:latin typeface="Georgia" pitchFamily="34" charset="0"/>
                <a:ea typeface="Georgia" pitchFamily="34" charset="-122"/>
                <a:cs typeface="Georgia" pitchFamily="34" charset="-120"/>
              </a:rPr>
              <a:t>From single prompts to retrieval and agents</a:t>
            </a:r>
            <a:endParaRPr lang="en-US" sz="3100" dirty="0"/>
          </a:p>
        </p:txBody>
      </p:sp>
      <p:sp>
        <p:nvSpPr>
          <p:cNvPr id="5" name="Shape 2"/>
          <p:cNvSpPr/>
          <p:nvPr/>
        </p:nvSpPr>
        <p:spPr>
          <a:xfrm>
            <a:off x="502920" y="4754880"/>
            <a:ext cx="8138160" cy="0"/>
          </a:xfrm>
          <a:prstGeom prst="line">
            <a:avLst/>
          </a:prstGeom>
          <a:noFill/>
          <a:ln w="12700">
            <a:solidFill>
              <a:srgbClr val="DAD6C8"/>
            </a:solidFill>
            <a:prstDash val="solid"/>
          </a:ln>
        </p:spPr>
        <p:txBody>
          <a:bodyPr/>
          <a:lstStyle/>
          <a:p>
            <a:endParaRPr lang="en-IN"/>
          </a:p>
        </p:txBody>
      </p:sp>
      <p:sp>
        <p:nvSpPr>
          <p:cNvPr id="6" name="Text 3"/>
          <p:cNvSpPr/>
          <p:nvPr/>
        </p:nvSpPr>
        <p:spPr>
          <a:xfrm>
            <a:off x="502920" y="4791456"/>
            <a:ext cx="5486400" cy="274320"/>
          </a:xfrm>
          <a:prstGeom prst="rect">
            <a:avLst/>
          </a:prstGeom>
          <a:noFill/>
          <a:ln/>
        </p:spPr>
        <p:txBody>
          <a:bodyPr wrap="square" lIns="0" tIns="0" rIns="0" bIns="0" rtlCol="0" anchor="ctr"/>
          <a:lstStyle/>
          <a:p>
            <a:pPr marL="0" indent="0" algn="l">
              <a:buNone/>
            </a:pPr>
            <a:r>
              <a:rPr lang="en-US" sz="850" dirty="0">
                <a:solidFill>
                  <a:srgbClr val="6B6862"/>
                </a:solidFill>
                <a:latin typeface="Arial" pitchFamily="34" charset="0"/>
                <a:ea typeface="Arial" pitchFamily="34" charset="-122"/>
                <a:cs typeface="Arial" pitchFamily="34" charset="-120"/>
              </a:rPr>
              <a:t>Claude Training  ·  From Prompts to Agents</a:t>
            </a:r>
            <a:endParaRPr lang="en-US" sz="850" dirty="0"/>
          </a:p>
        </p:txBody>
      </p:sp>
      <p:sp>
        <p:nvSpPr>
          <p:cNvPr id="7" name="Text 4"/>
          <p:cNvSpPr/>
          <p:nvPr/>
        </p:nvSpPr>
        <p:spPr>
          <a:xfrm>
            <a:off x="8183880" y="4791456"/>
            <a:ext cx="457200" cy="274320"/>
          </a:xfrm>
          <a:prstGeom prst="rect">
            <a:avLst/>
          </a:prstGeom>
          <a:noFill/>
          <a:ln/>
        </p:spPr>
        <p:txBody>
          <a:bodyPr wrap="square" lIns="0" tIns="0" rIns="0" bIns="0" rtlCol="0" anchor="ctr"/>
          <a:lstStyle/>
          <a:p>
            <a:pPr marL="0" indent="0" algn="r">
              <a:buNone/>
            </a:pPr>
            <a:r>
              <a:rPr lang="en-US" sz="850" b="1" dirty="0">
                <a:solidFill>
                  <a:srgbClr val="6B6862"/>
                </a:solidFill>
                <a:latin typeface="Arial" pitchFamily="34" charset="0"/>
                <a:ea typeface="Arial" pitchFamily="34" charset="-122"/>
                <a:cs typeface="Arial" pitchFamily="34" charset="-120"/>
              </a:rPr>
              <a:t>02</a:t>
            </a:r>
            <a:endParaRPr lang="en-US" sz="850" dirty="0"/>
          </a:p>
        </p:txBody>
      </p:sp>
      <p:sp>
        <p:nvSpPr>
          <p:cNvPr id="8" name="Shape 5"/>
          <p:cNvSpPr/>
          <p:nvPr/>
        </p:nvSpPr>
        <p:spPr>
          <a:xfrm>
            <a:off x="502920" y="1828800"/>
            <a:ext cx="2542032" cy="2331720"/>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9" name="Shape 6"/>
          <p:cNvSpPr/>
          <p:nvPr/>
        </p:nvSpPr>
        <p:spPr>
          <a:xfrm>
            <a:off x="502920" y="1828800"/>
            <a:ext cx="2542032" cy="109728"/>
          </a:xfrm>
          <a:prstGeom prst="rect">
            <a:avLst/>
          </a:prstGeom>
          <a:solidFill>
            <a:srgbClr val="D97757"/>
          </a:solidFill>
          <a:ln/>
        </p:spPr>
        <p:txBody>
          <a:bodyPr/>
          <a:lstStyle/>
          <a:p>
            <a:endParaRPr lang="en-IN"/>
          </a:p>
        </p:txBody>
      </p:sp>
      <p:sp>
        <p:nvSpPr>
          <p:cNvPr id="10" name="Text 7"/>
          <p:cNvSpPr/>
          <p:nvPr/>
        </p:nvSpPr>
        <p:spPr>
          <a:xfrm>
            <a:off x="704088" y="2084832"/>
            <a:ext cx="731520" cy="502920"/>
          </a:xfrm>
          <a:prstGeom prst="rect">
            <a:avLst/>
          </a:prstGeom>
          <a:noFill/>
          <a:ln/>
        </p:spPr>
        <p:txBody>
          <a:bodyPr wrap="square" lIns="0" tIns="0" rIns="0" bIns="0" rtlCol="0" anchor="ctr"/>
          <a:lstStyle/>
          <a:p>
            <a:pPr marL="0" indent="0">
              <a:buNone/>
            </a:pPr>
            <a:r>
              <a:rPr lang="en-US" sz="2600" b="1" dirty="0">
                <a:solidFill>
                  <a:srgbClr val="D97757"/>
                </a:solidFill>
                <a:latin typeface="Georgia" pitchFamily="34" charset="0"/>
                <a:ea typeface="Georgia" pitchFamily="34" charset="-122"/>
                <a:cs typeface="Georgia" pitchFamily="34" charset="-120"/>
              </a:rPr>
              <a:t>1</a:t>
            </a:r>
            <a:endParaRPr lang="en-US" sz="2600" dirty="0"/>
          </a:p>
        </p:txBody>
      </p:sp>
      <p:sp>
        <p:nvSpPr>
          <p:cNvPr id="11" name="Text 8"/>
          <p:cNvSpPr/>
          <p:nvPr/>
        </p:nvSpPr>
        <p:spPr>
          <a:xfrm>
            <a:off x="704088" y="2670048"/>
            <a:ext cx="2139696" cy="384048"/>
          </a:xfrm>
          <a:prstGeom prst="rect">
            <a:avLst/>
          </a:prstGeom>
          <a:noFill/>
          <a:ln/>
        </p:spPr>
        <p:txBody>
          <a:bodyPr wrap="square" lIns="0" tIns="0" rIns="0" bIns="0" rtlCol="0" anchor="ctr"/>
          <a:lstStyle/>
          <a:p>
            <a:pPr marL="0" indent="0">
              <a:buNone/>
            </a:pPr>
            <a:r>
              <a:rPr lang="en-US" sz="1900" b="1" dirty="0">
                <a:solidFill>
                  <a:srgbClr val="1A1A18"/>
                </a:solidFill>
                <a:latin typeface="Georgia" pitchFamily="34" charset="0"/>
                <a:ea typeface="Georgia" pitchFamily="34" charset="-122"/>
                <a:cs typeface="Georgia" pitchFamily="34" charset="-120"/>
              </a:rPr>
              <a:t>Single prompt</a:t>
            </a:r>
            <a:endParaRPr lang="en-US" sz="1900" dirty="0"/>
          </a:p>
        </p:txBody>
      </p:sp>
      <p:sp>
        <p:nvSpPr>
          <p:cNvPr id="12" name="Text 9"/>
          <p:cNvSpPr/>
          <p:nvPr/>
        </p:nvSpPr>
        <p:spPr>
          <a:xfrm>
            <a:off x="704088" y="3054096"/>
            <a:ext cx="2139696" cy="274320"/>
          </a:xfrm>
          <a:prstGeom prst="rect">
            <a:avLst/>
          </a:prstGeom>
          <a:noFill/>
          <a:ln/>
        </p:spPr>
        <p:txBody>
          <a:bodyPr wrap="square" lIns="0" tIns="0" rIns="0" bIns="0" rtlCol="0" anchor="ctr"/>
          <a:lstStyle/>
          <a:p>
            <a:pPr marL="0" indent="0">
              <a:buNone/>
            </a:pPr>
            <a:r>
              <a:rPr lang="en-US" sz="950" b="1" kern="0" spc="120" dirty="0">
                <a:solidFill>
                  <a:srgbClr val="B3522F"/>
                </a:solidFill>
                <a:latin typeface="Arial" pitchFamily="34" charset="0"/>
                <a:ea typeface="Arial" pitchFamily="34" charset="-122"/>
                <a:cs typeface="Arial" pitchFamily="34" charset="-120"/>
              </a:rPr>
              <a:t>ONE-SHOT REQUEST</a:t>
            </a:r>
            <a:endParaRPr lang="en-US" sz="950" dirty="0"/>
          </a:p>
        </p:txBody>
      </p:sp>
      <p:sp>
        <p:nvSpPr>
          <p:cNvPr id="13" name="Text 10"/>
          <p:cNvSpPr/>
          <p:nvPr/>
        </p:nvSpPr>
        <p:spPr>
          <a:xfrm>
            <a:off x="704088" y="3346704"/>
            <a:ext cx="2139696" cy="749808"/>
          </a:xfrm>
          <a:prstGeom prst="rect">
            <a:avLst/>
          </a:prstGeom>
          <a:noFill/>
          <a:ln/>
        </p:spPr>
        <p:txBody>
          <a:bodyPr wrap="square" lIns="0" tIns="0" rIns="0" bIns="0" rtlCol="0" anchor="ctr"/>
          <a:lstStyle/>
          <a:p>
            <a:pPr marL="0" indent="0">
              <a:lnSpc>
                <a:spcPct val="115000"/>
              </a:lnSpc>
              <a:buNone/>
            </a:pPr>
            <a:r>
              <a:rPr lang="en-US" sz="1100" dirty="0">
                <a:solidFill>
                  <a:srgbClr val="6B6862"/>
                </a:solidFill>
                <a:latin typeface="Arial" pitchFamily="34" charset="0"/>
                <a:ea typeface="Arial" pitchFamily="34" charset="-122"/>
                <a:cs typeface="Arial" pitchFamily="34" charset="-120"/>
              </a:rPr>
              <a:t>Model answers from frozen training knowledge. No fresh data, no actions.</a:t>
            </a:r>
            <a:endParaRPr lang="en-US" sz="1100" dirty="0"/>
          </a:p>
        </p:txBody>
      </p:sp>
      <p:sp>
        <p:nvSpPr>
          <p:cNvPr id="14" name="Shape 11"/>
          <p:cNvSpPr/>
          <p:nvPr/>
        </p:nvSpPr>
        <p:spPr>
          <a:xfrm>
            <a:off x="3300984" y="1828800"/>
            <a:ext cx="2542032" cy="2331720"/>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5" name="Shape 12"/>
          <p:cNvSpPr/>
          <p:nvPr/>
        </p:nvSpPr>
        <p:spPr>
          <a:xfrm>
            <a:off x="3300984" y="1828800"/>
            <a:ext cx="2542032" cy="109728"/>
          </a:xfrm>
          <a:prstGeom prst="rect">
            <a:avLst/>
          </a:prstGeom>
          <a:solidFill>
            <a:srgbClr val="CC785C"/>
          </a:solidFill>
          <a:ln/>
        </p:spPr>
        <p:txBody>
          <a:bodyPr/>
          <a:lstStyle/>
          <a:p>
            <a:endParaRPr lang="en-IN"/>
          </a:p>
        </p:txBody>
      </p:sp>
      <p:sp>
        <p:nvSpPr>
          <p:cNvPr id="16" name="Text 13"/>
          <p:cNvSpPr/>
          <p:nvPr/>
        </p:nvSpPr>
        <p:spPr>
          <a:xfrm>
            <a:off x="3502152" y="2084832"/>
            <a:ext cx="731520" cy="502920"/>
          </a:xfrm>
          <a:prstGeom prst="rect">
            <a:avLst/>
          </a:prstGeom>
          <a:noFill/>
          <a:ln/>
        </p:spPr>
        <p:txBody>
          <a:bodyPr wrap="square" lIns="0" tIns="0" rIns="0" bIns="0" rtlCol="0" anchor="ctr"/>
          <a:lstStyle/>
          <a:p>
            <a:pPr marL="0" indent="0">
              <a:buNone/>
            </a:pPr>
            <a:r>
              <a:rPr lang="en-US" sz="2600" b="1" dirty="0">
                <a:solidFill>
                  <a:srgbClr val="CC785C"/>
                </a:solidFill>
                <a:latin typeface="Georgia" pitchFamily="34" charset="0"/>
                <a:ea typeface="Georgia" pitchFamily="34" charset="-122"/>
                <a:cs typeface="Georgia" pitchFamily="34" charset="-120"/>
              </a:rPr>
              <a:t>2</a:t>
            </a:r>
            <a:endParaRPr lang="en-US" sz="2600" dirty="0"/>
          </a:p>
        </p:txBody>
      </p:sp>
      <p:sp>
        <p:nvSpPr>
          <p:cNvPr id="17" name="Text 14"/>
          <p:cNvSpPr/>
          <p:nvPr/>
        </p:nvSpPr>
        <p:spPr>
          <a:xfrm>
            <a:off x="3502152" y="2670048"/>
            <a:ext cx="2139696" cy="384048"/>
          </a:xfrm>
          <a:prstGeom prst="rect">
            <a:avLst/>
          </a:prstGeom>
          <a:noFill/>
          <a:ln/>
        </p:spPr>
        <p:txBody>
          <a:bodyPr wrap="square" lIns="0" tIns="0" rIns="0" bIns="0" rtlCol="0" anchor="ctr"/>
          <a:lstStyle/>
          <a:p>
            <a:pPr marL="0" indent="0">
              <a:buNone/>
            </a:pPr>
            <a:r>
              <a:rPr lang="en-US" sz="1900" b="1" dirty="0">
                <a:solidFill>
                  <a:srgbClr val="1A1A18"/>
                </a:solidFill>
                <a:latin typeface="Georgia" pitchFamily="34" charset="0"/>
                <a:ea typeface="Georgia" pitchFamily="34" charset="-122"/>
                <a:cs typeface="Georgia" pitchFamily="34" charset="-120"/>
              </a:rPr>
              <a:t>RAG</a:t>
            </a:r>
            <a:endParaRPr lang="en-US" sz="1900" dirty="0"/>
          </a:p>
        </p:txBody>
      </p:sp>
      <p:sp>
        <p:nvSpPr>
          <p:cNvPr id="18" name="Text 15"/>
          <p:cNvSpPr/>
          <p:nvPr/>
        </p:nvSpPr>
        <p:spPr>
          <a:xfrm>
            <a:off x="3502152" y="3054096"/>
            <a:ext cx="2139696" cy="274320"/>
          </a:xfrm>
          <a:prstGeom prst="rect">
            <a:avLst/>
          </a:prstGeom>
          <a:noFill/>
          <a:ln/>
        </p:spPr>
        <p:txBody>
          <a:bodyPr wrap="square" lIns="0" tIns="0" rIns="0" bIns="0" rtlCol="0" anchor="ctr"/>
          <a:lstStyle/>
          <a:p>
            <a:pPr marL="0" indent="0">
              <a:buNone/>
            </a:pPr>
            <a:r>
              <a:rPr lang="en-US" sz="950" b="1" kern="0" spc="120" dirty="0">
                <a:solidFill>
                  <a:srgbClr val="B3522F"/>
                </a:solidFill>
                <a:latin typeface="Arial" pitchFamily="34" charset="0"/>
                <a:ea typeface="Arial" pitchFamily="34" charset="-122"/>
                <a:cs typeface="Arial" pitchFamily="34" charset="-120"/>
              </a:rPr>
              <a:t>GROUNDED IN YOUR DATA</a:t>
            </a:r>
            <a:endParaRPr lang="en-US" sz="950" dirty="0"/>
          </a:p>
        </p:txBody>
      </p:sp>
      <p:sp>
        <p:nvSpPr>
          <p:cNvPr id="19" name="Text 16"/>
          <p:cNvSpPr/>
          <p:nvPr/>
        </p:nvSpPr>
        <p:spPr>
          <a:xfrm>
            <a:off x="3502152" y="3346704"/>
            <a:ext cx="2139696" cy="749808"/>
          </a:xfrm>
          <a:prstGeom prst="rect">
            <a:avLst/>
          </a:prstGeom>
          <a:noFill/>
          <a:ln/>
        </p:spPr>
        <p:txBody>
          <a:bodyPr wrap="square" lIns="0" tIns="0" rIns="0" bIns="0" rtlCol="0" anchor="ctr"/>
          <a:lstStyle/>
          <a:p>
            <a:pPr marL="0" indent="0">
              <a:lnSpc>
                <a:spcPct val="115000"/>
              </a:lnSpc>
              <a:buNone/>
            </a:pPr>
            <a:r>
              <a:rPr lang="en-US" sz="1100" dirty="0">
                <a:solidFill>
                  <a:srgbClr val="6B6862"/>
                </a:solidFill>
                <a:latin typeface="Arial" pitchFamily="34" charset="0"/>
                <a:ea typeface="Arial" pitchFamily="34" charset="-122"/>
                <a:cs typeface="Arial" pitchFamily="34" charset="-120"/>
              </a:rPr>
              <a:t>Retrieve relevant context at query time, then generate a grounded answer.</a:t>
            </a:r>
            <a:endParaRPr lang="en-US" sz="1100" dirty="0"/>
          </a:p>
        </p:txBody>
      </p:sp>
      <p:sp>
        <p:nvSpPr>
          <p:cNvPr id="20" name="Shape 17"/>
          <p:cNvSpPr/>
          <p:nvPr/>
        </p:nvSpPr>
        <p:spPr>
          <a:xfrm>
            <a:off x="6099048" y="1828800"/>
            <a:ext cx="2542032" cy="2331720"/>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21" name="Shape 18"/>
          <p:cNvSpPr/>
          <p:nvPr/>
        </p:nvSpPr>
        <p:spPr>
          <a:xfrm>
            <a:off x="6099048" y="1828800"/>
            <a:ext cx="2542032" cy="109728"/>
          </a:xfrm>
          <a:prstGeom prst="rect">
            <a:avLst/>
          </a:prstGeom>
          <a:solidFill>
            <a:srgbClr val="B3522F"/>
          </a:solidFill>
          <a:ln/>
        </p:spPr>
        <p:txBody>
          <a:bodyPr/>
          <a:lstStyle/>
          <a:p>
            <a:endParaRPr lang="en-IN"/>
          </a:p>
        </p:txBody>
      </p:sp>
      <p:sp>
        <p:nvSpPr>
          <p:cNvPr id="22" name="Text 19"/>
          <p:cNvSpPr/>
          <p:nvPr/>
        </p:nvSpPr>
        <p:spPr>
          <a:xfrm>
            <a:off x="6300216" y="2084832"/>
            <a:ext cx="731520" cy="502920"/>
          </a:xfrm>
          <a:prstGeom prst="rect">
            <a:avLst/>
          </a:prstGeom>
          <a:noFill/>
          <a:ln/>
        </p:spPr>
        <p:txBody>
          <a:bodyPr wrap="square" lIns="0" tIns="0" rIns="0" bIns="0" rtlCol="0" anchor="ctr"/>
          <a:lstStyle/>
          <a:p>
            <a:pPr marL="0" indent="0">
              <a:buNone/>
            </a:pPr>
            <a:r>
              <a:rPr lang="en-US" sz="2600" b="1" dirty="0">
                <a:solidFill>
                  <a:srgbClr val="B3522F"/>
                </a:solidFill>
                <a:latin typeface="Georgia" pitchFamily="34" charset="0"/>
                <a:ea typeface="Georgia" pitchFamily="34" charset="-122"/>
                <a:cs typeface="Georgia" pitchFamily="34" charset="-120"/>
              </a:rPr>
              <a:t>3</a:t>
            </a:r>
            <a:endParaRPr lang="en-US" sz="2600" dirty="0"/>
          </a:p>
        </p:txBody>
      </p:sp>
      <p:sp>
        <p:nvSpPr>
          <p:cNvPr id="23" name="Text 20"/>
          <p:cNvSpPr/>
          <p:nvPr/>
        </p:nvSpPr>
        <p:spPr>
          <a:xfrm>
            <a:off x="6300216" y="2670048"/>
            <a:ext cx="2139696" cy="384048"/>
          </a:xfrm>
          <a:prstGeom prst="rect">
            <a:avLst/>
          </a:prstGeom>
          <a:noFill/>
          <a:ln/>
        </p:spPr>
        <p:txBody>
          <a:bodyPr wrap="square" lIns="0" tIns="0" rIns="0" bIns="0" rtlCol="0" anchor="ctr"/>
          <a:lstStyle/>
          <a:p>
            <a:pPr marL="0" indent="0">
              <a:buNone/>
            </a:pPr>
            <a:r>
              <a:rPr lang="en-US" sz="1900" b="1" dirty="0">
                <a:solidFill>
                  <a:srgbClr val="1A1A18"/>
                </a:solidFill>
                <a:latin typeface="Georgia" pitchFamily="34" charset="0"/>
                <a:ea typeface="Georgia" pitchFamily="34" charset="-122"/>
                <a:cs typeface="Georgia" pitchFamily="34" charset="-120"/>
              </a:rPr>
              <a:t>Agents</a:t>
            </a:r>
            <a:endParaRPr lang="en-US" sz="1900" dirty="0"/>
          </a:p>
        </p:txBody>
      </p:sp>
      <p:sp>
        <p:nvSpPr>
          <p:cNvPr id="24" name="Text 21"/>
          <p:cNvSpPr/>
          <p:nvPr/>
        </p:nvSpPr>
        <p:spPr>
          <a:xfrm>
            <a:off x="6300216" y="3054096"/>
            <a:ext cx="2139696" cy="274320"/>
          </a:xfrm>
          <a:prstGeom prst="rect">
            <a:avLst/>
          </a:prstGeom>
          <a:noFill/>
          <a:ln/>
        </p:spPr>
        <p:txBody>
          <a:bodyPr wrap="square" lIns="0" tIns="0" rIns="0" bIns="0" rtlCol="0" anchor="ctr"/>
          <a:lstStyle/>
          <a:p>
            <a:pPr marL="0" indent="0">
              <a:buNone/>
            </a:pPr>
            <a:r>
              <a:rPr lang="en-US" sz="950" b="1" kern="0" spc="120" dirty="0">
                <a:solidFill>
                  <a:srgbClr val="B3522F"/>
                </a:solidFill>
                <a:latin typeface="Arial" pitchFamily="34" charset="0"/>
                <a:ea typeface="Arial" pitchFamily="34" charset="-122"/>
                <a:cs typeface="Arial" pitchFamily="34" charset="-120"/>
              </a:rPr>
              <a:t>REASON · ACT · REPEAT</a:t>
            </a:r>
            <a:endParaRPr lang="en-US" sz="950" dirty="0"/>
          </a:p>
        </p:txBody>
      </p:sp>
      <p:sp>
        <p:nvSpPr>
          <p:cNvPr id="25" name="Text 22"/>
          <p:cNvSpPr/>
          <p:nvPr/>
        </p:nvSpPr>
        <p:spPr>
          <a:xfrm>
            <a:off x="6300216" y="3346704"/>
            <a:ext cx="2139696" cy="749808"/>
          </a:xfrm>
          <a:prstGeom prst="rect">
            <a:avLst/>
          </a:prstGeom>
          <a:noFill/>
          <a:ln/>
        </p:spPr>
        <p:txBody>
          <a:bodyPr wrap="square" lIns="0" tIns="0" rIns="0" bIns="0" rtlCol="0" anchor="ctr"/>
          <a:lstStyle/>
          <a:p>
            <a:pPr marL="0" indent="0">
              <a:lnSpc>
                <a:spcPct val="115000"/>
              </a:lnSpc>
              <a:buNone/>
            </a:pPr>
            <a:r>
              <a:rPr lang="en-US" sz="1100" dirty="0">
                <a:solidFill>
                  <a:srgbClr val="6B6862"/>
                </a:solidFill>
                <a:latin typeface="Arial" pitchFamily="34" charset="0"/>
                <a:ea typeface="Arial" pitchFamily="34" charset="-122"/>
                <a:cs typeface="Arial" pitchFamily="34" charset="-120"/>
              </a:rPr>
              <a:t>The model plans, calls tools, observes results, and loops until the goal is met.</a:t>
            </a:r>
            <a:endParaRPr lang="en-US" sz="1100" dirty="0"/>
          </a:p>
        </p:txBody>
      </p:sp>
      <p:sp>
        <p:nvSpPr>
          <p:cNvPr id="26" name="Text 23"/>
          <p:cNvSpPr/>
          <p:nvPr/>
        </p:nvSpPr>
        <p:spPr>
          <a:xfrm>
            <a:off x="2907792" y="2788920"/>
            <a:ext cx="411480" cy="457200"/>
          </a:xfrm>
          <a:prstGeom prst="rect">
            <a:avLst/>
          </a:prstGeom>
          <a:noFill/>
          <a:ln/>
        </p:spPr>
        <p:txBody>
          <a:bodyPr wrap="square" lIns="0" tIns="0" rIns="0" bIns="0" rtlCol="0" anchor="ctr"/>
          <a:lstStyle/>
          <a:p>
            <a:pPr marL="0" indent="0" algn="ctr">
              <a:buNone/>
            </a:pPr>
            <a:r>
              <a:rPr lang="en-US" sz="2600" b="1" dirty="0">
                <a:solidFill>
                  <a:srgbClr val="D97757"/>
                </a:solidFill>
                <a:latin typeface="Arial" pitchFamily="34" charset="0"/>
                <a:ea typeface="Arial" pitchFamily="34" charset="-122"/>
                <a:cs typeface="Arial" pitchFamily="34" charset="-120"/>
              </a:rPr>
              <a:t>→</a:t>
            </a:r>
            <a:endParaRPr lang="en-US" sz="2600" dirty="0"/>
          </a:p>
        </p:txBody>
      </p:sp>
      <p:sp>
        <p:nvSpPr>
          <p:cNvPr id="27" name="Text 24"/>
          <p:cNvSpPr/>
          <p:nvPr/>
        </p:nvSpPr>
        <p:spPr>
          <a:xfrm>
            <a:off x="5705856" y="2788920"/>
            <a:ext cx="411480" cy="457200"/>
          </a:xfrm>
          <a:prstGeom prst="rect">
            <a:avLst/>
          </a:prstGeom>
          <a:noFill/>
          <a:ln/>
        </p:spPr>
        <p:txBody>
          <a:bodyPr wrap="square" lIns="0" tIns="0" rIns="0" bIns="0" rtlCol="0" anchor="ctr"/>
          <a:lstStyle/>
          <a:p>
            <a:pPr marL="0" indent="0" algn="ctr">
              <a:buNone/>
            </a:pPr>
            <a:r>
              <a:rPr lang="en-US" sz="2600" b="1" dirty="0">
                <a:solidFill>
                  <a:srgbClr val="D97757"/>
                </a:solidFill>
                <a:latin typeface="Arial" pitchFamily="34" charset="0"/>
                <a:ea typeface="Arial" pitchFamily="34" charset="-122"/>
                <a:cs typeface="Arial" pitchFamily="34" charset="-120"/>
              </a:rPr>
              <a:t>→</a:t>
            </a:r>
            <a:endParaRPr lang="en-US" sz="2600" dirty="0"/>
          </a:p>
        </p:txBody>
      </p:sp>
      <p:sp>
        <p:nvSpPr>
          <p:cNvPr id="28" name="Text 25"/>
          <p:cNvSpPr/>
          <p:nvPr/>
        </p:nvSpPr>
        <p:spPr>
          <a:xfrm>
            <a:off x="502920" y="4261104"/>
            <a:ext cx="8138160" cy="365760"/>
          </a:xfrm>
          <a:prstGeom prst="rect">
            <a:avLst/>
          </a:prstGeom>
          <a:noFill/>
          <a:ln/>
        </p:spPr>
        <p:txBody>
          <a:bodyPr wrap="square" lIns="0" tIns="0" rIns="0" bIns="0" rtlCol="0" anchor="ctr"/>
          <a:lstStyle/>
          <a:p>
            <a:pPr marL="0" indent="0" algn="ctr">
              <a:buNone/>
            </a:pPr>
            <a:r>
              <a:rPr lang="en-US" sz="1300" i="1" dirty="0">
                <a:solidFill>
                  <a:srgbClr val="2B2A26"/>
                </a:solidFill>
                <a:latin typeface="Georgia" pitchFamily="34" charset="0"/>
                <a:ea typeface="Georgia" pitchFamily="34" charset="-122"/>
                <a:cs typeface="Georgia" pitchFamily="34" charset="-120"/>
              </a:rPr>
              <a:t>Each step adds capability — and more autonomy.</a:t>
            </a:r>
            <a:endParaRPr lang="en-US" sz="1300" dirty="0"/>
          </a:p>
        </p:txBody>
      </p:sp>
    </p:spTree>
  </p:cSld>
  <p:clrMapOvr>
    <a:masterClrMapping/>
  </p:clrMapOvr>
  <mc:AlternateContent xmlns:mc="http://schemas.openxmlformats.org/markup-compatibility/2006" xmlns:p14="http://schemas.microsoft.com/office/powerpoint/2010/main">
    <mc:Choice Requires="p14">
      <p:transition spd="slow" p14:dur="2000" advTm="3899"/>
    </mc:Choice>
    <mc:Fallback xmlns="">
      <p:transition spd="slow" advTm="389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EEE6"/>
        </a:solidFill>
        <a:effectLst/>
      </p:bgPr>
    </p:bg>
    <p:spTree>
      <p:nvGrpSpPr>
        <p:cNvPr id="1" name=""/>
        <p:cNvGrpSpPr/>
        <p:nvPr/>
      </p:nvGrpSpPr>
      <p:grpSpPr>
        <a:xfrm>
          <a:off x="0" y="0"/>
          <a:ext cx="0" cy="0"/>
          <a:chOff x="0" y="0"/>
          <a:chExt cx="0" cy="0"/>
        </a:xfrm>
      </p:grpSpPr>
      <p:pic>
        <p:nvPicPr>
          <p:cNvPr id="2" name="Image 0" descr="/agent/turn2/workspace/assets/spark-coral.png"/>
          <p:cNvPicPr>
            <a:picLocks noChangeAspect="1"/>
          </p:cNvPicPr>
          <p:nvPr/>
        </p:nvPicPr>
        <p:blipFill>
          <a:blip r:embed="rId3"/>
          <a:stretch>
            <a:fillRect/>
          </a:stretch>
        </p:blipFill>
        <p:spPr>
          <a:xfrm>
            <a:off x="502920" y="457200"/>
            <a:ext cx="237744" cy="237744"/>
          </a:xfrm>
          <a:prstGeom prst="rect">
            <a:avLst/>
          </a:prstGeom>
        </p:spPr>
      </p:pic>
      <p:sp>
        <p:nvSpPr>
          <p:cNvPr id="3" name="Text 0"/>
          <p:cNvSpPr/>
          <p:nvPr/>
        </p:nvSpPr>
        <p:spPr>
          <a:xfrm>
            <a:off x="841248" y="429768"/>
            <a:ext cx="7315200" cy="292608"/>
          </a:xfrm>
          <a:prstGeom prst="rect">
            <a:avLst/>
          </a:prstGeom>
          <a:noFill/>
          <a:ln/>
        </p:spPr>
        <p:txBody>
          <a:bodyPr wrap="square" lIns="0" tIns="0" rIns="0" bIns="0" rtlCol="0" anchor="ctr"/>
          <a:lstStyle/>
          <a:p>
            <a:pPr marL="0" indent="0" algn="l">
              <a:buNone/>
            </a:pPr>
            <a:r>
              <a:rPr lang="en-US" sz="1150" b="1" kern="0" spc="220" dirty="0">
                <a:solidFill>
                  <a:srgbClr val="B3522F"/>
                </a:solidFill>
                <a:latin typeface="Arial" pitchFamily="34" charset="0"/>
                <a:ea typeface="Arial" pitchFamily="34" charset="-122"/>
                <a:cs typeface="Arial" pitchFamily="34" charset="-120"/>
              </a:rPr>
              <a:t>THE PROBLEM</a:t>
            </a:r>
            <a:endParaRPr lang="en-US" sz="1150" dirty="0"/>
          </a:p>
        </p:txBody>
      </p:sp>
      <p:sp>
        <p:nvSpPr>
          <p:cNvPr id="4" name="Text 1"/>
          <p:cNvSpPr/>
          <p:nvPr/>
        </p:nvSpPr>
        <p:spPr>
          <a:xfrm>
            <a:off x="484632" y="749808"/>
            <a:ext cx="8183880" cy="777240"/>
          </a:xfrm>
          <a:prstGeom prst="rect">
            <a:avLst/>
          </a:prstGeom>
          <a:noFill/>
          <a:ln/>
        </p:spPr>
        <p:txBody>
          <a:bodyPr wrap="square" lIns="0" tIns="0" rIns="0" bIns="0" rtlCol="0" anchor="t"/>
          <a:lstStyle/>
          <a:p>
            <a:pPr marL="0" indent="0" algn="l">
              <a:buNone/>
            </a:pPr>
            <a:r>
              <a:rPr lang="en-US" sz="3100" b="1" dirty="0">
                <a:solidFill>
                  <a:srgbClr val="1A1A18"/>
                </a:solidFill>
                <a:latin typeface="Georgia" pitchFamily="34" charset="0"/>
                <a:ea typeface="Georgia" pitchFamily="34" charset="-122"/>
                <a:cs typeface="Georgia" pitchFamily="34" charset="-120"/>
              </a:rPr>
              <a:t>Where a single prompt runs out of road</a:t>
            </a:r>
            <a:endParaRPr lang="en-US" sz="3100" dirty="0"/>
          </a:p>
        </p:txBody>
      </p:sp>
      <p:sp>
        <p:nvSpPr>
          <p:cNvPr id="5" name="Shape 2"/>
          <p:cNvSpPr/>
          <p:nvPr/>
        </p:nvSpPr>
        <p:spPr>
          <a:xfrm>
            <a:off x="502920" y="4754880"/>
            <a:ext cx="8138160" cy="0"/>
          </a:xfrm>
          <a:prstGeom prst="line">
            <a:avLst/>
          </a:prstGeom>
          <a:noFill/>
          <a:ln w="12700">
            <a:solidFill>
              <a:srgbClr val="DAD6C8"/>
            </a:solidFill>
            <a:prstDash val="solid"/>
          </a:ln>
        </p:spPr>
        <p:txBody>
          <a:bodyPr/>
          <a:lstStyle/>
          <a:p>
            <a:endParaRPr lang="en-IN"/>
          </a:p>
        </p:txBody>
      </p:sp>
      <p:sp>
        <p:nvSpPr>
          <p:cNvPr id="6" name="Text 3"/>
          <p:cNvSpPr/>
          <p:nvPr/>
        </p:nvSpPr>
        <p:spPr>
          <a:xfrm>
            <a:off x="502920" y="4791456"/>
            <a:ext cx="5486400" cy="274320"/>
          </a:xfrm>
          <a:prstGeom prst="rect">
            <a:avLst/>
          </a:prstGeom>
          <a:noFill/>
          <a:ln/>
        </p:spPr>
        <p:txBody>
          <a:bodyPr wrap="square" lIns="0" tIns="0" rIns="0" bIns="0" rtlCol="0" anchor="ctr"/>
          <a:lstStyle/>
          <a:p>
            <a:pPr marL="0" indent="0" algn="l">
              <a:buNone/>
            </a:pPr>
            <a:r>
              <a:rPr lang="en-US" sz="850" dirty="0">
                <a:solidFill>
                  <a:srgbClr val="6B6862"/>
                </a:solidFill>
                <a:latin typeface="Arial" pitchFamily="34" charset="0"/>
                <a:ea typeface="Arial" pitchFamily="34" charset="-122"/>
                <a:cs typeface="Arial" pitchFamily="34" charset="-120"/>
              </a:rPr>
              <a:t>Claude Training  ·  From Prompts to Agents</a:t>
            </a:r>
            <a:endParaRPr lang="en-US" sz="850" dirty="0"/>
          </a:p>
        </p:txBody>
      </p:sp>
      <p:sp>
        <p:nvSpPr>
          <p:cNvPr id="7" name="Text 4"/>
          <p:cNvSpPr/>
          <p:nvPr/>
        </p:nvSpPr>
        <p:spPr>
          <a:xfrm>
            <a:off x="8183880" y="4791456"/>
            <a:ext cx="457200" cy="274320"/>
          </a:xfrm>
          <a:prstGeom prst="rect">
            <a:avLst/>
          </a:prstGeom>
          <a:noFill/>
          <a:ln/>
        </p:spPr>
        <p:txBody>
          <a:bodyPr wrap="square" lIns="0" tIns="0" rIns="0" bIns="0" rtlCol="0" anchor="ctr"/>
          <a:lstStyle/>
          <a:p>
            <a:pPr marL="0" indent="0" algn="r">
              <a:buNone/>
            </a:pPr>
            <a:r>
              <a:rPr lang="en-US" sz="850" b="1" dirty="0">
                <a:solidFill>
                  <a:srgbClr val="6B6862"/>
                </a:solidFill>
                <a:latin typeface="Arial" pitchFamily="34" charset="0"/>
                <a:ea typeface="Arial" pitchFamily="34" charset="-122"/>
                <a:cs typeface="Arial" pitchFamily="34" charset="-120"/>
              </a:rPr>
              <a:t>03</a:t>
            </a:r>
            <a:endParaRPr lang="en-US" sz="850" dirty="0"/>
          </a:p>
        </p:txBody>
      </p:sp>
      <p:sp>
        <p:nvSpPr>
          <p:cNvPr id="8" name="Shape 5"/>
          <p:cNvSpPr/>
          <p:nvPr/>
        </p:nvSpPr>
        <p:spPr>
          <a:xfrm>
            <a:off x="502920" y="1783080"/>
            <a:ext cx="3913632" cy="1371600"/>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9" name="Shape 6"/>
          <p:cNvSpPr/>
          <p:nvPr/>
        </p:nvSpPr>
        <p:spPr>
          <a:xfrm>
            <a:off x="502920" y="1783080"/>
            <a:ext cx="91440" cy="1371600"/>
          </a:xfrm>
          <a:prstGeom prst="rect">
            <a:avLst/>
          </a:prstGeom>
          <a:solidFill>
            <a:srgbClr val="D97757"/>
          </a:solidFill>
          <a:ln/>
        </p:spPr>
        <p:txBody>
          <a:bodyPr/>
          <a:lstStyle/>
          <a:p>
            <a:endParaRPr lang="en-IN"/>
          </a:p>
        </p:txBody>
      </p:sp>
      <p:sp>
        <p:nvSpPr>
          <p:cNvPr id="10" name="Text 7"/>
          <p:cNvSpPr/>
          <p:nvPr/>
        </p:nvSpPr>
        <p:spPr>
          <a:xfrm>
            <a:off x="813816" y="1965960"/>
            <a:ext cx="3364992" cy="365760"/>
          </a:xfrm>
          <a:prstGeom prst="rect">
            <a:avLst/>
          </a:prstGeom>
          <a:noFill/>
          <a:ln/>
        </p:spPr>
        <p:txBody>
          <a:bodyPr wrap="square" lIns="0" tIns="0" rIns="0" bIns="0" rtlCol="0" anchor="ctr"/>
          <a:lstStyle/>
          <a:p>
            <a:pPr marL="0" indent="0">
              <a:buNone/>
            </a:pPr>
            <a:r>
              <a:rPr lang="en-US" sz="1650" b="1" dirty="0">
                <a:solidFill>
                  <a:srgbClr val="1A1A18"/>
                </a:solidFill>
                <a:latin typeface="Georgia" pitchFamily="34" charset="0"/>
                <a:ea typeface="Georgia" pitchFamily="34" charset="-122"/>
                <a:cs typeface="Georgia" pitchFamily="34" charset="-120"/>
              </a:rPr>
              <a:t>Frozen knowledge</a:t>
            </a:r>
            <a:endParaRPr lang="en-US" sz="1650" dirty="0"/>
          </a:p>
        </p:txBody>
      </p:sp>
      <p:sp>
        <p:nvSpPr>
          <p:cNvPr id="11" name="Text 8"/>
          <p:cNvSpPr/>
          <p:nvPr/>
        </p:nvSpPr>
        <p:spPr>
          <a:xfrm>
            <a:off x="813816" y="2386584"/>
            <a:ext cx="3364992" cy="658368"/>
          </a:xfrm>
          <a:prstGeom prst="rect">
            <a:avLst/>
          </a:prstGeom>
          <a:noFill/>
          <a:ln/>
        </p:spPr>
        <p:txBody>
          <a:bodyPr wrap="square" lIns="0" tIns="0" rIns="0" bIns="0" rtlCol="0" anchor="ctr"/>
          <a:lstStyle/>
          <a:p>
            <a:pPr marL="0" indent="0">
              <a:lnSpc>
                <a:spcPct val="115000"/>
              </a:lnSpc>
              <a:buNone/>
            </a:pPr>
            <a:r>
              <a:rPr lang="en-US" sz="1150" dirty="0">
                <a:solidFill>
                  <a:srgbClr val="6B6862"/>
                </a:solidFill>
                <a:latin typeface="Arial" pitchFamily="34" charset="0"/>
                <a:ea typeface="Arial" pitchFamily="34" charset="-122"/>
                <a:cs typeface="Arial" pitchFamily="34" charset="-120"/>
              </a:rPr>
              <a:t>The model only knows its training data — it can't see anything newer.</a:t>
            </a:r>
            <a:endParaRPr lang="en-US" sz="1150" dirty="0"/>
          </a:p>
        </p:txBody>
      </p:sp>
      <p:sp>
        <p:nvSpPr>
          <p:cNvPr id="12" name="Shape 9"/>
          <p:cNvSpPr/>
          <p:nvPr/>
        </p:nvSpPr>
        <p:spPr>
          <a:xfrm>
            <a:off x="4727448" y="1783080"/>
            <a:ext cx="3913632" cy="1371600"/>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3" name="Shape 10"/>
          <p:cNvSpPr/>
          <p:nvPr/>
        </p:nvSpPr>
        <p:spPr>
          <a:xfrm>
            <a:off x="4727448" y="1783080"/>
            <a:ext cx="91440" cy="1371600"/>
          </a:xfrm>
          <a:prstGeom prst="rect">
            <a:avLst/>
          </a:prstGeom>
          <a:solidFill>
            <a:srgbClr val="D97757"/>
          </a:solidFill>
          <a:ln/>
        </p:spPr>
        <p:txBody>
          <a:bodyPr/>
          <a:lstStyle/>
          <a:p>
            <a:endParaRPr lang="en-IN"/>
          </a:p>
        </p:txBody>
      </p:sp>
      <p:sp>
        <p:nvSpPr>
          <p:cNvPr id="14" name="Text 11"/>
          <p:cNvSpPr/>
          <p:nvPr/>
        </p:nvSpPr>
        <p:spPr>
          <a:xfrm>
            <a:off x="5038344" y="1965960"/>
            <a:ext cx="3364992" cy="365760"/>
          </a:xfrm>
          <a:prstGeom prst="rect">
            <a:avLst/>
          </a:prstGeom>
          <a:noFill/>
          <a:ln/>
        </p:spPr>
        <p:txBody>
          <a:bodyPr wrap="square" lIns="0" tIns="0" rIns="0" bIns="0" rtlCol="0" anchor="ctr"/>
          <a:lstStyle/>
          <a:p>
            <a:pPr marL="0" indent="0">
              <a:buNone/>
            </a:pPr>
            <a:r>
              <a:rPr lang="en-US" sz="1650" b="1" dirty="0">
                <a:solidFill>
                  <a:srgbClr val="1A1A18"/>
                </a:solidFill>
                <a:latin typeface="Georgia" pitchFamily="34" charset="0"/>
                <a:ea typeface="Georgia" pitchFamily="34" charset="-122"/>
                <a:cs typeface="Georgia" pitchFamily="34" charset="-120"/>
              </a:rPr>
              <a:t>No private context</a:t>
            </a:r>
            <a:endParaRPr lang="en-US" sz="1650" dirty="0"/>
          </a:p>
        </p:txBody>
      </p:sp>
      <p:sp>
        <p:nvSpPr>
          <p:cNvPr id="15" name="Text 12"/>
          <p:cNvSpPr/>
          <p:nvPr/>
        </p:nvSpPr>
        <p:spPr>
          <a:xfrm>
            <a:off x="5038344" y="2386584"/>
            <a:ext cx="3364992" cy="658368"/>
          </a:xfrm>
          <a:prstGeom prst="rect">
            <a:avLst/>
          </a:prstGeom>
          <a:noFill/>
          <a:ln/>
        </p:spPr>
        <p:txBody>
          <a:bodyPr wrap="square" lIns="0" tIns="0" rIns="0" bIns="0" rtlCol="0" anchor="ctr"/>
          <a:lstStyle/>
          <a:p>
            <a:pPr marL="0" indent="0">
              <a:lnSpc>
                <a:spcPct val="115000"/>
              </a:lnSpc>
              <a:buNone/>
            </a:pPr>
            <a:r>
              <a:rPr lang="en-US" sz="1150" dirty="0">
                <a:solidFill>
                  <a:srgbClr val="6B6862"/>
                </a:solidFill>
                <a:latin typeface="Arial" pitchFamily="34" charset="0"/>
                <a:ea typeface="Arial" pitchFamily="34" charset="-122"/>
                <a:cs typeface="Arial" pitchFamily="34" charset="-120"/>
              </a:rPr>
              <a:t>It has no access to your docs, databases, tickets, or codebase.</a:t>
            </a:r>
            <a:endParaRPr lang="en-US" sz="1150" dirty="0"/>
          </a:p>
        </p:txBody>
      </p:sp>
      <p:sp>
        <p:nvSpPr>
          <p:cNvPr id="16" name="Shape 13"/>
          <p:cNvSpPr/>
          <p:nvPr/>
        </p:nvSpPr>
        <p:spPr>
          <a:xfrm>
            <a:off x="502920" y="3392424"/>
            <a:ext cx="3913632" cy="1371600"/>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7" name="Shape 14"/>
          <p:cNvSpPr/>
          <p:nvPr/>
        </p:nvSpPr>
        <p:spPr>
          <a:xfrm>
            <a:off x="502920" y="3392424"/>
            <a:ext cx="91440" cy="1371600"/>
          </a:xfrm>
          <a:prstGeom prst="rect">
            <a:avLst/>
          </a:prstGeom>
          <a:solidFill>
            <a:srgbClr val="D97757"/>
          </a:solidFill>
          <a:ln/>
        </p:spPr>
        <p:txBody>
          <a:bodyPr/>
          <a:lstStyle/>
          <a:p>
            <a:endParaRPr lang="en-IN"/>
          </a:p>
        </p:txBody>
      </p:sp>
      <p:sp>
        <p:nvSpPr>
          <p:cNvPr id="18" name="Text 15"/>
          <p:cNvSpPr/>
          <p:nvPr/>
        </p:nvSpPr>
        <p:spPr>
          <a:xfrm>
            <a:off x="813816" y="3575304"/>
            <a:ext cx="3364992" cy="365760"/>
          </a:xfrm>
          <a:prstGeom prst="rect">
            <a:avLst/>
          </a:prstGeom>
          <a:noFill/>
          <a:ln/>
        </p:spPr>
        <p:txBody>
          <a:bodyPr wrap="square" lIns="0" tIns="0" rIns="0" bIns="0" rtlCol="0" anchor="ctr"/>
          <a:lstStyle/>
          <a:p>
            <a:pPr marL="0" indent="0">
              <a:buNone/>
            </a:pPr>
            <a:r>
              <a:rPr lang="en-US" sz="1650" b="1" dirty="0">
                <a:solidFill>
                  <a:srgbClr val="1A1A18"/>
                </a:solidFill>
                <a:latin typeface="Georgia" pitchFamily="34" charset="0"/>
                <a:ea typeface="Georgia" pitchFamily="34" charset="-122"/>
                <a:cs typeface="Georgia" pitchFamily="34" charset="-120"/>
              </a:rPr>
              <a:t>Can't take action</a:t>
            </a:r>
            <a:endParaRPr lang="en-US" sz="1650" dirty="0"/>
          </a:p>
        </p:txBody>
      </p:sp>
      <p:sp>
        <p:nvSpPr>
          <p:cNvPr id="19" name="Text 16"/>
          <p:cNvSpPr/>
          <p:nvPr/>
        </p:nvSpPr>
        <p:spPr>
          <a:xfrm>
            <a:off x="813816" y="3995928"/>
            <a:ext cx="3364992" cy="658368"/>
          </a:xfrm>
          <a:prstGeom prst="rect">
            <a:avLst/>
          </a:prstGeom>
          <a:noFill/>
          <a:ln/>
        </p:spPr>
        <p:txBody>
          <a:bodyPr wrap="square" lIns="0" tIns="0" rIns="0" bIns="0" rtlCol="0" anchor="ctr"/>
          <a:lstStyle/>
          <a:p>
            <a:pPr marL="0" indent="0">
              <a:lnSpc>
                <a:spcPct val="115000"/>
              </a:lnSpc>
              <a:buNone/>
            </a:pPr>
            <a:r>
              <a:rPr lang="en-US" sz="1150" dirty="0">
                <a:solidFill>
                  <a:srgbClr val="6B6862"/>
                </a:solidFill>
                <a:latin typeface="Arial" pitchFamily="34" charset="0"/>
                <a:ea typeface="Arial" pitchFamily="34" charset="-122"/>
                <a:cs typeface="Arial" pitchFamily="34" charset="-120"/>
              </a:rPr>
              <a:t>Text in, text out. It can't run code, query an API, or change state.</a:t>
            </a:r>
            <a:endParaRPr lang="en-US" sz="1150" dirty="0"/>
          </a:p>
        </p:txBody>
      </p:sp>
      <p:sp>
        <p:nvSpPr>
          <p:cNvPr id="20" name="Shape 17"/>
          <p:cNvSpPr/>
          <p:nvPr/>
        </p:nvSpPr>
        <p:spPr>
          <a:xfrm>
            <a:off x="4727448" y="3392424"/>
            <a:ext cx="3913632" cy="1371600"/>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21" name="Shape 18"/>
          <p:cNvSpPr/>
          <p:nvPr/>
        </p:nvSpPr>
        <p:spPr>
          <a:xfrm>
            <a:off x="4727448" y="3392424"/>
            <a:ext cx="91440" cy="1371600"/>
          </a:xfrm>
          <a:prstGeom prst="rect">
            <a:avLst/>
          </a:prstGeom>
          <a:solidFill>
            <a:srgbClr val="D97757"/>
          </a:solidFill>
          <a:ln/>
        </p:spPr>
        <p:txBody>
          <a:bodyPr/>
          <a:lstStyle/>
          <a:p>
            <a:endParaRPr lang="en-IN"/>
          </a:p>
        </p:txBody>
      </p:sp>
      <p:sp>
        <p:nvSpPr>
          <p:cNvPr id="22" name="Text 19"/>
          <p:cNvSpPr/>
          <p:nvPr/>
        </p:nvSpPr>
        <p:spPr>
          <a:xfrm>
            <a:off x="5038344" y="3575304"/>
            <a:ext cx="3364992" cy="365760"/>
          </a:xfrm>
          <a:prstGeom prst="rect">
            <a:avLst/>
          </a:prstGeom>
          <a:noFill/>
          <a:ln/>
        </p:spPr>
        <p:txBody>
          <a:bodyPr wrap="square" lIns="0" tIns="0" rIns="0" bIns="0" rtlCol="0" anchor="ctr"/>
          <a:lstStyle/>
          <a:p>
            <a:pPr marL="0" indent="0">
              <a:buNone/>
            </a:pPr>
            <a:r>
              <a:rPr lang="en-US" sz="1650" b="1" dirty="0">
                <a:solidFill>
                  <a:srgbClr val="1A1A18"/>
                </a:solidFill>
                <a:latin typeface="Georgia" pitchFamily="34" charset="0"/>
                <a:ea typeface="Georgia" pitchFamily="34" charset="-122"/>
                <a:cs typeface="Georgia" pitchFamily="34" charset="-120"/>
              </a:rPr>
              <a:t>Limited window</a:t>
            </a:r>
            <a:endParaRPr lang="en-US" sz="1650" dirty="0"/>
          </a:p>
        </p:txBody>
      </p:sp>
      <p:sp>
        <p:nvSpPr>
          <p:cNvPr id="23" name="Text 20"/>
          <p:cNvSpPr/>
          <p:nvPr/>
        </p:nvSpPr>
        <p:spPr>
          <a:xfrm>
            <a:off x="5038344" y="3995928"/>
            <a:ext cx="3364992" cy="658368"/>
          </a:xfrm>
          <a:prstGeom prst="rect">
            <a:avLst/>
          </a:prstGeom>
          <a:noFill/>
          <a:ln/>
        </p:spPr>
        <p:txBody>
          <a:bodyPr wrap="square" lIns="0" tIns="0" rIns="0" bIns="0" rtlCol="0" anchor="ctr"/>
          <a:lstStyle/>
          <a:p>
            <a:pPr marL="0" indent="0">
              <a:lnSpc>
                <a:spcPct val="115000"/>
              </a:lnSpc>
              <a:buNone/>
            </a:pPr>
            <a:r>
              <a:rPr lang="en-US" sz="1150" dirty="0">
                <a:solidFill>
                  <a:srgbClr val="6B6862"/>
                </a:solidFill>
                <a:latin typeface="Arial" pitchFamily="34" charset="0"/>
                <a:ea typeface="Arial" pitchFamily="34" charset="-122"/>
                <a:cs typeface="Arial" pitchFamily="34" charset="-120"/>
              </a:rPr>
              <a:t>Everything must fit in the context window — you can't paste in everything.</a:t>
            </a:r>
            <a:endParaRPr lang="en-US" sz="1150" dirty="0"/>
          </a:p>
        </p:txBody>
      </p:sp>
      <p:sp>
        <p:nvSpPr>
          <p:cNvPr id="24" name="Text 21"/>
          <p:cNvSpPr/>
          <p:nvPr/>
        </p:nvSpPr>
        <p:spPr>
          <a:xfrm>
            <a:off x="502920" y="4334256"/>
            <a:ext cx="8138160" cy="329184"/>
          </a:xfrm>
          <a:prstGeom prst="rect">
            <a:avLst/>
          </a:prstGeom>
          <a:noFill/>
          <a:ln/>
        </p:spPr>
        <p:txBody>
          <a:bodyPr wrap="square" lIns="0" tIns="0" rIns="0" bIns="0" rtlCol="0" anchor="ctr"/>
          <a:lstStyle/>
          <a:p>
            <a:pPr marL="0" indent="0" algn="ctr">
              <a:buNone/>
            </a:pPr>
            <a:r>
              <a:rPr lang="en-US" sz="1300" i="1" dirty="0">
                <a:solidFill>
                  <a:srgbClr val="2B2A26"/>
                </a:solidFill>
                <a:latin typeface="Georgia" pitchFamily="34" charset="0"/>
                <a:ea typeface="Georgia" pitchFamily="34" charset="-122"/>
                <a:cs typeface="Georgia" pitchFamily="34" charset="-120"/>
              </a:rPr>
              <a:t>RAG and agents are the two answers to these gaps.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EEE6"/>
        </a:solidFill>
        <a:effectLst/>
      </p:bgPr>
    </p:bg>
    <p:spTree>
      <p:nvGrpSpPr>
        <p:cNvPr id="1" name=""/>
        <p:cNvGrpSpPr/>
        <p:nvPr/>
      </p:nvGrpSpPr>
      <p:grpSpPr>
        <a:xfrm>
          <a:off x="0" y="0"/>
          <a:ext cx="0" cy="0"/>
          <a:chOff x="0" y="0"/>
          <a:chExt cx="0" cy="0"/>
        </a:xfrm>
      </p:grpSpPr>
      <p:pic>
        <p:nvPicPr>
          <p:cNvPr id="2" name="Image 0" descr="/agent/turn2/workspace/assets/spark-coral.png"/>
          <p:cNvPicPr>
            <a:picLocks noChangeAspect="1"/>
          </p:cNvPicPr>
          <p:nvPr/>
        </p:nvPicPr>
        <p:blipFill>
          <a:blip r:embed="rId3"/>
          <a:stretch>
            <a:fillRect/>
          </a:stretch>
        </p:blipFill>
        <p:spPr>
          <a:xfrm>
            <a:off x="502920" y="457200"/>
            <a:ext cx="237744" cy="237744"/>
          </a:xfrm>
          <a:prstGeom prst="rect">
            <a:avLst/>
          </a:prstGeom>
        </p:spPr>
      </p:pic>
      <p:sp>
        <p:nvSpPr>
          <p:cNvPr id="3" name="Text 0"/>
          <p:cNvSpPr/>
          <p:nvPr/>
        </p:nvSpPr>
        <p:spPr>
          <a:xfrm>
            <a:off x="841248" y="429768"/>
            <a:ext cx="7315200" cy="292608"/>
          </a:xfrm>
          <a:prstGeom prst="rect">
            <a:avLst/>
          </a:prstGeom>
          <a:noFill/>
          <a:ln/>
        </p:spPr>
        <p:txBody>
          <a:bodyPr wrap="square" lIns="0" tIns="0" rIns="0" bIns="0" rtlCol="0" anchor="ctr"/>
          <a:lstStyle/>
          <a:p>
            <a:pPr marL="0" indent="0" algn="l">
              <a:buNone/>
            </a:pPr>
            <a:r>
              <a:rPr lang="en-US" sz="1150" b="1" kern="0" spc="220" dirty="0">
                <a:solidFill>
                  <a:srgbClr val="B3522F"/>
                </a:solidFill>
                <a:latin typeface="Arial" pitchFamily="34" charset="0"/>
                <a:ea typeface="Arial" pitchFamily="34" charset="-122"/>
                <a:cs typeface="Arial" pitchFamily="34" charset="-120"/>
              </a:rPr>
              <a:t>RETRIEVAL-AUGMENTED GENERATION</a:t>
            </a:r>
            <a:endParaRPr lang="en-US" sz="1150" dirty="0"/>
          </a:p>
        </p:txBody>
      </p:sp>
      <p:sp>
        <p:nvSpPr>
          <p:cNvPr id="4" name="Text 1"/>
          <p:cNvSpPr/>
          <p:nvPr/>
        </p:nvSpPr>
        <p:spPr>
          <a:xfrm>
            <a:off x="484632" y="749808"/>
            <a:ext cx="8183880" cy="777240"/>
          </a:xfrm>
          <a:prstGeom prst="rect">
            <a:avLst/>
          </a:prstGeom>
          <a:noFill/>
          <a:ln/>
        </p:spPr>
        <p:txBody>
          <a:bodyPr wrap="square" lIns="0" tIns="0" rIns="0" bIns="0" rtlCol="0" anchor="t"/>
          <a:lstStyle/>
          <a:p>
            <a:pPr marL="0" indent="0" algn="l">
              <a:buNone/>
            </a:pPr>
            <a:r>
              <a:rPr lang="en-US" sz="3100" b="1" dirty="0">
                <a:solidFill>
                  <a:srgbClr val="1A1A18"/>
                </a:solidFill>
                <a:latin typeface="Georgia" pitchFamily="34" charset="0"/>
                <a:ea typeface="Georgia" pitchFamily="34" charset="-122"/>
                <a:cs typeface="Georgia" pitchFamily="34" charset="-120"/>
              </a:rPr>
              <a:t>RAG: ground the model in your data</a:t>
            </a:r>
            <a:endParaRPr lang="en-US" sz="3100" dirty="0"/>
          </a:p>
        </p:txBody>
      </p:sp>
      <p:sp>
        <p:nvSpPr>
          <p:cNvPr id="5" name="Shape 2"/>
          <p:cNvSpPr/>
          <p:nvPr/>
        </p:nvSpPr>
        <p:spPr>
          <a:xfrm>
            <a:off x="502920" y="4754880"/>
            <a:ext cx="8138160" cy="0"/>
          </a:xfrm>
          <a:prstGeom prst="line">
            <a:avLst/>
          </a:prstGeom>
          <a:noFill/>
          <a:ln w="12700">
            <a:solidFill>
              <a:srgbClr val="DAD6C8"/>
            </a:solidFill>
            <a:prstDash val="solid"/>
          </a:ln>
        </p:spPr>
        <p:txBody>
          <a:bodyPr/>
          <a:lstStyle/>
          <a:p>
            <a:endParaRPr lang="en-IN"/>
          </a:p>
        </p:txBody>
      </p:sp>
      <p:sp>
        <p:nvSpPr>
          <p:cNvPr id="6" name="Text 3"/>
          <p:cNvSpPr/>
          <p:nvPr/>
        </p:nvSpPr>
        <p:spPr>
          <a:xfrm>
            <a:off x="502920" y="4791456"/>
            <a:ext cx="5486400" cy="274320"/>
          </a:xfrm>
          <a:prstGeom prst="rect">
            <a:avLst/>
          </a:prstGeom>
          <a:noFill/>
          <a:ln/>
        </p:spPr>
        <p:txBody>
          <a:bodyPr wrap="square" lIns="0" tIns="0" rIns="0" bIns="0" rtlCol="0" anchor="ctr"/>
          <a:lstStyle/>
          <a:p>
            <a:pPr marL="0" indent="0" algn="l">
              <a:buNone/>
            </a:pPr>
            <a:r>
              <a:rPr lang="en-US" sz="850" dirty="0">
                <a:solidFill>
                  <a:srgbClr val="6B6862"/>
                </a:solidFill>
                <a:latin typeface="Arial" pitchFamily="34" charset="0"/>
                <a:ea typeface="Arial" pitchFamily="34" charset="-122"/>
                <a:cs typeface="Arial" pitchFamily="34" charset="-120"/>
              </a:rPr>
              <a:t>Claude Training  ·  From Prompts to Agents</a:t>
            </a:r>
            <a:endParaRPr lang="en-US" sz="850" dirty="0"/>
          </a:p>
        </p:txBody>
      </p:sp>
      <p:sp>
        <p:nvSpPr>
          <p:cNvPr id="7" name="Text 4"/>
          <p:cNvSpPr/>
          <p:nvPr/>
        </p:nvSpPr>
        <p:spPr>
          <a:xfrm>
            <a:off x="8183880" y="4791456"/>
            <a:ext cx="457200" cy="274320"/>
          </a:xfrm>
          <a:prstGeom prst="rect">
            <a:avLst/>
          </a:prstGeom>
          <a:noFill/>
          <a:ln/>
        </p:spPr>
        <p:txBody>
          <a:bodyPr wrap="square" lIns="0" tIns="0" rIns="0" bIns="0" rtlCol="0" anchor="ctr"/>
          <a:lstStyle/>
          <a:p>
            <a:pPr marL="0" indent="0" algn="r">
              <a:buNone/>
            </a:pPr>
            <a:r>
              <a:rPr lang="en-US" sz="850" b="1" dirty="0">
                <a:solidFill>
                  <a:srgbClr val="6B6862"/>
                </a:solidFill>
                <a:latin typeface="Arial" pitchFamily="34" charset="0"/>
                <a:ea typeface="Arial" pitchFamily="34" charset="-122"/>
                <a:cs typeface="Arial" pitchFamily="34" charset="-120"/>
              </a:rPr>
              <a:t>04</a:t>
            </a:r>
            <a:endParaRPr lang="en-US" sz="850" dirty="0"/>
          </a:p>
        </p:txBody>
      </p:sp>
      <p:sp>
        <p:nvSpPr>
          <p:cNvPr id="8" name="Text 5"/>
          <p:cNvSpPr/>
          <p:nvPr/>
        </p:nvSpPr>
        <p:spPr>
          <a:xfrm>
            <a:off x="502920" y="1591056"/>
            <a:ext cx="8138160" cy="566928"/>
          </a:xfrm>
          <a:prstGeom prst="rect">
            <a:avLst/>
          </a:prstGeom>
          <a:noFill/>
          <a:ln/>
        </p:spPr>
        <p:txBody>
          <a:bodyPr wrap="square" lIns="0" tIns="0" rIns="0" bIns="0" rtlCol="0" anchor="ctr"/>
          <a:lstStyle/>
          <a:p>
            <a:pPr marL="0" indent="0">
              <a:lnSpc>
                <a:spcPct val="120000"/>
              </a:lnSpc>
              <a:buNone/>
            </a:pPr>
            <a:r>
              <a:rPr lang="en-US" sz="1250" dirty="0">
                <a:solidFill>
                  <a:srgbClr val="2B2A26"/>
                </a:solidFill>
                <a:latin typeface="Arial" pitchFamily="34" charset="0"/>
                <a:ea typeface="Arial" pitchFamily="34" charset="-122"/>
                <a:cs typeface="Arial" pitchFamily="34" charset="-120"/>
              </a:rPr>
              <a:t>Instead of relying on memory, RAG retrieves relevant text at query time and adds it to the prompt — grounding answers in your sources without retraining the model.</a:t>
            </a:r>
            <a:endParaRPr lang="en-US" sz="1250" dirty="0"/>
          </a:p>
        </p:txBody>
      </p:sp>
      <p:sp>
        <p:nvSpPr>
          <p:cNvPr id="9" name="Shape 6"/>
          <p:cNvSpPr/>
          <p:nvPr/>
        </p:nvSpPr>
        <p:spPr>
          <a:xfrm>
            <a:off x="502920" y="2395728"/>
            <a:ext cx="1481328" cy="841248"/>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0" name="Text 7"/>
          <p:cNvSpPr/>
          <p:nvPr/>
        </p:nvSpPr>
        <p:spPr>
          <a:xfrm>
            <a:off x="557784" y="2395728"/>
            <a:ext cx="1371600" cy="841248"/>
          </a:xfrm>
          <a:prstGeom prst="rect">
            <a:avLst/>
          </a:prstGeom>
          <a:noFill/>
          <a:ln/>
        </p:spPr>
        <p:txBody>
          <a:bodyPr wrap="square" lIns="0" tIns="0" rIns="0" bIns="0" rtlCol="0" anchor="ctr"/>
          <a:lstStyle/>
          <a:p>
            <a:pPr marL="0" indent="0" algn="ctr">
              <a:buNone/>
            </a:pPr>
            <a:r>
              <a:rPr lang="en-US" sz="1150" b="1" dirty="0">
                <a:solidFill>
                  <a:srgbClr val="1A1A18"/>
                </a:solidFill>
                <a:latin typeface="Arial" pitchFamily="34" charset="0"/>
                <a:ea typeface="Arial" pitchFamily="34" charset="-122"/>
                <a:cs typeface="Arial" pitchFamily="34" charset="-120"/>
              </a:rPr>
              <a:t>User query</a:t>
            </a:r>
            <a:endParaRPr lang="en-US" sz="1150" dirty="0"/>
          </a:p>
        </p:txBody>
      </p:sp>
      <p:sp>
        <p:nvSpPr>
          <p:cNvPr id="11" name="Text 8"/>
          <p:cNvSpPr/>
          <p:nvPr/>
        </p:nvSpPr>
        <p:spPr>
          <a:xfrm>
            <a:off x="1965960" y="2395728"/>
            <a:ext cx="201168" cy="841248"/>
          </a:xfrm>
          <a:prstGeom prst="rect">
            <a:avLst/>
          </a:prstGeom>
          <a:noFill/>
          <a:ln/>
        </p:spPr>
        <p:txBody>
          <a:bodyPr wrap="square" lIns="0" tIns="0" rIns="0" bIns="0" rtlCol="0" anchor="ctr"/>
          <a:lstStyle/>
          <a:p>
            <a:pPr marL="0" indent="0" algn="ctr">
              <a:buNone/>
            </a:pPr>
            <a:r>
              <a:rPr lang="en-US" sz="1800" b="1" dirty="0">
                <a:solidFill>
                  <a:srgbClr val="D97757"/>
                </a:solidFill>
                <a:latin typeface="Arial" pitchFamily="34" charset="0"/>
                <a:ea typeface="Arial" pitchFamily="34" charset="-122"/>
                <a:cs typeface="Arial" pitchFamily="34" charset="-120"/>
              </a:rPr>
              <a:t>→</a:t>
            </a:r>
            <a:endParaRPr lang="en-US" sz="1800" dirty="0"/>
          </a:p>
        </p:txBody>
      </p:sp>
      <p:sp>
        <p:nvSpPr>
          <p:cNvPr id="12" name="Shape 9"/>
          <p:cNvSpPr/>
          <p:nvPr/>
        </p:nvSpPr>
        <p:spPr>
          <a:xfrm>
            <a:off x="2148840" y="2395728"/>
            <a:ext cx="1481328" cy="841248"/>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3" name="Text 10"/>
          <p:cNvSpPr/>
          <p:nvPr/>
        </p:nvSpPr>
        <p:spPr>
          <a:xfrm>
            <a:off x="2203704" y="2395728"/>
            <a:ext cx="1371600" cy="841248"/>
          </a:xfrm>
          <a:prstGeom prst="rect">
            <a:avLst/>
          </a:prstGeom>
          <a:noFill/>
          <a:ln/>
        </p:spPr>
        <p:txBody>
          <a:bodyPr wrap="square" lIns="0" tIns="0" rIns="0" bIns="0" rtlCol="0" anchor="ctr"/>
          <a:lstStyle/>
          <a:p>
            <a:pPr marL="0" indent="0" algn="ctr">
              <a:buNone/>
            </a:pPr>
            <a:r>
              <a:rPr lang="en-US" sz="1150" b="1" dirty="0">
                <a:solidFill>
                  <a:srgbClr val="1A1A18"/>
                </a:solidFill>
                <a:latin typeface="Arial" pitchFamily="34" charset="0"/>
                <a:ea typeface="Arial" pitchFamily="34" charset="-122"/>
                <a:cs typeface="Arial" pitchFamily="34" charset="-120"/>
              </a:rPr>
              <a:t>Embed query</a:t>
            </a:r>
            <a:endParaRPr lang="en-US" sz="1150" dirty="0"/>
          </a:p>
        </p:txBody>
      </p:sp>
      <p:sp>
        <p:nvSpPr>
          <p:cNvPr id="14" name="Text 11"/>
          <p:cNvSpPr/>
          <p:nvPr/>
        </p:nvSpPr>
        <p:spPr>
          <a:xfrm>
            <a:off x="3611880" y="2395728"/>
            <a:ext cx="201168" cy="841248"/>
          </a:xfrm>
          <a:prstGeom prst="rect">
            <a:avLst/>
          </a:prstGeom>
          <a:noFill/>
          <a:ln/>
        </p:spPr>
        <p:txBody>
          <a:bodyPr wrap="square" lIns="0" tIns="0" rIns="0" bIns="0" rtlCol="0" anchor="ctr"/>
          <a:lstStyle/>
          <a:p>
            <a:pPr marL="0" indent="0" algn="ctr">
              <a:buNone/>
            </a:pPr>
            <a:r>
              <a:rPr lang="en-US" sz="1800" b="1" dirty="0">
                <a:solidFill>
                  <a:srgbClr val="D97757"/>
                </a:solidFill>
                <a:latin typeface="Arial" pitchFamily="34" charset="0"/>
                <a:ea typeface="Arial" pitchFamily="34" charset="-122"/>
                <a:cs typeface="Arial" pitchFamily="34" charset="-120"/>
              </a:rPr>
              <a:t>→</a:t>
            </a:r>
            <a:endParaRPr lang="en-US" sz="1800" dirty="0"/>
          </a:p>
        </p:txBody>
      </p:sp>
      <p:sp>
        <p:nvSpPr>
          <p:cNvPr id="15" name="Shape 12"/>
          <p:cNvSpPr/>
          <p:nvPr/>
        </p:nvSpPr>
        <p:spPr>
          <a:xfrm>
            <a:off x="3794760" y="2395728"/>
            <a:ext cx="1481328" cy="841248"/>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6" name="Text 13"/>
          <p:cNvSpPr/>
          <p:nvPr/>
        </p:nvSpPr>
        <p:spPr>
          <a:xfrm>
            <a:off x="3849624" y="2395728"/>
            <a:ext cx="1371600" cy="841248"/>
          </a:xfrm>
          <a:prstGeom prst="rect">
            <a:avLst/>
          </a:prstGeom>
          <a:noFill/>
          <a:ln/>
        </p:spPr>
        <p:txBody>
          <a:bodyPr wrap="square" lIns="0" tIns="0" rIns="0" bIns="0" rtlCol="0" anchor="ctr"/>
          <a:lstStyle/>
          <a:p>
            <a:pPr marL="0" indent="0" algn="ctr">
              <a:buNone/>
            </a:pPr>
            <a:r>
              <a:rPr lang="en-US" sz="1150" b="1" dirty="0">
                <a:solidFill>
                  <a:srgbClr val="1A1A18"/>
                </a:solidFill>
                <a:latin typeface="Arial" pitchFamily="34" charset="0"/>
                <a:ea typeface="Arial" pitchFamily="34" charset="-122"/>
                <a:cs typeface="Arial" pitchFamily="34" charset="-120"/>
              </a:rPr>
              <a:t>Vector search</a:t>
            </a:r>
            <a:endParaRPr lang="en-US" sz="1150" dirty="0"/>
          </a:p>
        </p:txBody>
      </p:sp>
      <p:sp>
        <p:nvSpPr>
          <p:cNvPr id="17" name="Text 14"/>
          <p:cNvSpPr/>
          <p:nvPr/>
        </p:nvSpPr>
        <p:spPr>
          <a:xfrm>
            <a:off x="5257800" y="2395728"/>
            <a:ext cx="201168" cy="841248"/>
          </a:xfrm>
          <a:prstGeom prst="rect">
            <a:avLst/>
          </a:prstGeom>
          <a:noFill/>
          <a:ln/>
        </p:spPr>
        <p:txBody>
          <a:bodyPr wrap="square" lIns="0" tIns="0" rIns="0" bIns="0" rtlCol="0" anchor="ctr"/>
          <a:lstStyle/>
          <a:p>
            <a:pPr marL="0" indent="0" algn="ctr">
              <a:buNone/>
            </a:pPr>
            <a:r>
              <a:rPr lang="en-US" sz="1800" b="1" dirty="0">
                <a:solidFill>
                  <a:srgbClr val="D97757"/>
                </a:solidFill>
                <a:latin typeface="Arial" pitchFamily="34" charset="0"/>
                <a:ea typeface="Arial" pitchFamily="34" charset="-122"/>
                <a:cs typeface="Arial" pitchFamily="34" charset="-120"/>
              </a:rPr>
              <a:t>→</a:t>
            </a:r>
            <a:endParaRPr lang="en-US" sz="1800" dirty="0"/>
          </a:p>
        </p:txBody>
      </p:sp>
      <p:sp>
        <p:nvSpPr>
          <p:cNvPr id="18" name="Shape 15"/>
          <p:cNvSpPr/>
          <p:nvPr/>
        </p:nvSpPr>
        <p:spPr>
          <a:xfrm>
            <a:off x="5440680" y="2395728"/>
            <a:ext cx="1481328" cy="841248"/>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9" name="Text 16"/>
          <p:cNvSpPr/>
          <p:nvPr/>
        </p:nvSpPr>
        <p:spPr>
          <a:xfrm>
            <a:off x="5495544" y="2395728"/>
            <a:ext cx="1371600" cy="841248"/>
          </a:xfrm>
          <a:prstGeom prst="rect">
            <a:avLst/>
          </a:prstGeom>
          <a:noFill/>
          <a:ln/>
        </p:spPr>
        <p:txBody>
          <a:bodyPr wrap="square" lIns="0" tIns="0" rIns="0" bIns="0" rtlCol="0" anchor="ctr"/>
          <a:lstStyle/>
          <a:p>
            <a:pPr marL="0" indent="0" algn="ctr">
              <a:buNone/>
            </a:pPr>
            <a:r>
              <a:rPr lang="en-US" sz="1150" b="1" dirty="0">
                <a:solidFill>
                  <a:srgbClr val="1A1A18"/>
                </a:solidFill>
                <a:latin typeface="Arial" pitchFamily="34" charset="0"/>
                <a:ea typeface="Arial" pitchFamily="34" charset="-122"/>
                <a:cs typeface="Arial" pitchFamily="34" charset="-120"/>
              </a:rPr>
              <a:t>Augment prompt</a:t>
            </a:r>
            <a:endParaRPr lang="en-US" sz="1150" dirty="0"/>
          </a:p>
        </p:txBody>
      </p:sp>
      <p:sp>
        <p:nvSpPr>
          <p:cNvPr id="20" name="Text 17"/>
          <p:cNvSpPr/>
          <p:nvPr/>
        </p:nvSpPr>
        <p:spPr>
          <a:xfrm>
            <a:off x="6903720" y="2395728"/>
            <a:ext cx="201168" cy="841248"/>
          </a:xfrm>
          <a:prstGeom prst="rect">
            <a:avLst/>
          </a:prstGeom>
          <a:noFill/>
          <a:ln/>
        </p:spPr>
        <p:txBody>
          <a:bodyPr wrap="square" lIns="0" tIns="0" rIns="0" bIns="0" rtlCol="0" anchor="ctr"/>
          <a:lstStyle/>
          <a:p>
            <a:pPr marL="0" indent="0" algn="ctr">
              <a:buNone/>
            </a:pPr>
            <a:r>
              <a:rPr lang="en-US" sz="1800" b="1" dirty="0">
                <a:solidFill>
                  <a:srgbClr val="D97757"/>
                </a:solidFill>
                <a:latin typeface="Arial" pitchFamily="34" charset="0"/>
                <a:ea typeface="Arial" pitchFamily="34" charset="-122"/>
                <a:cs typeface="Arial" pitchFamily="34" charset="-120"/>
              </a:rPr>
              <a:t>→</a:t>
            </a:r>
            <a:endParaRPr lang="en-US" sz="1800" dirty="0"/>
          </a:p>
        </p:txBody>
      </p:sp>
      <p:sp>
        <p:nvSpPr>
          <p:cNvPr id="21" name="Shape 18"/>
          <p:cNvSpPr/>
          <p:nvPr/>
        </p:nvSpPr>
        <p:spPr>
          <a:xfrm>
            <a:off x="7086600" y="2395728"/>
            <a:ext cx="1481328" cy="841248"/>
          </a:xfrm>
          <a:prstGeom prst="rect">
            <a:avLst/>
          </a:prstGeom>
          <a:solidFill>
            <a:srgbClr val="1A1A18"/>
          </a:solidFill>
          <a:ln w="12700">
            <a:solidFill>
              <a:srgbClr val="1A1A18"/>
            </a:solidFill>
            <a:prstDash val="solid"/>
          </a:ln>
          <a:effectLst>
            <a:outerShdw blurRad="88900" dist="38100" dir="5400000" algn="bl" rotWithShape="0">
              <a:srgbClr val="9C9486">
                <a:alpha val="22000"/>
              </a:srgbClr>
            </a:outerShdw>
          </a:effectLst>
        </p:spPr>
        <p:txBody>
          <a:bodyPr/>
          <a:lstStyle/>
          <a:p>
            <a:endParaRPr lang="en-IN"/>
          </a:p>
        </p:txBody>
      </p:sp>
      <p:sp>
        <p:nvSpPr>
          <p:cNvPr id="22" name="Text 19"/>
          <p:cNvSpPr/>
          <p:nvPr/>
        </p:nvSpPr>
        <p:spPr>
          <a:xfrm>
            <a:off x="7141464" y="2395728"/>
            <a:ext cx="1371600" cy="841248"/>
          </a:xfrm>
          <a:prstGeom prst="rect">
            <a:avLst/>
          </a:prstGeom>
          <a:noFill/>
          <a:ln/>
        </p:spPr>
        <p:txBody>
          <a:bodyPr wrap="square" lIns="0" tIns="0" rIns="0" bIns="0" rtlCol="0" anchor="ctr"/>
          <a:lstStyle/>
          <a:p>
            <a:pPr marL="0" indent="0" algn="ctr">
              <a:buNone/>
            </a:pPr>
            <a:r>
              <a:rPr lang="en-US" sz="1150" b="1" dirty="0">
                <a:solidFill>
                  <a:srgbClr val="F0EEE6"/>
                </a:solidFill>
                <a:latin typeface="Arial" pitchFamily="34" charset="0"/>
                <a:ea typeface="Arial" pitchFamily="34" charset="-122"/>
                <a:cs typeface="Arial" pitchFamily="34" charset="-120"/>
              </a:rPr>
              <a:t>Generate answer</a:t>
            </a:r>
            <a:endParaRPr lang="en-US" sz="1150" dirty="0"/>
          </a:p>
        </p:txBody>
      </p:sp>
      <p:sp>
        <p:nvSpPr>
          <p:cNvPr id="23" name="Shape 20"/>
          <p:cNvSpPr/>
          <p:nvPr/>
        </p:nvSpPr>
        <p:spPr>
          <a:xfrm>
            <a:off x="502920" y="3456432"/>
            <a:ext cx="8138160" cy="841248"/>
          </a:xfrm>
          <a:prstGeom prst="rect">
            <a:avLst/>
          </a:prstGeom>
          <a:solidFill>
            <a:srgbClr val="EAE7DC"/>
          </a:solidFill>
          <a:ln w="12700">
            <a:solidFill>
              <a:srgbClr val="DAD6C8"/>
            </a:solidFill>
            <a:prstDash val="solid"/>
          </a:ln>
        </p:spPr>
        <p:txBody>
          <a:bodyPr/>
          <a:lstStyle/>
          <a:p>
            <a:endParaRPr lang="en-IN"/>
          </a:p>
        </p:txBody>
      </p:sp>
      <p:sp>
        <p:nvSpPr>
          <p:cNvPr id="24" name="Text 21"/>
          <p:cNvSpPr/>
          <p:nvPr/>
        </p:nvSpPr>
        <p:spPr>
          <a:xfrm>
            <a:off x="713232" y="3584448"/>
            <a:ext cx="2743200" cy="274320"/>
          </a:xfrm>
          <a:prstGeom prst="rect">
            <a:avLst/>
          </a:prstGeom>
          <a:noFill/>
          <a:ln/>
        </p:spPr>
        <p:txBody>
          <a:bodyPr wrap="square" lIns="0" tIns="0" rIns="0" bIns="0" rtlCol="0" anchor="ctr"/>
          <a:lstStyle/>
          <a:p>
            <a:pPr marL="0" indent="0">
              <a:buNone/>
            </a:pPr>
            <a:r>
              <a:rPr lang="en-US" sz="950" b="1" kern="0" spc="140" dirty="0">
                <a:solidFill>
                  <a:srgbClr val="B3522F"/>
                </a:solidFill>
                <a:latin typeface="Arial" pitchFamily="34" charset="0"/>
                <a:ea typeface="Arial" pitchFamily="34" charset="-122"/>
                <a:cs typeface="Arial" pitchFamily="34" charset="-120"/>
              </a:rPr>
              <a:t>INDEXING (OFFLINE)</a:t>
            </a:r>
            <a:endParaRPr lang="en-US" sz="950" dirty="0"/>
          </a:p>
        </p:txBody>
      </p:sp>
      <p:sp>
        <p:nvSpPr>
          <p:cNvPr id="25" name="Text 22"/>
          <p:cNvSpPr/>
          <p:nvPr/>
        </p:nvSpPr>
        <p:spPr>
          <a:xfrm>
            <a:off x="713232" y="3822192"/>
            <a:ext cx="7726680" cy="384048"/>
          </a:xfrm>
          <a:prstGeom prst="rect">
            <a:avLst/>
          </a:prstGeom>
          <a:noFill/>
          <a:ln/>
        </p:spPr>
        <p:txBody>
          <a:bodyPr wrap="square" lIns="0" tIns="0" rIns="0" bIns="0" rtlCol="0" anchor="ctr"/>
          <a:lstStyle/>
          <a:p>
            <a:pPr marL="0" indent="0">
              <a:buNone/>
            </a:pPr>
            <a:r>
              <a:rPr lang="en-US" sz="1150" b="1" dirty="0">
                <a:solidFill>
                  <a:srgbClr val="1A1A18"/>
                </a:solidFill>
                <a:latin typeface="Arial" pitchFamily="34" charset="0"/>
                <a:ea typeface="Arial" pitchFamily="34" charset="-122"/>
                <a:cs typeface="Arial" pitchFamily="34" charset="-120"/>
              </a:rPr>
              <a:t>Documents  </a:t>
            </a:r>
            <a:r>
              <a:rPr lang="en-US" sz="1150" dirty="0">
                <a:solidFill>
                  <a:srgbClr val="6B6862"/>
                </a:solidFill>
                <a:latin typeface="Arial" pitchFamily="34" charset="0"/>
                <a:ea typeface="Arial" pitchFamily="34" charset="-122"/>
                <a:cs typeface="Arial" pitchFamily="34" charset="-120"/>
              </a:rPr>
              <a:t>→  chunk  →  embed  →  store vectors in a vector database, ready to be searched at query time.</a:t>
            </a:r>
            <a:endParaRPr lang="en-US" sz="1150" dirty="0"/>
          </a:p>
        </p:txBody>
      </p:sp>
      <p:sp>
        <p:nvSpPr>
          <p:cNvPr id="26" name="Text 23"/>
          <p:cNvSpPr/>
          <p:nvPr/>
        </p:nvSpPr>
        <p:spPr>
          <a:xfrm>
            <a:off x="502920" y="4389120"/>
            <a:ext cx="8138160" cy="292608"/>
          </a:xfrm>
          <a:prstGeom prst="rect">
            <a:avLst/>
          </a:prstGeom>
          <a:noFill/>
          <a:ln/>
        </p:spPr>
        <p:txBody>
          <a:bodyPr wrap="square" lIns="0" tIns="0" rIns="0" bIns="0" rtlCol="0" anchor="ctr"/>
          <a:lstStyle/>
          <a:p>
            <a:pPr marL="0" indent="0" algn="ctr">
              <a:buNone/>
            </a:pPr>
            <a:r>
              <a:rPr lang="en-US" sz="1200" i="1" dirty="0">
                <a:solidFill>
                  <a:srgbClr val="2B2A26"/>
                </a:solidFill>
                <a:latin typeface="Georgia" pitchFamily="34" charset="0"/>
                <a:ea typeface="Georgia" pitchFamily="34" charset="-122"/>
                <a:cs typeface="Georgia" pitchFamily="34" charset="-120"/>
              </a:rPr>
              <a:t>No retraining · fewer hallucinations · cited sources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EEE6"/>
        </a:solidFill>
        <a:effectLst/>
      </p:bgPr>
    </p:bg>
    <p:spTree>
      <p:nvGrpSpPr>
        <p:cNvPr id="1" name=""/>
        <p:cNvGrpSpPr/>
        <p:nvPr/>
      </p:nvGrpSpPr>
      <p:grpSpPr>
        <a:xfrm>
          <a:off x="0" y="0"/>
          <a:ext cx="0" cy="0"/>
          <a:chOff x="0" y="0"/>
          <a:chExt cx="0" cy="0"/>
        </a:xfrm>
      </p:grpSpPr>
      <p:pic>
        <p:nvPicPr>
          <p:cNvPr id="2" name="Image 0" descr="/agent/turn2/workspace/assets/spark-coral.png"/>
          <p:cNvPicPr>
            <a:picLocks noChangeAspect="1"/>
          </p:cNvPicPr>
          <p:nvPr/>
        </p:nvPicPr>
        <p:blipFill>
          <a:blip r:embed="rId3"/>
          <a:stretch>
            <a:fillRect/>
          </a:stretch>
        </p:blipFill>
        <p:spPr>
          <a:xfrm>
            <a:off x="502920" y="457200"/>
            <a:ext cx="237744" cy="237744"/>
          </a:xfrm>
          <a:prstGeom prst="rect">
            <a:avLst/>
          </a:prstGeom>
        </p:spPr>
      </p:pic>
      <p:sp>
        <p:nvSpPr>
          <p:cNvPr id="3" name="Text 0"/>
          <p:cNvSpPr/>
          <p:nvPr/>
        </p:nvSpPr>
        <p:spPr>
          <a:xfrm>
            <a:off x="841248" y="429768"/>
            <a:ext cx="7315200" cy="292608"/>
          </a:xfrm>
          <a:prstGeom prst="rect">
            <a:avLst/>
          </a:prstGeom>
          <a:noFill/>
          <a:ln/>
        </p:spPr>
        <p:txBody>
          <a:bodyPr wrap="square" lIns="0" tIns="0" rIns="0" bIns="0" rtlCol="0" anchor="ctr"/>
          <a:lstStyle/>
          <a:p>
            <a:pPr marL="0" indent="0" algn="l">
              <a:buNone/>
            </a:pPr>
            <a:r>
              <a:rPr lang="en-US" sz="1150" b="1" kern="0" spc="220" dirty="0">
                <a:solidFill>
                  <a:srgbClr val="B3522F"/>
                </a:solidFill>
                <a:latin typeface="Arial" pitchFamily="34" charset="0"/>
                <a:ea typeface="Arial" pitchFamily="34" charset="-122"/>
                <a:cs typeface="Arial" pitchFamily="34" charset="-120"/>
              </a:rPr>
              <a:t>UNDER THE HOOD</a:t>
            </a:r>
            <a:endParaRPr lang="en-US" sz="1150" dirty="0"/>
          </a:p>
        </p:txBody>
      </p:sp>
      <p:sp>
        <p:nvSpPr>
          <p:cNvPr id="4" name="Text 1"/>
          <p:cNvSpPr/>
          <p:nvPr/>
        </p:nvSpPr>
        <p:spPr>
          <a:xfrm>
            <a:off x="484632" y="749808"/>
            <a:ext cx="8183880" cy="777240"/>
          </a:xfrm>
          <a:prstGeom prst="rect">
            <a:avLst/>
          </a:prstGeom>
          <a:noFill/>
          <a:ln/>
        </p:spPr>
        <p:txBody>
          <a:bodyPr wrap="square" lIns="0" tIns="0" rIns="0" bIns="0" rtlCol="0" anchor="t"/>
          <a:lstStyle/>
          <a:p>
            <a:pPr marL="0" indent="0" algn="l">
              <a:buNone/>
            </a:pPr>
            <a:r>
              <a:rPr lang="en-US" sz="3100" b="1" dirty="0">
                <a:solidFill>
                  <a:srgbClr val="1A1A18"/>
                </a:solidFill>
                <a:latin typeface="Georgia" pitchFamily="34" charset="0"/>
                <a:ea typeface="Georgia" pitchFamily="34" charset="-122"/>
                <a:cs typeface="Georgia" pitchFamily="34" charset="-120"/>
              </a:rPr>
              <a:t>Building blocks — and when to reach for RAG</a:t>
            </a:r>
            <a:endParaRPr lang="en-US" sz="3100" dirty="0"/>
          </a:p>
        </p:txBody>
      </p:sp>
      <p:sp>
        <p:nvSpPr>
          <p:cNvPr id="5" name="Shape 2"/>
          <p:cNvSpPr/>
          <p:nvPr/>
        </p:nvSpPr>
        <p:spPr>
          <a:xfrm>
            <a:off x="502920" y="4754880"/>
            <a:ext cx="8138160" cy="0"/>
          </a:xfrm>
          <a:prstGeom prst="line">
            <a:avLst/>
          </a:prstGeom>
          <a:noFill/>
          <a:ln w="12700">
            <a:solidFill>
              <a:srgbClr val="DAD6C8"/>
            </a:solidFill>
            <a:prstDash val="solid"/>
          </a:ln>
        </p:spPr>
        <p:txBody>
          <a:bodyPr/>
          <a:lstStyle/>
          <a:p>
            <a:endParaRPr lang="en-IN"/>
          </a:p>
        </p:txBody>
      </p:sp>
      <p:sp>
        <p:nvSpPr>
          <p:cNvPr id="6" name="Text 3"/>
          <p:cNvSpPr/>
          <p:nvPr/>
        </p:nvSpPr>
        <p:spPr>
          <a:xfrm>
            <a:off x="502920" y="4791456"/>
            <a:ext cx="5486400" cy="274320"/>
          </a:xfrm>
          <a:prstGeom prst="rect">
            <a:avLst/>
          </a:prstGeom>
          <a:noFill/>
          <a:ln/>
        </p:spPr>
        <p:txBody>
          <a:bodyPr wrap="square" lIns="0" tIns="0" rIns="0" bIns="0" rtlCol="0" anchor="ctr"/>
          <a:lstStyle/>
          <a:p>
            <a:pPr marL="0" indent="0" algn="l">
              <a:buNone/>
            </a:pPr>
            <a:r>
              <a:rPr lang="en-US" sz="850" dirty="0">
                <a:solidFill>
                  <a:srgbClr val="6B6862"/>
                </a:solidFill>
                <a:latin typeface="Arial" pitchFamily="34" charset="0"/>
                <a:ea typeface="Arial" pitchFamily="34" charset="-122"/>
                <a:cs typeface="Arial" pitchFamily="34" charset="-120"/>
              </a:rPr>
              <a:t>Claude Training  ·  From Prompts to Agents</a:t>
            </a:r>
            <a:endParaRPr lang="en-US" sz="850" dirty="0"/>
          </a:p>
        </p:txBody>
      </p:sp>
      <p:sp>
        <p:nvSpPr>
          <p:cNvPr id="7" name="Text 4"/>
          <p:cNvSpPr/>
          <p:nvPr/>
        </p:nvSpPr>
        <p:spPr>
          <a:xfrm>
            <a:off x="8183880" y="4791456"/>
            <a:ext cx="457200" cy="274320"/>
          </a:xfrm>
          <a:prstGeom prst="rect">
            <a:avLst/>
          </a:prstGeom>
          <a:noFill/>
          <a:ln/>
        </p:spPr>
        <p:txBody>
          <a:bodyPr wrap="square" lIns="0" tIns="0" rIns="0" bIns="0" rtlCol="0" anchor="ctr"/>
          <a:lstStyle/>
          <a:p>
            <a:pPr marL="0" indent="0" algn="r">
              <a:buNone/>
            </a:pPr>
            <a:r>
              <a:rPr lang="en-US" sz="850" b="1" dirty="0">
                <a:solidFill>
                  <a:srgbClr val="6B6862"/>
                </a:solidFill>
                <a:latin typeface="Arial" pitchFamily="34" charset="0"/>
                <a:ea typeface="Arial" pitchFamily="34" charset="-122"/>
                <a:cs typeface="Arial" pitchFamily="34" charset="-120"/>
              </a:rPr>
              <a:t>05</a:t>
            </a:r>
            <a:endParaRPr lang="en-US" sz="850" dirty="0"/>
          </a:p>
        </p:txBody>
      </p:sp>
      <p:sp>
        <p:nvSpPr>
          <p:cNvPr id="8" name="Shape 5"/>
          <p:cNvSpPr/>
          <p:nvPr/>
        </p:nvSpPr>
        <p:spPr>
          <a:xfrm>
            <a:off x="502920" y="1783080"/>
            <a:ext cx="3913632" cy="2697480"/>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9" name="Text 6"/>
          <p:cNvSpPr/>
          <p:nvPr/>
        </p:nvSpPr>
        <p:spPr>
          <a:xfrm>
            <a:off x="758952" y="1984248"/>
            <a:ext cx="3456432" cy="274320"/>
          </a:xfrm>
          <a:prstGeom prst="rect">
            <a:avLst/>
          </a:prstGeom>
          <a:noFill/>
          <a:ln/>
        </p:spPr>
        <p:txBody>
          <a:bodyPr wrap="square" lIns="0" tIns="0" rIns="0" bIns="0" rtlCol="0" anchor="ctr"/>
          <a:lstStyle/>
          <a:p>
            <a:pPr marL="0" indent="0">
              <a:buNone/>
            </a:pPr>
            <a:r>
              <a:rPr lang="en-US" sz="1000" b="1" kern="0" spc="140" dirty="0">
                <a:solidFill>
                  <a:srgbClr val="B3522F"/>
                </a:solidFill>
                <a:latin typeface="Arial" pitchFamily="34" charset="0"/>
                <a:ea typeface="Arial" pitchFamily="34" charset="-122"/>
                <a:cs typeface="Arial" pitchFamily="34" charset="-120"/>
              </a:rPr>
              <a:t>CORE COMPONENTS</a:t>
            </a:r>
            <a:endParaRPr lang="en-US" sz="1000" dirty="0"/>
          </a:p>
        </p:txBody>
      </p:sp>
      <p:sp>
        <p:nvSpPr>
          <p:cNvPr id="10" name="Text 7"/>
          <p:cNvSpPr/>
          <p:nvPr/>
        </p:nvSpPr>
        <p:spPr>
          <a:xfrm>
            <a:off x="758952" y="2350008"/>
            <a:ext cx="3456432" cy="502920"/>
          </a:xfrm>
          <a:prstGeom prst="rect">
            <a:avLst/>
          </a:prstGeom>
          <a:noFill/>
          <a:ln/>
        </p:spPr>
        <p:txBody>
          <a:bodyPr wrap="square" lIns="0" tIns="0" rIns="0" bIns="0" rtlCol="0" anchor="t"/>
          <a:lstStyle/>
          <a:p>
            <a:pPr marL="0" indent="0">
              <a:lnSpc>
                <a:spcPct val="110000"/>
              </a:lnSpc>
              <a:buNone/>
            </a:pPr>
            <a:r>
              <a:rPr lang="en-US" sz="1150" b="1" dirty="0">
                <a:solidFill>
                  <a:srgbClr val="1A1A18"/>
                </a:solidFill>
                <a:latin typeface="Arial" pitchFamily="34" charset="0"/>
                <a:ea typeface="Arial" pitchFamily="34" charset="-122"/>
                <a:cs typeface="Arial" pitchFamily="34" charset="-120"/>
              </a:rPr>
              <a:t>Chunking  </a:t>
            </a:r>
            <a:r>
              <a:rPr lang="en-US" sz="1150" dirty="0">
                <a:solidFill>
                  <a:srgbClr val="6B6862"/>
                </a:solidFill>
                <a:latin typeface="Arial" pitchFamily="34" charset="0"/>
                <a:ea typeface="Arial" pitchFamily="34" charset="-122"/>
                <a:cs typeface="Arial" pitchFamily="34" charset="-120"/>
              </a:rPr>
              <a:t>Split sources into retrievable passages.</a:t>
            </a:r>
            <a:endParaRPr lang="en-US" sz="1150" dirty="0"/>
          </a:p>
        </p:txBody>
      </p:sp>
      <p:sp>
        <p:nvSpPr>
          <p:cNvPr id="11" name="Text 8"/>
          <p:cNvSpPr/>
          <p:nvPr/>
        </p:nvSpPr>
        <p:spPr>
          <a:xfrm>
            <a:off x="758952" y="2871216"/>
            <a:ext cx="3456432" cy="502920"/>
          </a:xfrm>
          <a:prstGeom prst="rect">
            <a:avLst/>
          </a:prstGeom>
          <a:noFill/>
          <a:ln/>
        </p:spPr>
        <p:txBody>
          <a:bodyPr wrap="square" lIns="0" tIns="0" rIns="0" bIns="0" rtlCol="0" anchor="t"/>
          <a:lstStyle/>
          <a:p>
            <a:pPr marL="0" indent="0">
              <a:lnSpc>
                <a:spcPct val="110000"/>
              </a:lnSpc>
              <a:buNone/>
            </a:pPr>
            <a:r>
              <a:rPr lang="en-US" sz="1150" b="1" dirty="0">
                <a:solidFill>
                  <a:srgbClr val="1A1A18"/>
                </a:solidFill>
                <a:latin typeface="Arial" pitchFamily="34" charset="0"/>
                <a:ea typeface="Arial" pitchFamily="34" charset="-122"/>
                <a:cs typeface="Arial" pitchFamily="34" charset="-120"/>
              </a:rPr>
              <a:t>Embeddings  </a:t>
            </a:r>
            <a:r>
              <a:rPr lang="en-US" sz="1150" dirty="0">
                <a:solidFill>
                  <a:srgbClr val="6B6862"/>
                </a:solidFill>
                <a:latin typeface="Arial" pitchFamily="34" charset="0"/>
                <a:ea typeface="Arial" pitchFamily="34" charset="-122"/>
                <a:cs typeface="Arial" pitchFamily="34" charset="-120"/>
              </a:rPr>
              <a:t>Map text to vectors that capture meaning.</a:t>
            </a:r>
            <a:endParaRPr lang="en-US" sz="1150" dirty="0"/>
          </a:p>
        </p:txBody>
      </p:sp>
      <p:sp>
        <p:nvSpPr>
          <p:cNvPr id="12" name="Text 9"/>
          <p:cNvSpPr/>
          <p:nvPr/>
        </p:nvSpPr>
        <p:spPr>
          <a:xfrm>
            <a:off x="758952" y="3392424"/>
            <a:ext cx="3456432" cy="502920"/>
          </a:xfrm>
          <a:prstGeom prst="rect">
            <a:avLst/>
          </a:prstGeom>
          <a:noFill/>
          <a:ln/>
        </p:spPr>
        <p:txBody>
          <a:bodyPr wrap="square" lIns="0" tIns="0" rIns="0" bIns="0" rtlCol="0" anchor="t"/>
          <a:lstStyle/>
          <a:p>
            <a:pPr marL="0" indent="0">
              <a:lnSpc>
                <a:spcPct val="110000"/>
              </a:lnSpc>
              <a:buNone/>
            </a:pPr>
            <a:r>
              <a:rPr lang="en-US" sz="1150" b="1" dirty="0">
                <a:solidFill>
                  <a:srgbClr val="1A1A18"/>
                </a:solidFill>
                <a:latin typeface="Arial" pitchFamily="34" charset="0"/>
                <a:ea typeface="Arial" pitchFamily="34" charset="-122"/>
                <a:cs typeface="Arial" pitchFamily="34" charset="-120"/>
              </a:rPr>
              <a:t>Vector store  </a:t>
            </a:r>
            <a:r>
              <a:rPr lang="en-US" sz="1150" dirty="0">
                <a:solidFill>
                  <a:srgbClr val="6B6862"/>
                </a:solidFill>
                <a:latin typeface="Arial" pitchFamily="34" charset="0"/>
                <a:ea typeface="Arial" pitchFamily="34" charset="-122"/>
                <a:cs typeface="Arial" pitchFamily="34" charset="-120"/>
              </a:rPr>
              <a:t>Approximate-nearest-neighbour search over vectors.</a:t>
            </a:r>
            <a:endParaRPr lang="en-US" sz="1150" dirty="0"/>
          </a:p>
        </p:txBody>
      </p:sp>
      <p:sp>
        <p:nvSpPr>
          <p:cNvPr id="13" name="Text 10"/>
          <p:cNvSpPr/>
          <p:nvPr/>
        </p:nvSpPr>
        <p:spPr>
          <a:xfrm>
            <a:off x="758952" y="3913632"/>
            <a:ext cx="3456432" cy="502920"/>
          </a:xfrm>
          <a:prstGeom prst="rect">
            <a:avLst/>
          </a:prstGeom>
          <a:noFill/>
          <a:ln/>
        </p:spPr>
        <p:txBody>
          <a:bodyPr wrap="square" lIns="0" tIns="0" rIns="0" bIns="0" rtlCol="0" anchor="t"/>
          <a:lstStyle/>
          <a:p>
            <a:pPr marL="0" indent="0">
              <a:lnSpc>
                <a:spcPct val="110000"/>
              </a:lnSpc>
              <a:buNone/>
            </a:pPr>
            <a:r>
              <a:rPr lang="en-US" sz="1150" b="1" dirty="0">
                <a:solidFill>
                  <a:srgbClr val="1A1A18"/>
                </a:solidFill>
                <a:latin typeface="Arial" pitchFamily="34" charset="0"/>
                <a:ea typeface="Arial" pitchFamily="34" charset="-122"/>
                <a:cs typeface="Arial" pitchFamily="34" charset="-120"/>
              </a:rPr>
              <a:t>Reranking  </a:t>
            </a:r>
            <a:r>
              <a:rPr lang="en-US" sz="1150" dirty="0">
                <a:solidFill>
                  <a:srgbClr val="6B6862"/>
                </a:solidFill>
                <a:latin typeface="Arial" pitchFamily="34" charset="0"/>
                <a:ea typeface="Arial" pitchFamily="34" charset="-122"/>
                <a:cs typeface="Arial" pitchFamily="34" charset="-120"/>
              </a:rPr>
              <a:t>Reorder hits so the best context lands in the prompt.</a:t>
            </a:r>
            <a:endParaRPr lang="en-US" sz="1150" dirty="0"/>
          </a:p>
        </p:txBody>
      </p:sp>
      <p:sp>
        <p:nvSpPr>
          <p:cNvPr id="14" name="Shape 11"/>
          <p:cNvSpPr/>
          <p:nvPr/>
        </p:nvSpPr>
        <p:spPr>
          <a:xfrm>
            <a:off x="4727448" y="1783080"/>
            <a:ext cx="3913632" cy="2697480"/>
          </a:xfrm>
          <a:prstGeom prst="rect">
            <a:avLst/>
          </a:prstGeom>
          <a:solidFill>
            <a:srgbClr val="1A1A18"/>
          </a:solidFill>
          <a:ln/>
          <a:effectLst>
            <a:outerShdw blurRad="88900" dist="38100" dir="5400000" algn="bl" rotWithShape="0">
              <a:srgbClr val="9C9486">
                <a:alpha val="22000"/>
              </a:srgbClr>
            </a:outerShdw>
          </a:effectLst>
        </p:spPr>
        <p:txBody>
          <a:bodyPr/>
          <a:lstStyle/>
          <a:p>
            <a:endParaRPr lang="en-IN"/>
          </a:p>
        </p:txBody>
      </p:sp>
      <p:sp>
        <p:nvSpPr>
          <p:cNvPr id="15" name="Text 12"/>
          <p:cNvSpPr/>
          <p:nvPr/>
        </p:nvSpPr>
        <p:spPr>
          <a:xfrm>
            <a:off x="4983480" y="1984248"/>
            <a:ext cx="3456432" cy="274320"/>
          </a:xfrm>
          <a:prstGeom prst="rect">
            <a:avLst/>
          </a:prstGeom>
          <a:noFill/>
          <a:ln/>
        </p:spPr>
        <p:txBody>
          <a:bodyPr wrap="square" lIns="0" tIns="0" rIns="0" bIns="0" rtlCol="0" anchor="ctr"/>
          <a:lstStyle/>
          <a:p>
            <a:pPr marL="0" indent="0">
              <a:buNone/>
            </a:pPr>
            <a:r>
              <a:rPr lang="en-US" sz="1000" b="1" kern="0" spc="140" dirty="0">
                <a:solidFill>
                  <a:srgbClr val="D97757"/>
                </a:solidFill>
                <a:latin typeface="Arial" pitchFamily="34" charset="0"/>
                <a:ea typeface="Arial" pitchFamily="34" charset="-122"/>
                <a:cs typeface="Arial" pitchFamily="34" charset="-120"/>
              </a:rPr>
              <a:t>RAG  vs  FINE-TUNING</a:t>
            </a:r>
            <a:endParaRPr lang="en-US" sz="1000" dirty="0"/>
          </a:p>
        </p:txBody>
      </p:sp>
      <p:sp>
        <p:nvSpPr>
          <p:cNvPr id="16" name="Text 13"/>
          <p:cNvSpPr/>
          <p:nvPr/>
        </p:nvSpPr>
        <p:spPr>
          <a:xfrm>
            <a:off x="4983480" y="2350008"/>
            <a:ext cx="3401568" cy="2011680"/>
          </a:xfrm>
          <a:prstGeom prst="rect">
            <a:avLst/>
          </a:prstGeom>
          <a:noFill/>
          <a:ln/>
        </p:spPr>
        <p:txBody>
          <a:bodyPr wrap="square" lIns="0" tIns="0" rIns="0" bIns="0" rtlCol="0" anchor="t"/>
          <a:lstStyle/>
          <a:p>
            <a:pPr marL="0" indent="0">
              <a:lnSpc>
                <a:spcPct val="118000"/>
              </a:lnSpc>
              <a:buNone/>
            </a:pPr>
            <a:r>
              <a:rPr lang="en-US" sz="1150" b="1" dirty="0">
                <a:solidFill>
                  <a:srgbClr val="F0EEE6"/>
                </a:solidFill>
                <a:latin typeface="Arial" pitchFamily="34" charset="0"/>
                <a:ea typeface="Arial" pitchFamily="34" charset="-122"/>
                <a:cs typeface="Arial" pitchFamily="34" charset="-120"/>
              </a:rPr>
              <a:t>Use RAG for knowledge.</a:t>
            </a:r>
            <a:endParaRPr lang="en-US" sz="1150" dirty="0"/>
          </a:p>
          <a:p>
            <a:pPr marL="0" indent="0">
              <a:lnSpc>
                <a:spcPct val="118000"/>
              </a:lnSpc>
              <a:buNone/>
            </a:pPr>
            <a:r>
              <a:rPr lang="en-US" sz="1150" dirty="0">
                <a:solidFill>
                  <a:srgbClr val="B8B3A8"/>
                </a:solidFill>
                <a:latin typeface="Arial" pitchFamily="34" charset="0"/>
                <a:ea typeface="Arial" pitchFamily="34" charset="-122"/>
                <a:cs typeface="Arial" pitchFamily="34" charset="-120"/>
              </a:rPr>
              <a:t>Facts that change, are private, or must be cited — without retraining.</a:t>
            </a:r>
            <a:endParaRPr lang="en-US" sz="1150" dirty="0"/>
          </a:p>
          <a:p>
            <a:pPr marL="0" indent="0">
              <a:lnSpc>
                <a:spcPct val="118000"/>
              </a:lnSpc>
              <a:buNone/>
            </a:pPr>
            <a:endParaRPr lang="en-US" sz="1150" dirty="0"/>
          </a:p>
          <a:p>
            <a:pPr marL="0" indent="0">
              <a:lnSpc>
                <a:spcPct val="118000"/>
              </a:lnSpc>
              <a:buNone/>
            </a:pPr>
            <a:r>
              <a:rPr lang="en-US" sz="1150" b="1" dirty="0">
                <a:solidFill>
                  <a:srgbClr val="F0EEE6"/>
                </a:solidFill>
                <a:latin typeface="Arial" pitchFamily="34" charset="0"/>
                <a:ea typeface="Arial" pitchFamily="34" charset="-122"/>
                <a:cs typeface="Arial" pitchFamily="34" charset="-120"/>
              </a:rPr>
              <a:t>Use fine-tuning for behaviour.</a:t>
            </a:r>
            <a:endParaRPr lang="en-US" sz="1150" dirty="0"/>
          </a:p>
          <a:p>
            <a:pPr marL="0" indent="0">
              <a:lnSpc>
                <a:spcPct val="118000"/>
              </a:lnSpc>
              <a:buNone/>
            </a:pPr>
            <a:r>
              <a:rPr lang="en-US" sz="1150" dirty="0">
                <a:solidFill>
                  <a:srgbClr val="B8B3A8"/>
                </a:solidFill>
                <a:latin typeface="Arial" pitchFamily="34" charset="0"/>
                <a:ea typeface="Arial" pitchFamily="34" charset="-122"/>
                <a:cs typeface="Arial" pitchFamily="34" charset="-120"/>
              </a:rPr>
              <a:t>Teach a consistent tone, format, or skill the model should always apply.</a:t>
            </a:r>
            <a:endParaRPr lang="en-US" sz="1150" dirty="0"/>
          </a:p>
          <a:p>
            <a:pPr marL="0" indent="0">
              <a:lnSpc>
                <a:spcPct val="118000"/>
              </a:lnSpc>
              <a:buNone/>
            </a:pPr>
            <a:endParaRPr lang="en-US" sz="1150" dirty="0"/>
          </a:p>
          <a:p>
            <a:pPr marL="0" indent="0">
              <a:lnSpc>
                <a:spcPct val="118000"/>
              </a:lnSpc>
              <a:buNone/>
            </a:pPr>
            <a:r>
              <a:rPr lang="en-US" sz="1150" i="1" dirty="0">
                <a:solidFill>
                  <a:srgbClr val="CC785C"/>
                </a:solidFill>
                <a:latin typeface="Arial" pitchFamily="34" charset="0"/>
                <a:ea typeface="Arial" pitchFamily="34" charset="-122"/>
                <a:cs typeface="Arial" pitchFamily="34" charset="-120"/>
              </a:rPr>
              <a:t>Often combined — and increasingly agentic, where the model decides what to retrieve.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EEE6"/>
        </a:solidFill>
        <a:effectLst/>
      </p:bgPr>
    </p:bg>
    <p:spTree>
      <p:nvGrpSpPr>
        <p:cNvPr id="1" name=""/>
        <p:cNvGrpSpPr/>
        <p:nvPr/>
      </p:nvGrpSpPr>
      <p:grpSpPr>
        <a:xfrm>
          <a:off x="0" y="0"/>
          <a:ext cx="0" cy="0"/>
          <a:chOff x="0" y="0"/>
          <a:chExt cx="0" cy="0"/>
        </a:xfrm>
      </p:grpSpPr>
      <p:pic>
        <p:nvPicPr>
          <p:cNvPr id="2" name="Image 0" descr="/agent/turn2/workspace/assets/spark-coral.png"/>
          <p:cNvPicPr>
            <a:picLocks noChangeAspect="1"/>
          </p:cNvPicPr>
          <p:nvPr/>
        </p:nvPicPr>
        <p:blipFill>
          <a:blip r:embed="rId3"/>
          <a:stretch>
            <a:fillRect/>
          </a:stretch>
        </p:blipFill>
        <p:spPr>
          <a:xfrm>
            <a:off x="502920" y="457200"/>
            <a:ext cx="237744" cy="237744"/>
          </a:xfrm>
          <a:prstGeom prst="rect">
            <a:avLst/>
          </a:prstGeom>
        </p:spPr>
      </p:pic>
      <p:sp>
        <p:nvSpPr>
          <p:cNvPr id="3" name="Text 0"/>
          <p:cNvSpPr/>
          <p:nvPr/>
        </p:nvSpPr>
        <p:spPr>
          <a:xfrm>
            <a:off x="841248" y="429768"/>
            <a:ext cx="7315200" cy="292608"/>
          </a:xfrm>
          <a:prstGeom prst="rect">
            <a:avLst/>
          </a:prstGeom>
          <a:noFill/>
          <a:ln/>
        </p:spPr>
        <p:txBody>
          <a:bodyPr wrap="square" lIns="0" tIns="0" rIns="0" bIns="0" rtlCol="0" anchor="ctr"/>
          <a:lstStyle/>
          <a:p>
            <a:pPr marL="0" indent="0" algn="l">
              <a:buNone/>
            </a:pPr>
            <a:r>
              <a:rPr lang="en-US" sz="1150" b="1" kern="0" spc="220" dirty="0">
                <a:solidFill>
                  <a:srgbClr val="B3522F"/>
                </a:solidFill>
                <a:latin typeface="Arial" pitchFamily="34" charset="0"/>
                <a:ea typeface="Arial" pitchFamily="34" charset="-122"/>
                <a:cs typeface="Arial" pitchFamily="34" charset="-120"/>
              </a:rPr>
              <a:t>DEFINITION</a:t>
            </a:r>
            <a:endParaRPr lang="en-US" sz="1150" dirty="0"/>
          </a:p>
        </p:txBody>
      </p:sp>
      <p:sp>
        <p:nvSpPr>
          <p:cNvPr id="4" name="Text 1"/>
          <p:cNvSpPr/>
          <p:nvPr/>
        </p:nvSpPr>
        <p:spPr>
          <a:xfrm>
            <a:off x="484632" y="749808"/>
            <a:ext cx="8183880" cy="777240"/>
          </a:xfrm>
          <a:prstGeom prst="rect">
            <a:avLst/>
          </a:prstGeom>
          <a:noFill/>
          <a:ln/>
        </p:spPr>
        <p:txBody>
          <a:bodyPr wrap="square" lIns="0" tIns="0" rIns="0" bIns="0" rtlCol="0" anchor="t"/>
          <a:lstStyle/>
          <a:p>
            <a:pPr marL="0" indent="0" algn="l">
              <a:buNone/>
            </a:pPr>
            <a:r>
              <a:rPr lang="en-US" sz="3100" b="1" dirty="0">
                <a:solidFill>
                  <a:srgbClr val="1A1A18"/>
                </a:solidFill>
                <a:latin typeface="Georgia" pitchFamily="34" charset="0"/>
                <a:ea typeface="Georgia" pitchFamily="34" charset="-122"/>
                <a:cs typeface="Georgia" pitchFamily="34" charset="-120"/>
              </a:rPr>
              <a:t>What makes a system “agentic”</a:t>
            </a:r>
            <a:endParaRPr lang="en-US" sz="3100" dirty="0"/>
          </a:p>
        </p:txBody>
      </p:sp>
      <p:sp>
        <p:nvSpPr>
          <p:cNvPr id="5" name="Shape 2"/>
          <p:cNvSpPr/>
          <p:nvPr/>
        </p:nvSpPr>
        <p:spPr>
          <a:xfrm>
            <a:off x="502920" y="4754880"/>
            <a:ext cx="8138160" cy="0"/>
          </a:xfrm>
          <a:prstGeom prst="line">
            <a:avLst/>
          </a:prstGeom>
          <a:noFill/>
          <a:ln w="12700">
            <a:solidFill>
              <a:srgbClr val="DAD6C8"/>
            </a:solidFill>
            <a:prstDash val="solid"/>
          </a:ln>
        </p:spPr>
        <p:txBody>
          <a:bodyPr/>
          <a:lstStyle/>
          <a:p>
            <a:endParaRPr lang="en-IN"/>
          </a:p>
        </p:txBody>
      </p:sp>
      <p:sp>
        <p:nvSpPr>
          <p:cNvPr id="6" name="Text 3"/>
          <p:cNvSpPr/>
          <p:nvPr/>
        </p:nvSpPr>
        <p:spPr>
          <a:xfrm>
            <a:off x="502920" y="4791456"/>
            <a:ext cx="5486400" cy="274320"/>
          </a:xfrm>
          <a:prstGeom prst="rect">
            <a:avLst/>
          </a:prstGeom>
          <a:noFill/>
          <a:ln/>
        </p:spPr>
        <p:txBody>
          <a:bodyPr wrap="square" lIns="0" tIns="0" rIns="0" bIns="0" rtlCol="0" anchor="ctr"/>
          <a:lstStyle/>
          <a:p>
            <a:pPr marL="0" indent="0" algn="l">
              <a:buNone/>
            </a:pPr>
            <a:r>
              <a:rPr lang="en-US" sz="850" dirty="0">
                <a:solidFill>
                  <a:srgbClr val="6B6862"/>
                </a:solidFill>
                <a:latin typeface="Arial" pitchFamily="34" charset="0"/>
                <a:ea typeface="Arial" pitchFamily="34" charset="-122"/>
                <a:cs typeface="Arial" pitchFamily="34" charset="-120"/>
              </a:rPr>
              <a:t>Claude Training  ·  From Prompts to Agents</a:t>
            </a:r>
            <a:endParaRPr lang="en-US" sz="850" dirty="0"/>
          </a:p>
        </p:txBody>
      </p:sp>
      <p:sp>
        <p:nvSpPr>
          <p:cNvPr id="7" name="Text 4"/>
          <p:cNvSpPr/>
          <p:nvPr/>
        </p:nvSpPr>
        <p:spPr>
          <a:xfrm>
            <a:off x="8183880" y="4791456"/>
            <a:ext cx="457200" cy="274320"/>
          </a:xfrm>
          <a:prstGeom prst="rect">
            <a:avLst/>
          </a:prstGeom>
          <a:noFill/>
          <a:ln/>
        </p:spPr>
        <p:txBody>
          <a:bodyPr wrap="square" lIns="0" tIns="0" rIns="0" bIns="0" rtlCol="0" anchor="ctr"/>
          <a:lstStyle/>
          <a:p>
            <a:pPr marL="0" indent="0" algn="r">
              <a:buNone/>
            </a:pPr>
            <a:r>
              <a:rPr lang="en-US" sz="850" b="1" dirty="0">
                <a:solidFill>
                  <a:srgbClr val="6B6862"/>
                </a:solidFill>
                <a:latin typeface="Arial" pitchFamily="34" charset="0"/>
                <a:ea typeface="Arial" pitchFamily="34" charset="-122"/>
                <a:cs typeface="Arial" pitchFamily="34" charset="-120"/>
              </a:rPr>
              <a:t>06</a:t>
            </a:r>
            <a:endParaRPr lang="en-US" sz="850" dirty="0"/>
          </a:p>
        </p:txBody>
      </p:sp>
      <p:sp>
        <p:nvSpPr>
          <p:cNvPr id="8" name="Text 5"/>
          <p:cNvSpPr/>
          <p:nvPr/>
        </p:nvSpPr>
        <p:spPr>
          <a:xfrm>
            <a:off x="502920" y="1645920"/>
            <a:ext cx="8138160" cy="640080"/>
          </a:xfrm>
          <a:prstGeom prst="rect">
            <a:avLst/>
          </a:prstGeom>
          <a:noFill/>
          <a:ln/>
        </p:spPr>
        <p:txBody>
          <a:bodyPr wrap="square" lIns="0" tIns="0" rIns="0" bIns="0" rtlCol="0" anchor="ctr"/>
          <a:lstStyle/>
          <a:p>
            <a:pPr marL="0" indent="0" algn="ctr">
              <a:buNone/>
            </a:pPr>
            <a:r>
              <a:rPr lang="en-US" sz="2700" b="1" dirty="0">
                <a:solidFill>
                  <a:srgbClr val="B3522F"/>
                </a:solidFill>
                <a:latin typeface="Georgia" pitchFamily="34" charset="0"/>
                <a:ea typeface="Georgia" pitchFamily="34" charset="-122"/>
                <a:cs typeface="Georgia" pitchFamily="34" charset="-120"/>
              </a:rPr>
              <a:t>Agent</a:t>
            </a:r>
            <a:r>
              <a:rPr lang="en-US" sz="2700" dirty="0">
                <a:solidFill>
                  <a:srgbClr val="6B6862"/>
                </a:solidFill>
                <a:latin typeface="Georgia" pitchFamily="34" charset="0"/>
                <a:ea typeface="Georgia" pitchFamily="34" charset="-122"/>
                <a:cs typeface="Georgia" pitchFamily="34" charset="-120"/>
              </a:rPr>
              <a:t>  =  </a:t>
            </a:r>
            <a:r>
              <a:rPr lang="en-US" sz="2700" b="1" dirty="0">
                <a:solidFill>
                  <a:srgbClr val="1A1A18"/>
                </a:solidFill>
                <a:latin typeface="Georgia" pitchFamily="34" charset="0"/>
                <a:ea typeface="Georgia" pitchFamily="34" charset="-122"/>
                <a:cs typeface="Georgia" pitchFamily="34" charset="-120"/>
              </a:rPr>
              <a:t>LLM</a:t>
            </a:r>
            <a:r>
              <a:rPr lang="en-US" sz="2700" b="1" dirty="0">
                <a:solidFill>
                  <a:srgbClr val="D97757"/>
                </a:solidFill>
                <a:latin typeface="Georgia" pitchFamily="34" charset="0"/>
                <a:ea typeface="Georgia" pitchFamily="34" charset="-122"/>
                <a:cs typeface="Georgia" pitchFamily="34" charset="-120"/>
              </a:rPr>
              <a:t>  +  </a:t>
            </a:r>
            <a:r>
              <a:rPr lang="en-US" sz="2700" b="1" dirty="0">
                <a:solidFill>
                  <a:srgbClr val="1A1A18"/>
                </a:solidFill>
                <a:latin typeface="Georgia" pitchFamily="34" charset="0"/>
                <a:ea typeface="Georgia" pitchFamily="34" charset="-122"/>
                <a:cs typeface="Georgia" pitchFamily="34" charset="-120"/>
              </a:rPr>
              <a:t>Loop</a:t>
            </a:r>
            <a:r>
              <a:rPr lang="en-US" sz="2700" b="1" dirty="0">
                <a:solidFill>
                  <a:srgbClr val="D97757"/>
                </a:solidFill>
                <a:latin typeface="Georgia" pitchFamily="34" charset="0"/>
                <a:ea typeface="Georgia" pitchFamily="34" charset="-122"/>
                <a:cs typeface="Georgia" pitchFamily="34" charset="-120"/>
              </a:rPr>
              <a:t>  +  </a:t>
            </a:r>
            <a:r>
              <a:rPr lang="en-US" sz="2700" b="1" dirty="0">
                <a:solidFill>
                  <a:srgbClr val="1A1A18"/>
                </a:solidFill>
                <a:latin typeface="Georgia" pitchFamily="34" charset="0"/>
                <a:ea typeface="Georgia" pitchFamily="34" charset="-122"/>
                <a:cs typeface="Georgia" pitchFamily="34" charset="-120"/>
              </a:rPr>
              <a:t>Tools</a:t>
            </a:r>
            <a:r>
              <a:rPr lang="en-US" sz="2700" b="1" dirty="0">
                <a:solidFill>
                  <a:srgbClr val="D97757"/>
                </a:solidFill>
                <a:latin typeface="Georgia" pitchFamily="34" charset="0"/>
                <a:ea typeface="Georgia" pitchFamily="34" charset="-122"/>
                <a:cs typeface="Georgia" pitchFamily="34" charset="-120"/>
              </a:rPr>
              <a:t>  +  </a:t>
            </a:r>
            <a:r>
              <a:rPr lang="en-US" sz="2700" b="1" dirty="0">
                <a:solidFill>
                  <a:srgbClr val="1A1A18"/>
                </a:solidFill>
                <a:latin typeface="Georgia" pitchFamily="34" charset="0"/>
                <a:ea typeface="Georgia" pitchFamily="34" charset="-122"/>
                <a:cs typeface="Georgia" pitchFamily="34" charset="-120"/>
              </a:rPr>
              <a:t>Autonomy</a:t>
            </a:r>
            <a:endParaRPr lang="en-US" sz="2700" dirty="0"/>
          </a:p>
        </p:txBody>
      </p:sp>
      <p:sp>
        <p:nvSpPr>
          <p:cNvPr id="9" name="Shape 6"/>
          <p:cNvSpPr/>
          <p:nvPr/>
        </p:nvSpPr>
        <p:spPr>
          <a:xfrm>
            <a:off x="502920" y="2487168"/>
            <a:ext cx="1947672" cy="1371600"/>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0" name="Text 7"/>
          <p:cNvSpPr/>
          <p:nvPr/>
        </p:nvSpPr>
        <p:spPr>
          <a:xfrm>
            <a:off x="649224" y="2651760"/>
            <a:ext cx="1673352" cy="365760"/>
          </a:xfrm>
          <a:prstGeom prst="rect">
            <a:avLst/>
          </a:prstGeom>
          <a:noFill/>
          <a:ln/>
        </p:spPr>
        <p:txBody>
          <a:bodyPr wrap="square" lIns="0" tIns="0" rIns="0" bIns="0" rtlCol="0" anchor="ctr"/>
          <a:lstStyle/>
          <a:p>
            <a:pPr marL="0" indent="0">
              <a:buNone/>
            </a:pPr>
            <a:r>
              <a:rPr lang="en-US" sz="1600" b="1" dirty="0">
                <a:solidFill>
                  <a:srgbClr val="D97757"/>
                </a:solidFill>
                <a:latin typeface="Georgia" pitchFamily="34" charset="0"/>
                <a:ea typeface="Georgia" pitchFamily="34" charset="-122"/>
                <a:cs typeface="Georgia" pitchFamily="34" charset="-120"/>
              </a:rPr>
              <a:t>LLM</a:t>
            </a:r>
            <a:endParaRPr lang="en-US" sz="1600" dirty="0"/>
          </a:p>
        </p:txBody>
      </p:sp>
      <p:sp>
        <p:nvSpPr>
          <p:cNvPr id="11" name="Text 8"/>
          <p:cNvSpPr/>
          <p:nvPr/>
        </p:nvSpPr>
        <p:spPr>
          <a:xfrm>
            <a:off x="649224" y="3054096"/>
            <a:ext cx="1673352" cy="731520"/>
          </a:xfrm>
          <a:prstGeom prst="rect">
            <a:avLst/>
          </a:prstGeom>
          <a:noFill/>
          <a:ln/>
        </p:spPr>
        <p:txBody>
          <a:bodyPr wrap="square" lIns="0" tIns="0" rIns="0" bIns="0" rtlCol="0" anchor="ctr"/>
          <a:lstStyle/>
          <a:p>
            <a:pPr marL="0" indent="0">
              <a:lnSpc>
                <a:spcPct val="112000"/>
              </a:lnSpc>
              <a:buNone/>
            </a:pPr>
            <a:r>
              <a:rPr lang="en-US" sz="1050" dirty="0">
                <a:solidFill>
                  <a:srgbClr val="6B6862"/>
                </a:solidFill>
                <a:latin typeface="Arial" pitchFamily="34" charset="0"/>
                <a:ea typeface="Arial" pitchFamily="34" charset="-122"/>
                <a:cs typeface="Arial" pitchFamily="34" charset="-120"/>
              </a:rPr>
              <a:t>Reasoning engine that decides what to do next.</a:t>
            </a:r>
            <a:endParaRPr lang="en-US" sz="1050" dirty="0"/>
          </a:p>
        </p:txBody>
      </p:sp>
      <p:sp>
        <p:nvSpPr>
          <p:cNvPr id="12" name="Shape 9"/>
          <p:cNvSpPr/>
          <p:nvPr/>
        </p:nvSpPr>
        <p:spPr>
          <a:xfrm>
            <a:off x="2615184" y="2487168"/>
            <a:ext cx="1947672" cy="1371600"/>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3" name="Text 10"/>
          <p:cNvSpPr/>
          <p:nvPr/>
        </p:nvSpPr>
        <p:spPr>
          <a:xfrm>
            <a:off x="2761488" y="2651760"/>
            <a:ext cx="1673352" cy="365760"/>
          </a:xfrm>
          <a:prstGeom prst="rect">
            <a:avLst/>
          </a:prstGeom>
          <a:noFill/>
          <a:ln/>
        </p:spPr>
        <p:txBody>
          <a:bodyPr wrap="square" lIns="0" tIns="0" rIns="0" bIns="0" rtlCol="0" anchor="ctr"/>
          <a:lstStyle/>
          <a:p>
            <a:pPr marL="0" indent="0">
              <a:buNone/>
            </a:pPr>
            <a:r>
              <a:rPr lang="en-US" sz="1600" b="1" dirty="0">
                <a:solidFill>
                  <a:srgbClr val="D97757"/>
                </a:solidFill>
                <a:latin typeface="Georgia" pitchFamily="34" charset="0"/>
                <a:ea typeface="Georgia" pitchFamily="34" charset="-122"/>
                <a:cs typeface="Georgia" pitchFamily="34" charset="-120"/>
              </a:rPr>
              <a:t>Loop</a:t>
            </a:r>
            <a:endParaRPr lang="en-US" sz="1600" dirty="0"/>
          </a:p>
        </p:txBody>
      </p:sp>
      <p:sp>
        <p:nvSpPr>
          <p:cNvPr id="14" name="Text 11"/>
          <p:cNvSpPr/>
          <p:nvPr/>
        </p:nvSpPr>
        <p:spPr>
          <a:xfrm>
            <a:off x="2761488" y="3054096"/>
            <a:ext cx="1673352" cy="731520"/>
          </a:xfrm>
          <a:prstGeom prst="rect">
            <a:avLst/>
          </a:prstGeom>
          <a:noFill/>
          <a:ln/>
        </p:spPr>
        <p:txBody>
          <a:bodyPr wrap="square" lIns="0" tIns="0" rIns="0" bIns="0" rtlCol="0" anchor="ctr"/>
          <a:lstStyle/>
          <a:p>
            <a:pPr marL="0" indent="0">
              <a:lnSpc>
                <a:spcPct val="112000"/>
              </a:lnSpc>
              <a:buNone/>
            </a:pPr>
            <a:r>
              <a:rPr lang="en-US" sz="1050" dirty="0">
                <a:solidFill>
                  <a:srgbClr val="6B6862"/>
                </a:solidFill>
                <a:latin typeface="Arial" pitchFamily="34" charset="0"/>
                <a:ea typeface="Arial" pitchFamily="34" charset="-122"/>
                <a:cs typeface="Arial" pitchFamily="34" charset="-120"/>
              </a:rPr>
              <a:t>Repeats reason → act → observe until done.</a:t>
            </a:r>
            <a:endParaRPr lang="en-US" sz="1050" dirty="0"/>
          </a:p>
        </p:txBody>
      </p:sp>
      <p:sp>
        <p:nvSpPr>
          <p:cNvPr id="15" name="Shape 12"/>
          <p:cNvSpPr/>
          <p:nvPr/>
        </p:nvSpPr>
        <p:spPr>
          <a:xfrm>
            <a:off x="4727448" y="2487168"/>
            <a:ext cx="1947672" cy="1371600"/>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6" name="Text 13"/>
          <p:cNvSpPr/>
          <p:nvPr/>
        </p:nvSpPr>
        <p:spPr>
          <a:xfrm>
            <a:off x="4873752" y="2651760"/>
            <a:ext cx="1673352" cy="365760"/>
          </a:xfrm>
          <a:prstGeom prst="rect">
            <a:avLst/>
          </a:prstGeom>
          <a:noFill/>
          <a:ln/>
        </p:spPr>
        <p:txBody>
          <a:bodyPr wrap="square" lIns="0" tIns="0" rIns="0" bIns="0" rtlCol="0" anchor="ctr"/>
          <a:lstStyle/>
          <a:p>
            <a:pPr marL="0" indent="0">
              <a:buNone/>
            </a:pPr>
            <a:r>
              <a:rPr lang="en-US" sz="1600" b="1" dirty="0">
                <a:solidFill>
                  <a:srgbClr val="D97757"/>
                </a:solidFill>
                <a:latin typeface="Georgia" pitchFamily="34" charset="0"/>
                <a:ea typeface="Georgia" pitchFamily="34" charset="-122"/>
                <a:cs typeface="Georgia" pitchFamily="34" charset="-120"/>
              </a:rPr>
              <a:t>Tools</a:t>
            </a:r>
            <a:endParaRPr lang="en-US" sz="1600" dirty="0"/>
          </a:p>
        </p:txBody>
      </p:sp>
      <p:sp>
        <p:nvSpPr>
          <p:cNvPr id="17" name="Text 14"/>
          <p:cNvSpPr/>
          <p:nvPr/>
        </p:nvSpPr>
        <p:spPr>
          <a:xfrm>
            <a:off x="4873752" y="3054096"/>
            <a:ext cx="1673352" cy="731520"/>
          </a:xfrm>
          <a:prstGeom prst="rect">
            <a:avLst/>
          </a:prstGeom>
          <a:noFill/>
          <a:ln/>
        </p:spPr>
        <p:txBody>
          <a:bodyPr wrap="square" lIns="0" tIns="0" rIns="0" bIns="0" rtlCol="0" anchor="ctr"/>
          <a:lstStyle/>
          <a:p>
            <a:pPr marL="0" indent="0">
              <a:lnSpc>
                <a:spcPct val="112000"/>
              </a:lnSpc>
              <a:buNone/>
            </a:pPr>
            <a:r>
              <a:rPr lang="en-US" sz="1050" dirty="0">
                <a:solidFill>
                  <a:srgbClr val="6B6862"/>
                </a:solidFill>
                <a:latin typeface="Arial" pitchFamily="34" charset="0"/>
                <a:ea typeface="Arial" pitchFamily="34" charset="-122"/>
                <a:cs typeface="Arial" pitchFamily="34" charset="-120"/>
              </a:rPr>
              <a:t>Hands that let it act on the world.</a:t>
            </a:r>
            <a:endParaRPr lang="en-US" sz="1050" dirty="0"/>
          </a:p>
        </p:txBody>
      </p:sp>
      <p:sp>
        <p:nvSpPr>
          <p:cNvPr id="18" name="Shape 15"/>
          <p:cNvSpPr/>
          <p:nvPr/>
        </p:nvSpPr>
        <p:spPr>
          <a:xfrm>
            <a:off x="6839712" y="2487168"/>
            <a:ext cx="1947672" cy="1371600"/>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9" name="Text 16"/>
          <p:cNvSpPr/>
          <p:nvPr/>
        </p:nvSpPr>
        <p:spPr>
          <a:xfrm>
            <a:off x="6986016" y="2651760"/>
            <a:ext cx="1673352" cy="365760"/>
          </a:xfrm>
          <a:prstGeom prst="rect">
            <a:avLst/>
          </a:prstGeom>
          <a:noFill/>
          <a:ln/>
        </p:spPr>
        <p:txBody>
          <a:bodyPr wrap="square" lIns="0" tIns="0" rIns="0" bIns="0" rtlCol="0" anchor="ctr"/>
          <a:lstStyle/>
          <a:p>
            <a:pPr marL="0" indent="0">
              <a:buNone/>
            </a:pPr>
            <a:r>
              <a:rPr lang="en-US" sz="1600" b="1" dirty="0">
                <a:solidFill>
                  <a:srgbClr val="D97757"/>
                </a:solidFill>
                <a:latin typeface="Georgia" pitchFamily="34" charset="0"/>
                <a:ea typeface="Georgia" pitchFamily="34" charset="-122"/>
                <a:cs typeface="Georgia" pitchFamily="34" charset="-120"/>
              </a:rPr>
              <a:t>Autonomy</a:t>
            </a:r>
            <a:endParaRPr lang="en-US" sz="1600" dirty="0"/>
          </a:p>
        </p:txBody>
      </p:sp>
      <p:sp>
        <p:nvSpPr>
          <p:cNvPr id="20" name="Text 17"/>
          <p:cNvSpPr/>
          <p:nvPr/>
        </p:nvSpPr>
        <p:spPr>
          <a:xfrm>
            <a:off x="6986016" y="3054096"/>
            <a:ext cx="1673352" cy="731520"/>
          </a:xfrm>
          <a:prstGeom prst="rect">
            <a:avLst/>
          </a:prstGeom>
          <a:noFill/>
          <a:ln/>
        </p:spPr>
        <p:txBody>
          <a:bodyPr wrap="square" lIns="0" tIns="0" rIns="0" bIns="0" rtlCol="0" anchor="ctr"/>
          <a:lstStyle/>
          <a:p>
            <a:pPr marL="0" indent="0">
              <a:lnSpc>
                <a:spcPct val="112000"/>
              </a:lnSpc>
              <a:buNone/>
            </a:pPr>
            <a:r>
              <a:rPr lang="en-US" sz="1050" dirty="0">
                <a:solidFill>
                  <a:srgbClr val="6B6862"/>
                </a:solidFill>
                <a:latin typeface="Arial" pitchFamily="34" charset="0"/>
                <a:ea typeface="Arial" pitchFamily="34" charset="-122"/>
                <a:cs typeface="Arial" pitchFamily="34" charset="-120"/>
              </a:rPr>
              <a:t>How much it decides without a human.</a:t>
            </a:r>
            <a:endParaRPr lang="en-US" sz="1050" dirty="0"/>
          </a:p>
        </p:txBody>
      </p:sp>
      <p:sp>
        <p:nvSpPr>
          <p:cNvPr id="21" name="Text 18"/>
          <p:cNvSpPr/>
          <p:nvPr/>
        </p:nvSpPr>
        <p:spPr>
          <a:xfrm>
            <a:off x="502920" y="4114800"/>
            <a:ext cx="8138160" cy="457200"/>
          </a:xfrm>
          <a:prstGeom prst="rect">
            <a:avLst/>
          </a:prstGeom>
          <a:noFill/>
          <a:ln/>
        </p:spPr>
        <p:txBody>
          <a:bodyPr wrap="square" lIns="0" tIns="0" rIns="0" bIns="0" rtlCol="0" anchor="ctr"/>
          <a:lstStyle/>
          <a:p>
            <a:pPr marL="0" indent="0" algn="ctr">
              <a:buNone/>
            </a:pPr>
            <a:r>
              <a:rPr lang="en-US" sz="1300" i="1" dirty="0">
                <a:solidFill>
                  <a:srgbClr val="2B2A26"/>
                </a:solidFill>
                <a:latin typeface="Georgia" pitchFamily="34" charset="0"/>
                <a:ea typeface="Georgia" pitchFamily="34" charset="-122"/>
                <a:cs typeface="Georgia" pitchFamily="34" charset="-120"/>
              </a:rPr>
              <a:t>A chatbot answers in a single pass. An agent persists — it adapts and acts across many steps.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EEE6"/>
        </a:solidFill>
        <a:effectLst/>
      </p:bgPr>
    </p:bg>
    <p:spTree>
      <p:nvGrpSpPr>
        <p:cNvPr id="1" name=""/>
        <p:cNvGrpSpPr/>
        <p:nvPr/>
      </p:nvGrpSpPr>
      <p:grpSpPr>
        <a:xfrm>
          <a:off x="0" y="0"/>
          <a:ext cx="0" cy="0"/>
          <a:chOff x="0" y="0"/>
          <a:chExt cx="0" cy="0"/>
        </a:xfrm>
      </p:grpSpPr>
      <p:pic>
        <p:nvPicPr>
          <p:cNvPr id="2" name="Image 0" descr="/agent/turn2/workspace/assets/spark-coral.png"/>
          <p:cNvPicPr>
            <a:picLocks noChangeAspect="1"/>
          </p:cNvPicPr>
          <p:nvPr/>
        </p:nvPicPr>
        <p:blipFill>
          <a:blip r:embed="rId3"/>
          <a:stretch>
            <a:fillRect/>
          </a:stretch>
        </p:blipFill>
        <p:spPr>
          <a:xfrm>
            <a:off x="502920" y="457200"/>
            <a:ext cx="237744" cy="237744"/>
          </a:xfrm>
          <a:prstGeom prst="rect">
            <a:avLst/>
          </a:prstGeom>
        </p:spPr>
      </p:pic>
      <p:sp>
        <p:nvSpPr>
          <p:cNvPr id="3" name="Text 0"/>
          <p:cNvSpPr/>
          <p:nvPr/>
        </p:nvSpPr>
        <p:spPr>
          <a:xfrm>
            <a:off x="841248" y="429768"/>
            <a:ext cx="7315200" cy="292608"/>
          </a:xfrm>
          <a:prstGeom prst="rect">
            <a:avLst/>
          </a:prstGeom>
          <a:noFill/>
          <a:ln/>
        </p:spPr>
        <p:txBody>
          <a:bodyPr wrap="square" lIns="0" tIns="0" rIns="0" bIns="0" rtlCol="0" anchor="ctr"/>
          <a:lstStyle/>
          <a:p>
            <a:pPr marL="0" indent="0" algn="l">
              <a:buNone/>
            </a:pPr>
            <a:r>
              <a:rPr lang="en-US" sz="1150" b="1" kern="0" spc="220" dirty="0">
                <a:solidFill>
                  <a:srgbClr val="B3522F"/>
                </a:solidFill>
                <a:latin typeface="Arial" pitchFamily="34" charset="0"/>
                <a:ea typeface="Arial" pitchFamily="34" charset="-122"/>
                <a:cs typeface="Arial" pitchFamily="34" charset="-120"/>
              </a:rPr>
              <a:t>THE CORE PATTERN</a:t>
            </a:r>
            <a:endParaRPr lang="en-US" sz="1150" dirty="0"/>
          </a:p>
        </p:txBody>
      </p:sp>
      <p:sp>
        <p:nvSpPr>
          <p:cNvPr id="4" name="Text 1"/>
          <p:cNvSpPr/>
          <p:nvPr/>
        </p:nvSpPr>
        <p:spPr>
          <a:xfrm>
            <a:off x="484632" y="749808"/>
            <a:ext cx="8183880" cy="777240"/>
          </a:xfrm>
          <a:prstGeom prst="rect">
            <a:avLst/>
          </a:prstGeom>
          <a:noFill/>
          <a:ln/>
        </p:spPr>
        <p:txBody>
          <a:bodyPr wrap="square" lIns="0" tIns="0" rIns="0" bIns="0" rtlCol="0" anchor="t"/>
          <a:lstStyle/>
          <a:p>
            <a:pPr marL="0" indent="0" algn="l">
              <a:buNone/>
            </a:pPr>
            <a:r>
              <a:rPr lang="en-US" sz="3100" b="1" dirty="0">
                <a:solidFill>
                  <a:srgbClr val="1A1A18"/>
                </a:solidFill>
                <a:latin typeface="Georgia" pitchFamily="34" charset="0"/>
                <a:ea typeface="Georgia" pitchFamily="34" charset="-122"/>
                <a:cs typeface="Georgia" pitchFamily="34" charset="-120"/>
              </a:rPr>
              <a:t>The agent loop</a:t>
            </a:r>
            <a:endParaRPr lang="en-US" sz="3100" dirty="0"/>
          </a:p>
        </p:txBody>
      </p:sp>
      <p:sp>
        <p:nvSpPr>
          <p:cNvPr id="5" name="Shape 2"/>
          <p:cNvSpPr/>
          <p:nvPr/>
        </p:nvSpPr>
        <p:spPr>
          <a:xfrm>
            <a:off x="502920" y="4754880"/>
            <a:ext cx="8138160" cy="0"/>
          </a:xfrm>
          <a:prstGeom prst="line">
            <a:avLst/>
          </a:prstGeom>
          <a:noFill/>
          <a:ln w="12700">
            <a:solidFill>
              <a:srgbClr val="DAD6C8"/>
            </a:solidFill>
            <a:prstDash val="solid"/>
          </a:ln>
        </p:spPr>
        <p:txBody>
          <a:bodyPr/>
          <a:lstStyle/>
          <a:p>
            <a:endParaRPr lang="en-IN"/>
          </a:p>
        </p:txBody>
      </p:sp>
      <p:sp>
        <p:nvSpPr>
          <p:cNvPr id="6" name="Text 3"/>
          <p:cNvSpPr/>
          <p:nvPr/>
        </p:nvSpPr>
        <p:spPr>
          <a:xfrm>
            <a:off x="502920" y="4791456"/>
            <a:ext cx="5486400" cy="274320"/>
          </a:xfrm>
          <a:prstGeom prst="rect">
            <a:avLst/>
          </a:prstGeom>
          <a:noFill/>
          <a:ln/>
        </p:spPr>
        <p:txBody>
          <a:bodyPr wrap="square" lIns="0" tIns="0" rIns="0" bIns="0" rtlCol="0" anchor="ctr"/>
          <a:lstStyle/>
          <a:p>
            <a:pPr marL="0" indent="0" algn="l">
              <a:buNone/>
            </a:pPr>
            <a:r>
              <a:rPr lang="en-US" sz="850" dirty="0">
                <a:solidFill>
                  <a:srgbClr val="6B6862"/>
                </a:solidFill>
                <a:latin typeface="Arial" pitchFamily="34" charset="0"/>
                <a:ea typeface="Arial" pitchFamily="34" charset="-122"/>
                <a:cs typeface="Arial" pitchFamily="34" charset="-120"/>
              </a:rPr>
              <a:t>Claude Training  ·  From Prompts to Agents</a:t>
            </a:r>
            <a:endParaRPr lang="en-US" sz="850" dirty="0"/>
          </a:p>
        </p:txBody>
      </p:sp>
      <p:sp>
        <p:nvSpPr>
          <p:cNvPr id="7" name="Text 4"/>
          <p:cNvSpPr/>
          <p:nvPr/>
        </p:nvSpPr>
        <p:spPr>
          <a:xfrm>
            <a:off x="8183880" y="4791456"/>
            <a:ext cx="457200" cy="274320"/>
          </a:xfrm>
          <a:prstGeom prst="rect">
            <a:avLst/>
          </a:prstGeom>
          <a:noFill/>
          <a:ln/>
        </p:spPr>
        <p:txBody>
          <a:bodyPr wrap="square" lIns="0" tIns="0" rIns="0" bIns="0" rtlCol="0" anchor="ctr"/>
          <a:lstStyle/>
          <a:p>
            <a:pPr marL="0" indent="0" algn="r">
              <a:buNone/>
            </a:pPr>
            <a:r>
              <a:rPr lang="en-US" sz="850" b="1" dirty="0">
                <a:solidFill>
                  <a:srgbClr val="6B6862"/>
                </a:solidFill>
                <a:latin typeface="Arial" pitchFamily="34" charset="0"/>
                <a:ea typeface="Arial" pitchFamily="34" charset="-122"/>
                <a:cs typeface="Arial" pitchFamily="34" charset="-120"/>
              </a:rPr>
              <a:t>07</a:t>
            </a:r>
            <a:endParaRPr lang="en-US" sz="850" dirty="0"/>
          </a:p>
        </p:txBody>
      </p:sp>
      <p:sp>
        <p:nvSpPr>
          <p:cNvPr id="8" name="Text 5"/>
          <p:cNvSpPr/>
          <p:nvPr/>
        </p:nvSpPr>
        <p:spPr>
          <a:xfrm>
            <a:off x="502920" y="1627632"/>
            <a:ext cx="3931920" cy="1371600"/>
          </a:xfrm>
          <a:prstGeom prst="rect">
            <a:avLst/>
          </a:prstGeom>
          <a:noFill/>
          <a:ln/>
        </p:spPr>
        <p:txBody>
          <a:bodyPr wrap="square" lIns="0" tIns="0" rIns="0" bIns="0" rtlCol="0" anchor="ctr"/>
          <a:lstStyle/>
          <a:p>
            <a:pPr marL="0" indent="0">
              <a:lnSpc>
                <a:spcPct val="128000"/>
              </a:lnSpc>
              <a:buNone/>
            </a:pPr>
            <a:r>
              <a:rPr lang="en-US" sz="1250" dirty="0">
                <a:solidFill>
                  <a:srgbClr val="2B2A26"/>
                </a:solidFill>
                <a:latin typeface="Arial" pitchFamily="34" charset="0"/>
                <a:ea typeface="Arial" pitchFamily="34" charset="-122"/>
                <a:cs typeface="Arial" pitchFamily="34" charset="-120"/>
              </a:rPr>
              <a:t>Every coding agent — Claude Code, Cursor — runs this cycle: read the request, reason, take an action, observe the result, and go again until a stop condition ends the run.</a:t>
            </a:r>
            <a:endParaRPr lang="en-US" sz="1250" dirty="0"/>
          </a:p>
        </p:txBody>
      </p:sp>
      <p:sp>
        <p:nvSpPr>
          <p:cNvPr id="9" name="Text 6"/>
          <p:cNvSpPr/>
          <p:nvPr/>
        </p:nvSpPr>
        <p:spPr>
          <a:xfrm>
            <a:off x="502920" y="3154680"/>
            <a:ext cx="3931920" cy="274320"/>
          </a:xfrm>
          <a:prstGeom prst="rect">
            <a:avLst/>
          </a:prstGeom>
          <a:noFill/>
          <a:ln/>
        </p:spPr>
        <p:txBody>
          <a:bodyPr wrap="square" lIns="0" tIns="0" rIns="0" bIns="0" rtlCol="0" anchor="ctr"/>
          <a:lstStyle/>
          <a:p>
            <a:pPr marL="0" indent="0">
              <a:buNone/>
            </a:pPr>
            <a:r>
              <a:rPr lang="en-US" sz="950" b="1" kern="0" spc="140" dirty="0">
                <a:solidFill>
                  <a:srgbClr val="B3522F"/>
                </a:solidFill>
                <a:latin typeface="Arial" pitchFamily="34" charset="0"/>
                <a:ea typeface="Arial" pitchFamily="34" charset="-122"/>
                <a:cs typeface="Arial" pitchFamily="34" charset="-120"/>
              </a:rPr>
              <a:t>STOP CONDITIONS</a:t>
            </a:r>
            <a:endParaRPr lang="en-US" sz="950" dirty="0"/>
          </a:p>
        </p:txBody>
      </p:sp>
      <p:sp>
        <p:nvSpPr>
          <p:cNvPr id="10" name="Text 7"/>
          <p:cNvSpPr/>
          <p:nvPr/>
        </p:nvSpPr>
        <p:spPr>
          <a:xfrm>
            <a:off x="502920" y="3419856"/>
            <a:ext cx="3931920" cy="1005840"/>
          </a:xfrm>
          <a:prstGeom prst="rect">
            <a:avLst/>
          </a:prstGeom>
          <a:noFill/>
          <a:ln/>
        </p:spPr>
        <p:txBody>
          <a:bodyPr wrap="square" lIns="0" tIns="0" rIns="0" bIns="0" rtlCol="0" anchor="ctr"/>
          <a:lstStyle/>
          <a:p>
            <a:pPr marL="177800" indent="-177800">
              <a:lnSpc>
                <a:spcPct val="125000"/>
              </a:lnSpc>
              <a:buSzPct val="100000"/>
              <a:buChar char="•"/>
            </a:pPr>
            <a:r>
              <a:rPr lang="en-US" sz="1150" dirty="0">
                <a:solidFill>
                  <a:srgbClr val="6B6862"/>
                </a:solidFill>
                <a:latin typeface="Arial" pitchFamily="34" charset="0"/>
                <a:ea typeface="Arial" pitchFamily="34" charset="-122"/>
                <a:cs typeface="Arial" pitchFamily="34" charset="-120"/>
              </a:rPr>
              <a:t>Goal achieved</a:t>
            </a:r>
            <a:endParaRPr lang="en-US" sz="1150" dirty="0"/>
          </a:p>
          <a:p>
            <a:pPr marL="0" indent="0">
              <a:lnSpc>
                <a:spcPct val="125000"/>
              </a:lnSpc>
              <a:buNone/>
            </a:pPr>
            <a:r>
              <a:rPr lang="en-US" sz="1150" dirty="0">
                <a:solidFill>
                  <a:srgbClr val="6B6862"/>
                </a:solidFill>
                <a:latin typeface="Arial" pitchFamily="34" charset="0"/>
                <a:ea typeface="Arial" pitchFamily="34" charset="-122"/>
                <a:cs typeface="Arial" pitchFamily="34" charset="-120"/>
              </a:rPr>
              <a:t>Max steps / budget reached</a:t>
            </a:r>
            <a:endParaRPr lang="en-US" sz="1150" dirty="0"/>
          </a:p>
          <a:p>
            <a:pPr marL="0" indent="0">
              <a:lnSpc>
                <a:spcPct val="125000"/>
              </a:lnSpc>
              <a:buNone/>
            </a:pPr>
            <a:r>
              <a:rPr lang="en-US" sz="1150" dirty="0">
                <a:solidFill>
                  <a:srgbClr val="6B6862"/>
                </a:solidFill>
                <a:latin typeface="Arial" pitchFamily="34" charset="0"/>
                <a:ea typeface="Arial" pitchFamily="34" charset="-122"/>
                <a:cs typeface="Arial" pitchFamily="34" charset="-120"/>
              </a:rPr>
              <a:t>Human approval required</a:t>
            </a:r>
            <a:endParaRPr lang="en-US" sz="1150" dirty="0"/>
          </a:p>
        </p:txBody>
      </p:sp>
      <p:sp>
        <p:nvSpPr>
          <p:cNvPr id="11" name="Shape 8"/>
          <p:cNvSpPr/>
          <p:nvPr/>
        </p:nvSpPr>
        <p:spPr>
          <a:xfrm>
            <a:off x="4754880" y="1627632"/>
            <a:ext cx="3886200" cy="603504"/>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2" name="Text 9"/>
          <p:cNvSpPr/>
          <p:nvPr/>
        </p:nvSpPr>
        <p:spPr>
          <a:xfrm>
            <a:off x="4937760" y="1682496"/>
            <a:ext cx="3520440" cy="274320"/>
          </a:xfrm>
          <a:prstGeom prst="rect">
            <a:avLst/>
          </a:prstGeom>
          <a:noFill/>
          <a:ln/>
        </p:spPr>
        <p:txBody>
          <a:bodyPr wrap="square" lIns="0" tIns="0" rIns="0" bIns="0" rtlCol="0" anchor="ctr"/>
          <a:lstStyle/>
          <a:p>
            <a:pPr marL="0" indent="0">
              <a:buNone/>
            </a:pPr>
            <a:r>
              <a:rPr lang="en-US" sz="1200" b="1" dirty="0">
                <a:solidFill>
                  <a:srgbClr val="1A1A18"/>
                </a:solidFill>
                <a:latin typeface="Arial" pitchFamily="34" charset="0"/>
                <a:ea typeface="Arial" pitchFamily="34" charset="-122"/>
                <a:cs typeface="Arial" pitchFamily="34" charset="-120"/>
              </a:rPr>
              <a:t>1 · Assemble context</a:t>
            </a:r>
            <a:endParaRPr lang="en-US" sz="1200" dirty="0"/>
          </a:p>
        </p:txBody>
      </p:sp>
      <p:sp>
        <p:nvSpPr>
          <p:cNvPr id="13" name="Text 10"/>
          <p:cNvSpPr/>
          <p:nvPr/>
        </p:nvSpPr>
        <p:spPr>
          <a:xfrm>
            <a:off x="4937760" y="1947672"/>
            <a:ext cx="3520440" cy="256032"/>
          </a:xfrm>
          <a:prstGeom prst="rect">
            <a:avLst/>
          </a:prstGeom>
          <a:noFill/>
          <a:ln/>
        </p:spPr>
        <p:txBody>
          <a:bodyPr wrap="square" lIns="0" tIns="0" rIns="0" bIns="0" rtlCol="0" anchor="ctr"/>
          <a:lstStyle/>
          <a:p>
            <a:pPr marL="0" indent="0">
              <a:buNone/>
            </a:pPr>
            <a:r>
              <a:rPr lang="en-US" sz="1000" dirty="0">
                <a:solidFill>
                  <a:srgbClr val="6B6862"/>
                </a:solidFill>
                <a:latin typeface="Arial" pitchFamily="34" charset="0"/>
                <a:ea typeface="Arial" pitchFamily="34" charset="-122"/>
                <a:cs typeface="Arial" pitchFamily="34" charset="-120"/>
              </a:rPr>
              <a:t>Gather the goal, history, and tool results so far.</a:t>
            </a:r>
            <a:endParaRPr lang="en-US" sz="1000" dirty="0"/>
          </a:p>
        </p:txBody>
      </p:sp>
      <p:sp>
        <p:nvSpPr>
          <p:cNvPr id="14" name="Shape 11"/>
          <p:cNvSpPr/>
          <p:nvPr/>
        </p:nvSpPr>
        <p:spPr>
          <a:xfrm>
            <a:off x="4754880" y="2350008"/>
            <a:ext cx="3886200" cy="603504"/>
          </a:xfrm>
          <a:prstGeom prst="rect">
            <a:avLst/>
          </a:prstGeom>
          <a:solidFill>
            <a:srgbClr val="1A1A18"/>
          </a:solidFill>
          <a:ln w="12700">
            <a:solidFill>
              <a:srgbClr val="1A1A18"/>
            </a:solidFill>
            <a:prstDash val="solid"/>
          </a:ln>
          <a:effectLst>
            <a:outerShdw blurRad="88900" dist="38100" dir="5400000" algn="bl" rotWithShape="0">
              <a:srgbClr val="9C9486">
                <a:alpha val="22000"/>
              </a:srgbClr>
            </a:outerShdw>
          </a:effectLst>
        </p:spPr>
        <p:txBody>
          <a:bodyPr/>
          <a:lstStyle/>
          <a:p>
            <a:endParaRPr lang="en-IN"/>
          </a:p>
        </p:txBody>
      </p:sp>
      <p:sp>
        <p:nvSpPr>
          <p:cNvPr id="15" name="Text 12"/>
          <p:cNvSpPr/>
          <p:nvPr/>
        </p:nvSpPr>
        <p:spPr>
          <a:xfrm>
            <a:off x="4937760" y="2404872"/>
            <a:ext cx="3520440" cy="274320"/>
          </a:xfrm>
          <a:prstGeom prst="rect">
            <a:avLst/>
          </a:prstGeom>
          <a:noFill/>
          <a:ln/>
        </p:spPr>
        <p:txBody>
          <a:bodyPr wrap="square" lIns="0" tIns="0" rIns="0" bIns="0" rtlCol="0" anchor="ctr"/>
          <a:lstStyle/>
          <a:p>
            <a:pPr marL="0" indent="0">
              <a:buNone/>
            </a:pPr>
            <a:r>
              <a:rPr lang="en-US" sz="1200" b="1" dirty="0">
                <a:solidFill>
                  <a:srgbClr val="D97757"/>
                </a:solidFill>
                <a:latin typeface="Arial" pitchFamily="34" charset="0"/>
                <a:ea typeface="Arial" pitchFamily="34" charset="-122"/>
                <a:cs typeface="Arial" pitchFamily="34" charset="-120"/>
              </a:rPr>
              <a:t>2 · Reason</a:t>
            </a:r>
            <a:endParaRPr lang="en-US" sz="1200" dirty="0"/>
          </a:p>
        </p:txBody>
      </p:sp>
      <p:sp>
        <p:nvSpPr>
          <p:cNvPr id="16" name="Text 13"/>
          <p:cNvSpPr/>
          <p:nvPr/>
        </p:nvSpPr>
        <p:spPr>
          <a:xfrm>
            <a:off x="4937760" y="2670048"/>
            <a:ext cx="3520440" cy="256032"/>
          </a:xfrm>
          <a:prstGeom prst="rect">
            <a:avLst/>
          </a:prstGeom>
          <a:noFill/>
          <a:ln/>
        </p:spPr>
        <p:txBody>
          <a:bodyPr wrap="square" lIns="0" tIns="0" rIns="0" bIns="0" rtlCol="0" anchor="ctr"/>
          <a:lstStyle/>
          <a:p>
            <a:pPr marL="0" indent="0">
              <a:buNone/>
            </a:pPr>
            <a:r>
              <a:rPr lang="en-US" sz="1000" dirty="0">
                <a:solidFill>
                  <a:srgbClr val="C9C4B8"/>
                </a:solidFill>
                <a:latin typeface="Arial" pitchFamily="34" charset="0"/>
                <a:ea typeface="Arial" pitchFamily="34" charset="-122"/>
                <a:cs typeface="Arial" pitchFamily="34" charset="-120"/>
              </a:rPr>
              <a:t>The model decides the next action.</a:t>
            </a:r>
            <a:endParaRPr lang="en-US" sz="1000" dirty="0"/>
          </a:p>
        </p:txBody>
      </p:sp>
      <p:sp>
        <p:nvSpPr>
          <p:cNvPr id="17" name="Shape 14"/>
          <p:cNvSpPr/>
          <p:nvPr/>
        </p:nvSpPr>
        <p:spPr>
          <a:xfrm>
            <a:off x="4754880" y="3072384"/>
            <a:ext cx="3886200" cy="603504"/>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8" name="Text 15"/>
          <p:cNvSpPr/>
          <p:nvPr/>
        </p:nvSpPr>
        <p:spPr>
          <a:xfrm>
            <a:off x="4937760" y="3127248"/>
            <a:ext cx="3520440" cy="274320"/>
          </a:xfrm>
          <a:prstGeom prst="rect">
            <a:avLst/>
          </a:prstGeom>
          <a:noFill/>
          <a:ln/>
        </p:spPr>
        <p:txBody>
          <a:bodyPr wrap="square" lIns="0" tIns="0" rIns="0" bIns="0" rtlCol="0" anchor="ctr"/>
          <a:lstStyle/>
          <a:p>
            <a:pPr marL="0" indent="0">
              <a:buNone/>
            </a:pPr>
            <a:r>
              <a:rPr lang="en-US" sz="1200" b="1" dirty="0">
                <a:solidFill>
                  <a:srgbClr val="1A1A18"/>
                </a:solidFill>
                <a:latin typeface="Arial" pitchFamily="34" charset="0"/>
                <a:ea typeface="Arial" pitchFamily="34" charset="-122"/>
                <a:cs typeface="Arial" pitchFamily="34" charset="-120"/>
              </a:rPr>
              <a:t>3 · Act</a:t>
            </a:r>
            <a:endParaRPr lang="en-US" sz="1200" dirty="0"/>
          </a:p>
        </p:txBody>
      </p:sp>
      <p:sp>
        <p:nvSpPr>
          <p:cNvPr id="19" name="Text 16"/>
          <p:cNvSpPr/>
          <p:nvPr/>
        </p:nvSpPr>
        <p:spPr>
          <a:xfrm>
            <a:off x="4937760" y="3392424"/>
            <a:ext cx="3520440" cy="256032"/>
          </a:xfrm>
          <a:prstGeom prst="rect">
            <a:avLst/>
          </a:prstGeom>
          <a:noFill/>
          <a:ln/>
        </p:spPr>
        <p:txBody>
          <a:bodyPr wrap="square" lIns="0" tIns="0" rIns="0" bIns="0" rtlCol="0" anchor="ctr"/>
          <a:lstStyle/>
          <a:p>
            <a:pPr marL="0" indent="0">
              <a:buNone/>
            </a:pPr>
            <a:r>
              <a:rPr lang="en-US" sz="1000" dirty="0">
                <a:solidFill>
                  <a:srgbClr val="6B6862"/>
                </a:solidFill>
                <a:latin typeface="Arial" pitchFamily="34" charset="0"/>
                <a:ea typeface="Arial" pitchFamily="34" charset="-122"/>
                <a:cs typeface="Arial" pitchFamily="34" charset="-120"/>
              </a:rPr>
              <a:t>It calls a tool with structured arguments.</a:t>
            </a:r>
            <a:endParaRPr lang="en-US" sz="1000" dirty="0"/>
          </a:p>
        </p:txBody>
      </p:sp>
      <p:sp>
        <p:nvSpPr>
          <p:cNvPr id="20" name="Shape 17"/>
          <p:cNvSpPr/>
          <p:nvPr/>
        </p:nvSpPr>
        <p:spPr>
          <a:xfrm>
            <a:off x="4754880" y="3794760"/>
            <a:ext cx="3886200" cy="603504"/>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21" name="Text 18"/>
          <p:cNvSpPr/>
          <p:nvPr/>
        </p:nvSpPr>
        <p:spPr>
          <a:xfrm>
            <a:off x="4937760" y="3849624"/>
            <a:ext cx="3520440" cy="274320"/>
          </a:xfrm>
          <a:prstGeom prst="rect">
            <a:avLst/>
          </a:prstGeom>
          <a:noFill/>
          <a:ln/>
        </p:spPr>
        <p:txBody>
          <a:bodyPr wrap="square" lIns="0" tIns="0" rIns="0" bIns="0" rtlCol="0" anchor="ctr"/>
          <a:lstStyle/>
          <a:p>
            <a:pPr marL="0" indent="0">
              <a:buNone/>
            </a:pPr>
            <a:r>
              <a:rPr lang="en-US" sz="1200" b="1" dirty="0">
                <a:solidFill>
                  <a:srgbClr val="1A1A18"/>
                </a:solidFill>
                <a:latin typeface="Arial" pitchFamily="34" charset="0"/>
                <a:ea typeface="Arial" pitchFamily="34" charset="-122"/>
                <a:cs typeface="Arial" pitchFamily="34" charset="-120"/>
              </a:rPr>
              <a:t>4 · Observe</a:t>
            </a:r>
            <a:endParaRPr lang="en-US" sz="1200" dirty="0"/>
          </a:p>
        </p:txBody>
      </p:sp>
      <p:sp>
        <p:nvSpPr>
          <p:cNvPr id="22" name="Text 19"/>
          <p:cNvSpPr/>
          <p:nvPr/>
        </p:nvSpPr>
        <p:spPr>
          <a:xfrm>
            <a:off x="4937760" y="4114800"/>
            <a:ext cx="3520440" cy="256032"/>
          </a:xfrm>
          <a:prstGeom prst="rect">
            <a:avLst/>
          </a:prstGeom>
          <a:noFill/>
          <a:ln/>
        </p:spPr>
        <p:txBody>
          <a:bodyPr wrap="square" lIns="0" tIns="0" rIns="0" bIns="0" rtlCol="0" anchor="ctr"/>
          <a:lstStyle/>
          <a:p>
            <a:pPr marL="0" indent="0">
              <a:buNone/>
            </a:pPr>
            <a:r>
              <a:rPr lang="en-US" sz="1000" dirty="0">
                <a:solidFill>
                  <a:srgbClr val="6B6862"/>
                </a:solidFill>
                <a:latin typeface="Arial" pitchFamily="34" charset="0"/>
                <a:ea typeface="Arial" pitchFamily="34" charset="-122"/>
                <a:cs typeface="Arial" pitchFamily="34" charset="-120"/>
              </a:rPr>
              <a:t>The tool result feeds back into context.</a:t>
            </a:r>
            <a:endParaRPr lang="en-US" sz="1000" dirty="0"/>
          </a:p>
        </p:txBody>
      </p:sp>
      <p:sp>
        <p:nvSpPr>
          <p:cNvPr id="23" name="Text 20"/>
          <p:cNvSpPr/>
          <p:nvPr/>
        </p:nvSpPr>
        <p:spPr>
          <a:xfrm>
            <a:off x="4754880" y="4535424"/>
            <a:ext cx="3886200" cy="310896"/>
          </a:xfrm>
          <a:prstGeom prst="rect">
            <a:avLst/>
          </a:prstGeom>
          <a:noFill/>
          <a:ln/>
        </p:spPr>
        <p:txBody>
          <a:bodyPr wrap="square" lIns="0" tIns="0" rIns="0" bIns="0" rtlCol="0" anchor="ctr"/>
          <a:lstStyle/>
          <a:p>
            <a:pPr marL="0" indent="0" algn="ctr">
              <a:buNone/>
            </a:pPr>
            <a:r>
              <a:rPr lang="en-US" sz="1100" b="1" dirty="0">
                <a:solidFill>
                  <a:srgbClr val="B3522F"/>
                </a:solidFill>
                <a:latin typeface="Arial" pitchFamily="34" charset="0"/>
                <a:ea typeface="Arial" pitchFamily="34" charset="-122"/>
                <a:cs typeface="Arial" pitchFamily="34" charset="-120"/>
              </a:rPr>
              <a:t>↻  repeat until a stop condition is met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EEE6"/>
        </a:solidFill>
        <a:effectLst/>
      </p:bgPr>
    </p:bg>
    <p:spTree>
      <p:nvGrpSpPr>
        <p:cNvPr id="1" name=""/>
        <p:cNvGrpSpPr/>
        <p:nvPr/>
      </p:nvGrpSpPr>
      <p:grpSpPr>
        <a:xfrm>
          <a:off x="0" y="0"/>
          <a:ext cx="0" cy="0"/>
          <a:chOff x="0" y="0"/>
          <a:chExt cx="0" cy="0"/>
        </a:xfrm>
      </p:grpSpPr>
      <p:pic>
        <p:nvPicPr>
          <p:cNvPr id="2" name="Image 0" descr="/agent/turn2/workspace/assets/spark-coral.png"/>
          <p:cNvPicPr>
            <a:picLocks noChangeAspect="1"/>
          </p:cNvPicPr>
          <p:nvPr/>
        </p:nvPicPr>
        <p:blipFill>
          <a:blip r:embed="rId3"/>
          <a:stretch>
            <a:fillRect/>
          </a:stretch>
        </p:blipFill>
        <p:spPr>
          <a:xfrm>
            <a:off x="502920" y="457200"/>
            <a:ext cx="237744" cy="237744"/>
          </a:xfrm>
          <a:prstGeom prst="rect">
            <a:avLst/>
          </a:prstGeom>
        </p:spPr>
      </p:pic>
      <p:sp>
        <p:nvSpPr>
          <p:cNvPr id="3" name="Text 0"/>
          <p:cNvSpPr/>
          <p:nvPr/>
        </p:nvSpPr>
        <p:spPr>
          <a:xfrm>
            <a:off x="841248" y="429768"/>
            <a:ext cx="7315200" cy="292608"/>
          </a:xfrm>
          <a:prstGeom prst="rect">
            <a:avLst/>
          </a:prstGeom>
          <a:noFill/>
          <a:ln/>
        </p:spPr>
        <p:txBody>
          <a:bodyPr wrap="square" lIns="0" tIns="0" rIns="0" bIns="0" rtlCol="0" anchor="ctr"/>
          <a:lstStyle/>
          <a:p>
            <a:pPr marL="0" indent="0" algn="l">
              <a:buNone/>
            </a:pPr>
            <a:r>
              <a:rPr lang="en-US" sz="1150" b="1" kern="0" spc="220" dirty="0">
                <a:solidFill>
                  <a:srgbClr val="B3522F"/>
                </a:solidFill>
                <a:latin typeface="Arial" pitchFamily="34" charset="0"/>
                <a:ea typeface="Arial" pitchFamily="34" charset="-122"/>
                <a:cs typeface="Arial" pitchFamily="34" charset="-120"/>
              </a:rPr>
              <a:t>GIVING THE MODEL HANDS</a:t>
            </a:r>
            <a:endParaRPr lang="en-US" sz="1150" dirty="0"/>
          </a:p>
        </p:txBody>
      </p:sp>
      <p:sp>
        <p:nvSpPr>
          <p:cNvPr id="4" name="Text 1"/>
          <p:cNvSpPr/>
          <p:nvPr/>
        </p:nvSpPr>
        <p:spPr>
          <a:xfrm>
            <a:off x="484632" y="749808"/>
            <a:ext cx="8183880" cy="777240"/>
          </a:xfrm>
          <a:prstGeom prst="rect">
            <a:avLst/>
          </a:prstGeom>
          <a:noFill/>
          <a:ln/>
        </p:spPr>
        <p:txBody>
          <a:bodyPr wrap="square" lIns="0" tIns="0" rIns="0" bIns="0" rtlCol="0" anchor="t"/>
          <a:lstStyle/>
          <a:p>
            <a:pPr marL="0" indent="0" algn="l">
              <a:buNone/>
            </a:pPr>
            <a:r>
              <a:rPr lang="en-US" sz="3100" b="1" dirty="0">
                <a:solidFill>
                  <a:srgbClr val="1A1A18"/>
                </a:solidFill>
                <a:latin typeface="Georgia" pitchFamily="34" charset="0"/>
                <a:ea typeface="Georgia" pitchFamily="34" charset="-122"/>
                <a:cs typeface="Georgia" pitchFamily="34" charset="-120"/>
              </a:rPr>
              <a:t>Tools &amp; function calling</a:t>
            </a:r>
            <a:endParaRPr lang="en-US" sz="3100" dirty="0"/>
          </a:p>
        </p:txBody>
      </p:sp>
      <p:sp>
        <p:nvSpPr>
          <p:cNvPr id="5" name="Shape 2"/>
          <p:cNvSpPr/>
          <p:nvPr/>
        </p:nvSpPr>
        <p:spPr>
          <a:xfrm>
            <a:off x="502920" y="4754880"/>
            <a:ext cx="8138160" cy="0"/>
          </a:xfrm>
          <a:prstGeom prst="line">
            <a:avLst/>
          </a:prstGeom>
          <a:noFill/>
          <a:ln w="12700">
            <a:solidFill>
              <a:srgbClr val="DAD6C8"/>
            </a:solidFill>
            <a:prstDash val="solid"/>
          </a:ln>
        </p:spPr>
        <p:txBody>
          <a:bodyPr/>
          <a:lstStyle/>
          <a:p>
            <a:endParaRPr lang="en-IN"/>
          </a:p>
        </p:txBody>
      </p:sp>
      <p:sp>
        <p:nvSpPr>
          <p:cNvPr id="6" name="Text 3"/>
          <p:cNvSpPr/>
          <p:nvPr/>
        </p:nvSpPr>
        <p:spPr>
          <a:xfrm>
            <a:off x="502920" y="4791456"/>
            <a:ext cx="5486400" cy="274320"/>
          </a:xfrm>
          <a:prstGeom prst="rect">
            <a:avLst/>
          </a:prstGeom>
          <a:noFill/>
          <a:ln/>
        </p:spPr>
        <p:txBody>
          <a:bodyPr wrap="square" lIns="0" tIns="0" rIns="0" bIns="0" rtlCol="0" anchor="ctr"/>
          <a:lstStyle/>
          <a:p>
            <a:pPr marL="0" indent="0" algn="l">
              <a:buNone/>
            </a:pPr>
            <a:r>
              <a:rPr lang="en-US" sz="850" dirty="0">
                <a:solidFill>
                  <a:srgbClr val="6B6862"/>
                </a:solidFill>
                <a:latin typeface="Arial" pitchFamily="34" charset="0"/>
                <a:ea typeface="Arial" pitchFamily="34" charset="-122"/>
                <a:cs typeface="Arial" pitchFamily="34" charset="-120"/>
              </a:rPr>
              <a:t>Claude Training  ·  From Prompts to Agents</a:t>
            </a:r>
            <a:endParaRPr lang="en-US" sz="850" dirty="0"/>
          </a:p>
        </p:txBody>
      </p:sp>
      <p:sp>
        <p:nvSpPr>
          <p:cNvPr id="7" name="Text 4"/>
          <p:cNvSpPr/>
          <p:nvPr/>
        </p:nvSpPr>
        <p:spPr>
          <a:xfrm>
            <a:off x="8183880" y="4791456"/>
            <a:ext cx="457200" cy="274320"/>
          </a:xfrm>
          <a:prstGeom prst="rect">
            <a:avLst/>
          </a:prstGeom>
          <a:noFill/>
          <a:ln/>
        </p:spPr>
        <p:txBody>
          <a:bodyPr wrap="square" lIns="0" tIns="0" rIns="0" bIns="0" rtlCol="0" anchor="ctr"/>
          <a:lstStyle/>
          <a:p>
            <a:pPr marL="0" indent="0" algn="r">
              <a:buNone/>
            </a:pPr>
            <a:r>
              <a:rPr lang="en-US" sz="850" b="1" dirty="0">
                <a:solidFill>
                  <a:srgbClr val="6B6862"/>
                </a:solidFill>
                <a:latin typeface="Arial" pitchFamily="34" charset="0"/>
                <a:ea typeface="Arial" pitchFamily="34" charset="-122"/>
                <a:cs typeface="Arial" pitchFamily="34" charset="-120"/>
              </a:rPr>
              <a:t>08</a:t>
            </a:r>
            <a:endParaRPr lang="en-US" sz="850" dirty="0"/>
          </a:p>
        </p:txBody>
      </p:sp>
      <p:sp>
        <p:nvSpPr>
          <p:cNvPr id="8" name="Text 5"/>
          <p:cNvSpPr/>
          <p:nvPr/>
        </p:nvSpPr>
        <p:spPr>
          <a:xfrm>
            <a:off x="502920" y="1609344"/>
            <a:ext cx="3977640" cy="1097280"/>
          </a:xfrm>
          <a:prstGeom prst="rect">
            <a:avLst/>
          </a:prstGeom>
          <a:noFill/>
          <a:ln/>
        </p:spPr>
        <p:txBody>
          <a:bodyPr wrap="square" lIns="0" tIns="0" rIns="0" bIns="0" rtlCol="0" anchor="ctr"/>
          <a:lstStyle/>
          <a:p>
            <a:pPr marL="0" indent="0">
              <a:lnSpc>
                <a:spcPct val="128000"/>
              </a:lnSpc>
              <a:buNone/>
            </a:pPr>
            <a:r>
              <a:rPr lang="en-US" sz="1250" dirty="0">
                <a:solidFill>
                  <a:srgbClr val="2B2A26"/>
                </a:solidFill>
                <a:latin typeface="Arial" pitchFamily="34" charset="0"/>
                <a:ea typeface="Arial" pitchFamily="34" charset="-122"/>
                <a:cs typeface="Arial" pitchFamily="34" charset="-120"/>
              </a:rPr>
              <a:t>A tool is a typed function you expose to the model. The model emits a structured call; your runtime executes it and returns the result for the next turn.</a:t>
            </a:r>
            <a:endParaRPr lang="en-US" sz="1250" dirty="0"/>
          </a:p>
        </p:txBody>
      </p:sp>
      <p:sp>
        <p:nvSpPr>
          <p:cNvPr id="9" name="Text 6"/>
          <p:cNvSpPr/>
          <p:nvPr/>
        </p:nvSpPr>
        <p:spPr>
          <a:xfrm>
            <a:off x="502920" y="2743200"/>
            <a:ext cx="3977640" cy="274320"/>
          </a:xfrm>
          <a:prstGeom prst="rect">
            <a:avLst/>
          </a:prstGeom>
          <a:noFill/>
          <a:ln/>
        </p:spPr>
        <p:txBody>
          <a:bodyPr wrap="square" lIns="0" tIns="0" rIns="0" bIns="0" rtlCol="0" anchor="ctr"/>
          <a:lstStyle/>
          <a:p>
            <a:pPr marL="0" indent="0">
              <a:buNone/>
            </a:pPr>
            <a:r>
              <a:rPr lang="en-US" sz="950" b="1" kern="0" spc="140" dirty="0">
                <a:solidFill>
                  <a:srgbClr val="B3522F"/>
                </a:solidFill>
                <a:latin typeface="Arial" pitchFamily="34" charset="0"/>
                <a:ea typeface="Arial" pitchFamily="34" charset="-122"/>
                <a:cs typeface="Arial" pitchFamily="34" charset="-120"/>
              </a:rPr>
              <a:t>COMMON TOOLS</a:t>
            </a:r>
            <a:endParaRPr lang="en-US" sz="950" dirty="0"/>
          </a:p>
        </p:txBody>
      </p:sp>
      <p:sp>
        <p:nvSpPr>
          <p:cNvPr id="10" name="Shape 7"/>
          <p:cNvSpPr/>
          <p:nvPr/>
        </p:nvSpPr>
        <p:spPr>
          <a:xfrm>
            <a:off x="502920" y="3054096"/>
            <a:ext cx="1179576" cy="347472"/>
          </a:xfrm>
          <a:prstGeom prst="roundRect">
            <a:avLst>
              <a:gd name="adj" fmla="val 50000"/>
            </a:avLst>
          </a:prstGeom>
          <a:solidFill>
            <a:srgbClr val="EAE7DC"/>
          </a:solidFill>
          <a:ln/>
        </p:spPr>
        <p:txBody>
          <a:bodyPr/>
          <a:lstStyle/>
          <a:p>
            <a:endParaRPr lang="en-IN"/>
          </a:p>
        </p:txBody>
      </p:sp>
      <p:sp>
        <p:nvSpPr>
          <p:cNvPr id="11" name="Text 8"/>
          <p:cNvSpPr/>
          <p:nvPr/>
        </p:nvSpPr>
        <p:spPr>
          <a:xfrm>
            <a:off x="502920" y="3054096"/>
            <a:ext cx="1179576" cy="347472"/>
          </a:xfrm>
          <a:prstGeom prst="rect">
            <a:avLst/>
          </a:prstGeom>
          <a:noFill/>
          <a:ln/>
        </p:spPr>
        <p:txBody>
          <a:bodyPr wrap="square" lIns="0" tIns="0" rIns="0" bIns="0" rtlCol="0" anchor="ctr"/>
          <a:lstStyle/>
          <a:p>
            <a:pPr marL="0" indent="0" algn="ctr">
              <a:buNone/>
            </a:pPr>
            <a:r>
              <a:rPr lang="en-US" sz="1000" b="1" dirty="0">
                <a:solidFill>
                  <a:srgbClr val="2B2A26"/>
                </a:solidFill>
                <a:latin typeface="Arial" pitchFamily="34" charset="0"/>
                <a:ea typeface="Arial" pitchFamily="34" charset="-122"/>
                <a:cs typeface="Arial" pitchFamily="34" charset="-120"/>
              </a:rPr>
              <a:t>Web search</a:t>
            </a:r>
            <a:endParaRPr lang="en-US" sz="1000" dirty="0"/>
          </a:p>
        </p:txBody>
      </p:sp>
      <p:sp>
        <p:nvSpPr>
          <p:cNvPr id="12" name="Shape 9"/>
          <p:cNvSpPr/>
          <p:nvPr/>
        </p:nvSpPr>
        <p:spPr>
          <a:xfrm>
            <a:off x="1810512" y="3054096"/>
            <a:ext cx="1497787" cy="347472"/>
          </a:xfrm>
          <a:prstGeom prst="roundRect">
            <a:avLst>
              <a:gd name="adj" fmla="val 50000"/>
            </a:avLst>
          </a:prstGeom>
          <a:solidFill>
            <a:srgbClr val="EAE7DC"/>
          </a:solidFill>
          <a:ln/>
        </p:spPr>
        <p:txBody>
          <a:bodyPr/>
          <a:lstStyle/>
          <a:p>
            <a:endParaRPr lang="en-IN"/>
          </a:p>
        </p:txBody>
      </p:sp>
      <p:sp>
        <p:nvSpPr>
          <p:cNvPr id="13" name="Text 10"/>
          <p:cNvSpPr/>
          <p:nvPr/>
        </p:nvSpPr>
        <p:spPr>
          <a:xfrm>
            <a:off x="1810512" y="3054096"/>
            <a:ext cx="1497787" cy="347472"/>
          </a:xfrm>
          <a:prstGeom prst="rect">
            <a:avLst/>
          </a:prstGeom>
          <a:noFill/>
          <a:ln/>
        </p:spPr>
        <p:txBody>
          <a:bodyPr wrap="square" lIns="0" tIns="0" rIns="0" bIns="0" rtlCol="0" anchor="ctr"/>
          <a:lstStyle/>
          <a:p>
            <a:pPr marL="0" indent="0" algn="ctr">
              <a:buNone/>
            </a:pPr>
            <a:r>
              <a:rPr lang="en-US" sz="1000" b="1" dirty="0">
                <a:solidFill>
                  <a:srgbClr val="2B2A26"/>
                </a:solidFill>
                <a:latin typeface="Arial" pitchFamily="34" charset="0"/>
                <a:ea typeface="Arial" pitchFamily="34" charset="-122"/>
                <a:cs typeface="Arial" pitchFamily="34" charset="-120"/>
              </a:rPr>
              <a:t>Code execution</a:t>
            </a:r>
            <a:endParaRPr lang="en-US" sz="1000" dirty="0"/>
          </a:p>
        </p:txBody>
      </p:sp>
      <p:sp>
        <p:nvSpPr>
          <p:cNvPr id="14" name="Shape 11"/>
          <p:cNvSpPr/>
          <p:nvPr/>
        </p:nvSpPr>
        <p:spPr>
          <a:xfrm>
            <a:off x="502920" y="3511296"/>
            <a:ext cx="1736446" cy="347472"/>
          </a:xfrm>
          <a:prstGeom prst="roundRect">
            <a:avLst>
              <a:gd name="adj" fmla="val 50000"/>
            </a:avLst>
          </a:prstGeom>
          <a:solidFill>
            <a:srgbClr val="EAE7DC"/>
          </a:solidFill>
          <a:ln/>
        </p:spPr>
        <p:txBody>
          <a:bodyPr/>
          <a:lstStyle/>
          <a:p>
            <a:endParaRPr lang="en-IN"/>
          </a:p>
        </p:txBody>
      </p:sp>
      <p:sp>
        <p:nvSpPr>
          <p:cNvPr id="15" name="Text 12"/>
          <p:cNvSpPr/>
          <p:nvPr/>
        </p:nvSpPr>
        <p:spPr>
          <a:xfrm>
            <a:off x="502920" y="3511296"/>
            <a:ext cx="1736446" cy="347472"/>
          </a:xfrm>
          <a:prstGeom prst="rect">
            <a:avLst/>
          </a:prstGeom>
          <a:noFill/>
          <a:ln/>
        </p:spPr>
        <p:txBody>
          <a:bodyPr wrap="square" lIns="0" tIns="0" rIns="0" bIns="0" rtlCol="0" anchor="ctr"/>
          <a:lstStyle/>
          <a:p>
            <a:pPr marL="0" indent="0" algn="ctr">
              <a:buNone/>
            </a:pPr>
            <a:r>
              <a:rPr lang="en-US" sz="1000" b="1" dirty="0">
                <a:solidFill>
                  <a:srgbClr val="2B2A26"/>
                </a:solidFill>
                <a:latin typeface="Arial" pitchFamily="34" charset="0"/>
                <a:ea typeface="Arial" pitchFamily="34" charset="-122"/>
                <a:cs typeface="Arial" pitchFamily="34" charset="-120"/>
              </a:rPr>
              <a:t>File read / write</a:t>
            </a:r>
            <a:endParaRPr lang="en-US" sz="1000" dirty="0"/>
          </a:p>
        </p:txBody>
      </p:sp>
      <p:sp>
        <p:nvSpPr>
          <p:cNvPr id="16" name="Shape 13"/>
          <p:cNvSpPr/>
          <p:nvPr/>
        </p:nvSpPr>
        <p:spPr>
          <a:xfrm>
            <a:off x="2367382" y="3511296"/>
            <a:ext cx="1497787" cy="347472"/>
          </a:xfrm>
          <a:prstGeom prst="roundRect">
            <a:avLst>
              <a:gd name="adj" fmla="val 50000"/>
            </a:avLst>
          </a:prstGeom>
          <a:solidFill>
            <a:srgbClr val="EAE7DC"/>
          </a:solidFill>
          <a:ln/>
        </p:spPr>
        <p:txBody>
          <a:bodyPr/>
          <a:lstStyle/>
          <a:p>
            <a:endParaRPr lang="en-IN"/>
          </a:p>
        </p:txBody>
      </p:sp>
      <p:sp>
        <p:nvSpPr>
          <p:cNvPr id="17" name="Text 14"/>
          <p:cNvSpPr/>
          <p:nvPr/>
        </p:nvSpPr>
        <p:spPr>
          <a:xfrm>
            <a:off x="2367382" y="3511296"/>
            <a:ext cx="1497787" cy="347472"/>
          </a:xfrm>
          <a:prstGeom prst="rect">
            <a:avLst/>
          </a:prstGeom>
          <a:noFill/>
          <a:ln/>
        </p:spPr>
        <p:txBody>
          <a:bodyPr wrap="square" lIns="0" tIns="0" rIns="0" bIns="0" rtlCol="0" anchor="ctr"/>
          <a:lstStyle/>
          <a:p>
            <a:pPr marL="0" indent="0" algn="ctr">
              <a:buNone/>
            </a:pPr>
            <a:r>
              <a:rPr lang="en-US" sz="1000" b="1" dirty="0">
                <a:solidFill>
                  <a:srgbClr val="2B2A26"/>
                </a:solidFill>
                <a:latin typeface="Arial" pitchFamily="34" charset="0"/>
                <a:ea typeface="Arial" pitchFamily="34" charset="-122"/>
                <a:cs typeface="Arial" pitchFamily="34" charset="-120"/>
              </a:rPr>
              <a:t>Database query</a:t>
            </a:r>
            <a:endParaRPr lang="en-US" sz="1000" dirty="0"/>
          </a:p>
        </p:txBody>
      </p:sp>
      <p:sp>
        <p:nvSpPr>
          <p:cNvPr id="18" name="Shape 15"/>
          <p:cNvSpPr/>
          <p:nvPr/>
        </p:nvSpPr>
        <p:spPr>
          <a:xfrm>
            <a:off x="502920" y="3968496"/>
            <a:ext cx="1577340" cy="347472"/>
          </a:xfrm>
          <a:prstGeom prst="roundRect">
            <a:avLst>
              <a:gd name="adj" fmla="val 50000"/>
            </a:avLst>
          </a:prstGeom>
          <a:solidFill>
            <a:srgbClr val="EAE7DC"/>
          </a:solidFill>
          <a:ln/>
        </p:spPr>
        <p:txBody>
          <a:bodyPr/>
          <a:lstStyle/>
          <a:p>
            <a:endParaRPr lang="en-IN"/>
          </a:p>
        </p:txBody>
      </p:sp>
      <p:sp>
        <p:nvSpPr>
          <p:cNvPr id="19" name="Text 16"/>
          <p:cNvSpPr/>
          <p:nvPr/>
        </p:nvSpPr>
        <p:spPr>
          <a:xfrm>
            <a:off x="502920" y="3968496"/>
            <a:ext cx="1577340" cy="347472"/>
          </a:xfrm>
          <a:prstGeom prst="rect">
            <a:avLst/>
          </a:prstGeom>
          <a:noFill/>
          <a:ln/>
        </p:spPr>
        <p:txBody>
          <a:bodyPr wrap="square" lIns="0" tIns="0" rIns="0" bIns="0" rtlCol="0" anchor="ctr"/>
          <a:lstStyle/>
          <a:p>
            <a:pPr marL="0" indent="0" algn="ctr">
              <a:buNone/>
            </a:pPr>
            <a:r>
              <a:rPr lang="en-US" sz="1000" b="1" dirty="0">
                <a:solidFill>
                  <a:srgbClr val="2B2A26"/>
                </a:solidFill>
                <a:latin typeface="Arial" pitchFamily="34" charset="0"/>
                <a:ea typeface="Arial" pitchFamily="34" charset="-122"/>
                <a:cs typeface="Arial" pitchFamily="34" charset="-120"/>
              </a:rPr>
              <a:t>HTTP / API call</a:t>
            </a:r>
            <a:endParaRPr lang="en-US" sz="1000" dirty="0"/>
          </a:p>
        </p:txBody>
      </p:sp>
      <p:sp>
        <p:nvSpPr>
          <p:cNvPr id="20" name="Shape 17"/>
          <p:cNvSpPr/>
          <p:nvPr/>
        </p:nvSpPr>
        <p:spPr>
          <a:xfrm>
            <a:off x="2208276" y="3968496"/>
            <a:ext cx="1259129" cy="347472"/>
          </a:xfrm>
          <a:prstGeom prst="roundRect">
            <a:avLst>
              <a:gd name="adj" fmla="val 50000"/>
            </a:avLst>
          </a:prstGeom>
          <a:solidFill>
            <a:srgbClr val="EAE7DC"/>
          </a:solidFill>
          <a:ln/>
        </p:spPr>
        <p:txBody>
          <a:bodyPr/>
          <a:lstStyle/>
          <a:p>
            <a:endParaRPr lang="en-IN"/>
          </a:p>
        </p:txBody>
      </p:sp>
      <p:sp>
        <p:nvSpPr>
          <p:cNvPr id="21" name="Text 18"/>
          <p:cNvSpPr/>
          <p:nvPr/>
        </p:nvSpPr>
        <p:spPr>
          <a:xfrm>
            <a:off x="2208276" y="3968496"/>
            <a:ext cx="1259129" cy="347472"/>
          </a:xfrm>
          <a:prstGeom prst="rect">
            <a:avLst/>
          </a:prstGeom>
          <a:noFill/>
          <a:ln/>
        </p:spPr>
        <p:txBody>
          <a:bodyPr wrap="square" lIns="0" tIns="0" rIns="0" bIns="0" rtlCol="0" anchor="ctr"/>
          <a:lstStyle/>
          <a:p>
            <a:pPr marL="0" indent="0" algn="ctr">
              <a:buNone/>
            </a:pPr>
            <a:r>
              <a:rPr lang="en-US" sz="1000" b="1" dirty="0">
                <a:solidFill>
                  <a:srgbClr val="2B2A26"/>
                </a:solidFill>
                <a:latin typeface="Arial" pitchFamily="34" charset="0"/>
                <a:ea typeface="Arial" pitchFamily="34" charset="-122"/>
                <a:cs typeface="Arial" pitchFamily="34" charset="-120"/>
              </a:rPr>
              <a:t>MCP servers</a:t>
            </a:r>
            <a:endParaRPr lang="en-US" sz="1000" dirty="0"/>
          </a:p>
        </p:txBody>
      </p:sp>
      <p:sp>
        <p:nvSpPr>
          <p:cNvPr id="22" name="Shape 19"/>
          <p:cNvSpPr/>
          <p:nvPr/>
        </p:nvSpPr>
        <p:spPr>
          <a:xfrm>
            <a:off x="4754880" y="1591056"/>
            <a:ext cx="3886200" cy="2834640"/>
          </a:xfrm>
          <a:prstGeom prst="rect">
            <a:avLst/>
          </a:prstGeom>
          <a:solidFill>
            <a:srgbClr val="1A1A18"/>
          </a:solidFill>
          <a:ln/>
          <a:effectLst>
            <a:outerShdw blurRad="88900" dist="38100" dir="5400000" algn="bl" rotWithShape="0">
              <a:srgbClr val="9C9486">
                <a:alpha val="22000"/>
              </a:srgbClr>
            </a:outerShdw>
          </a:effectLst>
        </p:spPr>
        <p:txBody>
          <a:bodyPr/>
          <a:lstStyle/>
          <a:p>
            <a:endParaRPr lang="en-IN"/>
          </a:p>
        </p:txBody>
      </p:sp>
      <p:sp>
        <p:nvSpPr>
          <p:cNvPr id="23" name="Text 20"/>
          <p:cNvSpPr/>
          <p:nvPr/>
        </p:nvSpPr>
        <p:spPr>
          <a:xfrm>
            <a:off x="4974336" y="1700784"/>
            <a:ext cx="3429000" cy="237744"/>
          </a:xfrm>
          <a:prstGeom prst="rect">
            <a:avLst/>
          </a:prstGeom>
          <a:noFill/>
          <a:ln/>
        </p:spPr>
        <p:txBody>
          <a:bodyPr wrap="square" lIns="0" tIns="0" rIns="0" bIns="0" rtlCol="0" anchor="ctr"/>
          <a:lstStyle/>
          <a:p>
            <a:pPr marL="0" indent="0">
              <a:buNone/>
            </a:pPr>
            <a:r>
              <a:rPr lang="en-US" sz="900" b="1" kern="0" spc="100" dirty="0">
                <a:solidFill>
                  <a:srgbClr val="8A867C"/>
                </a:solidFill>
                <a:latin typeface="Arial" pitchFamily="34" charset="0"/>
                <a:ea typeface="Arial" pitchFamily="34" charset="-122"/>
                <a:cs typeface="Arial" pitchFamily="34" charset="-120"/>
              </a:rPr>
              <a:t>tool definition</a:t>
            </a:r>
            <a:endParaRPr lang="en-US" sz="900" dirty="0"/>
          </a:p>
        </p:txBody>
      </p:sp>
      <p:sp>
        <p:nvSpPr>
          <p:cNvPr id="24" name="Text 21"/>
          <p:cNvSpPr/>
          <p:nvPr/>
        </p:nvSpPr>
        <p:spPr>
          <a:xfrm>
            <a:off x="4974336" y="1956816"/>
            <a:ext cx="3502152" cy="1965960"/>
          </a:xfrm>
          <a:prstGeom prst="rect">
            <a:avLst/>
          </a:prstGeom>
          <a:noFill/>
          <a:ln/>
        </p:spPr>
        <p:txBody>
          <a:bodyPr wrap="square" lIns="0" tIns="0" rIns="0" bIns="0" rtlCol="0" anchor="t"/>
          <a:lstStyle/>
          <a:p>
            <a:pPr marL="0" indent="0">
              <a:lnSpc>
                <a:spcPct val="102000"/>
              </a:lnSpc>
              <a:buNone/>
            </a:pPr>
            <a:r>
              <a:rPr lang="en-US" sz="1050" dirty="0">
                <a:solidFill>
                  <a:srgbClr val="C9C4B8"/>
                </a:solidFill>
                <a:latin typeface="Consolas" pitchFamily="34" charset="0"/>
                <a:ea typeface="Consolas" pitchFamily="34" charset="-122"/>
                <a:cs typeface="Consolas" pitchFamily="34" charset="-120"/>
              </a:rPr>
              <a:t>{</a:t>
            </a:r>
            <a:endParaRPr lang="en-US" sz="1050" dirty="0"/>
          </a:p>
          <a:p>
            <a:pPr marL="0" indent="0">
              <a:lnSpc>
                <a:spcPct val="102000"/>
              </a:lnSpc>
              <a:buNone/>
            </a:pPr>
            <a:r>
              <a:rPr lang="en-US" sz="1050" dirty="0">
                <a:solidFill>
                  <a:srgbClr val="9FE0C9"/>
                </a:solidFill>
                <a:latin typeface="Consolas" pitchFamily="34" charset="0"/>
                <a:ea typeface="Consolas" pitchFamily="34" charset="-122"/>
                <a:cs typeface="Consolas" pitchFamily="34" charset="-120"/>
              </a:rPr>
              <a:t>  "name": </a:t>
            </a:r>
            <a:r>
              <a:rPr lang="en-US" sz="1050" dirty="0">
                <a:solidFill>
                  <a:srgbClr val="D97757"/>
                </a:solidFill>
                <a:latin typeface="Consolas" pitchFamily="34" charset="0"/>
                <a:ea typeface="Consolas" pitchFamily="34" charset="-122"/>
                <a:cs typeface="Consolas" pitchFamily="34" charset="-120"/>
              </a:rPr>
              <a:t>"get_weather"</a:t>
            </a:r>
            <a:r>
              <a:rPr lang="en-US" sz="1050" dirty="0">
                <a:solidFill>
                  <a:srgbClr val="C9C4B8"/>
                </a:solidFill>
                <a:latin typeface="Consolas" pitchFamily="34" charset="0"/>
                <a:ea typeface="Consolas" pitchFamily="34" charset="-122"/>
                <a:cs typeface="Consolas" pitchFamily="34" charset="-120"/>
              </a:rPr>
              <a:t>,</a:t>
            </a:r>
            <a:endParaRPr lang="en-US" sz="1050" dirty="0"/>
          </a:p>
          <a:p>
            <a:pPr marL="0" indent="0">
              <a:lnSpc>
                <a:spcPct val="102000"/>
              </a:lnSpc>
              <a:buNone/>
            </a:pPr>
            <a:r>
              <a:rPr lang="en-US" sz="1050" dirty="0">
                <a:solidFill>
                  <a:srgbClr val="9FE0C9"/>
                </a:solidFill>
                <a:latin typeface="Consolas" pitchFamily="34" charset="0"/>
                <a:ea typeface="Consolas" pitchFamily="34" charset="-122"/>
                <a:cs typeface="Consolas" pitchFamily="34" charset="-120"/>
              </a:rPr>
              <a:t>  "description": </a:t>
            </a:r>
            <a:r>
              <a:rPr lang="en-US" sz="1050" dirty="0">
                <a:solidFill>
                  <a:srgbClr val="D97757"/>
                </a:solidFill>
                <a:latin typeface="Consolas" pitchFamily="34" charset="0"/>
                <a:ea typeface="Consolas" pitchFamily="34" charset="-122"/>
                <a:cs typeface="Consolas" pitchFamily="34" charset="-120"/>
              </a:rPr>
              <a:t>"Current weather"</a:t>
            </a:r>
            <a:r>
              <a:rPr lang="en-US" sz="1050" dirty="0">
                <a:solidFill>
                  <a:srgbClr val="C9C4B8"/>
                </a:solidFill>
                <a:latin typeface="Consolas" pitchFamily="34" charset="0"/>
                <a:ea typeface="Consolas" pitchFamily="34" charset="-122"/>
                <a:cs typeface="Consolas" pitchFamily="34" charset="-120"/>
              </a:rPr>
              <a:t>,</a:t>
            </a:r>
            <a:endParaRPr lang="en-US" sz="1050" dirty="0"/>
          </a:p>
          <a:p>
            <a:pPr marL="0" indent="0">
              <a:lnSpc>
                <a:spcPct val="102000"/>
              </a:lnSpc>
              <a:buNone/>
            </a:pPr>
            <a:r>
              <a:rPr lang="en-US" sz="1050" dirty="0">
                <a:solidFill>
                  <a:srgbClr val="9FE0C9"/>
                </a:solidFill>
                <a:latin typeface="Consolas" pitchFamily="34" charset="0"/>
                <a:ea typeface="Consolas" pitchFamily="34" charset="-122"/>
                <a:cs typeface="Consolas" pitchFamily="34" charset="-120"/>
              </a:rPr>
              <a:t>  "input_schema": {</a:t>
            </a:r>
            <a:endParaRPr lang="en-US" sz="1050" dirty="0"/>
          </a:p>
          <a:p>
            <a:pPr marL="0" indent="0">
              <a:lnSpc>
                <a:spcPct val="102000"/>
              </a:lnSpc>
              <a:buNone/>
            </a:pPr>
            <a:r>
              <a:rPr lang="en-US" sz="1050" dirty="0">
                <a:solidFill>
                  <a:srgbClr val="9FE0C9"/>
                </a:solidFill>
                <a:latin typeface="Consolas" pitchFamily="34" charset="0"/>
                <a:ea typeface="Consolas" pitchFamily="34" charset="-122"/>
                <a:cs typeface="Consolas" pitchFamily="34" charset="-120"/>
              </a:rPr>
              <a:t>    "type": </a:t>
            </a:r>
            <a:r>
              <a:rPr lang="en-US" sz="1050" dirty="0">
                <a:solidFill>
                  <a:srgbClr val="D97757"/>
                </a:solidFill>
                <a:latin typeface="Consolas" pitchFamily="34" charset="0"/>
                <a:ea typeface="Consolas" pitchFamily="34" charset="-122"/>
                <a:cs typeface="Consolas" pitchFamily="34" charset="-120"/>
              </a:rPr>
              <a:t>"object"</a:t>
            </a:r>
            <a:r>
              <a:rPr lang="en-US" sz="1050" dirty="0">
                <a:solidFill>
                  <a:srgbClr val="C9C4B8"/>
                </a:solidFill>
                <a:latin typeface="Consolas" pitchFamily="34" charset="0"/>
                <a:ea typeface="Consolas" pitchFamily="34" charset="-122"/>
                <a:cs typeface="Consolas" pitchFamily="34" charset="-120"/>
              </a:rPr>
              <a:t>,</a:t>
            </a:r>
            <a:endParaRPr lang="en-US" sz="1050" dirty="0"/>
          </a:p>
          <a:p>
            <a:pPr marL="0" indent="0">
              <a:lnSpc>
                <a:spcPct val="102000"/>
              </a:lnSpc>
              <a:buNone/>
            </a:pPr>
            <a:r>
              <a:rPr lang="en-US" sz="1050" dirty="0">
                <a:solidFill>
                  <a:srgbClr val="9FE0C9"/>
                </a:solidFill>
                <a:latin typeface="Consolas" pitchFamily="34" charset="0"/>
                <a:ea typeface="Consolas" pitchFamily="34" charset="-122"/>
                <a:cs typeface="Consolas" pitchFamily="34" charset="-120"/>
              </a:rPr>
              <a:t>    "properties": {</a:t>
            </a:r>
            <a:endParaRPr lang="en-US" sz="1050" dirty="0"/>
          </a:p>
          <a:p>
            <a:pPr marL="0" indent="0">
              <a:lnSpc>
                <a:spcPct val="102000"/>
              </a:lnSpc>
              <a:buNone/>
            </a:pPr>
            <a:r>
              <a:rPr lang="en-US" sz="1050" dirty="0">
                <a:solidFill>
                  <a:srgbClr val="9FE0C9"/>
                </a:solidFill>
                <a:latin typeface="Consolas" pitchFamily="34" charset="0"/>
                <a:ea typeface="Consolas" pitchFamily="34" charset="-122"/>
                <a:cs typeface="Consolas" pitchFamily="34" charset="-120"/>
              </a:rPr>
              <a:t>      "city": { "type": </a:t>
            </a:r>
            <a:r>
              <a:rPr lang="en-US" sz="1050" dirty="0">
                <a:solidFill>
                  <a:srgbClr val="D97757"/>
                </a:solidFill>
                <a:latin typeface="Consolas" pitchFamily="34" charset="0"/>
                <a:ea typeface="Consolas" pitchFamily="34" charset="-122"/>
                <a:cs typeface="Consolas" pitchFamily="34" charset="-120"/>
              </a:rPr>
              <a:t>"string"</a:t>
            </a:r>
            <a:r>
              <a:rPr lang="en-US" sz="1050" dirty="0">
                <a:solidFill>
                  <a:srgbClr val="9FE0C9"/>
                </a:solidFill>
                <a:latin typeface="Consolas" pitchFamily="34" charset="0"/>
                <a:ea typeface="Consolas" pitchFamily="34" charset="-122"/>
                <a:cs typeface="Consolas" pitchFamily="34" charset="-120"/>
              </a:rPr>
              <a:t> }</a:t>
            </a:r>
            <a:endParaRPr lang="en-US" sz="1050" dirty="0"/>
          </a:p>
          <a:p>
            <a:pPr marL="0" indent="0">
              <a:lnSpc>
                <a:spcPct val="102000"/>
              </a:lnSpc>
              <a:buNone/>
            </a:pPr>
            <a:r>
              <a:rPr lang="en-US" sz="1050" dirty="0">
                <a:solidFill>
                  <a:srgbClr val="C9C4B8"/>
                </a:solidFill>
                <a:latin typeface="Consolas" pitchFamily="34" charset="0"/>
                <a:ea typeface="Consolas" pitchFamily="34" charset="-122"/>
                <a:cs typeface="Consolas" pitchFamily="34" charset="-120"/>
              </a:rPr>
              <a:t>    },</a:t>
            </a:r>
            <a:endParaRPr lang="en-US" sz="1050" dirty="0"/>
          </a:p>
          <a:p>
            <a:pPr marL="0" indent="0">
              <a:lnSpc>
                <a:spcPct val="102000"/>
              </a:lnSpc>
              <a:buNone/>
            </a:pPr>
            <a:r>
              <a:rPr lang="en-US" sz="1050" dirty="0">
                <a:solidFill>
                  <a:srgbClr val="9FE0C9"/>
                </a:solidFill>
                <a:latin typeface="Consolas" pitchFamily="34" charset="0"/>
                <a:ea typeface="Consolas" pitchFamily="34" charset="-122"/>
                <a:cs typeface="Consolas" pitchFamily="34" charset="-120"/>
              </a:rPr>
              <a:t>    "required": [</a:t>
            </a:r>
            <a:r>
              <a:rPr lang="en-US" sz="1050" dirty="0">
                <a:solidFill>
                  <a:srgbClr val="D97757"/>
                </a:solidFill>
                <a:latin typeface="Consolas" pitchFamily="34" charset="0"/>
                <a:ea typeface="Consolas" pitchFamily="34" charset="-122"/>
                <a:cs typeface="Consolas" pitchFamily="34" charset="-120"/>
              </a:rPr>
              <a:t>"city"</a:t>
            </a:r>
            <a:r>
              <a:rPr lang="en-US" sz="1050" dirty="0">
                <a:solidFill>
                  <a:srgbClr val="9FE0C9"/>
                </a:solidFill>
                <a:latin typeface="Consolas" pitchFamily="34" charset="0"/>
                <a:ea typeface="Consolas" pitchFamily="34" charset="-122"/>
                <a:cs typeface="Consolas" pitchFamily="34" charset="-120"/>
              </a:rPr>
              <a:t>]</a:t>
            </a:r>
            <a:endParaRPr lang="en-US" sz="1050" dirty="0"/>
          </a:p>
          <a:p>
            <a:pPr marL="0" indent="0">
              <a:lnSpc>
                <a:spcPct val="102000"/>
              </a:lnSpc>
              <a:buNone/>
            </a:pPr>
            <a:r>
              <a:rPr lang="en-US" sz="1050" dirty="0">
                <a:solidFill>
                  <a:srgbClr val="C9C4B8"/>
                </a:solidFill>
                <a:latin typeface="Consolas" pitchFamily="34" charset="0"/>
                <a:ea typeface="Consolas" pitchFamily="34" charset="-122"/>
                <a:cs typeface="Consolas" pitchFamily="34" charset="-120"/>
              </a:rPr>
              <a:t>  }</a:t>
            </a:r>
            <a:endParaRPr lang="en-US" sz="1050" dirty="0"/>
          </a:p>
          <a:p>
            <a:pPr marL="0" indent="0">
              <a:lnSpc>
                <a:spcPct val="102000"/>
              </a:lnSpc>
              <a:buNone/>
            </a:pPr>
            <a:r>
              <a:rPr lang="en-US" sz="1050" dirty="0">
                <a:solidFill>
                  <a:srgbClr val="C9C4B8"/>
                </a:solidFill>
                <a:latin typeface="Consolas" pitchFamily="34" charset="0"/>
                <a:ea typeface="Consolas" pitchFamily="34" charset="-122"/>
                <a:cs typeface="Consolas" pitchFamily="34" charset="-120"/>
              </a:rPr>
              <a:t>}</a:t>
            </a:r>
            <a:endParaRPr lang="en-US" sz="1050" dirty="0"/>
          </a:p>
        </p:txBody>
      </p:sp>
      <p:sp>
        <p:nvSpPr>
          <p:cNvPr id="25" name="Text 22"/>
          <p:cNvSpPr/>
          <p:nvPr/>
        </p:nvSpPr>
        <p:spPr>
          <a:xfrm>
            <a:off x="4974336" y="4041648"/>
            <a:ext cx="3502152" cy="292608"/>
          </a:xfrm>
          <a:prstGeom prst="rect">
            <a:avLst/>
          </a:prstGeom>
          <a:noFill/>
          <a:ln/>
        </p:spPr>
        <p:txBody>
          <a:bodyPr wrap="square" lIns="0" tIns="0" rIns="0" bIns="0" rtlCol="0" anchor="ctr"/>
          <a:lstStyle/>
          <a:p>
            <a:pPr marL="0" indent="0">
              <a:buNone/>
            </a:pPr>
            <a:r>
              <a:rPr lang="en-US" sz="950" i="1" dirty="0">
                <a:solidFill>
                  <a:srgbClr val="B8B3A8"/>
                </a:solidFill>
                <a:latin typeface="Arial" pitchFamily="34" charset="0"/>
                <a:ea typeface="Arial" pitchFamily="34" charset="-122"/>
                <a:cs typeface="Arial" pitchFamily="34" charset="-120"/>
              </a:rPr>
              <a:t>Model returns tool_use  →  you run it  →  return tool_result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EEE6"/>
        </a:solidFill>
        <a:effectLst/>
      </p:bgPr>
    </p:bg>
    <p:spTree>
      <p:nvGrpSpPr>
        <p:cNvPr id="1" name=""/>
        <p:cNvGrpSpPr/>
        <p:nvPr/>
      </p:nvGrpSpPr>
      <p:grpSpPr>
        <a:xfrm>
          <a:off x="0" y="0"/>
          <a:ext cx="0" cy="0"/>
          <a:chOff x="0" y="0"/>
          <a:chExt cx="0" cy="0"/>
        </a:xfrm>
      </p:grpSpPr>
      <p:pic>
        <p:nvPicPr>
          <p:cNvPr id="2" name="Image 0" descr="/agent/turn2/workspace/assets/spark-coral.png"/>
          <p:cNvPicPr>
            <a:picLocks noChangeAspect="1"/>
          </p:cNvPicPr>
          <p:nvPr/>
        </p:nvPicPr>
        <p:blipFill>
          <a:blip r:embed="rId3"/>
          <a:stretch>
            <a:fillRect/>
          </a:stretch>
        </p:blipFill>
        <p:spPr>
          <a:xfrm>
            <a:off x="502920" y="457200"/>
            <a:ext cx="237744" cy="237744"/>
          </a:xfrm>
          <a:prstGeom prst="rect">
            <a:avLst/>
          </a:prstGeom>
        </p:spPr>
      </p:pic>
      <p:sp>
        <p:nvSpPr>
          <p:cNvPr id="3" name="Text 0"/>
          <p:cNvSpPr/>
          <p:nvPr/>
        </p:nvSpPr>
        <p:spPr>
          <a:xfrm>
            <a:off x="841248" y="429768"/>
            <a:ext cx="7315200" cy="292608"/>
          </a:xfrm>
          <a:prstGeom prst="rect">
            <a:avLst/>
          </a:prstGeom>
          <a:noFill/>
          <a:ln/>
        </p:spPr>
        <p:txBody>
          <a:bodyPr wrap="square" lIns="0" tIns="0" rIns="0" bIns="0" rtlCol="0" anchor="ctr"/>
          <a:lstStyle/>
          <a:p>
            <a:pPr marL="0" indent="0" algn="l">
              <a:buNone/>
            </a:pPr>
            <a:r>
              <a:rPr lang="en-US" sz="1150" b="1" kern="0" spc="220" dirty="0">
                <a:solidFill>
                  <a:srgbClr val="B3522F"/>
                </a:solidFill>
                <a:latin typeface="Arial" pitchFamily="34" charset="0"/>
                <a:ea typeface="Arial" pitchFamily="34" charset="-122"/>
                <a:cs typeface="Arial" pitchFamily="34" charset="-120"/>
              </a:rPr>
              <a:t>HOW MUCH ROPE</a:t>
            </a:r>
            <a:endParaRPr lang="en-US" sz="1150" dirty="0"/>
          </a:p>
        </p:txBody>
      </p:sp>
      <p:sp>
        <p:nvSpPr>
          <p:cNvPr id="4" name="Text 1"/>
          <p:cNvSpPr/>
          <p:nvPr/>
        </p:nvSpPr>
        <p:spPr>
          <a:xfrm>
            <a:off x="484632" y="749808"/>
            <a:ext cx="8183880" cy="777240"/>
          </a:xfrm>
          <a:prstGeom prst="rect">
            <a:avLst/>
          </a:prstGeom>
          <a:noFill/>
          <a:ln/>
        </p:spPr>
        <p:txBody>
          <a:bodyPr wrap="square" lIns="0" tIns="0" rIns="0" bIns="0" rtlCol="0" anchor="t"/>
          <a:lstStyle/>
          <a:p>
            <a:pPr marL="0" indent="0" algn="l">
              <a:buNone/>
            </a:pPr>
            <a:r>
              <a:rPr lang="en-US" sz="3100" b="1" dirty="0">
                <a:solidFill>
                  <a:srgbClr val="1A1A18"/>
                </a:solidFill>
                <a:latin typeface="Georgia" pitchFamily="34" charset="0"/>
                <a:ea typeface="Georgia" pitchFamily="34" charset="-122"/>
                <a:cs typeface="Georgia" pitchFamily="34" charset="-120"/>
              </a:rPr>
              <a:t>Degrees of autonomy</a:t>
            </a:r>
            <a:endParaRPr lang="en-US" sz="3100" dirty="0"/>
          </a:p>
        </p:txBody>
      </p:sp>
      <p:sp>
        <p:nvSpPr>
          <p:cNvPr id="5" name="Shape 2"/>
          <p:cNvSpPr/>
          <p:nvPr/>
        </p:nvSpPr>
        <p:spPr>
          <a:xfrm>
            <a:off x="502920" y="4754880"/>
            <a:ext cx="8138160" cy="0"/>
          </a:xfrm>
          <a:prstGeom prst="line">
            <a:avLst/>
          </a:prstGeom>
          <a:noFill/>
          <a:ln w="12700">
            <a:solidFill>
              <a:srgbClr val="DAD6C8"/>
            </a:solidFill>
            <a:prstDash val="solid"/>
          </a:ln>
        </p:spPr>
        <p:txBody>
          <a:bodyPr/>
          <a:lstStyle/>
          <a:p>
            <a:endParaRPr lang="en-IN"/>
          </a:p>
        </p:txBody>
      </p:sp>
      <p:sp>
        <p:nvSpPr>
          <p:cNvPr id="6" name="Text 3"/>
          <p:cNvSpPr/>
          <p:nvPr/>
        </p:nvSpPr>
        <p:spPr>
          <a:xfrm>
            <a:off x="502920" y="4791456"/>
            <a:ext cx="5486400" cy="274320"/>
          </a:xfrm>
          <a:prstGeom prst="rect">
            <a:avLst/>
          </a:prstGeom>
          <a:noFill/>
          <a:ln/>
        </p:spPr>
        <p:txBody>
          <a:bodyPr wrap="square" lIns="0" tIns="0" rIns="0" bIns="0" rtlCol="0" anchor="ctr"/>
          <a:lstStyle/>
          <a:p>
            <a:pPr marL="0" indent="0" algn="l">
              <a:buNone/>
            </a:pPr>
            <a:r>
              <a:rPr lang="en-US" sz="850" dirty="0">
                <a:solidFill>
                  <a:srgbClr val="6B6862"/>
                </a:solidFill>
                <a:latin typeface="Arial" pitchFamily="34" charset="0"/>
                <a:ea typeface="Arial" pitchFamily="34" charset="-122"/>
                <a:cs typeface="Arial" pitchFamily="34" charset="-120"/>
              </a:rPr>
              <a:t>Claude Training  ·  From Prompts to Agents</a:t>
            </a:r>
            <a:endParaRPr lang="en-US" sz="850" dirty="0"/>
          </a:p>
        </p:txBody>
      </p:sp>
      <p:sp>
        <p:nvSpPr>
          <p:cNvPr id="7" name="Text 4"/>
          <p:cNvSpPr/>
          <p:nvPr/>
        </p:nvSpPr>
        <p:spPr>
          <a:xfrm>
            <a:off x="8183880" y="4791456"/>
            <a:ext cx="457200" cy="274320"/>
          </a:xfrm>
          <a:prstGeom prst="rect">
            <a:avLst/>
          </a:prstGeom>
          <a:noFill/>
          <a:ln/>
        </p:spPr>
        <p:txBody>
          <a:bodyPr wrap="square" lIns="0" tIns="0" rIns="0" bIns="0" rtlCol="0" anchor="ctr"/>
          <a:lstStyle/>
          <a:p>
            <a:pPr marL="0" indent="0" algn="r">
              <a:buNone/>
            </a:pPr>
            <a:r>
              <a:rPr lang="en-US" sz="850" b="1" dirty="0">
                <a:solidFill>
                  <a:srgbClr val="6B6862"/>
                </a:solidFill>
                <a:latin typeface="Arial" pitchFamily="34" charset="0"/>
                <a:ea typeface="Arial" pitchFamily="34" charset="-122"/>
                <a:cs typeface="Arial" pitchFamily="34" charset="-120"/>
              </a:rPr>
              <a:t>09</a:t>
            </a:r>
            <a:endParaRPr lang="en-US" sz="850" dirty="0"/>
          </a:p>
        </p:txBody>
      </p:sp>
      <p:sp>
        <p:nvSpPr>
          <p:cNvPr id="8" name="Text 5"/>
          <p:cNvSpPr/>
          <p:nvPr/>
        </p:nvSpPr>
        <p:spPr>
          <a:xfrm>
            <a:off x="502920" y="1591056"/>
            <a:ext cx="8138160" cy="457200"/>
          </a:xfrm>
          <a:prstGeom prst="rect">
            <a:avLst/>
          </a:prstGeom>
          <a:noFill/>
          <a:ln/>
        </p:spPr>
        <p:txBody>
          <a:bodyPr wrap="square" lIns="0" tIns="0" rIns="0" bIns="0" rtlCol="0" anchor="ctr"/>
          <a:lstStyle/>
          <a:p>
            <a:pPr marL="0" indent="0">
              <a:lnSpc>
                <a:spcPct val="120000"/>
              </a:lnSpc>
              <a:buNone/>
            </a:pPr>
            <a:r>
              <a:rPr lang="en-US" sz="1250" dirty="0">
                <a:solidFill>
                  <a:srgbClr val="2B2A26"/>
                </a:solidFill>
                <a:latin typeface="Arial" pitchFamily="34" charset="0"/>
                <a:ea typeface="Arial" pitchFamily="34" charset="-122"/>
                <a:cs typeface="Arial" pitchFamily="34" charset="-120"/>
              </a:rPr>
              <a:t>Autonomy is a dial, not a switch. Match it to the blast radius of the action — read-only tasks can run free; irreversible ones stay gated.</a:t>
            </a:r>
            <a:endParaRPr lang="en-US" sz="1250" dirty="0"/>
          </a:p>
        </p:txBody>
      </p:sp>
      <p:sp>
        <p:nvSpPr>
          <p:cNvPr id="9" name="Shape 6"/>
          <p:cNvSpPr/>
          <p:nvPr/>
        </p:nvSpPr>
        <p:spPr>
          <a:xfrm>
            <a:off x="502920" y="2212848"/>
            <a:ext cx="1947672" cy="1828800"/>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0" name="Text 7"/>
          <p:cNvSpPr/>
          <p:nvPr/>
        </p:nvSpPr>
        <p:spPr>
          <a:xfrm>
            <a:off x="667512" y="2395728"/>
            <a:ext cx="1618488" cy="457200"/>
          </a:xfrm>
          <a:prstGeom prst="rect">
            <a:avLst/>
          </a:prstGeom>
          <a:noFill/>
          <a:ln/>
        </p:spPr>
        <p:txBody>
          <a:bodyPr wrap="square" lIns="0" tIns="0" rIns="0" bIns="0" rtlCol="0" anchor="ctr"/>
          <a:lstStyle/>
          <a:p>
            <a:pPr marL="0" indent="0">
              <a:buNone/>
            </a:pPr>
            <a:r>
              <a:rPr lang="en-US" sz="2400" b="1" dirty="0">
                <a:solidFill>
                  <a:srgbClr val="D97757"/>
                </a:solidFill>
                <a:latin typeface="Georgia" pitchFamily="34" charset="0"/>
                <a:ea typeface="Georgia" pitchFamily="34" charset="-122"/>
                <a:cs typeface="Georgia" pitchFamily="34" charset="-120"/>
              </a:rPr>
              <a:t>L0</a:t>
            </a:r>
            <a:endParaRPr lang="en-US" sz="2400" dirty="0"/>
          </a:p>
        </p:txBody>
      </p:sp>
      <p:sp>
        <p:nvSpPr>
          <p:cNvPr id="11" name="Text 8"/>
          <p:cNvSpPr/>
          <p:nvPr/>
        </p:nvSpPr>
        <p:spPr>
          <a:xfrm>
            <a:off x="667512" y="2926080"/>
            <a:ext cx="1618488" cy="457200"/>
          </a:xfrm>
          <a:prstGeom prst="rect">
            <a:avLst/>
          </a:prstGeom>
          <a:noFill/>
          <a:ln/>
        </p:spPr>
        <p:txBody>
          <a:bodyPr wrap="square" lIns="0" tIns="0" rIns="0" bIns="0" rtlCol="0" anchor="ctr"/>
          <a:lstStyle/>
          <a:p>
            <a:pPr marL="0" indent="0">
              <a:buNone/>
            </a:pPr>
            <a:r>
              <a:rPr lang="en-US" sz="1450" b="1" dirty="0">
                <a:solidFill>
                  <a:srgbClr val="1A1A18"/>
                </a:solidFill>
                <a:latin typeface="Georgia" pitchFamily="34" charset="0"/>
                <a:ea typeface="Georgia" pitchFamily="34" charset="-122"/>
                <a:cs typeface="Georgia" pitchFamily="34" charset="-120"/>
              </a:rPr>
              <a:t>Suggest</a:t>
            </a:r>
            <a:endParaRPr lang="en-US" sz="1450" dirty="0"/>
          </a:p>
        </p:txBody>
      </p:sp>
      <p:sp>
        <p:nvSpPr>
          <p:cNvPr id="12" name="Text 9"/>
          <p:cNvSpPr/>
          <p:nvPr/>
        </p:nvSpPr>
        <p:spPr>
          <a:xfrm>
            <a:off x="667512" y="3346704"/>
            <a:ext cx="1618488" cy="640080"/>
          </a:xfrm>
          <a:prstGeom prst="rect">
            <a:avLst/>
          </a:prstGeom>
          <a:noFill/>
          <a:ln/>
        </p:spPr>
        <p:txBody>
          <a:bodyPr wrap="square" lIns="0" tIns="0" rIns="0" bIns="0" rtlCol="0" anchor="ctr"/>
          <a:lstStyle/>
          <a:p>
            <a:pPr marL="0" indent="0">
              <a:lnSpc>
                <a:spcPct val="112000"/>
              </a:lnSpc>
              <a:buNone/>
            </a:pPr>
            <a:r>
              <a:rPr lang="en-US" sz="1000" dirty="0">
                <a:solidFill>
                  <a:srgbClr val="6B6862"/>
                </a:solidFill>
                <a:latin typeface="Arial" pitchFamily="34" charset="0"/>
                <a:ea typeface="Arial" pitchFamily="34" charset="-122"/>
                <a:cs typeface="Arial" pitchFamily="34" charset="-120"/>
              </a:rPr>
              <a:t>Model proposes; a human does the work.</a:t>
            </a:r>
            <a:endParaRPr lang="en-US" sz="1000" dirty="0"/>
          </a:p>
        </p:txBody>
      </p:sp>
      <p:sp>
        <p:nvSpPr>
          <p:cNvPr id="13" name="Shape 10"/>
          <p:cNvSpPr/>
          <p:nvPr/>
        </p:nvSpPr>
        <p:spPr>
          <a:xfrm>
            <a:off x="2615184" y="2212848"/>
            <a:ext cx="1947672" cy="1828800"/>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4" name="Text 11"/>
          <p:cNvSpPr/>
          <p:nvPr/>
        </p:nvSpPr>
        <p:spPr>
          <a:xfrm>
            <a:off x="2779776" y="2395728"/>
            <a:ext cx="1618488" cy="457200"/>
          </a:xfrm>
          <a:prstGeom prst="rect">
            <a:avLst/>
          </a:prstGeom>
          <a:noFill/>
          <a:ln/>
        </p:spPr>
        <p:txBody>
          <a:bodyPr wrap="square" lIns="0" tIns="0" rIns="0" bIns="0" rtlCol="0" anchor="ctr"/>
          <a:lstStyle/>
          <a:p>
            <a:pPr marL="0" indent="0">
              <a:buNone/>
            </a:pPr>
            <a:r>
              <a:rPr lang="en-US" sz="2400" b="1" dirty="0">
                <a:solidFill>
                  <a:srgbClr val="D97757"/>
                </a:solidFill>
                <a:latin typeface="Georgia" pitchFamily="34" charset="0"/>
                <a:ea typeface="Georgia" pitchFamily="34" charset="-122"/>
                <a:cs typeface="Georgia" pitchFamily="34" charset="-120"/>
              </a:rPr>
              <a:t>L1</a:t>
            </a:r>
            <a:endParaRPr lang="en-US" sz="2400" dirty="0"/>
          </a:p>
        </p:txBody>
      </p:sp>
      <p:sp>
        <p:nvSpPr>
          <p:cNvPr id="15" name="Text 12"/>
          <p:cNvSpPr/>
          <p:nvPr/>
        </p:nvSpPr>
        <p:spPr>
          <a:xfrm>
            <a:off x="2779776" y="2926080"/>
            <a:ext cx="1618488" cy="457200"/>
          </a:xfrm>
          <a:prstGeom prst="rect">
            <a:avLst/>
          </a:prstGeom>
          <a:noFill/>
          <a:ln/>
        </p:spPr>
        <p:txBody>
          <a:bodyPr wrap="square" lIns="0" tIns="0" rIns="0" bIns="0" rtlCol="0" anchor="ctr"/>
          <a:lstStyle/>
          <a:p>
            <a:pPr marL="0" indent="0">
              <a:buNone/>
            </a:pPr>
            <a:r>
              <a:rPr lang="en-US" sz="1450" b="1" dirty="0">
                <a:solidFill>
                  <a:srgbClr val="1A1A18"/>
                </a:solidFill>
                <a:latin typeface="Georgia" pitchFamily="34" charset="0"/>
                <a:ea typeface="Georgia" pitchFamily="34" charset="-122"/>
                <a:cs typeface="Georgia" pitchFamily="34" charset="-120"/>
              </a:rPr>
              <a:t>Human-in-the-loop</a:t>
            </a:r>
            <a:endParaRPr lang="en-US" sz="1450" dirty="0"/>
          </a:p>
        </p:txBody>
      </p:sp>
      <p:sp>
        <p:nvSpPr>
          <p:cNvPr id="16" name="Text 13"/>
          <p:cNvSpPr/>
          <p:nvPr/>
        </p:nvSpPr>
        <p:spPr>
          <a:xfrm>
            <a:off x="2779776" y="3346704"/>
            <a:ext cx="1618488" cy="640080"/>
          </a:xfrm>
          <a:prstGeom prst="rect">
            <a:avLst/>
          </a:prstGeom>
          <a:noFill/>
          <a:ln/>
        </p:spPr>
        <p:txBody>
          <a:bodyPr wrap="square" lIns="0" tIns="0" rIns="0" bIns="0" rtlCol="0" anchor="ctr"/>
          <a:lstStyle/>
          <a:p>
            <a:pPr marL="0" indent="0">
              <a:lnSpc>
                <a:spcPct val="112000"/>
              </a:lnSpc>
              <a:buNone/>
            </a:pPr>
            <a:r>
              <a:rPr lang="en-US" sz="1000" dirty="0">
                <a:solidFill>
                  <a:srgbClr val="6B6862"/>
                </a:solidFill>
                <a:latin typeface="Arial" pitchFamily="34" charset="0"/>
                <a:ea typeface="Arial" pitchFamily="34" charset="-122"/>
                <a:cs typeface="Arial" pitchFamily="34" charset="-120"/>
              </a:rPr>
              <a:t>Agent acts, but every action needs approval.</a:t>
            </a:r>
            <a:endParaRPr lang="en-US" sz="1000" dirty="0"/>
          </a:p>
        </p:txBody>
      </p:sp>
      <p:sp>
        <p:nvSpPr>
          <p:cNvPr id="17" name="Shape 14"/>
          <p:cNvSpPr/>
          <p:nvPr/>
        </p:nvSpPr>
        <p:spPr>
          <a:xfrm>
            <a:off x="4727448" y="2212848"/>
            <a:ext cx="1947672" cy="1828800"/>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8" name="Text 15"/>
          <p:cNvSpPr/>
          <p:nvPr/>
        </p:nvSpPr>
        <p:spPr>
          <a:xfrm>
            <a:off x="4892040" y="2395728"/>
            <a:ext cx="1618488" cy="457200"/>
          </a:xfrm>
          <a:prstGeom prst="rect">
            <a:avLst/>
          </a:prstGeom>
          <a:noFill/>
          <a:ln/>
        </p:spPr>
        <p:txBody>
          <a:bodyPr wrap="square" lIns="0" tIns="0" rIns="0" bIns="0" rtlCol="0" anchor="ctr"/>
          <a:lstStyle/>
          <a:p>
            <a:pPr marL="0" indent="0">
              <a:buNone/>
            </a:pPr>
            <a:r>
              <a:rPr lang="en-US" sz="2400" b="1" dirty="0">
                <a:solidFill>
                  <a:srgbClr val="D97757"/>
                </a:solidFill>
                <a:latin typeface="Georgia" pitchFamily="34" charset="0"/>
                <a:ea typeface="Georgia" pitchFamily="34" charset="-122"/>
                <a:cs typeface="Georgia" pitchFamily="34" charset="-120"/>
              </a:rPr>
              <a:t>L2</a:t>
            </a:r>
            <a:endParaRPr lang="en-US" sz="2400" dirty="0"/>
          </a:p>
        </p:txBody>
      </p:sp>
      <p:sp>
        <p:nvSpPr>
          <p:cNvPr id="19" name="Text 16"/>
          <p:cNvSpPr/>
          <p:nvPr/>
        </p:nvSpPr>
        <p:spPr>
          <a:xfrm>
            <a:off x="4892040" y="2926080"/>
            <a:ext cx="1618488" cy="457200"/>
          </a:xfrm>
          <a:prstGeom prst="rect">
            <a:avLst/>
          </a:prstGeom>
          <a:noFill/>
          <a:ln/>
        </p:spPr>
        <p:txBody>
          <a:bodyPr wrap="square" lIns="0" tIns="0" rIns="0" bIns="0" rtlCol="0" anchor="ctr"/>
          <a:lstStyle/>
          <a:p>
            <a:pPr marL="0" indent="0">
              <a:buNone/>
            </a:pPr>
            <a:r>
              <a:rPr lang="en-US" sz="1450" b="1" dirty="0">
                <a:solidFill>
                  <a:srgbClr val="1A1A18"/>
                </a:solidFill>
                <a:latin typeface="Georgia" pitchFamily="34" charset="0"/>
                <a:ea typeface="Georgia" pitchFamily="34" charset="-122"/>
                <a:cs typeface="Georgia" pitchFamily="34" charset="-120"/>
              </a:rPr>
              <a:t>Supervised</a:t>
            </a:r>
            <a:endParaRPr lang="en-US" sz="1450" dirty="0"/>
          </a:p>
        </p:txBody>
      </p:sp>
      <p:sp>
        <p:nvSpPr>
          <p:cNvPr id="20" name="Text 17"/>
          <p:cNvSpPr/>
          <p:nvPr/>
        </p:nvSpPr>
        <p:spPr>
          <a:xfrm>
            <a:off x="4892040" y="3346704"/>
            <a:ext cx="1618488" cy="640080"/>
          </a:xfrm>
          <a:prstGeom prst="rect">
            <a:avLst/>
          </a:prstGeom>
          <a:noFill/>
          <a:ln/>
        </p:spPr>
        <p:txBody>
          <a:bodyPr wrap="square" lIns="0" tIns="0" rIns="0" bIns="0" rtlCol="0" anchor="ctr"/>
          <a:lstStyle/>
          <a:p>
            <a:pPr marL="0" indent="0">
              <a:lnSpc>
                <a:spcPct val="112000"/>
              </a:lnSpc>
              <a:buNone/>
            </a:pPr>
            <a:r>
              <a:rPr lang="en-US" sz="1000" dirty="0">
                <a:solidFill>
                  <a:srgbClr val="6B6862"/>
                </a:solidFill>
                <a:latin typeface="Arial" pitchFamily="34" charset="0"/>
                <a:ea typeface="Arial" pitchFamily="34" charset="-122"/>
                <a:cs typeface="Arial" pitchFamily="34" charset="-120"/>
              </a:rPr>
              <a:t>Agent acts autonomously; human reviews after.</a:t>
            </a:r>
            <a:endParaRPr lang="en-US" sz="1000" dirty="0"/>
          </a:p>
        </p:txBody>
      </p:sp>
      <p:sp>
        <p:nvSpPr>
          <p:cNvPr id="21" name="Shape 18"/>
          <p:cNvSpPr/>
          <p:nvPr/>
        </p:nvSpPr>
        <p:spPr>
          <a:xfrm>
            <a:off x="6839712" y="2212848"/>
            <a:ext cx="1947672" cy="1828800"/>
          </a:xfrm>
          <a:prstGeom prst="rect">
            <a:avLst/>
          </a:prstGeom>
          <a:solidFill>
            <a:srgbClr val="1A1A18"/>
          </a:solidFill>
          <a:ln w="12700">
            <a:solidFill>
              <a:srgbClr val="1A1A18"/>
            </a:solidFill>
            <a:prstDash val="solid"/>
          </a:ln>
          <a:effectLst>
            <a:outerShdw blurRad="88900" dist="38100" dir="5400000" algn="bl" rotWithShape="0">
              <a:srgbClr val="9C9486">
                <a:alpha val="22000"/>
              </a:srgbClr>
            </a:outerShdw>
          </a:effectLst>
        </p:spPr>
        <p:txBody>
          <a:bodyPr/>
          <a:lstStyle/>
          <a:p>
            <a:endParaRPr lang="en-IN"/>
          </a:p>
        </p:txBody>
      </p:sp>
      <p:sp>
        <p:nvSpPr>
          <p:cNvPr id="22" name="Text 19"/>
          <p:cNvSpPr/>
          <p:nvPr/>
        </p:nvSpPr>
        <p:spPr>
          <a:xfrm>
            <a:off x="7004304" y="2395728"/>
            <a:ext cx="1618488" cy="457200"/>
          </a:xfrm>
          <a:prstGeom prst="rect">
            <a:avLst/>
          </a:prstGeom>
          <a:noFill/>
          <a:ln/>
        </p:spPr>
        <p:txBody>
          <a:bodyPr wrap="square" lIns="0" tIns="0" rIns="0" bIns="0" rtlCol="0" anchor="ctr"/>
          <a:lstStyle/>
          <a:p>
            <a:pPr marL="0" indent="0">
              <a:buNone/>
            </a:pPr>
            <a:r>
              <a:rPr lang="en-US" sz="2400" b="1" dirty="0">
                <a:solidFill>
                  <a:srgbClr val="D97757"/>
                </a:solidFill>
                <a:latin typeface="Georgia" pitchFamily="34" charset="0"/>
                <a:ea typeface="Georgia" pitchFamily="34" charset="-122"/>
                <a:cs typeface="Georgia" pitchFamily="34" charset="-120"/>
              </a:rPr>
              <a:t>L3</a:t>
            </a:r>
            <a:endParaRPr lang="en-US" sz="2400" dirty="0"/>
          </a:p>
        </p:txBody>
      </p:sp>
      <p:sp>
        <p:nvSpPr>
          <p:cNvPr id="23" name="Text 20"/>
          <p:cNvSpPr/>
          <p:nvPr/>
        </p:nvSpPr>
        <p:spPr>
          <a:xfrm>
            <a:off x="7004304" y="2926080"/>
            <a:ext cx="1618488" cy="457200"/>
          </a:xfrm>
          <a:prstGeom prst="rect">
            <a:avLst/>
          </a:prstGeom>
          <a:noFill/>
          <a:ln/>
        </p:spPr>
        <p:txBody>
          <a:bodyPr wrap="square" lIns="0" tIns="0" rIns="0" bIns="0" rtlCol="0" anchor="ctr"/>
          <a:lstStyle/>
          <a:p>
            <a:pPr marL="0" indent="0">
              <a:buNone/>
            </a:pPr>
            <a:r>
              <a:rPr lang="en-US" sz="1450" b="1" dirty="0">
                <a:solidFill>
                  <a:srgbClr val="F0EEE6"/>
                </a:solidFill>
                <a:latin typeface="Georgia" pitchFamily="34" charset="0"/>
                <a:ea typeface="Georgia" pitchFamily="34" charset="-122"/>
                <a:cs typeface="Georgia" pitchFamily="34" charset="-120"/>
              </a:rPr>
              <a:t>Autonomous</a:t>
            </a:r>
            <a:endParaRPr lang="en-US" sz="1450" dirty="0"/>
          </a:p>
        </p:txBody>
      </p:sp>
      <p:sp>
        <p:nvSpPr>
          <p:cNvPr id="24" name="Text 21"/>
          <p:cNvSpPr/>
          <p:nvPr/>
        </p:nvSpPr>
        <p:spPr>
          <a:xfrm>
            <a:off x="7004304" y="3346704"/>
            <a:ext cx="1618488" cy="640080"/>
          </a:xfrm>
          <a:prstGeom prst="rect">
            <a:avLst/>
          </a:prstGeom>
          <a:noFill/>
          <a:ln/>
        </p:spPr>
        <p:txBody>
          <a:bodyPr wrap="square" lIns="0" tIns="0" rIns="0" bIns="0" rtlCol="0" anchor="ctr"/>
          <a:lstStyle/>
          <a:p>
            <a:pPr marL="0" indent="0">
              <a:lnSpc>
                <a:spcPct val="112000"/>
              </a:lnSpc>
              <a:buNone/>
            </a:pPr>
            <a:r>
              <a:rPr lang="en-US" sz="1000" dirty="0">
                <a:solidFill>
                  <a:srgbClr val="B8B3A8"/>
                </a:solidFill>
                <a:latin typeface="Arial" pitchFamily="34" charset="0"/>
                <a:ea typeface="Arial" pitchFamily="34" charset="-122"/>
                <a:cs typeface="Arial" pitchFamily="34" charset="-120"/>
              </a:rPr>
              <a:t>Agent runs end-to-end inside guardrails.</a:t>
            </a:r>
            <a:endParaRPr lang="en-US" sz="1000" dirty="0"/>
          </a:p>
        </p:txBody>
      </p:sp>
      <p:sp>
        <p:nvSpPr>
          <p:cNvPr id="25" name="Text 22"/>
          <p:cNvSpPr/>
          <p:nvPr/>
        </p:nvSpPr>
        <p:spPr>
          <a:xfrm>
            <a:off x="502920" y="4224528"/>
            <a:ext cx="8138160" cy="310896"/>
          </a:xfrm>
          <a:prstGeom prst="rect">
            <a:avLst/>
          </a:prstGeom>
          <a:noFill/>
          <a:ln/>
        </p:spPr>
        <p:txBody>
          <a:bodyPr wrap="square" lIns="0" tIns="0" rIns="0" bIns="0" rtlCol="0" anchor="ctr"/>
          <a:lstStyle/>
          <a:p>
            <a:pPr marL="0" indent="0" algn="ctr">
              <a:buNone/>
            </a:pPr>
            <a:r>
              <a:rPr lang="en-US" sz="1050" b="1" dirty="0">
                <a:solidFill>
                  <a:srgbClr val="6B6862"/>
                </a:solidFill>
                <a:latin typeface="Arial" pitchFamily="34" charset="0"/>
                <a:ea typeface="Arial" pitchFamily="34" charset="-122"/>
                <a:cs typeface="Arial" pitchFamily="34" charset="-120"/>
              </a:rPr>
              <a:t>Less autonomy</a:t>
            </a:r>
            <a:r>
              <a:rPr lang="en-US" sz="1050" b="1" dirty="0">
                <a:solidFill>
                  <a:srgbClr val="B3522F"/>
                </a:solidFill>
                <a:latin typeface="Arial" pitchFamily="34" charset="0"/>
                <a:ea typeface="Arial" pitchFamily="34" charset="-122"/>
                <a:cs typeface="Arial" pitchFamily="34" charset="-120"/>
              </a:rPr>
              <a:t>  ——————————————————  more autonomy, higher stakes  →</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EEE6"/>
        </a:solidFill>
        <a:effectLst/>
      </p:bgPr>
    </p:bg>
    <p:spTree>
      <p:nvGrpSpPr>
        <p:cNvPr id="1" name=""/>
        <p:cNvGrpSpPr/>
        <p:nvPr/>
      </p:nvGrpSpPr>
      <p:grpSpPr>
        <a:xfrm>
          <a:off x="0" y="0"/>
          <a:ext cx="0" cy="0"/>
          <a:chOff x="0" y="0"/>
          <a:chExt cx="0" cy="0"/>
        </a:xfrm>
      </p:grpSpPr>
      <p:pic>
        <p:nvPicPr>
          <p:cNvPr id="2" name="Image 0" descr="/agent/turn2/workspace/assets/spark-coral.png"/>
          <p:cNvPicPr>
            <a:picLocks noChangeAspect="1"/>
          </p:cNvPicPr>
          <p:nvPr/>
        </p:nvPicPr>
        <p:blipFill>
          <a:blip r:embed="rId3"/>
          <a:stretch>
            <a:fillRect/>
          </a:stretch>
        </p:blipFill>
        <p:spPr>
          <a:xfrm>
            <a:off x="502920" y="457200"/>
            <a:ext cx="237744" cy="237744"/>
          </a:xfrm>
          <a:prstGeom prst="rect">
            <a:avLst/>
          </a:prstGeom>
        </p:spPr>
      </p:pic>
      <p:sp>
        <p:nvSpPr>
          <p:cNvPr id="3" name="Text 0"/>
          <p:cNvSpPr/>
          <p:nvPr/>
        </p:nvSpPr>
        <p:spPr>
          <a:xfrm>
            <a:off x="841248" y="429768"/>
            <a:ext cx="7315200" cy="292608"/>
          </a:xfrm>
          <a:prstGeom prst="rect">
            <a:avLst/>
          </a:prstGeom>
          <a:noFill/>
          <a:ln/>
        </p:spPr>
        <p:txBody>
          <a:bodyPr wrap="square" lIns="0" tIns="0" rIns="0" bIns="0" rtlCol="0" anchor="ctr"/>
          <a:lstStyle/>
          <a:p>
            <a:pPr marL="0" indent="0" algn="l">
              <a:buNone/>
            </a:pPr>
            <a:r>
              <a:rPr lang="en-US" sz="1150" b="1" kern="0" spc="220" dirty="0">
                <a:solidFill>
                  <a:srgbClr val="B3522F"/>
                </a:solidFill>
                <a:latin typeface="Arial" pitchFamily="34" charset="0"/>
                <a:ea typeface="Arial" pitchFamily="34" charset="-122"/>
                <a:cs typeface="Arial" pitchFamily="34" charset="-120"/>
              </a:rPr>
              <a:t>MODEL CONTEXT PROTOCOL</a:t>
            </a:r>
            <a:endParaRPr lang="en-US" sz="1150" dirty="0"/>
          </a:p>
        </p:txBody>
      </p:sp>
      <p:sp>
        <p:nvSpPr>
          <p:cNvPr id="4" name="Text 1"/>
          <p:cNvSpPr/>
          <p:nvPr/>
        </p:nvSpPr>
        <p:spPr>
          <a:xfrm>
            <a:off x="484632" y="749808"/>
            <a:ext cx="8183880" cy="777240"/>
          </a:xfrm>
          <a:prstGeom prst="rect">
            <a:avLst/>
          </a:prstGeom>
          <a:noFill/>
          <a:ln/>
        </p:spPr>
        <p:txBody>
          <a:bodyPr wrap="square" lIns="0" tIns="0" rIns="0" bIns="0" rtlCol="0" anchor="t"/>
          <a:lstStyle/>
          <a:p>
            <a:pPr marL="0" indent="0" algn="l">
              <a:buNone/>
            </a:pPr>
            <a:r>
              <a:rPr lang="en-US" sz="3100" b="1" dirty="0">
                <a:solidFill>
                  <a:srgbClr val="1A1A18"/>
                </a:solidFill>
                <a:latin typeface="Georgia" pitchFamily="34" charset="0"/>
                <a:ea typeface="Georgia" pitchFamily="34" charset="-122"/>
                <a:cs typeface="Georgia" pitchFamily="34" charset="-120"/>
              </a:rPr>
              <a:t>MCP: an open standard for context</a:t>
            </a:r>
            <a:endParaRPr lang="en-US" sz="3100" dirty="0"/>
          </a:p>
        </p:txBody>
      </p:sp>
      <p:sp>
        <p:nvSpPr>
          <p:cNvPr id="5" name="Shape 2"/>
          <p:cNvSpPr/>
          <p:nvPr/>
        </p:nvSpPr>
        <p:spPr>
          <a:xfrm>
            <a:off x="502920" y="4754880"/>
            <a:ext cx="8138160" cy="0"/>
          </a:xfrm>
          <a:prstGeom prst="line">
            <a:avLst/>
          </a:prstGeom>
          <a:noFill/>
          <a:ln w="12700">
            <a:solidFill>
              <a:srgbClr val="DAD6C8"/>
            </a:solidFill>
            <a:prstDash val="solid"/>
          </a:ln>
        </p:spPr>
        <p:txBody>
          <a:bodyPr/>
          <a:lstStyle/>
          <a:p>
            <a:endParaRPr lang="en-IN"/>
          </a:p>
        </p:txBody>
      </p:sp>
      <p:sp>
        <p:nvSpPr>
          <p:cNvPr id="6" name="Text 3"/>
          <p:cNvSpPr/>
          <p:nvPr/>
        </p:nvSpPr>
        <p:spPr>
          <a:xfrm>
            <a:off x="502920" y="4791456"/>
            <a:ext cx="5486400" cy="274320"/>
          </a:xfrm>
          <a:prstGeom prst="rect">
            <a:avLst/>
          </a:prstGeom>
          <a:noFill/>
          <a:ln/>
        </p:spPr>
        <p:txBody>
          <a:bodyPr wrap="square" lIns="0" tIns="0" rIns="0" bIns="0" rtlCol="0" anchor="ctr"/>
          <a:lstStyle/>
          <a:p>
            <a:pPr marL="0" indent="0" algn="l">
              <a:buNone/>
            </a:pPr>
            <a:r>
              <a:rPr lang="en-US" sz="850" dirty="0">
                <a:solidFill>
                  <a:srgbClr val="6B6862"/>
                </a:solidFill>
                <a:latin typeface="Arial" pitchFamily="34" charset="0"/>
                <a:ea typeface="Arial" pitchFamily="34" charset="-122"/>
                <a:cs typeface="Arial" pitchFamily="34" charset="-120"/>
              </a:rPr>
              <a:t>Claude Training  ·  From Prompts to Agents</a:t>
            </a:r>
            <a:endParaRPr lang="en-US" sz="850" dirty="0"/>
          </a:p>
        </p:txBody>
      </p:sp>
      <p:sp>
        <p:nvSpPr>
          <p:cNvPr id="7" name="Text 4"/>
          <p:cNvSpPr/>
          <p:nvPr/>
        </p:nvSpPr>
        <p:spPr>
          <a:xfrm>
            <a:off x="8183880" y="4791456"/>
            <a:ext cx="457200" cy="274320"/>
          </a:xfrm>
          <a:prstGeom prst="rect">
            <a:avLst/>
          </a:prstGeom>
          <a:noFill/>
          <a:ln/>
        </p:spPr>
        <p:txBody>
          <a:bodyPr wrap="square" lIns="0" tIns="0" rIns="0" bIns="0" rtlCol="0" anchor="ctr"/>
          <a:lstStyle/>
          <a:p>
            <a:pPr marL="0" indent="0" algn="r">
              <a:buNone/>
            </a:pPr>
            <a:r>
              <a:rPr lang="en-US" sz="850" b="1" dirty="0">
                <a:solidFill>
                  <a:srgbClr val="6B6862"/>
                </a:solidFill>
                <a:latin typeface="Arial" pitchFamily="34" charset="0"/>
                <a:ea typeface="Arial" pitchFamily="34" charset="-122"/>
                <a:cs typeface="Arial" pitchFamily="34" charset="-120"/>
              </a:rPr>
              <a:t>10</a:t>
            </a:r>
            <a:endParaRPr lang="en-US" sz="850" dirty="0"/>
          </a:p>
        </p:txBody>
      </p:sp>
      <p:sp>
        <p:nvSpPr>
          <p:cNvPr id="8" name="Shape 5"/>
          <p:cNvSpPr/>
          <p:nvPr/>
        </p:nvSpPr>
        <p:spPr>
          <a:xfrm>
            <a:off x="502920" y="1691640"/>
            <a:ext cx="3913632" cy="2697480"/>
          </a:xfrm>
          <a:prstGeom prst="rect">
            <a:avLst/>
          </a:prstGeom>
          <a:solidFill>
            <a:srgbClr val="1A1A18"/>
          </a:solidFill>
          <a:ln/>
          <a:effectLst>
            <a:outerShdw blurRad="88900" dist="38100" dir="5400000" algn="bl" rotWithShape="0">
              <a:srgbClr val="9C9486">
                <a:alpha val="22000"/>
              </a:srgbClr>
            </a:outerShdw>
          </a:effectLst>
        </p:spPr>
        <p:txBody>
          <a:bodyPr/>
          <a:lstStyle/>
          <a:p>
            <a:endParaRPr lang="en-IN"/>
          </a:p>
        </p:txBody>
      </p:sp>
      <p:pic>
        <p:nvPicPr>
          <p:cNvPr id="9" name="Image 1" descr="/agent/turn2/workspace/assets/spark-coral.png"/>
          <p:cNvPicPr>
            <a:picLocks noChangeAspect="1"/>
          </p:cNvPicPr>
          <p:nvPr/>
        </p:nvPicPr>
        <p:blipFill>
          <a:blip r:embed="rId3">
            <a:alphaModFix amt="88000"/>
          </a:blip>
          <a:stretch>
            <a:fillRect/>
          </a:stretch>
        </p:blipFill>
        <p:spPr>
          <a:xfrm>
            <a:off x="3246120" y="3383280"/>
            <a:ext cx="960120" cy="960120"/>
          </a:xfrm>
          <a:prstGeom prst="rect">
            <a:avLst/>
          </a:prstGeom>
        </p:spPr>
      </p:pic>
      <p:sp>
        <p:nvSpPr>
          <p:cNvPr id="10" name="Text 6"/>
          <p:cNvSpPr/>
          <p:nvPr/>
        </p:nvSpPr>
        <p:spPr>
          <a:xfrm>
            <a:off x="777240" y="1965960"/>
            <a:ext cx="3383280" cy="1005840"/>
          </a:xfrm>
          <a:prstGeom prst="rect">
            <a:avLst/>
          </a:prstGeom>
          <a:noFill/>
          <a:ln/>
        </p:spPr>
        <p:txBody>
          <a:bodyPr wrap="square" lIns="0" tIns="0" rIns="0" bIns="0" rtlCol="0" anchor="ctr"/>
          <a:lstStyle/>
          <a:p>
            <a:pPr marL="0" indent="0">
              <a:lnSpc>
                <a:spcPct val="110000"/>
              </a:lnSpc>
              <a:buNone/>
            </a:pPr>
            <a:r>
              <a:rPr lang="en-US" sz="2100" b="1" i="1" dirty="0">
                <a:solidFill>
                  <a:srgbClr val="F0EEE6"/>
                </a:solidFill>
                <a:latin typeface="Georgia" pitchFamily="34" charset="0"/>
                <a:ea typeface="Georgia" pitchFamily="34" charset="-122"/>
                <a:cs typeface="Georgia" pitchFamily="34" charset="-120"/>
              </a:rPr>
              <a:t>“A USB-C port for AI applications.”</a:t>
            </a:r>
            <a:endParaRPr lang="en-US" sz="2100" dirty="0"/>
          </a:p>
        </p:txBody>
      </p:sp>
      <p:sp>
        <p:nvSpPr>
          <p:cNvPr id="11" name="Text 7"/>
          <p:cNvSpPr/>
          <p:nvPr/>
        </p:nvSpPr>
        <p:spPr>
          <a:xfrm>
            <a:off x="777240" y="3063240"/>
            <a:ext cx="3291840" cy="914400"/>
          </a:xfrm>
          <a:prstGeom prst="rect">
            <a:avLst/>
          </a:prstGeom>
          <a:noFill/>
          <a:ln/>
        </p:spPr>
        <p:txBody>
          <a:bodyPr wrap="square" lIns="0" tIns="0" rIns="0" bIns="0" rtlCol="0" anchor="ctr"/>
          <a:lstStyle/>
          <a:p>
            <a:pPr marL="0" indent="0">
              <a:lnSpc>
                <a:spcPct val="122000"/>
              </a:lnSpc>
              <a:buNone/>
            </a:pPr>
            <a:r>
              <a:rPr lang="en-US" sz="1150" dirty="0">
                <a:solidFill>
                  <a:srgbClr val="B8B3A8"/>
                </a:solidFill>
                <a:latin typeface="Arial" pitchFamily="34" charset="0"/>
                <a:ea typeface="Arial" pitchFamily="34" charset="-122"/>
                <a:cs typeface="Arial" pitchFamily="34" charset="-120"/>
              </a:rPr>
              <a:t>One open protocol to connect any model to any tool or data source — instead of a custom integration for every pair.</a:t>
            </a:r>
            <a:endParaRPr lang="en-US" sz="1150" dirty="0"/>
          </a:p>
        </p:txBody>
      </p:sp>
      <p:sp>
        <p:nvSpPr>
          <p:cNvPr id="12" name="Shape 8"/>
          <p:cNvSpPr/>
          <p:nvPr/>
        </p:nvSpPr>
        <p:spPr>
          <a:xfrm>
            <a:off x="4727448" y="1691640"/>
            <a:ext cx="3913632" cy="649224"/>
          </a:xfrm>
          <a:prstGeom prst="rect">
            <a:avLst/>
          </a:prstGeom>
          <a:solidFill>
            <a:srgbClr val="FBFAF7"/>
          </a:solidFill>
          <a:ln w="12700">
            <a:solidFill>
              <a:srgbClr val="DAD6C8"/>
            </a:solidFill>
            <a:prstDash val="solid"/>
          </a:ln>
        </p:spPr>
        <p:txBody>
          <a:bodyPr/>
          <a:lstStyle/>
          <a:p>
            <a:endParaRPr lang="en-IN"/>
          </a:p>
        </p:txBody>
      </p:sp>
      <p:sp>
        <p:nvSpPr>
          <p:cNvPr id="13" name="Text 9"/>
          <p:cNvSpPr/>
          <p:nvPr/>
        </p:nvSpPr>
        <p:spPr>
          <a:xfrm>
            <a:off x="4928616" y="1764792"/>
            <a:ext cx="3511296" cy="256032"/>
          </a:xfrm>
          <a:prstGeom prst="rect">
            <a:avLst/>
          </a:prstGeom>
          <a:noFill/>
          <a:ln/>
        </p:spPr>
        <p:txBody>
          <a:bodyPr wrap="square" lIns="0" tIns="0" rIns="0" bIns="0" rtlCol="0" anchor="ctr"/>
          <a:lstStyle/>
          <a:p>
            <a:pPr marL="0" indent="0">
              <a:buNone/>
            </a:pPr>
            <a:r>
              <a:rPr lang="en-US" sz="1200" b="1" dirty="0">
                <a:solidFill>
                  <a:srgbClr val="1A1A18"/>
                </a:solidFill>
                <a:latin typeface="Arial" pitchFamily="34" charset="0"/>
                <a:ea typeface="Arial" pitchFamily="34" charset="-122"/>
                <a:cs typeface="Arial" pitchFamily="34" charset="-120"/>
              </a:rPr>
              <a:t>Open-sourced by Anthropic</a:t>
            </a:r>
            <a:endParaRPr lang="en-US" sz="1200" dirty="0"/>
          </a:p>
        </p:txBody>
      </p:sp>
      <p:sp>
        <p:nvSpPr>
          <p:cNvPr id="14" name="Text 10"/>
          <p:cNvSpPr/>
          <p:nvPr/>
        </p:nvSpPr>
        <p:spPr>
          <a:xfrm>
            <a:off x="4928616" y="2011680"/>
            <a:ext cx="3511296" cy="310896"/>
          </a:xfrm>
          <a:prstGeom prst="rect">
            <a:avLst/>
          </a:prstGeom>
          <a:noFill/>
          <a:ln/>
        </p:spPr>
        <p:txBody>
          <a:bodyPr wrap="square" lIns="0" tIns="0" rIns="0" bIns="0" rtlCol="0" anchor="ctr"/>
          <a:lstStyle/>
          <a:p>
            <a:pPr marL="0" indent="0">
              <a:lnSpc>
                <a:spcPct val="105000"/>
              </a:lnSpc>
              <a:buNone/>
            </a:pPr>
            <a:r>
              <a:rPr lang="en-US" sz="970" dirty="0">
                <a:solidFill>
                  <a:srgbClr val="6B6862"/>
                </a:solidFill>
                <a:latin typeface="Arial" pitchFamily="34" charset="0"/>
                <a:ea typeface="Arial" pitchFamily="34" charset="-122"/>
                <a:cs typeface="Arial" pitchFamily="34" charset="-120"/>
              </a:rPr>
              <a:t>Announced November 2024; an open spec with SDKs in many languages.</a:t>
            </a:r>
            <a:endParaRPr lang="en-US" sz="970" dirty="0"/>
          </a:p>
        </p:txBody>
      </p:sp>
      <p:sp>
        <p:nvSpPr>
          <p:cNvPr id="15" name="Shape 11"/>
          <p:cNvSpPr/>
          <p:nvPr/>
        </p:nvSpPr>
        <p:spPr>
          <a:xfrm>
            <a:off x="4727448" y="2382012"/>
            <a:ext cx="3913632" cy="649224"/>
          </a:xfrm>
          <a:prstGeom prst="rect">
            <a:avLst/>
          </a:prstGeom>
          <a:solidFill>
            <a:srgbClr val="FBFAF7"/>
          </a:solidFill>
          <a:ln w="12700">
            <a:solidFill>
              <a:srgbClr val="DAD6C8"/>
            </a:solidFill>
            <a:prstDash val="solid"/>
          </a:ln>
        </p:spPr>
        <p:txBody>
          <a:bodyPr/>
          <a:lstStyle/>
          <a:p>
            <a:endParaRPr lang="en-IN"/>
          </a:p>
        </p:txBody>
      </p:sp>
      <p:sp>
        <p:nvSpPr>
          <p:cNvPr id="16" name="Text 12"/>
          <p:cNvSpPr/>
          <p:nvPr/>
        </p:nvSpPr>
        <p:spPr>
          <a:xfrm>
            <a:off x="4928616" y="2455164"/>
            <a:ext cx="3511296" cy="256032"/>
          </a:xfrm>
          <a:prstGeom prst="rect">
            <a:avLst/>
          </a:prstGeom>
          <a:noFill/>
          <a:ln/>
        </p:spPr>
        <p:txBody>
          <a:bodyPr wrap="square" lIns="0" tIns="0" rIns="0" bIns="0" rtlCol="0" anchor="ctr"/>
          <a:lstStyle/>
          <a:p>
            <a:pPr marL="0" indent="0">
              <a:buNone/>
            </a:pPr>
            <a:r>
              <a:rPr lang="en-US" sz="1200" b="1" dirty="0">
                <a:solidFill>
                  <a:srgbClr val="1A1A18"/>
                </a:solidFill>
                <a:latin typeface="Arial" pitchFamily="34" charset="0"/>
                <a:ea typeface="Arial" pitchFamily="34" charset="-122"/>
                <a:cs typeface="Arial" pitchFamily="34" charset="-120"/>
              </a:rPr>
              <a:t>Built on JSON-RPC 2.0</a:t>
            </a:r>
            <a:endParaRPr lang="en-US" sz="1200" dirty="0"/>
          </a:p>
        </p:txBody>
      </p:sp>
      <p:sp>
        <p:nvSpPr>
          <p:cNvPr id="17" name="Text 13"/>
          <p:cNvSpPr/>
          <p:nvPr/>
        </p:nvSpPr>
        <p:spPr>
          <a:xfrm>
            <a:off x="4928616" y="2702052"/>
            <a:ext cx="3511296" cy="310896"/>
          </a:xfrm>
          <a:prstGeom prst="rect">
            <a:avLst/>
          </a:prstGeom>
          <a:noFill/>
          <a:ln/>
        </p:spPr>
        <p:txBody>
          <a:bodyPr wrap="square" lIns="0" tIns="0" rIns="0" bIns="0" rtlCol="0" anchor="ctr"/>
          <a:lstStyle/>
          <a:p>
            <a:pPr marL="0" indent="0">
              <a:lnSpc>
                <a:spcPct val="105000"/>
              </a:lnSpc>
              <a:buNone/>
            </a:pPr>
            <a:r>
              <a:rPr lang="en-US" sz="970" dirty="0">
                <a:solidFill>
                  <a:srgbClr val="6B6862"/>
                </a:solidFill>
                <a:latin typeface="Arial" pitchFamily="34" charset="0"/>
                <a:ea typeface="Arial" pitchFamily="34" charset="-122"/>
                <a:cs typeface="Arial" pitchFamily="34" charset="-120"/>
              </a:rPr>
              <a:t>A simple, well-understood message format for client–server calls.</a:t>
            </a:r>
            <a:endParaRPr lang="en-US" sz="970" dirty="0"/>
          </a:p>
        </p:txBody>
      </p:sp>
      <p:sp>
        <p:nvSpPr>
          <p:cNvPr id="18" name="Shape 14"/>
          <p:cNvSpPr/>
          <p:nvPr/>
        </p:nvSpPr>
        <p:spPr>
          <a:xfrm>
            <a:off x="4727448" y="3072384"/>
            <a:ext cx="3913632" cy="649224"/>
          </a:xfrm>
          <a:prstGeom prst="rect">
            <a:avLst/>
          </a:prstGeom>
          <a:solidFill>
            <a:srgbClr val="FBFAF7"/>
          </a:solidFill>
          <a:ln w="12700">
            <a:solidFill>
              <a:srgbClr val="DAD6C8"/>
            </a:solidFill>
            <a:prstDash val="solid"/>
          </a:ln>
        </p:spPr>
        <p:txBody>
          <a:bodyPr/>
          <a:lstStyle/>
          <a:p>
            <a:endParaRPr lang="en-IN"/>
          </a:p>
        </p:txBody>
      </p:sp>
      <p:sp>
        <p:nvSpPr>
          <p:cNvPr id="19" name="Text 15"/>
          <p:cNvSpPr/>
          <p:nvPr/>
        </p:nvSpPr>
        <p:spPr>
          <a:xfrm>
            <a:off x="4928616" y="3145536"/>
            <a:ext cx="3511296" cy="256032"/>
          </a:xfrm>
          <a:prstGeom prst="rect">
            <a:avLst/>
          </a:prstGeom>
          <a:noFill/>
          <a:ln/>
        </p:spPr>
        <p:txBody>
          <a:bodyPr wrap="square" lIns="0" tIns="0" rIns="0" bIns="0" rtlCol="0" anchor="ctr"/>
          <a:lstStyle/>
          <a:p>
            <a:pPr marL="0" indent="0">
              <a:buNone/>
            </a:pPr>
            <a:r>
              <a:rPr lang="en-US" sz="1200" b="1" dirty="0">
                <a:solidFill>
                  <a:srgbClr val="1A1A18"/>
                </a:solidFill>
                <a:latin typeface="Arial" pitchFamily="34" charset="0"/>
                <a:ea typeface="Arial" pitchFamily="34" charset="-122"/>
                <a:cs typeface="Arial" pitchFamily="34" charset="-120"/>
              </a:rPr>
              <a:t>Solves M×N integration</a:t>
            </a:r>
            <a:endParaRPr lang="en-US" sz="1200" dirty="0"/>
          </a:p>
        </p:txBody>
      </p:sp>
      <p:sp>
        <p:nvSpPr>
          <p:cNvPr id="20" name="Text 16"/>
          <p:cNvSpPr/>
          <p:nvPr/>
        </p:nvSpPr>
        <p:spPr>
          <a:xfrm>
            <a:off x="4928616" y="3392424"/>
            <a:ext cx="3511296" cy="310896"/>
          </a:xfrm>
          <a:prstGeom prst="rect">
            <a:avLst/>
          </a:prstGeom>
          <a:noFill/>
          <a:ln/>
        </p:spPr>
        <p:txBody>
          <a:bodyPr wrap="square" lIns="0" tIns="0" rIns="0" bIns="0" rtlCol="0" anchor="ctr"/>
          <a:lstStyle/>
          <a:p>
            <a:pPr marL="0" indent="0">
              <a:lnSpc>
                <a:spcPct val="105000"/>
              </a:lnSpc>
              <a:buNone/>
            </a:pPr>
            <a:r>
              <a:rPr lang="en-US" sz="970" dirty="0">
                <a:solidFill>
                  <a:srgbClr val="6B6862"/>
                </a:solidFill>
                <a:latin typeface="Arial" pitchFamily="34" charset="0"/>
                <a:ea typeface="Arial" pitchFamily="34" charset="-122"/>
                <a:cs typeface="Arial" pitchFamily="34" charset="-120"/>
              </a:rPr>
              <a:t>M apps × N tools collapses to M + N — build a connector once, reuse everywhere.</a:t>
            </a:r>
            <a:endParaRPr lang="en-US" sz="970" dirty="0"/>
          </a:p>
        </p:txBody>
      </p:sp>
      <p:sp>
        <p:nvSpPr>
          <p:cNvPr id="21" name="Shape 17"/>
          <p:cNvSpPr/>
          <p:nvPr/>
        </p:nvSpPr>
        <p:spPr>
          <a:xfrm>
            <a:off x="4727448" y="3762756"/>
            <a:ext cx="3913632" cy="649224"/>
          </a:xfrm>
          <a:prstGeom prst="rect">
            <a:avLst/>
          </a:prstGeom>
          <a:solidFill>
            <a:srgbClr val="FBFAF7"/>
          </a:solidFill>
          <a:ln w="12700">
            <a:solidFill>
              <a:srgbClr val="DAD6C8"/>
            </a:solidFill>
            <a:prstDash val="solid"/>
          </a:ln>
        </p:spPr>
        <p:txBody>
          <a:bodyPr/>
          <a:lstStyle/>
          <a:p>
            <a:endParaRPr lang="en-IN"/>
          </a:p>
        </p:txBody>
      </p:sp>
      <p:sp>
        <p:nvSpPr>
          <p:cNvPr id="22" name="Text 18"/>
          <p:cNvSpPr/>
          <p:nvPr/>
        </p:nvSpPr>
        <p:spPr>
          <a:xfrm>
            <a:off x="4928616" y="3835908"/>
            <a:ext cx="3511296" cy="256032"/>
          </a:xfrm>
          <a:prstGeom prst="rect">
            <a:avLst/>
          </a:prstGeom>
          <a:noFill/>
          <a:ln/>
        </p:spPr>
        <p:txBody>
          <a:bodyPr wrap="square" lIns="0" tIns="0" rIns="0" bIns="0" rtlCol="0" anchor="ctr"/>
          <a:lstStyle/>
          <a:p>
            <a:pPr marL="0" indent="0">
              <a:buNone/>
            </a:pPr>
            <a:r>
              <a:rPr lang="en-US" sz="1200" b="1" dirty="0">
                <a:solidFill>
                  <a:srgbClr val="1A1A18"/>
                </a:solidFill>
                <a:latin typeface="Arial" pitchFamily="34" charset="0"/>
                <a:ea typeface="Arial" pitchFamily="34" charset="-122"/>
                <a:cs typeface="Arial" pitchFamily="34" charset="-120"/>
              </a:rPr>
              <a:t>Now broadly adopted</a:t>
            </a:r>
            <a:endParaRPr lang="en-US" sz="1200" dirty="0"/>
          </a:p>
        </p:txBody>
      </p:sp>
      <p:sp>
        <p:nvSpPr>
          <p:cNvPr id="23" name="Text 19"/>
          <p:cNvSpPr/>
          <p:nvPr/>
        </p:nvSpPr>
        <p:spPr>
          <a:xfrm>
            <a:off x="4928616" y="4082796"/>
            <a:ext cx="3511296" cy="310896"/>
          </a:xfrm>
          <a:prstGeom prst="rect">
            <a:avLst/>
          </a:prstGeom>
          <a:noFill/>
          <a:ln/>
        </p:spPr>
        <p:txBody>
          <a:bodyPr wrap="square" lIns="0" tIns="0" rIns="0" bIns="0" rtlCol="0" anchor="ctr"/>
          <a:lstStyle/>
          <a:p>
            <a:pPr marL="0" indent="0">
              <a:lnSpc>
                <a:spcPct val="105000"/>
              </a:lnSpc>
              <a:buNone/>
            </a:pPr>
            <a:r>
              <a:rPr lang="en-US" sz="970" dirty="0">
                <a:solidFill>
                  <a:srgbClr val="6B6862"/>
                </a:solidFill>
                <a:latin typeface="Arial" pitchFamily="34" charset="0"/>
                <a:ea typeface="Arial" pitchFamily="34" charset="-122"/>
                <a:cs typeface="Arial" pitchFamily="34" charset="-120"/>
              </a:rPr>
              <a:t>Backed by a growing ecosystem of servers and AI clients.</a:t>
            </a:r>
            <a:endParaRPr lang="en-US" sz="97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EEE6"/>
        </a:solidFill>
        <a:effectLst/>
      </p:bgPr>
    </p:bg>
    <p:spTree>
      <p:nvGrpSpPr>
        <p:cNvPr id="1" name=""/>
        <p:cNvGrpSpPr/>
        <p:nvPr/>
      </p:nvGrpSpPr>
      <p:grpSpPr>
        <a:xfrm>
          <a:off x="0" y="0"/>
          <a:ext cx="0" cy="0"/>
          <a:chOff x="0" y="0"/>
          <a:chExt cx="0" cy="0"/>
        </a:xfrm>
      </p:grpSpPr>
      <p:pic>
        <p:nvPicPr>
          <p:cNvPr id="2" name="Image 0" descr="/agent/turn2/workspace/assets/spark-coral.png"/>
          <p:cNvPicPr>
            <a:picLocks noChangeAspect="1"/>
          </p:cNvPicPr>
          <p:nvPr/>
        </p:nvPicPr>
        <p:blipFill>
          <a:blip r:embed="rId3"/>
          <a:stretch>
            <a:fillRect/>
          </a:stretch>
        </p:blipFill>
        <p:spPr>
          <a:xfrm>
            <a:off x="502920" y="457200"/>
            <a:ext cx="237744" cy="237744"/>
          </a:xfrm>
          <a:prstGeom prst="rect">
            <a:avLst/>
          </a:prstGeom>
        </p:spPr>
      </p:pic>
      <p:sp>
        <p:nvSpPr>
          <p:cNvPr id="3" name="Text 0"/>
          <p:cNvSpPr/>
          <p:nvPr/>
        </p:nvSpPr>
        <p:spPr>
          <a:xfrm>
            <a:off x="841248" y="429768"/>
            <a:ext cx="7315200" cy="292608"/>
          </a:xfrm>
          <a:prstGeom prst="rect">
            <a:avLst/>
          </a:prstGeom>
          <a:noFill/>
          <a:ln/>
        </p:spPr>
        <p:txBody>
          <a:bodyPr wrap="square" lIns="0" tIns="0" rIns="0" bIns="0" rtlCol="0" anchor="ctr"/>
          <a:lstStyle/>
          <a:p>
            <a:pPr marL="0" indent="0" algn="l">
              <a:buNone/>
            </a:pPr>
            <a:r>
              <a:rPr lang="en-US" sz="1150" b="1" kern="0" spc="220" dirty="0">
                <a:solidFill>
                  <a:srgbClr val="B3522F"/>
                </a:solidFill>
                <a:latin typeface="Arial" pitchFamily="34" charset="0"/>
                <a:ea typeface="Arial" pitchFamily="34" charset="-122"/>
                <a:cs typeface="Arial" pitchFamily="34" charset="-120"/>
              </a:rPr>
              <a:t>HOW IT FITS TOGETHER</a:t>
            </a:r>
            <a:endParaRPr lang="en-US" sz="1150" dirty="0"/>
          </a:p>
        </p:txBody>
      </p:sp>
      <p:sp>
        <p:nvSpPr>
          <p:cNvPr id="4" name="Text 1"/>
          <p:cNvSpPr/>
          <p:nvPr/>
        </p:nvSpPr>
        <p:spPr>
          <a:xfrm>
            <a:off x="484632" y="749808"/>
            <a:ext cx="8183880" cy="777240"/>
          </a:xfrm>
          <a:prstGeom prst="rect">
            <a:avLst/>
          </a:prstGeom>
          <a:noFill/>
          <a:ln/>
        </p:spPr>
        <p:txBody>
          <a:bodyPr wrap="square" lIns="0" tIns="0" rIns="0" bIns="0" rtlCol="0" anchor="t"/>
          <a:lstStyle/>
          <a:p>
            <a:pPr marL="0" indent="0" algn="l">
              <a:buNone/>
            </a:pPr>
            <a:r>
              <a:rPr lang="en-US" sz="3100" b="1" dirty="0">
                <a:solidFill>
                  <a:srgbClr val="1A1A18"/>
                </a:solidFill>
                <a:latin typeface="Georgia" pitchFamily="34" charset="0"/>
                <a:ea typeface="Georgia" pitchFamily="34" charset="-122"/>
                <a:cs typeface="Georgia" pitchFamily="34" charset="-120"/>
              </a:rPr>
              <a:t>MCP architecture</a:t>
            </a:r>
            <a:endParaRPr lang="en-US" sz="3100" dirty="0"/>
          </a:p>
        </p:txBody>
      </p:sp>
      <p:sp>
        <p:nvSpPr>
          <p:cNvPr id="5" name="Shape 2"/>
          <p:cNvSpPr/>
          <p:nvPr/>
        </p:nvSpPr>
        <p:spPr>
          <a:xfrm>
            <a:off x="502920" y="4754880"/>
            <a:ext cx="8138160" cy="0"/>
          </a:xfrm>
          <a:prstGeom prst="line">
            <a:avLst/>
          </a:prstGeom>
          <a:noFill/>
          <a:ln w="12700">
            <a:solidFill>
              <a:srgbClr val="DAD6C8"/>
            </a:solidFill>
            <a:prstDash val="solid"/>
          </a:ln>
        </p:spPr>
        <p:txBody>
          <a:bodyPr/>
          <a:lstStyle/>
          <a:p>
            <a:endParaRPr lang="en-IN"/>
          </a:p>
        </p:txBody>
      </p:sp>
      <p:sp>
        <p:nvSpPr>
          <p:cNvPr id="6" name="Text 3"/>
          <p:cNvSpPr/>
          <p:nvPr/>
        </p:nvSpPr>
        <p:spPr>
          <a:xfrm>
            <a:off x="502920" y="4791456"/>
            <a:ext cx="5486400" cy="274320"/>
          </a:xfrm>
          <a:prstGeom prst="rect">
            <a:avLst/>
          </a:prstGeom>
          <a:noFill/>
          <a:ln/>
        </p:spPr>
        <p:txBody>
          <a:bodyPr wrap="square" lIns="0" tIns="0" rIns="0" bIns="0" rtlCol="0" anchor="ctr"/>
          <a:lstStyle/>
          <a:p>
            <a:pPr marL="0" indent="0" algn="l">
              <a:buNone/>
            </a:pPr>
            <a:r>
              <a:rPr lang="en-US" sz="850" dirty="0">
                <a:solidFill>
                  <a:srgbClr val="6B6862"/>
                </a:solidFill>
                <a:latin typeface="Arial" pitchFamily="34" charset="0"/>
                <a:ea typeface="Arial" pitchFamily="34" charset="-122"/>
                <a:cs typeface="Arial" pitchFamily="34" charset="-120"/>
              </a:rPr>
              <a:t>Claude Training  ·  From Prompts to Agents</a:t>
            </a:r>
            <a:endParaRPr lang="en-US" sz="850" dirty="0"/>
          </a:p>
        </p:txBody>
      </p:sp>
      <p:sp>
        <p:nvSpPr>
          <p:cNvPr id="7" name="Text 4"/>
          <p:cNvSpPr/>
          <p:nvPr/>
        </p:nvSpPr>
        <p:spPr>
          <a:xfrm>
            <a:off x="8183880" y="4791456"/>
            <a:ext cx="457200" cy="274320"/>
          </a:xfrm>
          <a:prstGeom prst="rect">
            <a:avLst/>
          </a:prstGeom>
          <a:noFill/>
          <a:ln/>
        </p:spPr>
        <p:txBody>
          <a:bodyPr wrap="square" lIns="0" tIns="0" rIns="0" bIns="0" rtlCol="0" anchor="ctr"/>
          <a:lstStyle/>
          <a:p>
            <a:pPr marL="0" indent="0" algn="r">
              <a:buNone/>
            </a:pPr>
            <a:r>
              <a:rPr lang="en-US" sz="850" b="1" dirty="0">
                <a:solidFill>
                  <a:srgbClr val="6B6862"/>
                </a:solidFill>
                <a:latin typeface="Arial" pitchFamily="34" charset="0"/>
                <a:ea typeface="Arial" pitchFamily="34" charset="-122"/>
                <a:cs typeface="Arial" pitchFamily="34" charset="-120"/>
              </a:rPr>
              <a:t>11</a:t>
            </a:r>
            <a:endParaRPr lang="en-US" sz="850" dirty="0"/>
          </a:p>
        </p:txBody>
      </p:sp>
      <p:sp>
        <p:nvSpPr>
          <p:cNvPr id="8" name="Shape 5"/>
          <p:cNvSpPr/>
          <p:nvPr/>
        </p:nvSpPr>
        <p:spPr>
          <a:xfrm>
            <a:off x="502920" y="1874520"/>
            <a:ext cx="2542032" cy="2057400"/>
          </a:xfrm>
          <a:prstGeom prst="rect">
            <a:avLst/>
          </a:prstGeom>
          <a:solidFill>
            <a:srgbClr val="1A1A18"/>
          </a:solidFill>
          <a:ln w="12700">
            <a:solidFill>
              <a:srgbClr val="1A1A18"/>
            </a:solidFill>
            <a:prstDash val="solid"/>
          </a:ln>
          <a:effectLst>
            <a:outerShdw blurRad="88900" dist="38100" dir="5400000" algn="bl" rotWithShape="0">
              <a:srgbClr val="9C9486">
                <a:alpha val="22000"/>
              </a:srgbClr>
            </a:outerShdw>
          </a:effectLst>
        </p:spPr>
        <p:txBody>
          <a:bodyPr/>
          <a:lstStyle/>
          <a:p>
            <a:endParaRPr lang="en-IN"/>
          </a:p>
        </p:txBody>
      </p:sp>
      <p:sp>
        <p:nvSpPr>
          <p:cNvPr id="9" name="Text 6"/>
          <p:cNvSpPr/>
          <p:nvPr/>
        </p:nvSpPr>
        <p:spPr>
          <a:xfrm>
            <a:off x="704088" y="2093976"/>
            <a:ext cx="2139696" cy="274320"/>
          </a:xfrm>
          <a:prstGeom prst="rect">
            <a:avLst/>
          </a:prstGeom>
          <a:noFill/>
          <a:ln/>
        </p:spPr>
        <p:txBody>
          <a:bodyPr wrap="square" lIns="0" tIns="0" rIns="0" bIns="0" rtlCol="0" anchor="ctr"/>
          <a:lstStyle/>
          <a:p>
            <a:pPr marL="0" indent="0">
              <a:buNone/>
            </a:pPr>
            <a:r>
              <a:rPr lang="en-US" sz="1050" b="1" kern="0" spc="140" dirty="0">
                <a:solidFill>
                  <a:srgbClr val="D97757"/>
                </a:solidFill>
                <a:latin typeface="Arial" pitchFamily="34" charset="0"/>
                <a:ea typeface="Arial" pitchFamily="34" charset="-122"/>
                <a:cs typeface="Arial" pitchFamily="34" charset="-120"/>
              </a:rPr>
              <a:t>HOST</a:t>
            </a:r>
            <a:endParaRPr lang="en-US" sz="1050" dirty="0"/>
          </a:p>
        </p:txBody>
      </p:sp>
      <p:sp>
        <p:nvSpPr>
          <p:cNvPr id="10" name="Text 7"/>
          <p:cNvSpPr/>
          <p:nvPr/>
        </p:nvSpPr>
        <p:spPr>
          <a:xfrm>
            <a:off x="704088" y="2423160"/>
            <a:ext cx="2139696" cy="411480"/>
          </a:xfrm>
          <a:prstGeom prst="rect">
            <a:avLst/>
          </a:prstGeom>
          <a:noFill/>
          <a:ln/>
        </p:spPr>
        <p:txBody>
          <a:bodyPr wrap="square" lIns="0" tIns="0" rIns="0" bIns="0" rtlCol="0" anchor="ctr"/>
          <a:lstStyle/>
          <a:p>
            <a:pPr marL="0" indent="0">
              <a:buNone/>
            </a:pPr>
            <a:r>
              <a:rPr lang="en-US" sz="1800" b="1" dirty="0">
                <a:solidFill>
                  <a:srgbClr val="F0EEE6"/>
                </a:solidFill>
                <a:latin typeface="Georgia" pitchFamily="34" charset="0"/>
                <a:ea typeface="Georgia" pitchFamily="34" charset="-122"/>
                <a:cs typeface="Georgia" pitchFamily="34" charset="-120"/>
              </a:rPr>
              <a:t>Claude app / IDE</a:t>
            </a:r>
            <a:endParaRPr lang="en-US" sz="1800" dirty="0"/>
          </a:p>
        </p:txBody>
      </p:sp>
      <p:sp>
        <p:nvSpPr>
          <p:cNvPr id="11" name="Text 8"/>
          <p:cNvSpPr/>
          <p:nvPr/>
        </p:nvSpPr>
        <p:spPr>
          <a:xfrm>
            <a:off x="704088" y="2953512"/>
            <a:ext cx="2139696" cy="822960"/>
          </a:xfrm>
          <a:prstGeom prst="rect">
            <a:avLst/>
          </a:prstGeom>
          <a:noFill/>
          <a:ln/>
        </p:spPr>
        <p:txBody>
          <a:bodyPr wrap="square" lIns="0" tIns="0" rIns="0" bIns="0" rtlCol="0" anchor="ctr"/>
          <a:lstStyle/>
          <a:p>
            <a:pPr marL="0" indent="0">
              <a:lnSpc>
                <a:spcPct val="118000"/>
              </a:lnSpc>
              <a:buNone/>
            </a:pPr>
            <a:r>
              <a:rPr lang="en-US" sz="1100" dirty="0">
                <a:solidFill>
                  <a:srgbClr val="C9C4B8"/>
                </a:solidFill>
                <a:latin typeface="Arial" pitchFamily="34" charset="0"/>
                <a:ea typeface="Arial" pitchFamily="34" charset="-122"/>
                <a:cs typeface="Arial" pitchFamily="34" charset="-120"/>
              </a:rPr>
              <a:t>Runs the model and one MCP client per server.</a:t>
            </a:r>
            <a:endParaRPr lang="en-US" sz="1100" dirty="0"/>
          </a:p>
        </p:txBody>
      </p:sp>
      <p:sp>
        <p:nvSpPr>
          <p:cNvPr id="12" name="Shape 9"/>
          <p:cNvSpPr/>
          <p:nvPr/>
        </p:nvSpPr>
        <p:spPr>
          <a:xfrm>
            <a:off x="3300984" y="1874520"/>
            <a:ext cx="2542032" cy="2057400"/>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3" name="Text 10"/>
          <p:cNvSpPr/>
          <p:nvPr/>
        </p:nvSpPr>
        <p:spPr>
          <a:xfrm>
            <a:off x="3502152" y="2093976"/>
            <a:ext cx="2139696" cy="274320"/>
          </a:xfrm>
          <a:prstGeom prst="rect">
            <a:avLst/>
          </a:prstGeom>
          <a:noFill/>
          <a:ln/>
        </p:spPr>
        <p:txBody>
          <a:bodyPr wrap="square" lIns="0" tIns="0" rIns="0" bIns="0" rtlCol="0" anchor="ctr"/>
          <a:lstStyle/>
          <a:p>
            <a:pPr marL="0" indent="0">
              <a:buNone/>
            </a:pPr>
            <a:r>
              <a:rPr lang="en-US" sz="1050" b="1" kern="0" spc="140" dirty="0">
                <a:solidFill>
                  <a:srgbClr val="D97757"/>
                </a:solidFill>
                <a:latin typeface="Arial" pitchFamily="34" charset="0"/>
                <a:ea typeface="Arial" pitchFamily="34" charset="-122"/>
                <a:cs typeface="Arial" pitchFamily="34" charset="-120"/>
              </a:rPr>
              <a:t>MCP SERVERS</a:t>
            </a:r>
            <a:endParaRPr lang="en-US" sz="1050" dirty="0"/>
          </a:p>
        </p:txBody>
      </p:sp>
      <p:sp>
        <p:nvSpPr>
          <p:cNvPr id="14" name="Text 11"/>
          <p:cNvSpPr/>
          <p:nvPr/>
        </p:nvSpPr>
        <p:spPr>
          <a:xfrm>
            <a:off x="3502152" y="2423160"/>
            <a:ext cx="2139696" cy="411480"/>
          </a:xfrm>
          <a:prstGeom prst="rect">
            <a:avLst/>
          </a:prstGeom>
          <a:noFill/>
          <a:ln/>
        </p:spPr>
        <p:txBody>
          <a:bodyPr wrap="square" lIns="0" tIns="0" rIns="0" bIns="0" rtlCol="0" anchor="ctr"/>
          <a:lstStyle/>
          <a:p>
            <a:pPr marL="0" indent="0">
              <a:buNone/>
            </a:pPr>
            <a:r>
              <a:rPr lang="en-US" sz="1800" b="1" dirty="0">
                <a:solidFill>
                  <a:srgbClr val="1A1A18"/>
                </a:solidFill>
                <a:latin typeface="Georgia" pitchFamily="34" charset="0"/>
                <a:ea typeface="Georgia" pitchFamily="34" charset="-122"/>
                <a:cs typeface="Georgia" pitchFamily="34" charset="-120"/>
              </a:rPr>
              <a:t>Connectors</a:t>
            </a:r>
            <a:endParaRPr lang="en-US" sz="1800" dirty="0"/>
          </a:p>
        </p:txBody>
      </p:sp>
      <p:sp>
        <p:nvSpPr>
          <p:cNvPr id="15" name="Text 12"/>
          <p:cNvSpPr/>
          <p:nvPr/>
        </p:nvSpPr>
        <p:spPr>
          <a:xfrm>
            <a:off x="3502152" y="2953512"/>
            <a:ext cx="2139696" cy="822960"/>
          </a:xfrm>
          <a:prstGeom prst="rect">
            <a:avLst/>
          </a:prstGeom>
          <a:noFill/>
          <a:ln/>
        </p:spPr>
        <p:txBody>
          <a:bodyPr wrap="square" lIns="0" tIns="0" rIns="0" bIns="0" rtlCol="0" anchor="ctr"/>
          <a:lstStyle/>
          <a:p>
            <a:pPr marL="0" indent="0">
              <a:lnSpc>
                <a:spcPct val="118000"/>
              </a:lnSpc>
              <a:buNone/>
            </a:pPr>
            <a:r>
              <a:rPr lang="en-US" sz="1100" dirty="0">
                <a:solidFill>
                  <a:srgbClr val="6B6862"/>
                </a:solidFill>
                <a:latin typeface="Arial" pitchFamily="34" charset="0"/>
                <a:ea typeface="Arial" pitchFamily="34" charset="-122"/>
                <a:cs typeface="Arial" pitchFamily="34" charset="-120"/>
              </a:rPr>
              <a:t>Each exposes tools, resources &amp; prompts over MCP.</a:t>
            </a:r>
            <a:endParaRPr lang="en-US" sz="1100" dirty="0"/>
          </a:p>
        </p:txBody>
      </p:sp>
      <p:sp>
        <p:nvSpPr>
          <p:cNvPr id="16" name="Shape 13"/>
          <p:cNvSpPr/>
          <p:nvPr/>
        </p:nvSpPr>
        <p:spPr>
          <a:xfrm>
            <a:off x="6099048" y="1874520"/>
            <a:ext cx="2542032" cy="2057400"/>
          </a:xfrm>
          <a:prstGeom prst="rect">
            <a:avLst/>
          </a:prstGeom>
          <a:solidFill>
            <a:srgbClr val="EAE7DC"/>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7" name="Text 14"/>
          <p:cNvSpPr/>
          <p:nvPr/>
        </p:nvSpPr>
        <p:spPr>
          <a:xfrm>
            <a:off x="6300216" y="2093976"/>
            <a:ext cx="2139696" cy="274320"/>
          </a:xfrm>
          <a:prstGeom prst="rect">
            <a:avLst/>
          </a:prstGeom>
          <a:noFill/>
          <a:ln/>
        </p:spPr>
        <p:txBody>
          <a:bodyPr wrap="square" lIns="0" tIns="0" rIns="0" bIns="0" rtlCol="0" anchor="ctr"/>
          <a:lstStyle/>
          <a:p>
            <a:pPr marL="0" indent="0">
              <a:buNone/>
            </a:pPr>
            <a:r>
              <a:rPr lang="en-US" sz="1050" b="1" kern="0" spc="140" dirty="0">
                <a:solidFill>
                  <a:srgbClr val="D97757"/>
                </a:solidFill>
                <a:latin typeface="Arial" pitchFamily="34" charset="0"/>
                <a:ea typeface="Arial" pitchFamily="34" charset="-122"/>
                <a:cs typeface="Arial" pitchFamily="34" charset="-120"/>
              </a:rPr>
              <a:t>YOUR SYSTEMS</a:t>
            </a:r>
            <a:endParaRPr lang="en-US" sz="1050" dirty="0"/>
          </a:p>
        </p:txBody>
      </p:sp>
      <p:sp>
        <p:nvSpPr>
          <p:cNvPr id="18" name="Text 15"/>
          <p:cNvSpPr/>
          <p:nvPr/>
        </p:nvSpPr>
        <p:spPr>
          <a:xfrm>
            <a:off x="6300216" y="2423160"/>
            <a:ext cx="2139696" cy="411480"/>
          </a:xfrm>
          <a:prstGeom prst="rect">
            <a:avLst/>
          </a:prstGeom>
          <a:noFill/>
          <a:ln/>
        </p:spPr>
        <p:txBody>
          <a:bodyPr wrap="square" lIns="0" tIns="0" rIns="0" bIns="0" rtlCol="0" anchor="ctr"/>
          <a:lstStyle/>
          <a:p>
            <a:pPr marL="0" indent="0">
              <a:buNone/>
            </a:pPr>
            <a:r>
              <a:rPr lang="en-US" sz="1800" b="1" dirty="0">
                <a:solidFill>
                  <a:srgbClr val="1A1A18"/>
                </a:solidFill>
                <a:latin typeface="Georgia" pitchFamily="34" charset="0"/>
                <a:ea typeface="Georgia" pitchFamily="34" charset="-122"/>
                <a:cs typeface="Georgia" pitchFamily="34" charset="-120"/>
              </a:rPr>
              <a:t>Data &amp; tools</a:t>
            </a:r>
            <a:endParaRPr lang="en-US" sz="1800" dirty="0"/>
          </a:p>
        </p:txBody>
      </p:sp>
      <p:sp>
        <p:nvSpPr>
          <p:cNvPr id="19" name="Text 16"/>
          <p:cNvSpPr/>
          <p:nvPr/>
        </p:nvSpPr>
        <p:spPr>
          <a:xfrm>
            <a:off x="6300216" y="2953512"/>
            <a:ext cx="2139696" cy="822960"/>
          </a:xfrm>
          <a:prstGeom prst="rect">
            <a:avLst/>
          </a:prstGeom>
          <a:noFill/>
          <a:ln/>
        </p:spPr>
        <p:txBody>
          <a:bodyPr wrap="square" lIns="0" tIns="0" rIns="0" bIns="0" rtlCol="0" anchor="ctr"/>
          <a:lstStyle/>
          <a:p>
            <a:pPr marL="0" indent="0">
              <a:lnSpc>
                <a:spcPct val="118000"/>
              </a:lnSpc>
              <a:buNone/>
            </a:pPr>
            <a:r>
              <a:rPr lang="en-US" sz="1100" dirty="0">
                <a:solidFill>
                  <a:srgbClr val="6B6862"/>
                </a:solidFill>
                <a:latin typeface="Arial" pitchFamily="34" charset="0"/>
                <a:ea typeface="Arial" pitchFamily="34" charset="-122"/>
                <a:cs typeface="Arial" pitchFamily="34" charset="-120"/>
              </a:rPr>
              <a:t>Files, databases, APIs, SaaS, dev environments.</a:t>
            </a:r>
            <a:endParaRPr lang="en-US" sz="1100" dirty="0"/>
          </a:p>
        </p:txBody>
      </p:sp>
      <p:sp>
        <p:nvSpPr>
          <p:cNvPr id="20" name="Text 17"/>
          <p:cNvSpPr/>
          <p:nvPr/>
        </p:nvSpPr>
        <p:spPr>
          <a:xfrm>
            <a:off x="2907792" y="2651760"/>
            <a:ext cx="411480" cy="457200"/>
          </a:xfrm>
          <a:prstGeom prst="rect">
            <a:avLst/>
          </a:prstGeom>
          <a:noFill/>
          <a:ln/>
        </p:spPr>
        <p:txBody>
          <a:bodyPr wrap="square" lIns="0" tIns="0" rIns="0" bIns="0" rtlCol="0" anchor="ctr"/>
          <a:lstStyle/>
          <a:p>
            <a:pPr marL="0" indent="0" algn="ctr">
              <a:buNone/>
            </a:pPr>
            <a:r>
              <a:rPr lang="en-US" sz="2200" b="1" dirty="0">
                <a:solidFill>
                  <a:srgbClr val="D97757"/>
                </a:solidFill>
                <a:latin typeface="Arial" pitchFamily="34" charset="0"/>
                <a:ea typeface="Arial" pitchFamily="34" charset="-122"/>
                <a:cs typeface="Arial" pitchFamily="34" charset="-120"/>
              </a:rPr>
              <a:t>⇄</a:t>
            </a:r>
            <a:endParaRPr lang="en-US" sz="2200" dirty="0"/>
          </a:p>
        </p:txBody>
      </p:sp>
      <p:sp>
        <p:nvSpPr>
          <p:cNvPr id="21" name="Text 18"/>
          <p:cNvSpPr/>
          <p:nvPr/>
        </p:nvSpPr>
        <p:spPr>
          <a:xfrm>
            <a:off x="5705856" y="2651760"/>
            <a:ext cx="411480" cy="457200"/>
          </a:xfrm>
          <a:prstGeom prst="rect">
            <a:avLst/>
          </a:prstGeom>
          <a:noFill/>
          <a:ln/>
        </p:spPr>
        <p:txBody>
          <a:bodyPr wrap="square" lIns="0" tIns="0" rIns="0" bIns="0" rtlCol="0" anchor="ctr"/>
          <a:lstStyle/>
          <a:p>
            <a:pPr marL="0" indent="0" algn="ctr">
              <a:buNone/>
            </a:pPr>
            <a:r>
              <a:rPr lang="en-US" sz="2200" b="1" dirty="0">
                <a:solidFill>
                  <a:srgbClr val="D97757"/>
                </a:solidFill>
                <a:latin typeface="Arial" pitchFamily="34" charset="0"/>
                <a:ea typeface="Arial" pitchFamily="34" charset="-122"/>
                <a:cs typeface="Arial" pitchFamily="34" charset="-120"/>
              </a:rPr>
              <a:t>⇄</a:t>
            </a:r>
            <a:endParaRPr lang="en-US" sz="2200" dirty="0"/>
          </a:p>
        </p:txBody>
      </p:sp>
      <p:sp>
        <p:nvSpPr>
          <p:cNvPr id="22" name="Shape 19"/>
          <p:cNvSpPr/>
          <p:nvPr/>
        </p:nvSpPr>
        <p:spPr>
          <a:xfrm>
            <a:off x="502920" y="4114800"/>
            <a:ext cx="8138160" cy="548640"/>
          </a:xfrm>
          <a:prstGeom prst="rect">
            <a:avLst/>
          </a:prstGeom>
          <a:solidFill>
            <a:srgbClr val="FBFAF7"/>
          </a:solidFill>
          <a:ln w="12700">
            <a:solidFill>
              <a:srgbClr val="DAD6C8"/>
            </a:solidFill>
            <a:prstDash val="solid"/>
          </a:ln>
        </p:spPr>
        <p:txBody>
          <a:bodyPr/>
          <a:lstStyle/>
          <a:p>
            <a:endParaRPr lang="en-IN"/>
          </a:p>
        </p:txBody>
      </p:sp>
      <p:sp>
        <p:nvSpPr>
          <p:cNvPr id="23" name="Text 20"/>
          <p:cNvSpPr/>
          <p:nvPr/>
        </p:nvSpPr>
        <p:spPr>
          <a:xfrm>
            <a:off x="713232" y="4114800"/>
            <a:ext cx="7726680" cy="548640"/>
          </a:xfrm>
          <a:prstGeom prst="rect">
            <a:avLst/>
          </a:prstGeom>
          <a:noFill/>
          <a:ln/>
        </p:spPr>
        <p:txBody>
          <a:bodyPr wrap="square" lIns="0" tIns="0" rIns="0" bIns="0" rtlCol="0" anchor="ctr"/>
          <a:lstStyle/>
          <a:p>
            <a:pPr marL="0" indent="0">
              <a:buNone/>
            </a:pPr>
            <a:r>
              <a:rPr lang="en-US" sz="1150" b="1" kern="0" spc="120" dirty="0">
                <a:solidFill>
                  <a:srgbClr val="B3522F"/>
                </a:solidFill>
                <a:latin typeface="Arial" pitchFamily="34" charset="0"/>
                <a:ea typeface="Arial" pitchFamily="34" charset="-122"/>
                <a:cs typeface="Arial" pitchFamily="34" charset="-120"/>
              </a:rPr>
              <a:t>TRANSPORTS   </a:t>
            </a:r>
            <a:r>
              <a:rPr lang="en-US" sz="1150" b="1" dirty="0">
                <a:solidFill>
                  <a:srgbClr val="1A1A18"/>
                </a:solidFill>
                <a:latin typeface="Arial" pitchFamily="34" charset="0"/>
                <a:ea typeface="Arial" pitchFamily="34" charset="-122"/>
                <a:cs typeface="Arial" pitchFamily="34" charset="-120"/>
              </a:rPr>
              <a:t>stdio</a:t>
            </a:r>
            <a:r>
              <a:rPr lang="en-US" sz="1150" dirty="0">
                <a:solidFill>
                  <a:srgbClr val="6B6862"/>
                </a:solidFill>
                <a:latin typeface="Arial" pitchFamily="34" charset="0"/>
                <a:ea typeface="Arial" pitchFamily="34" charset="-122"/>
                <a:cs typeface="Arial" pitchFamily="34" charset="-120"/>
              </a:rPr>
              <a:t> for local subprocess servers · </a:t>
            </a:r>
            <a:r>
              <a:rPr lang="en-US" sz="1150" b="1" dirty="0">
                <a:solidFill>
                  <a:srgbClr val="1A1A18"/>
                </a:solidFill>
                <a:latin typeface="Arial" pitchFamily="34" charset="0"/>
                <a:ea typeface="Arial" pitchFamily="34" charset="-122"/>
                <a:cs typeface="Arial" pitchFamily="34" charset="-120"/>
              </a:rPr>
              <a:t>Streamable HTTP</a:t>
            </a:r>
            <a:r>
              <a:rPr lang="en-US" sz="1150" dirty="0">
                <a:solidFill>
                  <a:srgbClr val="6B6862"/>
                </a:solidFill>
                <a:latin typeface="Arial" pitchFamily="34" charset="0"/>
                <a:ea typeface="Arial" pitchFamily="34" charset="-122"/>
                <a:cs typeface="Arial" pitchFamily="34" charset="-120"/>
              </a:rPr>
              <a:t> for remote servers.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EEE6"/>
        </a:solidFill>
        <a:effectLst/>
      </p:bgPr>
    </p:bg>
    <p:spTree>
      <p:nvGrpSpPr>
        <p:cNvPr id="1" name=""/>
        <p:cNvGrpSpPr/>
        <p:nvPr/>
      </p:nvGrpSpPr>
      <p:grpSpPr>
        <a:xfrm>
          <a:off x="0" y="0"/>
          <a:ext cx="0" cy="0"/>
          <a:chOff x="0" y="0"/>
          <a:chExt cx="0" cy="0"/>
        </a:xfrm>
      </p:grpSpPr>
      <p:pic>
        <p:nvPicPr>
          <p:cNvPr id="2" name="Image 0" descr="/agent/turn2/workspace/assets/spark-coral.png"/>
          <p:cNvPicPr>
            <a:picLocks noChangeAspect="1"/>
          </p:cNvPicPr>
          <p:nvPr/>
        </p:nvPicPr>
        <p:blipFill>
          <a:blip r:embed="rId3"/>
          <a:stretch>
            <a:fillRect/>
          </a:stretch>
        </p:blipFill>
        <p:spPr>
          <a:xfrm>
            <a:off x="502920" y="457200"/>
            <a:ext cx="237744" cy="237744"/>
          </a:xfrm>
          <a:prstGeom prst="rect">
            <a:avLst/>
          </a:prstGeom>
        </p:spPr>
      </p:pic>
      <p:sp>
        <p:nvSpPr>
          <p:cNvPr id="3" name="Text 0"/>
          <p:cNvSpPr/>
          <p:nvPr/>
        </p:nvSpPr>
        <p:spPr>
          <a:xfrm>
            <a:off x="841248" y="429768"/>
            <a:ext cx="7315200" cy="292608"/>
          </a:xfrm>
          <a:prstGeom prst="rect">
            <a:avLst/>
          </a:prstGeom>
          <a:noFill/>
          <a:ln/>
        </p:spPr>
        <p:txBody>
          <a:bodyPr wrap="square" lIns="0" tIns="0" rIns="0" bIns="0" rtlCol="0" anchor="ctr"/>
          <a:lstStyle/>
          <a:p>
            <a:pPr marL="0" indent="0" algn="l">
              <a:buNone/>
            </a:pPr>
            <a:r>
              <a:rPr lang="en-US" sz="1150" b="1" kern="0" spc="220" dirty="0">
                <a:solidFill>
                  <a:srgbClr val="B3522F"/>
                </a:solidFill>
                <a:latin typeface="Arial" pitchFamily="34" charset="0"/>
                <a:ea typeface="Arial" pitchFamily="34" charset="-122"/>
                <a:cs typeface="Arial" pitchFamily="34" charset="-120"/>
              </a:rPr>
              <a:t>THE BUILDING BLOCK</a:t>
            </a:r>
            <a:endParaRPr lang="en-US" sz="1150" dirty="0"/>
          </a:p>
        </p:txBody>
      </p:sp>
      <p:sp>
        <p:nvSpPr>
          <p:cNvPr id="4" name="Text 1"/>
          <p:cNvSpPr/>
          <p:nvPr/>
        </p:nvSpPr>
        <p:spPr>
          <a:xfrm>
            <a:off x="484632" y="749808"/>
            <a:ext cx="8183880" cy="777240"/>
          </a:xfrm>
          <a:prstGeom prst="rect">
            <a:avLst/>
          </a:prstGeom>
          <a:noFill/>
          <a:ln/>
        </p:spPr>
        <p:txBody>
          <a:bodyPr wrap="square" lIns="0" tIns="0" rIns="0" bIns="0" rtlCol="0" anchor="t"/>
          <a:lstStyle/>
          <a:p>
            <a:pPr marL="0" indent="0" algn="l">
              <a:buNone/>
            </a:pPr>
            <a:r>
              <a:rPr lang="en-US" sz="3100" b="1" dirty="0">
                <a:solidFill>
                  <a:srgbClr val="1A1A18"/>
                </a:solidFill>
                <a:latin typeface="Georgia" pitchFamily="34" charset="0"/>
                <a:ea typeface="Georgia" pitchFamily="34" charset="-122"/>
                <a:cs typeface="Georgia" pitchFamily="34" charset="-120"/>
              </a:rPr>
              <a:t>What is an MCP server?</a:t>
            </a:r>
            <a:endParaRPr lang="en-US" sz="3100" dirty="0"/>
          </a:p>
        </p:txBody>
      </p:sp>
      <p:sp>
        <p:nvSpPr>
          <p:cNvPr id="5" name="Shape 2"/>
          <p:cNvSpPr/>
          <p:nvPr/>
        </p:nvSpPr>
        <p:spPr>
          <a:xfrm>
            <a:off x="502920" y="4754880"/>
            <a:ext cx="8138160" cy="0"/>
          </a:xfrm>
          <a:prstGeom prst="line">
            <a:avLst/>
          </a:prstGeom>
          <a:noFill/>
          <a:ln w="12700">
            <a:solidFill>
              <a:srgbClr val="DAD6C8"/>
            </a:solidFill>
            <a:prstDash val="solid"/>
          </a:ln>
        </p:spPr>
        <p:txBody>
          <a:bodyPr/>
          <a:lstStyle/>
          <a:p>
            <a:endParaRPr lang="en-IN"/>
          </a:p>
        </p:txBody>
      </p:sp>
      <p:sp>
        <p:nvSpPr>
          <p:cNvPr id="6" name="Text 3"/>
          <p:cNvSpPr/>
          <p:nvPr/>
        </p:nvSpPr>
        <p:spPr>
          <a:xfrm>
            <a:off x="502920" y="4791456"/>
            <a:ext cx="5486400" cy="274320"/>
          </a:xfrm>
          <a:prstGeom prst="rect">
            <a:avLst/>
          </a:prstGeom>
          <a:noFill/>
          <a:ln/>
        </p:spPr>
        <p:txBody>
          <a:bodyPr wrap="square" lIns="0" tIns="0" rIns="0" bIns="0" rtlCol="0" anchor="ctr"/>
          <a:lstStyle/>
          <a:p>
            <a:pPr marL="0" indent="0" algn="l">
              <a:buNone/>
            </a:pPr>
            <a:r>
              <a:rPr lang="en-US" sz="850" dirty="0">
                <a:solidFill>
                  <a:srgbClr val="6B6862"/>
                </a:solidFill>
                <a:latin typeface="Arial" pitchFamily="34" charset="0"/>
                <a:ea typeface="Arial" pitchFamily="34" charset="-122"/>
                <a:cs typeface="Arial" pitchFamily="34" charset="-120"/>
              </a:rPr>
              <a:t>Claude Training  ·  From Prompts to Agents</a:t>
            </a:r>
            <a:endParaRPr lang="en-US" sz="850" dirty="0"/>
          </a:p>
        </p:txBody>
      </p:sp>
      <p:sp>
        <p:nvSpPr>
          <p:cNvPr id="7" name="Text 4"/>
          <p:cNvSpPr/>
          <p:nvPr/>
        </p:nvSpPr>
        <p:spPr>
          <a:xfrm>
            <a:off x="8183880" y="4791456"/>
            <a:ext cx="457200" cy="274320"/>
          </a:xfrm>
          <a:prstGeom prst="rect">
            <a:avLst/>
          </a:prstGeom>
          <a:noFill/>
          <a:ln/>
        </p:spPr>
        <p:txBody>
          <a:bodyPr wrap="square" lIns="0" tIns="0" rIns="0" bIns="0" rtlCol="0" anchor="ctr"/>
          <a:lstStyle/>
          <a:p>
            <a:pPr marL="0" indent="0" algn="r">
              <a:buNone/>
            </a:pPr>
            <a:r>
              <a:rPr lang="en-US" sz="850" b="1" dirty="0">
                <a:solidFill>
                  <a:srgbClr val="6B6862"/>
                </a:solidFill>
                <a:latin typeface="Arial" pitchFamily="34" charset="0"/>
                <a:ea typeface="Arial" pitchFamily="34" charset="-122"/>
                <a:cs typeface="Arial" pitchFamily="34" charset="-120"/>
              </a:rPr>
              <a:t>12</a:t>
            </a:r>
            <a:endParaRPr lang="en-US" sz="850" dirty="0"/>
          </a:p>
        </p:txBody>
      </p:sp>
      <p:sp>
        <p:nvSpPr>
          <p:cNvPr id="8" name="Text 5"/>
          <p:cNvSpPr/>
          <p:nvPr/>
        </p:nvSpPr>
        <p:spPr>
          <a:xfrm>
            <a:off x="502920" y="1572768"/>
            <a:ext cx="4023360" cy="640080"/>
          </a:xfrm>
          <a:prstGeom prst="rect">
            <a:avLst/>
          </a:prstGeom>
          <a:noFill/>
          <a:ln/>
        </p:spPr>
        <p:txBody>
          <a:bodyPr wrap="square" lIns="0" tIns="0" rIns="0" bIns="0" rtlCol="0" anchor="ctr"/>
          <a:lstStyle/>
          <a:p>
            <a:pPr marL="0" indent="0">
              <a:lnSpc>
                <a:spcPct val="122000"/>
              </a:lnSpc>
              <a:buNone/>
            </a:pPr>
            <a:r>
              <a:rPr lang="en-US" sz="1250" dirty="0">
                <a:solidFill>
                  <a:srgbClr val="2B2A26"/>
                </a:solidFill>
                <a:latin typeface="Arial" pitchFamily="34" charset="0"/>
                <a:ea typeface="Arial" pitchFamily="34" charset="-122"/>
                <a:cs typeface="Arial" pitchFamily="34" charset="-120"/>
              </a:rPr>
              <a:t>An MCP server is a small program that exposes capabilities to any MCP-aware app through three primitives:</a:t>
            </a:r>
            <a:endParaRPr lang="en-US" sz="1250" dirty="0"/>
          </a:p>
        </p:txBody>
      </p:sp>
      <p:sp>
        <p:nvSpPr>
          <p:cNvPr id="9" name="Shape 6"/>
          <p:cNvSpPr/>
          <p:nvPr/>
        </p:nvSpPr>
        <p:spPr>
          <a:xfrm>
            <a:off x="502920" y="2286000"/>
            <a:ext cx="4023360" cy="676656"/>
          </a:xfrm>
          <a:prstGeom prst="rect">
            <a:avLst/>
          </a:prstGeom>
          <a:solidFill>
            <a:srgbClr val="FBFAF7"/>
          </a:solidFill>
          <a:ln w="12700">
            <a:solidFill>
              <a:srgbClr val="DAD6C8"/>
            </a:solidFill>
            <a:prstDash val="solid"/>
          </a:ln>
        </p:spPr>
        <p:txBody>
          <a:bodyPr/>
          <a:lstStyle/>
          <a:p>
            <a:endParaRPr lang="en-IN"/>
          </a:p>
        </p:txBody>
      </p:sp>
      <p:sp>
        <p:nvSpPr>
          <p:cNvPr id="10" name="Shape 7"/>
          <p:cNvSpPr/>
          <p:nvPr/>
        </p:nvSpPr>
        <p:spPr>
          <a:xfrm>
            <a:off x="502920" y="2286000"/>
            <a:ext cx="91440" cy="676656"/>
          </a:xfrm>
          <a:prstGeom prst="rect">
            <a:avLst/>
          </a:prstGeom>
          <a:solidFill>
            <a:srgbClr val="D97757"/>
          </a:solidFill>
          <a:ln/>
        </p:spPr>
        <p:txBody>
          <a:bodyPr/>
          <a:lstStyle/>
          <a:p>
            <a:endParaRPr lang="en-IN"/>
          </a:p>
        </p:txBody>
      </p:sp>
      <p:sp>
        <p:nvSpPr>
          <p:cNvPr id="11" name="Text 8"/>
          <p:cNvSpPr/>
          <p:nvPr/>
        </p:nvSpPr>
        <p:spPr>
          <a:xfrm>
            <a:off x="713232" y="2368296"/>
            <a:ext cx="3657600" cy="274320"/>
          </a:xfrm>
          <a:prstGeom prst="rect">
            <a:avLst/>
          </a:prstGeom>
          <a:noFill/>
          <a:ln/>
        </p:spPr>
        <p:txBody>
          <a:bodyPr wrap="square" lIns="0" tIns="0" rIns="0" bIns="0" rtlCol="0" anchor="ctr"/>
          <a:lstStyle/>
          <a:p>
            <a:pPr marL="0" indent="0">
              <a:buNone/>
            </a:pPr>
            <a:r>
              <a:rPr lang="en-US" sz="1500" b="1" dirty="0">
                <a:solidFill>
                  <a:srgbClr val="1A1A18"/>
                </a:solidFill>
                <a:latin typeface="Georgia" pitchFamily="34" charset="0"/>
                <a:ea typeface="Georgia" pitchFamily="34" charset="-122"/>
                <a:cs typeface="Georgia" pitchFamily="34" charset="-120"/>
              </a:rPr>
              <a:t>Tools</a:t>
            </a:r>
            <a:endParaRPr lang="en-US" sz="1500" dirty="0"/>
          </a:p>
        </p:txBody>
      </p:sp>
      <p:sp>
        <p:nvSpPr>
          <p:cNvPr id="12" name="Text 9"/>
          <p:cNvSpPr/>
          <p:nvPr/>
        </p:nvSpPr>
        <p:spPr>
          <a:xfrm>
            <a:off x="713232" y="2651760"/>
            <a:ext cx="3703320" cy="274320"/>
          </a:xfrm>
          <a:prstGeom prst="rect">
            <a:avLst/>
          </a:prstGeom>
          <a:noFill/>
          <a:ln/>
        </p:spPr>
        <p:txBody>
          <a:bodyPr wrap="square" lIns="0" tIns="0" rIns="0" bIns="0" rtlCol="0" anchor="ctr"/>
          <a:lstStyle/>
          <a:p>
            <a:pPr marL="0" indent="0">
              <a:buNone/>
            </a:pPr>
            <a:r>
              <a:rPr lang="en-US" sz="1030" dirty="0">
                <a:solidFill>
                  <a:srgbClr val="6B6862"/>
                </a:solidFill>
                <a:latin typeface="Arial" pitchFamily="34" charset="0"/>
                <a:ea typeface="Arial" pitchFamily="34" charset="-122"/>
                <a:cs typeface="Arial" pitchFamily="34" charset="-120"/>
              </a:rPr>
              <a:t>Model-controlled actions — the model decides to call them.</a:t>
            </a:r>
            <a:endParaRPr lang="en-US" sz="1030" dirty="0"/>
          </a:p>
        </p:txBody>
      </p:sp>
      <p:sp>
        <p:nvSpPr>
          <p:cNvPr id="13" name="Shape 10"/>
          <p:cNvSpPr/>
          <p:nvPr/>
        </p:nvSpPr>
        <p:spPr>
          <a:xfrm>
            <a:off x="502920" y="3035808"/>
            <a:ext cx="4023360" cy="676656"/>
          </a:xfrm>
          <a:prstGeom prst="rect">
            <a:avLst/>
          </a:prstGeom>
          <a:solidFill>
            <a:srgbClr val="FBFAF7"/>
          </a:solidFill>
          <a:ln w="12700">
            <a:solidFill>
              <a:srgbClr val="DAD6C8"/>
            </a:solidFill>
            <a:prstDash val="solid"/>
          </a:ln>
        </p:spPr>
        <p:txBody>
          <a:bodyPr/>
          <a:lstStyle/>
          <a:p>
            <a:endParaRPr lang="en-IN"/>
          </a:p>
        </p:txBody>
      </p:sp>
      <p:sp>
        <p:nvSpPr>
          <p:cNvPr id="14" name="Shape 11"/>
          <p:cNvSpPr/>
          <p:nvPr/>
        </p:nvSpPr>
        <p:spPr>
          <a:xfrm>
            <a:off x="502920" y="3035808"/>
            <a:ext cx="91440" cy="676656"/>
          </a:xfrm>
          <a:prstGeom prst="rect">
            <a:avLst/>
          </a:prstGeom>
          <a:solidFill>
            <a:srgbClr val="D97757"/>
          </a:solidFill>
          <a:ln/>
        </p:spPr>
        <p:txBody>
          <a:bodyPr/>
          <a:lstStyle/>
          <a:p>
            <a:endParaRPr lang="en-IN"/>
          </a:p>
        </p:txBody>
      </p:sp>
      <p:sp>
        <p:nvSpPr>
          <p:cNvPr id="15" name="Text 12"/>
          <p:cNvSpPr/>
          <p:nvPr/>
        </p:nvSpPr>
        <p:spPr>
          <a:xfrm>
            <a:off x="713232" y="3118104"/>
            <a:ext cx="3657600" cy="274320"/>
          </a:xfrm>
          <a:prstGeom prst="rect">
            <a:avLst/>
          </a:prstGeom>
          <a:noFill/>
          <a:ln/>
        </p:spPr>
        <p:txBody>
          <a:bodyPr wrap="square" lIns="0" tIns="0" rIns="0" bIns="0" rtlCol="0" anchor="ctr"/>
          <a:lstStyle/>
          <a:p>
            <a:pPr marL="0" indent="0">
              <a:buNone/>
            </a:pPr>
            <a:r>
              <a:rPr lang="en-US" sz="1500" b="1" dirty="0">
                <a:solidFill>
                  <a:srgbClr val="1A1A18"/>
                </a:solidFill>
                <a:latin typeface="Georgia" pitchFamily="34" charset="0"/>
                <a:ea typeface="Georgia" pitchFamily="34" charset="-122"/>
                <a:cs typeface="Georgia" pitchFamily="34" charset="-120"/>
              </a:rPr>
              <a:t>Resources</a:t>
            </a:r>
            <a:endParaRPr lang="en-US" sz="1500" dirty="0"/>
          </a:p>
        </p:txBody>
      </p:sp>
      <p:sp>
        <p:nvSpPr>
          <p:cNvPr id="16" name="Text 13"/>
          <p:cNvSpPr/>
          <p:nvPr/>
        </p:nvSpPr>
        <p:spPr>
          <a:xfrm>
            <a:off x="713232" y="3401568"/>
            <a:ext cx="3703320" cy="274320"/>
          </a:xfrm>
          <a:prstGeom prst="rect">
            <a:avLst/>
          </a:prstGeom>
          <a:noFill/>
          <a:ln/>
        </p:spPr>
        <p:txBody>
          <a:bodyPr wrap="square" lIns="0" tIns="0" rIns="0" bIns="0" rtlCol="0" anchor="ctr"/>
          <a:lstStyle/>
          <a:p>
            <a:pPr marL="0" indent="0">
              <a:buNone/>
            </a:pPr>
            <a:r>
              <a:rPr lang="en-US" sz="1030" dirty="0">
                <a:solidFill>
                  <a:srgbClr val="6B6862"/>
                </a:solidFill>
                <a:latin typeface="Arial" pitchFamily="34" charset="0"/>
                <a:ea typeface="Arial" pitchFamily="34" charset="-122"/>
                <a:cs typeface="Arial" pitchFamily="34" charset="-120"/>
              </a:rPr>
              <a:t>App-controlled data the host can read in as context.</a:t>
            </a:r>
            <a:endParaRPr lang="en-US" sz="1030" dirty="0"/>
          </a:p>
        </p:txBody>
      </p:sp>
      <p:sp>
        <p:nvSpPr>
          <p:cNvPr id="17" name="Shape 14"/>
          <p:cNvSpPr/>
          <p:nvPr/>
        </p:nvSpPr>
        <p:spPr>
          <a:xfrm>
            <a:off x="502920" y="3785616"/>
            <a:ext cx="4023360" cy="676656"/>
          </a:xfrm>
          <a:prstGeom prst="rect">
            <a:avLst/>
          </a:prstGeom>
          <a:solidFill>
            <a:srgbClr val="FBFAF7"/>
          </a:solidFill>
          <a:ln w="12700">
            <a:solidFill>
              <a:srgbClr val="DAD6C8"/>
            </a:solidFill>
            <a:prstDash val="solid"/>
          </a:ln>
        </p:spPr>
        <p:txBody>
          <a:bodyPr/>
          <a:lstStyle/>
          <a:p>
            <a:endParaRPr lang="en-IN"/>
          </a:p>
        </p:txBody>
      </p:sp>
      <p:sp>
        <p:nvSpPr>
          <p:cNvPr id="18" name="Shape 15"/>
          <p:cNvSpPr/>
          <p:nvPr/>
        </p:nvSpPr>
        <p:spPr>
          <a:xfrm>
            <a:off x="502920" y="3785616"/>
            <a:ext cx="91440" cy="676656"/>
          </a:xfrm>
          <a:prstGeom prst="rect">
            <a:avLst/>
          </a:prstGeom>
          <a:solidFill>
            <a:srgbClr val="D97757"/>
          </a:solidFill>
          <a:ln/>
        </p:spPr>
        <p:txBody>
          <a:bodyPr/>
          <a:lstStyle/>
          <a:p>
            <a:endParaRPr lang="en-IN"/>
          </a:p>
        </p:txBody>
      </p:sp>
      <p:sp>
        <p:nvSpPr>
          <p:cNvPr id="19" name="Text 16"/>
          <p:cNvSpPr/>
          <p:nvPr/>
        </p:nvSpPr>
        <p:spPr>
          <a:xfrm>
            <a:off x="713232" y="3867912"/>
            <a:ext cx="3657600" cy="274320"/>
          </a:xfrm>
          <a:prstGeom prst="rect">
            <a:avLst/>
          </a:prstGeom>
          <a:noFill/>
          <a:ln/>
        </p:spPr>
        <p:txBody>
          <a:bodyPr wrap="square" lIns="0" tIns="0" rIns="0" bIns="0" rtlCol="0" anchor="ctr"/>
          <a:lstStyle/>
          <a:p>
            <a:pPr marL="0" indent="0">
              <a:buNone/>
            </a:pPr>
            <a:r>
              <a:rPr lang="en-US" sz="1500" b="1" dirty="0">
                <a:solidFill>
                  <a:srgbClr val="1A1A18"/>
                </a:solidFill>
                <a:latin typeface="Georgia" pitchFamily="34" charset="0"/>
                <a:ea typeface="Georgia" pitchFamily="34" charset="-122"/>
                <a:cs typeface="Georgia" pitchFamily="34" charset="-120"/>
              </a:rPr>
              <a:t>Prompts</a:t>
            </a:r>
            <a:endParaRPr lang="en-US" sz="1500" dirty="0"/>
          </a:p>
        </p:txBody>
      </p:sp>
      <p:sp>
        <p:nvSpPr>
          <p:cNvPr id="20" name="Text 17"/>
          <p:cNvSpPr/>
          <p:nvPr/>
        </p:nvSpPr>
        <p:spPr>
          <a:xfrm>
            <a:off x="713232" y="4151376"/>
            <a:ext cx="3703320" cy="274320"/>
          </a:xfrm>
          <a:prstGeom prst="rect">
            <a:avLst/>
          </a:prstGeom>
          <a:noFill/>
          <a:ln/>
        </p:spPr>
        <p:txBody>
          <a:bodyPr wrap="square" lIns="0" tIns="0" rIns="0" bIns="0" rtlCol="0" anchor="ctr"/>
          <a:lstStyle/>
          <a:p>
            <a:pPr marL="0" indent="0">
              <a:buNone/>
            </a:pPr>
            <a:r>
              <a:rPr lang="en-US" sz="1030" dirty="0">
                <a:solidFill>
                  <a:srgbClr val="6B6862"/>
                </a:solidFill>
                <a:latin typeface="Arial" pitchFamily="34" charset="0"/>
                <a:ea typeface="Arial" pitchFamily="34" charset="-122"/>
                <a:cs typeface="Arial" pitchFamily="34" charset="-120"/>
              </a:rPr>
              <a:t>User-controlled templates and reusable workflows.</a:t>
            </a:r>
            <a:endParaRPr lang="en-US" sz="1030" dirty="0"/>
          </a:p>
        </p:txBody>
      </p:sp>
      <p:sp>
        <p:nvSpPr>
          <p:cNvPr id="21" name="Shape 18"/>
          <p:cNvSpPr/>
          <p:nvPr/>
        </p:nvSpPr>
        <p:spPr>
          <a:xfrm>
            <a:off x="4754880" y="1572768"/>
            <a:ext cx="3886200" cy="2852928"/>
          </a:xfrm>
          <a:prstGeom prst="rect">
            <a:avLst/>
          </a:prstGeom>
          <a:solidFill>
            <a:srgbClr val="1A1A18"/>
          </a:solidFill>
          <a:ln/>
          <a:effectLst>
            <a:outerShdw blurRad="88900" dist="38100" dir="5400000" algn="bl" rotWithShape="0">
              <a:srgbClr val="9C9486">
                <a:alpha val="22000"/>
              </a:srgbClr>
            </a:outerShdw>
          </a:effectLst>
        </p:spPr>
        <p:txBody>
          <a:bodyPr/>
          <a:lstStyle/>
          <a:p>
            <a:endParaRPr lang="en-IN"/>
          </a:p>
        </p:txBody>
      </p:sp>
      <p:sp>
        <p:nvSpPr>
          <p:cNvPr id="22" name="Text 19"/>
          <p:cNvSpPr/>
          <p:nvPr/>
        </p:nvSpPr>
        <p:spPr>
          <a:xfrm>
            <a:off x="4974336" y="1682496"/>
            <a:ext cx="3429000" cy="237744"/>
          </a:xfrm>
          <a:prstGeom prst="rect">
            <a:avLst/>
          </a:prstGeom>
          <a:noFill/>
          <a:ln/>
        </p:spPr>
        <p:txBody>
          <a:bodyPr wrap="square" lIns="0" tIns="0" rIns="0" bIns="0" rtlCol="0" anchor="ctr"/>
          <a:lstStyle/>
          <a:p>
            <a:pPr marL="0" indent="0">
              <a:buNone/>
            </a:pPr>
            <a:r>
              <a:rPr lang="en-US" sz="900" b="1" dirty="0">
                <a:solidFill>
                  <a:srgbClr val="8A867C"/>
                </a:solidFill>
                <a:latin typeface="Arial" pitchFamily="34" charset="0"/>
                <a:ea typeface="Arial" pitchFamily="34" charset="-122"/>
                <a:cs typeface="Arial" pitchFamily="34" charset="-120"/>
              </a:rPr>
              <a:t>server.py</a:t>
            </a:r>
            <a:endParaRPr lang="en-US" sz="900" dirty="0"/>
          </a:p>
        </p:txBody>
      </p:sp>
      <p:sp>
        <p:nvSpPr>
          <p:cNvPr id="23" name="Text 20"/>
          <p:cNvSpPr/>
          <p:nvPr/>
        </p:nvSpPr>
        <p:spPr>
          <a:xfrm>
            <a:off x="4974336" y="1956816"/>
            <a:ext cx="3502152" cy="2029968"/>
          </a:xfrm>
          <a:prstGeom prst="rect">
            <a:avLst/>
          </a:prstGeom>
          <a:noFill/>
          <a:ln/>
        </p:spPr>
        <p:txBody>
          <a:bodyPr wrap="square" lIns="0" tIns="0" rIns="0" bIns="0" rtlCol="0" anchor="t"/>
          <a:lstStyle/>
          <a:p>
            <a:pPr marL="0" indent="0">
              <a:lnSpc>
                <a:spcPct val="105000"/>
              </a:lnSpc>
              <a:buNone/>
            </a:pPr>
            <a:r>
              <a:rPr lang="en-US" sz="1050" dirty="0">
                <a:solidFill>
                  <a:srgbClr val="9FB7E0"/>
                </a:solidFill>
                <a:latin typeface="Consolas" pitchFamily="34" charset="0"/>
                <a:ea typeface="Consolas" pitchFamily="34" charset="-122"/>
                <a:cs typeface="Consolas" pitchFamily="34" charset="-120"/>
              </a:rPr>
              <a:t>from</a:t>
            </a:r>
            <a:r>
              <a:rPr lang="en-US" sz="1050" dirty="0">
                <a:solidFill>
                  <a:srgbClr val="C9C4B8"/>
                </a:solidFill>
                <a:latin typeface="Consolas" pitchFamily="34" charset="0"/>
                <a:ea typeface="Consolas" pitchFamily="34" charset="-122"/>
                <a:cs typeface="Consolas" pitchFamily="34" charset="-120"/>
              </a:rPr>
              <a:t> mcp.server.fastmcp </a:t>
            </a:r>
            <a:r>
              <a:rPr lang="en-US" sz="1050" dirty="0">
                <a:solidFill>
                  <a:srgbClr val="9FB7E0"/>
                </a:solidFill>
                <a:latin typeface="Consolas" pitchFamily="34" charset="0"/>
                <a:ea typeface="Consolas" pitchFamily="34" charset="-122"/>
                <a:cs typeface="Consolas" pitchFamily="34" charset="-120"/>
              </a:rPr>
              <a:t>import</a:t>
            </a:r>
            <a:r>
              <a:rPr lang="en-US" sz="1050" dirty="0">
                <a:solidFill>
                  <a:srgbClr val="C9C4B8"/>
                </a:solidFill>
                <a:latin typeface="Consolas" pitchFamily="34" charset="0"/>
                <a:ea typeface="Consolas" pitchFamily="34" charset="-122"/>
                <a:cs typeface="Consolas" pitchFamily="34" charset="-120"/>
              </a:rPr>
              <a:t> FastMCP</a:t>
            </a:r>
            <a:endParaRPr lang="en-US" sz="1050" dirty="0"/>
          </a:p>
          <a:p>
            <a:pPr marL="0" indent="0">
              <a:lnSpc>
                <a:spcPct val="105000"/>
              </a:lnSpc>
              <a:buNone/>
            </a:pPr>
            <a:endParaRPr lang="en-US" sz="1050" dirty="0"/>
          </a:p>
          <a:p>
            <a:pPr marL="0" indent="0">
              <a:lnSpc>
                <a:spcPct val="105000"/>
              </a:lnSpc>
              <a:buNone/>
            </a:pPr>
            <a:r>
              <a:rPr lang="en-US" sz="1050" dirty="0">
                <a:solidFill>
                  <a:srgbClr val="C9C4B8"/>
                </a:solidFill>
                <a:latin typeface="Consolas" pitchFamily="34" charset="0"/>
                <a:ea typeface="Consolas" pitchFamily="34" charset="-122"/>
                <a:cs typeface="Consolas" pitchFamily="34" charset="-120"/>
              </a:rPr>
              <a:t>mcp = </a:t>
            </a:r>
            <a:r>
              <a:rPr lang="en-US" sz="1050" dirty="0">
                <a:solidFill>
                  <a:srgbClr val="9FE0C9"/>
                </a:solidFill>
                <a:latin typeface="Consolas" pitchFamily="34" charset="0"/>
                <a:ea typeface="Consolas" pitchFamily="34" charset="-122"/>
                <a:cs typeface="Consolas" pitchFamily="34" charset="-120"/>
              </a:rPr>
              <a:t>FastMCP</a:t>
            </a:r>
            <a:r>
              <a:rPr lang="en-US" sz="1050" dirty="0">
                <a:solidFill>
                  <a:srgbClr val="D97757"/>
                </a:solidFill>
                <a:latin typeface="Consolas" pitchFamily="34" charset="0"/>
                <a:ea typeface="Consolas" pitchFamily="34" charset="-122"/>
                <a:cs typeface="Consolas" pitchFamily="34" charset="-120"/>
              </a:rPr>
              <a:t>("weather")</a:t>
            </a:r>
            <a:endParaRPr lang="en-US" sz="1050" dirty="0"/>
          </a:p>
          <a:p>
            <a:pPr marL="0" indent="0">
              <a:lnSpc>
                <a:spcPct val="105000"/>
              </a:lnSpc>
              <a:buNone/>
            </a:pPr>
            <a:endParaRPr lang="en-US" sz="1050" dirty="0"/>
          </a:p>
          <a:p>
            <a:pPr marL="0" indent="0">
              <a:lnSpc>
                <a:spcPct val="105000"/>
              </a:lnSpc>
              <a:buNone/>
            </a:pPr>
            <a:r>
              <a:rPr lang="en-US" sz="1050" dirty="0">
                <a:solidFill>
                  <a:srgbClr val="CC785C"/>
                </a:solidFill>
                <a:latin typeface="Consolas" pitchFamily="34" charset="0"/>
                <a:ea typeface="Consolas" pitchFamily="34" charset="-122"/>
                <a:cs typeface="Consolas" pitchFamily="34" charset="-120"/>
              </a:rPr>
              <a:t>@mcp.tool()</a:t>
            </a:r>
            <a:endParaRPr lang="en-US" sz="1050" dirty="0"/>
          </a:p>
          <a:p>
            <a:pPr marL="0" indent="0">
              <a:lnSpc>
                <a:spcPct val="105000"/>
              </a:lnSpc>
              <a:buNone/>
            </a:pPr>
            <a:r>
              <a:rPr lang="en-US" sz="1050" dirty="0">
                <a:solidFill>
                  <a:srgbClr val="9FB7E0"/>
                </a:solidFill>
                <a:latin typeface="Consolas" pitchFamily="34" charset="0"/>
                <a:ea typeface="Consolas" pitchFamily="34" charset="-122"/>
                <a:cs typeface="Consolas" pitchFamily="34" charset="-120"/>
              </a:rPr>
              <a:t>def</a:t>
            </a:r>
            <a:r>
              <a:rPr lang="en-US" sz="1050" dirty="0">
                <a:solidFill>
                  <a:srgbClr val="9FE0C9"/>
                </a:solidFill>
                <a:latin typeface="Consolas" pitchFamily="34" charset="0"/>
                <a:ea typeface="Consolas" pitchFamily="34" charset="-122"/>
                <a:cs typeface="Consolas" pitchFamily="34" charset="-120"/>
              </a:rPr>
              <a:t> get_forecast</a:t>
            </a:r>
            <a:r>
              <a:rPr lang="en-US" sz="1050" dirty="0">
                <a:solidFill>
                  <a:srgbClr val="C9C4B8"/>
                </a:solidFill>
                <a:latin typeface="Consolas" pitchFamily="34" charset="0"/>
                <a:ea typeface="Consolas" pitchFamily="34" charset="-122"/>
                <a:cs typeface="Consolas" pitchFamily="34" charset="-120"/>
              </a:rPr>
              <a:t>(city: </a:t>
            </a:r>
            <a:r>
              <a:rPr lang="en-US" sz="1050" dirty="0">
                <a:solidFill>
                  <a:srgbClr val="9FB7E0"/>
                </a:solidFill>
                <a:latin typeface="Consolas" pitchFamily="34" charset="0"/>
                <a:ea typeface="Consolas" pitchFamily="34" charset="-122"/>
                <a:cs typeface="Consolas" pitchFamily="34" charset="-120"/>
              </a:rPr>
              <a:t>str</a:t>
            </a:r>
            <a:r>
              <a:rPr lang="en-US" sz="1050" dirty="0">
                <a:solidFill>
                  <a:srgbClr val="C9C4B8"/>
                </a:solidFill>
                <a:latin typeface="Consolas" pitchFamily="34" charset="0"/>
                <a:ea typeface="Consolas" pitchFamily="34" charset="-122"/>
                <a:cs typeface="Consolas" pitchFamily="34" charset="-120"/>
              </a:rPr>
              <a:t>) -&gt; </a:t>
            </a:r>
            <a:r>
              <a:rPr lang="en-US" sz="1050" dirty="0">
                <a:solidFill>
                  <a:srgbClr val="9FB7E0"/>
                </a:solidFill>
                <a:latin typeface="Consolas" pitchFamily="34" charset="0"/>
                <a:ea typeface="Consolas" pitchFamily="34" charset="-122"/>
                <a:cs typeface="Consolas" pitchFamily="34" charset="-120"/>
              </a:rPr>
              <a:t>str</a:t>
            </a:r>
            <a:r>
              <a:rPr lang="en-US" sz="1050" dirty="0">
                <a:solidFill>
                  <a:srgbClr val="C9C4B8"/>
                </a:solidFill>
                <a:latin typeface="Consolas" pitchFamily="34" charset="0"/>
                <a:ea typeface="Consolas" pitchFamily="34" charset="-122"/>
                <a:cs typeface="Consolas" pitchFamily="34" charset="-120"/>
              </a:rPr>
              <a:t>:</a:t>
            </a:r>
            <a:endParaRPr lang="en-US" sz="1050" dirty="0"/>
          </a:p>
          <a:p>
            <a:pPr marL="0" indent="0">
              <a:lnSpc>
                <a:spcPct val="105000"/>
              </a:lnSpc>
              <a:buNone/>
            </a:pPr>
            <a:r>
              <a:rPr lang="en-US" sz="1050" dirty="0">
                <a:solidFill>
                  <a:srgbClr val="8FB58F"/>
                </a:solidFill>
                <a:latin typeface="Consolas" pitchFamily="34" charset="0"/>
                <a:ea typeface="Consolas" pitchFamily="34" charset="-122"/>
                <a:cs typeface="Consolas" pitchFamily="34" charset="-120"/>
              </a:rPr>
              <a:t>    """Forecast for a city."""</a:t>
            </a:r>
            <a:endParaRPr lang="en-US" sz="1050" dirty="0"/>
          </a:p>
          <a:p>
            <a:pPr marL="0" indent="0">
              <a:lnSpc>
                <a:spcPct val="105000"/>
              </a:lnSpc>
              <a:buNone/>
            </a:pPr>
            <a:r>
              <a:rPr lang="en-US" sz="1050" dirty="0">
                <a:solidFill>
                  <a:srgbClr val="9FB7E0"/>
                </a:solidFill>
                <a:latin typeface="Consolas" pitchFamily="34" charset="0"/>
                <a:ea typeface="Consolas" pitchFamily="34" charset="-122"/>
                <a:cs typeface="Consolas" pitchFamily="34" charset="-120"/>
              </a:rPr>
              <a:t>    return</a:t>
            </a:r>
            <a:r>
              <a:rPr lang="en-US" sz="1050" dirty="0">
                <a:solidFill>
                  <a:srgbClr val="C9C4B8"/>
                </a:solidFill>
                <a:latin typeface="Consolas" pitchFamily="34" charset="0"/>
                <a:ea typeface="Consolas" pitchFamily="34" charset="-122"/>
                <a:cs typeface="Consolas" pitchFamily="34" charset="-120"/>
              </a:rPr>
              <a:t> lookup(city)</a:t>
            </a:r>
            <a:endParaRPr lang="en-US" sz="1050" dirty="0"/>
          </a:p>
          <a:p>
            <a:pPr marL="0" indent="0">
              <a:lnSpc>
                <a:spcPct val="105000"/>
              </a:lnSpc>
              <a:buNone/>
            </a:pPr>
            <a:endParaRPr lang="en-US" sz="1050" dirty="0"/>
          </a:p>
          <a:p>
            <a:pPr marL="0" indent="0">
              <a:lnSpc>
                <a:spcPct val="105000"/>
              </a:lnSpc>
              <a:buNone/>
            </a:pPr>
            <a:r>
              <a:rPr lang="en-US" sz="1050" dirty="0">
                <a:solidFill>
                  <a:srgbClr val="9FE0C9"/>
                </a:solidFill>
                <a:latin typeface="Consolas" pitchFamily="34" charset="0"/>
                <a:ea typeface="Consolas" pitchFamily="34" charset="-122"/>
                <a:cs typeface="Consolas" pitchFamily="34" charset="-120"/>
              </a:rPr>
              <a:t>mcp.run</a:t>
            </a:r>
            <a:r>
              <a:rPr lang="en-US" sz="1050" dirty="0">
                <a:solidFill>
                  <a:srgbClr val="C9C4B8"/>
                </a:solidFill>
                <a:latin typeface="Consolas" pitchFamily="34" charset="0"/>
                <a:ea typeface="Consolas" pitchFamily="34" charset="-122"/>
                <a:cs typeface="Consolas" pitchFamily="34" charset="-120"/>
              </a:rPr>
              <a:t>(transport=</a:t>
            </a:r>
            <a:r>
              <a:rPr lang="en-US" sz="1050" dirty="0">
                <a:solidFill>
                  <a:srgbClr val="D97757"/>
                </a:solidFill>
                <a:latin typeface="Consolas" pitchFamily="34" charset="0"/>
                <a:ea typeface="Consolas" pitchFamily="34" charset="-122"/>
                <a:cs typeface="Consolas" pitchFamily="34" charset="-120"/>
              </a:rPr>
              <a:t>"stdio"</a:t>
            </a:r>
            <a:r>
              <a:rPr lang="en-US" sz="1050" dirty="0">
                <a:solidFill>
                  <a:srgbClr val="C9C4B8"/>
                </a:solidFill>
                <a:latin typeface="Consolas" pitchFamily="34" charset="0"/>
                <a:ea typeface="Consolas" pitchFamily="34" charset="-122"/>
                <a:cs typeface="Consolas" pitchFamily="34" charset="-120"/>
              </a:rPr>
              <a:t>)</a:t>
            </a:r>
            <a:endParaRPr lang="en-US" sz="1050" dirty="0"/>
          </a:p>
        </p:txBody>
      </p:sp>
      <p:sp>
        <p:nvSpPr>
          <p:cNvPr id="24" name="Text 21"/>
          <p:cNvSpPr/>
          <p:nvPr/>
        </p:nvSpPr>
        <p:spPr>
          <a:xfrm>
            <a:off x="4974336" y="4059936"/>
            <a:ext cx="3502152" cy="274320"/>
          </a:xfrm>
          <a:prstGeom prst="rect">
            <a:avLst/>
          </a:prstGeom>
          <a:noFill/>
          <a:ln/>
        </p:spPr>
        <p:txBody>
          <a:bodyPr wrap="square" lIns="0" tIns="0" rIns="0" bIns="0" rtlCol="0" anchor="ctr"/>
          <a:lstStyle/>
          <a:p>
            <a:pPr marL="0" indent="0">
              <a:buNone/>
            </a:pPr>
            <a:r>
              <a:rPr lang="en-US" sz="950" i="1" dirty="0">
                <a:solidFill>
                  <a:srgbClr val="B8B3A8"/>
                </a:solidFill>
                <a:latin typeface="Arial" pitchFamily="34" charset="0"/>
                <a:ea typeface="Arial" pitchFamily="34" charset="-122"/>
                <a:cs typeface="Arial" pitchFamily="34" charset="-120"/>
              </a:rPr>
              <a:t>Define once — any MCP client can use it.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EEE6"/>
        </a:solidFill>
        <a:effectLst/>
      </p:bgPr>
    </p:bg>
    <p:spTree>
      <p:nvGrpSpPr>
        <p:cNvPr id="1" name=""/>
        <p:cNvGrpSpPr/>
        <p:nvPr/>
      </p:nvGrpSpPr>
      <p:grpSpPr>
        <a:xfrm>
          <a:off x="0" y="0"/>
          <a:ext cx="0" cy="0"/>
          <a:chOff x="0" y="0"/>
          <a:chExt cx="0" cy="0"/>
        </a:xfrm>
      </p:grpSpPr>
      <p:pic>
        <p:nvPicPr>
          <p:cNvPr id="2" name="Image 0" descr="/agent/turn2/workspace/assets/spark-coral.png"/>
          <p:cNvPicPr>
            <a:picLocks noChangeAspect="1"/>
          </p:cNvPicPr>
          <p:nvPr/>
        </p:nvPicPr>
        <p:blipFill>
          <a:blip r:embed="rId3"/>
          <a:stretch>
            <a:fillRect/>
          </a:stretch>
        </p:blipFill>
        <p:spPr>
          <a:xfrm>
            <a:off x="502920" y="457200"/>
            <a:ext cx="237744" cy="237744"/>
          </a:xfrm>
          <a:prstGeom prst="rect">
            <a:avLst/>
          </a:prstGeom>
        </p:spPr>
      </p:pic>
      <p:sp>
        <p:nvSpPr>
          <p:cNvPr id="3" name="Text 0"/>
          <p:cNvSpPr/>
          <p:nvPr/>
        </p:nvSpPr>
        <p:spPr>
          <a:xfrm>
            <a:off x="841248" y="429768"/>
            <a:ext cx="7315200" cy="292608"/>
          </a:xfrm>
          <a:prstGeom prst="rect">
            <a:avLst/>
          </a:prstGeom>
          <a:noFill/>
          <a:ln/>
        </p:spPr>
        <p:txBody>
          <a:bodyPr wrap="square" lIns="0" tIns="0" rIns="0" bIns="0" rtlCol="0" anchor="ctr"/>
          <a:lstStyle/>
          <a:p>
            <a:pPr marL="0" indent="0" algn="l">
              <a:buNone/>
            </a:pPr>
            <a:r>
              <a:rPr lang="en-US" sz="1150" b="1" kern="0" spc="220" dirty="0">
                <a:solidFill>
                  <a:srgbClr val="B3522F"/>
                </a:solidFill>
                <a:latin typeface="Arial" pitchFamily="34" charset="0"/>
                <a:ea typeface="Arial" pitchFamily="34" charset="-122"/>
                <a:cs typeface="Arial" pitchFamily="34" charset="-120"/>
              </a:rPr>
              <a:t>HANDS-ON LAB</a:t>
            </a:r>
            <a:endParaRPr lang="en-US" sz="1150" dirty="0"/>
          </a:p>
        </p:txBody>
      </p:sp>
      <p:sp>
        <p:nvSpPr>
          <p:cNvPr id="4" name="Text 1"/>
          <p:cNvSpPr/>
          <p:nvPr/>
        </p:nvSpPr>
        <p:spPr>
          <a:xfrm>
            <a:off x="484632" y="749808"/>
            <a:ext cx="8183880" cy="777240"/>
          </a:xfrm>
          <a:prstGeom prst="rect">
            <a:avLst/>
          </a:prstGeom>
          <a:noFill/>
          <a:ln/>
        </p:spPr>
        <p:txBody>
          <a:bodyPr wrap="square" lIns="0" tIns="0" rIns="0" bIns="0" rtlCol="0" anchor="t"/>
          <a:lstStyle/>
          <a:p>
            <a:pPr marL="0" indent="0" algn="l">
              <a:buNone/>
            </a:pPr>
            <a:r>
              <a:rPr lang="en-US" sz="3100" b="1" dirty="0">
                <a:solidFill>
                  <a:srgbClr val="1A1A18"/>
                </a:solidFill>
                <a:latin typeface="Georgia" pitchFamily="34" charset="0"/>
                <a:ea typeface="Georgia" pitchFamily="34" charset="-122"/>
                <a:cs typeface="Georgia" pitchFamily="34" charset="-120"/>
              </a:rPr>
              <a:t>Build &amp; run your first MCP server</a:t>
            </a:r>
            <a:endParaRPr lang="en-US" sz="3100" dirty="0"/>
          </a:p>
        </p:txBody>
      </p:sp>
      <p:sp>
        <p:nvSpPr>
          <p:cNvPr id="5" name="Shape 2"/>
          <p:cNvSpPr/>
          <p:nvPr/>
        </p:nvSpPr>
        <p:spPr>
          <a:xfrm>
            <a:off x="502920" y="4754880"/>
            <a:ext cx="8138160" cy="0"/>
          </a:xfrm>
          <a:prstGeom prst="line">
            <a:avLst/>
          </a:prstGeom>
          <a:noFill/>
          <a:ln w="12700">
            <a:solidFill>
              <a:srgbClr val="DAD6C8"/>
            </a:solidFill>
            <a:prstDash val="solid"/>
          </a:ln>
        </p:spPr>
        <p:txBody>
          <a:bodyPr/>
          <a:lstStyle/>
          <a:p>
            <a:endParaRPr lang="en-IN"/>
          </a:p>
        </p:txBody>
      </p:sp>
      <p:sp>
        <p:nvSpPr>
          <p:cNvPr id="6" name="Text 3"/>
          <p:cNvSpPr/>
          <p:nvPr/>
        </p:nvSpPr>
        <p:spPr>
          <a:xfrm>
            <a:off x="502920" y="4791456"/>
            <a:ext cx="5486400" cy="274320"/>
          </a:xfrm>
          <a:prstGeom prst="rect">
            <a:avLst/>
          </a:prstGeom>
          <a:noFill/>
          <a:ln/>
        </p:spPr>
        <p:txBody>
          <a:bodyPr wrap="square" lIns="0" tIns="0" rIns="0" bIns="0" rtlCol="0" anchor="ctr"/>
          <a:lstStyle/>
          <a:p>
            <a:pPr marL="0" indent="0" algn="l">
              <a:buNone/>
            </a:pPr>
            <a:r>
              <a:rPr lang="en-US" sz="850" dirty="0">
                <a:solidFill>
                  <a:srgbClr val="6B6862"/>
                </a:solidFill>
                <a:latin typeface="Arial" pitchFamily="34" charset="0"/>
                <a:ea typeface="Arial" pitchFamily="34" charset="-122"/>
                <a:cs typeface="Arial" pitchFamily="34" charset="-120"/>
              </a:rPr>
              <a:t>Claude Training  ·  From Prompts to Agents</a:t>
            </a:r>
            <a:endParaRPr lang="en-US" sz="850" dirty="0"/>
          </a:p>
        </p:txBody>
      </p:sp>
      <p:sp>
        <p:nvSpPr>
          <p:cNvPr id="7" name="Text 4"/>
          <p:cNvSpPr/>
          <p:nvPr/>
        </p:nvSpPr>
        <p:spPr>
          <a:xfrm>
            <a:off x="8183880" y="4791456"/>
            <a:ext cx="457200" cy="274320"/>
          </a:xfrm>
          <a:prstGeom prst="rect">
            <a:avLst/>
          </a:prstGeom>
          <a:noFill/>
          <a:ln/>
        </p:spPr>
        <p:txBody>
          <a:bodyPr wrap="square" lIns="0" tIns="0" rIns="0" bIns="0" rtlCol="0" anchor="ctr"/>
          <a:lstStyle/>
          <a:p>
            <a:pPr marL="0" indent="0" algn="r">
              <a:buNone/>
            </a:pPr>
            <a:r>
              <a:rPr lang="en-US" sz="850" b="1" dirty="0">
                <a:solidFill>
                  <a:srgbClr val="6B6862"/>
                </a:solidFill>
                <a:latin typeface="Arial" pitchFamily="34" charset="0"/>
                <a:ea typeface="Arial" pitchFamily="34" charset="-122"/>
                <a:cs typeface="Arial" pitchFamily="34" charset="-120"/>
              </a:rPr>
              <a:t>13</a:t>
            </a:r>
            <a:endParaRPr lang="en-US" sz="850" dirty="0"/>
          </a:p>
        </p:txBody>
      </p:sp>
      <p:sp>
        <p:nvSpPr>
          <p:cNvPr id="8" name="Text 5"/>
          <p:cNvSpPr/>
          <p:nvPr/>
        </p:nvSpPr>
        <p:spPr>
          <a:xfrm>
            <a:off x="502920" y="1554480"/>
            <a:ext cx="8138160" cy="420624"/>
          </a:xfrm>
          <a:prstGeom prst="rect">
            <a:avLst/>
          </a:prstGeom>
          <a:noFill/>
          <a:ln/>
        </p:spPr>
        <p:txBody>
          <a:bodyPr wrap="square" lIns="0" tIns="0" rIns="0" bIns="0" rtlCol="0" anchor="ctr"/>
          <a:lstStyle/>
          <a:p>
            <a:pPr marL="0" indent="0">
              <a:lnSpc>
                <a:spcPct val="118000"/>
              </a:lnSpc>
              <a:buNone/>
            </a:pPr>
            <a:r>
              <a:rPr lang="en-US" sz="1200" dirty="0">
                <a:solidFill>
                  <a:srgbClr val="2B2A26"/>
                </a:solidFill>
                <a:latin typeface="Arial" pitchFamily="34" charset="0"/>
                <a:ea typeface="Arial" pitchFamily="34" charset="-122"/>
                <a:cs typeface="Arial" pitchFamily="34" charset="-120"/>
              </a:rPr>
              <a:t>A five-step walkthrough: stand up a working weather server, register it, and call its tool from an MCP client.</a:t>
            </a:r>
            <a:endParaRPr lang="en-US" sz="1200" dirty="0"/>
          </a:p>
        </p:txBody>
      </p:sp>
      <p:sp>
        <p:nvSpPr>
          <p:cNvPr id="9" name="Shape 6"/>
          <p:cNvSpPr/>
          <p:nvPr/>
        </p:nvSpPr>
        <p:spPr>
          <a:xfrm>
            <a:off x="502920" y="2084832"/>
            <a:ext cx="329184" cy="329184"/>
          </a:xfrm>
          <a:prstGeom prst="ellipse">
            <a:avLst/>
          </a:prstGeom>
          <a:solidFill>
            <a:srgbClr val="1A1A18"/>
          </a:solidFill>
          <a:ln/>
        </p:spPr>
        <p:txBody>
          <a:bodyPr/>
          <a:lstStyle/>
          <a:p>
            <a:endParaRPr lang="en-IN"/>
          </a:p>
        </p:txBody>
      </p:sp>
      <p:sp>
        <p:nvSpPr>
          <p:cNvPr id="10" name="Text 7"/>
          <p:cNvSpPr/>
          <p:nvPr/>
        </p:nvSpPr>
        <p:spPr>
          <a:xfrm>
            <a:off x="502920" y="2084832"/>
            <a:ext cx="329184" cy="329184"/>
          </a:xfrm>
          <a:prstGeom prst="rect">
            <a:avLst/>
          </a:prstGeom>
          <a:noFill/>
          <a:ln/>
        </p:spPr>
        <p:txBody>
          <a:bodyPr wrap="square" lIns="0" tIns="0" rIns="0" bIns="0" rtlCol="0" anchor="ctr"/>
          <a:lstStyle/>
          <a:p>
            <a:pPr marL="0" indent="0" algn="ctr">
              <a:buNone/>
            </a:pPr>
            <a:r>
              <a:rPr lang="en-US" sz="1200" b="1" dirty="0">
                <a:solidFill>
                  <a:srgbClr val="F0EEE6"/>
                </a:solidFill>
                <a:latin typeface="Arial" pitchFamily="34" charset="0"/>
                <a:ea typeface="Arial" pitchFamily="34" charset="-122"/>
                <a:cs typeface="Arial" pitchFamily="34" charset="-120"/>
              </a:rPr>
              <a:t>1</a:t>
            </a:r>
            <a:endParaRPr lang="en-US" sz="1200" dirty="0"/>
          </a:p>
        </p:txBody>
      </p:sp>
      <p:sp>
        <p:nvSpPr>
          <p:cNvPr id="11" name="Text 8"/>
          <p:cNvSpPr/>
          <p:nvPr/>
        </p:nvSpPr>
        <p:spPr>
          <a:xfrm>
            <a:off x="960120" y="2029968"/>
            <a:ext cx="3584448" cy="256032"/>
          </a:xfrm>
          <a:prstGeom prst="rect">
            <a:avLst/>
          </a:prstGeom>
          <a:noFill/>
          <a:ln/>
        </p:spPr>
        <p:txBody>
          <a:bodyPr wrap="square" lIns="0" tIns="0" rIns="0" bIns="0" rtlCol="0" anchor="ctr"/>
          <a:lstStyle/>
          <a:p>
            <a:pPr marL="0" indent="0">
              <a:buNone/>
            </a:pPr>
            <a:r>
              <a:rPr lang="en-US" sz="1350" b="1" dirty="0">
                <a:solidFill>
                  <a:srgbClr val="1A1A18"/>
                </a:solidFill>
                <a:latin typeface="Georgia" pitchFamily="34" charset="0"/>
                <a:ea typeface="Georgia" pitchFamily="34" charset="-122"/>
                <a:cs typeface="Georgia" pitchFamily="34" charset="-120"/>
              </a:rPr>
              <a:t>Install the SDK</a:t>
            </a:r>
            <a:endParaRPr lang="en-US" sz="1350" dirty="0"/>
          </a:p>
        </p:txBody>
      </p:sp>
      <p:sp>
        <p:nvSpPr>
          <p:cNvPr id="12" name="Text 9"/>
          <p:cNvSpPr/>
          <p:nvPr/>
        </p:nvSpPr>
        <p:spPr>
          <a:xfrm>
            <a:off x="960120" y="2286000"/>
            <a:ext cx="3584448" cy="292608"/>
          </a:xfrm>
          <a:prstGeom prst="rect">
            <a:avLst/>
          </a:prstGeom>
          <a:noFill/>
          <a:ln/>
        </p:spPr>
        <p:txBody>
          <a:bodyPr wrap="square" lIns="0" tIns="0" rIns="0" bIns="0" rtlCol="0" anchor="ctr"/>
          <a:lstStyle/>
          <a:p>
            <a:pPr marL="0" indent="0">
              <a:lnSpc>
                <a:spcPct val="104000"/>
              </a:lnSpc>
              <a:buNone/>
            </a:pPr>
            <a:r>
              <a:rPr lang="en-US" sz="970" dirty="0">
                <a:solidFill>
                  <a:srgbClr val="6B6862"/>
                </a:solidFill>
                <a:latin typeface="Arial" pitchFamily="34" charset="0"/>
                <a:ea typeface="Arial" pitchFamily="34" charset="-122"/>
                <a:cs typeface="Arial" pitchFamily="34" charset="-120"/>
              </a:rPr>
              <a:t>pip install "mcp[cli]" — the Python SDK plus dev tooling.</a:t>
            </a:r>
            <a:endParaRPr lang="en-US" sz="970" dirty="0"/>
          </a:p>
        </p:txBody>
      </p:sp>
      <p:sp>
        <p:nvSpPr>
          <p:cNvPr id="13" name="Shape 10"/>
          <p:cNvSpPr/>
          <p:nvPr/>
        </p:nvSpPr>
        <p:spPr>
          <a:xfrm>
            <a:off x="502920" y="2606040"/>
            <a:ext cx="329184" cy="329184"/>
          </a:xfrm>
          <a:prstGeom prst="ellipse">
            <a:avLst/>
          </a:prstGeom>
          <a:solidFill>
            <a:srgbClr val="1A1A18"/>
          </a:solidFill>
          <a:ln/>
        </p:spPr>
        <p:txBody>
          <a:bodyPr/>
          <a:lstStyle/>
          <a:p>
            <a:endParaRPr lang="en-IN"/>
          </a:p>
        </p:txBody>
      </p:sp>
      <p:sp>
        <p:nvSpPr>
          <p:cNvPr id="14" name="Text 11"/>
          <p:cNvSpPr/>
          <p:nvPr/>
        </p:nvSpPr>
        <p:spPr>
          <a:xfrm>
            <a:off x="502920" y="2606040"/>
            <a:ext cx="329184" cy="329184"/>
          </a:xfrm>
          <a:prstGeom prst="rect">
            <a:avLst/>
          </a:prstGeom>
          <a:noFill/>
          <a:ln/>
        </p:spPr>
        <p:txBody>
          <a:bodyPr wrap="square" lIns="0" tIns="0" rIns="0" bIns="0" rtlCol="0" anchor="ctr"/>
          <a:lstStyle/>
          <a:p>
            <a:pPr marL="0" indent="0" algn="ctr">
              <a:buNone/>
            </a:pPr>
            <a:r>
              <a:rPr lang="en-US" sz="1200" b="1" dirty="0">
                <a:solidFill>
                  <a:srgbClr val="F0EEE6"/>
                </a:solidFill>
                <a:latin typeface="Arial" pitchFamily="34" charset="0"/>
                <a:ea typeface="Arial" pitchFamily="34" charset="-122"/>
                <a:cs typeface="Arial" pitchFamily="34" charset="-120"/>
              </a:rPr>
              <a:t>2</a:t>
            </a:r>
            <a:endParaRPr lang="en-US" sz="1200" dirty="0"/>
          </a:p>
        </p:txBody>
      </p:sp>
      <p:sp>
        <p:nvSpPr>
          <p:cNvPr id="15" name="Text 12"/>
          <p:cNvSpPr/>
          <p:nvPr/>
        </p:nvSpPr>
        <p:spPr>
          <a:xfrm>
            <a:off x="960120" y="2551176"/>
            <a:ext cx="3584448" cy="256032"/>
          </a:xfrm>
          <a:prstGeom prst="rect">
            <a:avLst/>
          </a:prstGeom>
          <a:noFill/>
          <a:ln/>
        </p:spPr>
        <p:txBody>
          <a:bodyPr wrap="square" lIns="0" tIns="0" rIns="0" bIns="0" rtlCol="0" anchor="ctr"/>
          <a:lstStyle/>
          <a:p>
            <a:pPr marL="0" indent="0">
              <a:buNone/>
            </a:pPr>
            <a:r>
              <a:rPr lang="en-US" sz="1350" b="1" dirty="0">
                <a:solidFill>
                  <a:srgbClr val="1A1A18"/>
                </a:solidFill>
                <a:latin typeface="Georgia" pitchFamily="34" charset="0"/>
                <a:ea typeface="Georgia" pitchFamily="34" charset="-122"/>
                <a:cs typeface="Georgia" pitchFamily="34" charset="-120"/>
              </a:rPr>
              <a:t>Write server.py</a:t>
            </a:r>
            <a:endParaRPr lang="en-US" sz="1350" dirty="0"/>
          </a:p>
        </p:txBody>
      </p:sp>
      <p:sp>
        <p:nvSpPr>
          <p:cNvPr id="16" name="Text 13"/>
          <p:cNvSpPr/>
          <p:nvPr/>
        </p:nvSpPr>
        <p:spPr>
          <a:xfrm>
            <a:off x="960120" y="2807208"/>
            <a:ext cx="3584448" cy="292608"/>
          </a:xfrm>
          <a:prstGeom prst="rect">
            <a:avLst/>
          </a:prstGeom>
          <a:noFill/>
          <a:ln/>
        </p:spPr>
        <p:txBody>
          <a:bodyPr wrap="square" lIns="0" tIns="0" rIns="0" bIns="0" rtlCol="0" anchor="ctr"/>
          <a:lstStyle/>
          <a:p>
            <a:pPr marL="0" indent="0">
              <a:lnSpc>
                <a:spcPct val="104000"/>
              </a:lnSpc>
              <a:buNone/>
            </a:pPr>
            <a:r>
              <a:rPr lang="en-US" sz="970" dirty="0">
                <a:solidFill>
                  <a:srgbClr val="6B6862"/>
                </a:solidFill>
                <a:latin typeface="Arial" pitchFamily="34" charset="0"/>
                <a:ea typeface="Arial" pitchFamily="34" charset="-122"/>
                <a:cs typeface="Arial" pitchFamily="34" charset="-120"/>
              </a:rPr>
              <a:t>Create FastMCP("weather"), decorate get_forecast with @mcp.tool().</a:t>
            </a:r>
            <a:endParaRPr lang="en-US" sz="970" dirty="0"/>
          </a:p>
        </p:txBody>
      </p:sp>
      <p:sp>
        <p:nvSpPr>
          <p:cNvPr id="17" name="Shape 14"/>
          <p:cNvSpPr/>
          <p:nvPr/>
        </p:nvSpPr>
        <p:spPr>
          <a:xfrm>
            <a:off x="502920" y="3127248"/>
            <a:ext cx="329184" cy="329184"/>
          </a:xfrm>
          <a:prstGeom prst="ellipse">
            <a:avLst/>
          </a:prstGeom>
          <a:solidFill>
            <a:srgbClr val="1A1A18"/>
          </a:solidFill>
          <a:ln/>
        </p:spPr>
        <p:txBody>
          <a:bodyPr/>
          <a:lstStyle/>
          <a:p>
            <a:endParaRPr lang="en-IN"/>
          </a:p>
        </p:txBody>
      </p:sp>
      <p:sp>
        <p:nvSpPr>
          <p:cNvPr id="18" name="Text 15"/>
          <p:cNvSpPr/>
          <p:nvPr/>
        </p:nvSpPr>
        <p:spPr>
          <a:xfrm>
            <a:off x="502920" y="3127248"/>
            <a:ext cx="329184" cy="329184"/>
          </a:xfrm>
          <a:prstGeom prst="rect">
            <a:avLst/>
          </a:prstGeom>
          <a:noFill/>
          <a:ln/>
        </p:spPr>
        <p:txBody>
          <a:bodyPr wrap="square" lIns="0" tIns="0" rIns="0" bIns="0" rtlCol="0" anchor="ctr"/>
          <a:lstStyle/>
          <a:p>
            <a:pPr marL="0" indent="0" algn="ctr">
              <a:buNone/>
            </a:pPr>
            <a:r>
              <a:rPr lang="en-US" sz="1200" b="1" dirty="0">
                <a:solidFill>
                  <a:srgbClr val="F0EEE6"/>
                </a:solidFill>
                <a:latin typeface="Arial" pitchFamily="34" charset="0"/>
                <a:ea typeface="Arial" pitchFamily="34" charset="-122"/>
                <a:cs typeface="Arial" pitchFamily="34" charset="-120"/>
              </a:rPr>
              <a:t>3</a:t>
            </a:r>
            <a:endParaRPr lang="en-US" sz="1200" dirty="0"/>
          </a:p>
        </p:txBody>
      </p:sp>
      <p:sp>
        <p:nvSpPr>
          <p:cNvPr id="19" name="Text 16"/>
          <p:cNvSpPr/>
          <p:nvPr/>
        </p:nvSpPr>
        <p:spPr>
          <a:xfrm>
            <a:off x="960120" y="3072384"/>
            <a:ext cx="3584448" cy="256032"/>
          </a:xfrm>
          <a:prstGeom prst="rect">
            <a:avLst/>
          </a:prstGeom>
          <a:noFill/>
          <a:ln/>
        </p:spPr>
        <p:txBody>
          <a:bodyPr wrap="square" lIns="0" tIns="0" rIns="0" bIns="0" rtlCol="0" anchor="ctr"/>
          <a:lstStyle/>
          <a:p>
            <a:pPr marL="0" indent="0">
              <a:buNone/>
            </a:pPr>
            <a:r>
              <a:rPr lang="en-US" sz="1350" b="1" dirty="0">
                <a:solidFill>
                  <a:srgbClr val="1A1A18"/>
                </a:solidFill>
                <a:latin typeface="Georgia" pitchFamily="34" charset="0"/>
                <a:ea typeface="Georgia" pitchFamily="34" charset="-122"/>
                <a:cs typeface="Georgia" pitchFamily="34" charset="-120"/>
              </a:rPr>
              <a:t>Run over stdio</a:t>
            </a:r>
            <a:endParaRPr lang="en-US" sz="1350" dirty="0"/>
          </a:p>
        </p:txBody>
      </p:sp>
      <p:sp>
        <p:nvSpPr>
          <p:cNvPr id="20" name="Text 17"/>
          <p:cNvSpPr/>
          <p:nvPr/>
        </p:nvSpPr>
        <p:spPr>
          <a:xfrm>
            <a:off x="960120" y="3328416"/>
            <a:ext cx="3584448" cy="292608"/>
          </a:xfrm>
          <a:prstGeom prst="rect">
            <a:avLst/>
          </a:prstGeom>
          <a:noFill/>
          <a:ln/>
        </p:spPr>
        <p:txBody>
          <a:bodyPr wrap="square" lIns="0" tIns="0" rIns="0" bIns="0" rtlCol="0" anchor="ctr"/>
          <a:lstStyle/>
          <a:p>
            <a:pPr marL="0" indent="0">
              <a:lnSpc>
                <a:spcPct val="104000"/>
              </a:lnSpc>
              <a:buNone/>
            </a:pPr>
            <a:r>
              <a:rPr lang="en-US" sz="970" dirty="0">
                <a:solidFill>
                  <a:srgbClr val="6B6862"/>
                </a:solidFill>
                <a:latin typeface="Arial" pitchFamily="34" charset="0"/>
                <a:ea typeface="Arial" pitchFamily="34" charset="-122"/>
                <a:cs typeface="Arial" pitchFamily="34" charset="-120"/>
              </a:rPr>
              <a:t>mcp.run(transport="stdio") — the host launches it as a subprocess.</a:t>
            </a:r>
            <a:endParaRPr lang="en-US" sz="970" dirty="0"/>
          </a:p>
        </p:txBody>
      </p:sp>
      <p:sp>
        <p:nvSpPr>
          <p:cNvPr id="21" name="Shape 18"/>
          <p:cNvSpPr/>
          <p:nvPr/>
        </p:nvSpPr>
        <p:spPr>
          <a:xfrm>
            <a:off x="502920" y="3648456"/>
            <a:ext cx="329184" cy="329184"/>
          </a:xfrm>
          <a:prstGeom prst="ellipse">
            <a:avLst/>
          </a:prstGeom>
          <a:solidFill>
            <a:srgbClr val="1A1A18"/>
          </a:solidFill>
          <a:ln/>
        </p:spPr>
        <p:txBody>
          <a:bodyPr/>
          <a:lstStyle/>
          <a:p>
            <a:endParaRPr lang="en-IN"/>
          </a:p>
        </p:txBody>
      </p:sp>
      <p:sp>
        <p:nvSpPr>
          <p:cNvPr id="22" name="Text 19"/>
          <p:cNvSpPr/>
          <p:nvPr/>
        </p:nvSpPr>
        <p:spPr>
          <a:xfrm>
            <a:off x="502920" y="3648456"/>
            <a:ext cx="329184" cy="329184"/>
          </a:xfrm>
          <a:prstGeom prst="rect">
            <a:avLst/>
          </a:prstGeom>
          <a:noFill/>
          <a:ln/>
        </p:spPr>
        <p:txBody>
          <a:bodyPr wrap="square" lIns="0" tIns="0" rIns="0" bIns="0" rtlCol="0" anchor="ctr"/>
          <a:lstStyle/>
          <a:p>
            <a:pPr marL="0" indent="0" algn="ctr">
              <a:buNone/>
            </a:pPr>
            <a:r>
              <a:rPr lang="en-US" sz="1200" b="1" dirty="0">
                <a:solidFill>
                  <a:srgbClr val="F0EEE6"/>
                </a:solidFill>
                <a:latin typeface="Arial" pitchFamily="34" charset="0"/>
                <a:ea typeface="Arial" pitchFamily="34" charset="-122"/>
                <a:cs typeface="Arial" pitchFamily="34" charset="-120"/>
              </a:rPr>
              <a:t>4</a:t>
            </a:r>
            <a:endParaRPr lang="en-US" sz="1200" dirty="0"/>
          </a:p>
        </p:txBody>
      </p:sp>
      <p:sp>
        <p:nvSpPr>
          <p:cNvPr id="23" name="Text 20"/>
          <p:cNvSpPr/>
          <p:nvPr/>
        </p:nvSpPr>
        <p:spPr>
          <a:xfrm>
            <a:off x="960120" y="3593592"/>
            <a:ext cx="3584448" cy="256032"/>
          </a:xfrm>
          <a:prstGeom prst="rect">
            <a:avLst/>
          </a:prstGeom>
          <a:noFill/>
          <a:ln/>
        </p:spPr>
        <p:txBody>
          <a:bodyPr wrap="square" lIns="0" tIns="0" rIns="0" bIns="0" rtlCol="0" anchor="ctr"/>
          <a:lstStyle/>
          <a:p>
            <a:pPr marL="0" indent="0">
              <a:buNone/>
            </a:pPr>
            <a:r>
              <a:rPr lang="en-US" sz="1350" b="1" dirty="0">
                <a:solidFill>
                  <a:srgbClr val="1A1A18"/>
                </a:solidFill>
                <a:latin typeface="Georgia" pitchFamily="34" charset="0"/>
                <a:ea typeface="Georgia" pitchFamily="34" charset="-122"/>
                <a:cs typeface="Georgia" pitchFamily="34" charset="-120"/>
              </a:rPr>
              <a:t>Register the server</a:t>
            </a:r>
            <a:endParaRPr lang="en-US" sz="1350" dirty="0"/>
          </a:p>
        </p:txBody>
      </p:sp>
      <p:sp>
        <p:nvSpPr>
          <p:cNvPr id="24" name="Text 21"/>
          <p:cNvSpPr/>
          <p:nvPr/>
        </p:nvSpPr>
        <p:spPr>
          <a:xfrm>
            <a:off x="960120" y="3849624"/>
            <a:ext cx="3584448" cy="292608"/>
          </a:xfrm>
          <a:prstGeom prst="rect">
            <a:avLst/>
          </a:prstGeom>
          <a:noFill/>
          <a:ln/>
        </p:spPr>
        <p:txBody>
          <a:bodyPr wrap="square" lIns="0" tIns="0" rIns="0" bIns="0" rtlCol="0" anchor="ctr"/>
          <a:lstStyle/>
          <a:p>
            <a:pPr marL="0" indent="0">
              <a:lnSpc>
                <a:spcPct val="104000"/>
              </a:lnSpc>
              <a:buNone/>
            </a:pPr>
            <a:r>
              <a:rPr lang="en-US" sz="970" dirty="0">
                <a:solidFill>
                  <a:srgbClr val="6B6862"/>
                </a:solidFill>
                <a:latin typeface="Arial" pitchFamily="34" charset="0"/>
                <a:ea typeface="Arial" pitchFamily="34" charset="-122"/>
                <a:cs typeface="Arial" pitchFamily="34" charset="-120"/>
              </a:rPr>
              <a:t>Add it under mcpServers in the client config, then restart.</a:t>
            </a:r>
            <a:endParaRPr lang="en-US" sz="970" dirty="0"/>
          </a:p>
        </p:txBody>
      </p:sp>
      <p:sp>
        <p:nvSpPr>
          <p:cNvPr id="25" name="Shape 22"/>
          <p:cNvSpPr/>
          <p:nvPr/>
        </p:nvSpPr>
        <p:spPr>
          <a:xfrm>
            <a:off x="502920" y="4169664"/>
            <a:ext cx="329184" cy="329184"/>
          </a:xfrm>
          <a:prstGeom prst="ellipse">
            <a:avLst/>
          </a:prstGeom>
          <a:solidFill>
            <a:srgbClr val="D97757"/>
          </a:solidFill>
          <a:ln/>
        </p:spPr>
        <p:txBody>
          <a:bodyPr/>
          <a:lstStyle/>
          <a:p>
            <a:endParaRPr lang="en-IN"/>
          </a:p>
        </p:txBody>
      </p:sp>
      <p:sp>
        <p:nvSpPr>
          <p:cNvPr id="26" name="Text 23"/>
          <p:cNvSpPr/>
          <p:nvPr/>
        </p:nvSpPr>
        <p:spPr>
          <a:xfrm>
            <a:off x="502920" y="4169664"/>
            <a:ext cx="329184" cy="329184"/>
          </a:xfrm>
          <a:prstGeom prst="rect">
            <a:avLst/>
          </a:prstGeom>
          <a:noFill/>
          <a:ln/>
        </p:spPr>
        <p:txBody>
          <a:bodyPr wrap="square" lIns="0" tIns="0" rIns="0" bIns="0" rtlCol="0" anchor="ctr"/>
          <a:lstStyle/>
          <a:p>
            <a:pPr marL="0" indent="0" algn="ctr">
              <a:buNone/>
            </a:pPr>
            <a:r>
              <a:rPr lang="en-US" sz="1200" b="1" dirty="0">
                <a:solidFill>
                  <a:srgbClr val="F0EEE6"/>
                </a:solidFill>
                <a:latin typeface="Arial" pitchFamily="34" charset="0"/>
                <a:ea typeface="Arial" pitchFamily="34" charset="-122"/>
                <a:cs typeface="Arial" pitchFamily="34" charset="-120"/>
              </a:rPr>
              <a:t>5</a:t>
            </a:r>
            <a:endParaRPr lang="en-US" sz="1200" dirty="0"/>
          </a:p>
        </p:txBody>
      </p:sp>
      <p:sp>
        <p:nvSpPr>
          <p:cNvPr id="27" name="Text 24"/>
          <p:cNvSpPr/>
          <p:nvPr/>
        </p:nvSpPr>
        <p:spPr>
          <a:xfrm>
            <a:off x="960120" y="4114800"/>
            <a:ext cx="3584448" cy="256032"/>
          </a:xfrm>
          <a:prstGeom prst="rect">
            <a:avLst/>
          </a:prstGeom>
          <a:noFill/>
          <a:ln/>
        </p:spPr>
        <p:txBody>
          <a:bodyPr wrap="square" lIns="0" tIns="0" rIns="0" bIns="0" rtlCol="0" anchor="ctr"/>
          <a:lstStyle/>
          <a:p>
            <a:pPr marL="0" indent="0">
              <a:buNone/>
            </a:pPr>
            <a:r>
              <a:rPr lang="en-US" sz="1350" b="1" dirty="0">
                <a:solidFill>
                  <a:srgbClr val="1A1A18"/>
                </a:solidFill>
                <a:latin typeface="Georgia" pitchFamily="34" charset="0"/>
                <a:ea typeface="Georgia" pitchFamily="34" charset="-122"/>
                <a:cs typeface="Georgia" pitchFamily="34" charset="-120"/>
              </a:rPr>
              <a:t>Invoke the tool</a:t>
            </a:r>
            <a:endParaRPr lang="en-US" sz="1350" dirty="0"/>
          </a:p>
        </p:txBody>
      </p:sp>
      <p:sp>
        <p:nvSpPr>
          <p:cNvPr id="28" name="Text 25"/>
          <p:cNvSpPr/>
          <p:nvPr/>
        </p:nvSpPr>
        <p:spPr>
          <a:xfrm>
            <a:off x="960120" y="4370832"/>
            <a:ext cx="3584448" cy="292608"/>
          </a:xfrm>
          <a:prstGeom prst="rect">
            <a:avLst/>
          </a:prstGeom>
          <a:noFill/>
          <a:ln/>
        </p:spPr>
        <p:txBody>
          <a:bodyPr wrap="square" lIns="0" tIns="0" rIns="0" bIns="0" rtlCol="0" anchor="ctr"/>
          <a:lstStyle/>
          <a:p>
            <a:pPr marL="0" indent="0">
              <a:lnSpc>
                <a:spcPct val="104000"/>
              </a:lnSpc>
              <a:buNone/>
            </a:pPr>
            <a:r>
              <a:rPr lang="en-US" sz="970" dirty="0">
                <a:solidFill>
                  <a:srgbClr val="6B6862"/>
                </a:solidFill>
                <a:latin typeface="Arial" pitchFamily="34" charset="0"/>
                <a:ea typeface="Arial" pitchFamily="34" charset="-122"/>
                <a:cs typeface="Arial" pitchFamily="34" charset="-120"/>
              </a:rPr>
              <a:t>Ask a weather question — the model calls get_forecast in the loop.</a:t>
            </a:r>
            <a:endParaRPr lang="en-US" sz="970" dirty="0"/>
          </a:p>
        </p:txBody>
      </p:sp>
      <p:sp>
        <p:nvSpPr>
          <p:cNvPr id="29" name="Shape 26"/>
          <p:cNvSpPr/>
          <p:nvPr/>
        </p:nvSpPr>
        <p:spPr>
          <a:xfrm>
            <a:off x="4828032" y="2066544"/>
            <a:ext cx="3813048" cy="2395728"/>
          </a:xfrm>
          <a:prstGeom prst="rect">
            <a:avLst/>
          </a:prstGeom>
          <a:solidFill>
            <a:srgbClr val="1A1A18"/>
          </a:solidFill>
          <a:ln/>
          <a:effectLst>
            <a:outerShdw blurRad="88900" dist="38100" dir="5400000" algn="bl" rotWithShape="0">
              <a:srgbClr val="9C9486">
                <a:alpha val="22000"/>
              </a:srgbClr>
            </a:outerShdw>
          </a:effectLst>
        </p:spPr>
        <p:txBody>
          <a:bodyPr/>
          <a:lstStyle/>
          <a:p>
            <a:endParaRPr lang="en-IN"/>
          </a:p>
        </p:txBody>
      </p:sp>
      <p:sp>
        <p:nvSpPr>
          <p:cNvPr id="30" name="Text 27"/>
          <p:cNvSpPr/>
          <p:nvPr/>
        </p:nvSpPr>
        <p:spPr>
          <a:xfrm>
            <a:off x="5047488" y="2176272"/>
            <a:ext cx="3355848" cy="219456"/>
          </a:xfrm>
          <a:prstGeom prst="rect">
            <a:avLst/>
          </a:prstGeom>
          <a:noFill/>
          <a:ln/>
        </p:spPr>
        <p:txBody>
          <a:bodyPr wrap="square" lIns="0" tIns="0" rIns="0" bIns="0" rtlCol="0" anchor="ctr"/>
          <a:lstStyle/>
          <a:p>
            <a:pPr marL="0" indent="0">
              <a:buNone/>
            </a:pPr>
            <a:r>
              <a:rPr lang="en-US" sz="900" b="1" kern="0" spc="100" dirty="0">
                <a:solidFill>
                  <a:srgbClr val="8A867C"/>
                </a:solidFill>
                <a:latin typeface="Arial" pitchFamily="34" charset="0"/>
                <a:ea typeface="Arial" pitchFamily="34" charset="-122"/>
                <a:cs typeface="Arial" pitchFamily="34" charset="-120"/>
              </a:rPr>
              <a:t>terminal</a:t>
            </a:r>
            <a:endParaRPr lang="en-US" sz="900" dirty="0"/>
          </a:p>
        </p:txBody>
      </p:sp>
      <p:sp>
        <p:nvSpPr>
          <p:cNvPr id="31" name="Text 28"/>
          <p:cNvSpPr/>
          <p:nvPr/>
        </p:nvSpPr>
        <p:spPr>
          <a:xfrm>
            <a:off x="5047488" y="2432304"/>
            <a:ext cx="3429000" cy="1938528"/>
          </a:xfrm>
          <a:prstGeom prst="rect">
            <a:avLst/>
          </a:prstGeom>
          <a:noFill/>
          <a:ln/>
        </p:spPr>
        <p:txBody>
          <a:bodyPr wrap="square" lIns="0" tIns="0" rIns="0" bIns="0" rtlCol="0" anchor="t"/>
          <a:lstStyle/>
          <a:p>
            <a:pPr marL="0" indent="0">
              <a:lnSpc>
                <a:spcPct val="103000"/>
              </a:lnSpc>
              <a:buNone/>
            </a:pPr>
            <a:r>
              <a:rPr lang="en-US" sz="950" dirty="0">
                <a:solidFill>
                  <a:srgbClr val="D97757"/>
                </a:solidFill>
                <a:latin typeface="Consolas" pitchFamily="34" charset="0"/>
                <a:ea typeface="Consolas" pitchFamily="34" charset="-122"/>
                <a:cs typeface="Consolas" pitchFamily="34" charset="-120"/>
              </a:rPr>
              <a:t>$ </a:t>
            </a:r>
            <a:r>
              <a:rPr lang="en-US" sz="950" dirty="0">
                <a:solidFill>
                  <a:srgbClr val="C9C4B8"/>
                </a:solidFill>
                <a:latin typeface="Consolas" pitchFamily="34" charset="0"/>
                <a:ea typeface="Consolas" pitchFamily="34" charset="-122"/>
                <a:cs typeface="Consolas" pitchFamily="34" charset="-120"/>
              </a:rPr>
              <a:t>pip install </a:t>
            </a:r>
            <a:r>
              <a:rPr lang="en-US" sz="950" dirty="0">
                <a:solidFill>
                  <a:srgbClr val="9FE0C9"/>
                </a:solidFill>
                <a:latin typeface="Consolas" pitchFamily="34" charset="0"/>
                <a:ea typeface="Consolas" pitchFamily="34" charset="-122"/>
                <a:cs typeface="Consolas" pitchFamily="34" charset="-120"/>
              </a:rPr>
              <a:t>"mcp[cli]"</a:t>
            </a:r>
            <a:endParaRPr lang="en-US" sz="950" dirty="0"/>
          </a:p>
          <a:p>
            <a:pPr marL="0" indent="0">
              <a:lnSpc>
                <a:spcPct val="103000"/>
              </a:lnSpc>
              <a:buNone/>
            </a:pPr>
            <a:r>
              <a:rPr lang="en-US" sz="950" dirty="0">
                <a:solidFill>
                  <a:srgbClr val="D97757"/>
                </a:solidFill>
                <a:latin typeface="Consolas" pitchFamily="34" charset="0"/>
                <a:ea typeface="Consolas" pitchFamily="34" charset="-122"/>
                <a:cs typeface="Consolas" pitchFamily="34" charset="-120"/>
              </a:rPr>
              <a:t>$ </a:t>
            </a:r>
            <a:r>
              <a:rPr lang="en-US" sz="950" dirty="0">
                <a:solidFill>
                  <a:srgbClr val="C9C4B8"/>
                </a:solidFill>
                <a:latin typeface="Consolas" pitchFamily="34" charset="0"/>
                <a:ea typeface="Consolas" pitchFamily="34" charset="-122"/>
                <a:cs typeface="Consolas" pitchFamily="34" charset="-120"/>
              </a:rPr>
              <a:t>mcp dev server.py</a:t>
            </a:r>
            <a:endParaRPr lang="en-US" sz="950" dirty="0"/>
          </a:p>
          <a:p>
            <a:pPr marL="0" indent="0">
              <a:lnSpc>
                <a:spcPct val="103000"/>
              </a:lnSpc>
              <a:buNone/>
            </a:pPr>
            <a:r>
              <a:rPr lang="en-US" sz="950" dirty="0">
                <a:solidFill>
                  <a:srgbClr val="8FB58F"/>
                </a:solidFill>
                <a:latin typeface="Consolas" pitchFamily="34" charset="0"/>
                <a:ea typeface="Consolas" pitchFamily="34" charset="-122"/>
                <a:cs typeface="Consolas" pitchFamily="34" charset="-120"/>
              </a:rPr>
              <a:t>  ✓ Inspector at localhost:6274</a:t>
            </a:r>
            <a:endParaRPr lang="en-US" sz="950" dirty="0"/>
          </a:p>
          <a:p>
            <a:pPr marL="0" indent="0">
              <a:lnSpc>
                <a:spcPct val="103000"/>
              </a:lnSpc>
              <a:buNone/>
            </a:pPr>
            <a:endParaRPr lang="en-US" sz="950" dirty="0"/>
          </a:p>
          <a:p>
            <a:pPr marL="0" indent="0">
              <a:lnSpc>
                <a:spcPct val="103000"/>
              </a:lnSpc>
              <a:buNone/>
            </a:pPr>
            <a:r>
              <a:rPr lang="en-US" sz="950" dirty="0">
                <a:solidFill>
                  <a:srgbClr val="8A867C"/>
                </a:solidFill>
                <a:latin typeface="Consolas" pitchFamily="34" charset="0"/>
                <a:ea typeface="Consolas" pitchFamily="34" charset="-122"/>
                <a:cs typeface="Consolas" pitchFamily="34" charset="-120"/>
              </a:rPr>
              <a:t># claude_desktop_config.json</a:t>
            </a:r>
            <a:endParaRPr lang="en-US" sz="950" dirty="0"/>
          </a:p>
          <a:p>
            <a:pPr marL="0" indent="0">
              <a:lnSpc>
                <a:spcPct val="103000"/>
              </a:lnSpc>
              <a:buNone/>
            </a:pPr>
            <a:r>
              <a:rPr lang="en-US" sz="950" dirty="0">
                <a:solidFill>
                  <a:srgbClr val="9FB7E0"/>
                </a:solidFill>
                <a:latin typeface="Consolas" pitchFamily="34" charset="0"/>
                <a:ea typeface="Consolas" pitchFamily="34" charset="-122"/>
                <a:cs typeface="Consolas" pitchFamily="34" charset="-120"/>
              </a:rPr>
              <a:t>"mcpServers": {</a:t>
            </a:r>
            <a:endParaRPr lang="en-US" sz="950" dirty="0"/>
          </a:p>
          <a:p>
            <a:pPr marL="0" indent="0">
              <a:lnSpc>
                <a:spcPct val="103000"/>
              </a:lnSpc>
              <a:buNone/>
            </a:pPr>
            <a:r>
              <a:rPr lang="en-US" sz="950" dirty="0">
                <a:solidFill>
                  <a:srgbClr val="C9C4B8"/>
                </a:solidFill>
                <a:latin typeface="Consolas" pitchFamily="34" charset="0"/>
                <a:ea typeface="Consolas" pitchFamily="34" charset="-122"/>
                <a:cs typeface="Consolas" pitchFamily="34" charset="-120"/>
              </a:rPr>
              <a:t>  "weather": {</a:t>
            </a:r>
            <a:endParaRPr lang="en-US" sz="950" dirty="0"/>
          </a:p>
          <a:p>
            <a:pPr marL="0" indent="0">
              <a:lnSpc>
                <a:spcPct val="103000"/>
              </a:lnSpc>
              <a:buNone/>
            </a:pPr>
            <a:r>
              <a:rPr lang="en-US" sz="950" dirty="0">
                <a:solidFill>
                  <a:srgbClr val="9FE0C9"/>
                </a:solidFill>
                <a:latin typeface="Consolas" pitchFamily="34" charset="0"/>
                <a:ea typeface="Consolas" pitchFamily="34" charset="-122"/>
                <a:cs typeface="Consolas" pitchFamily="34" charset="-120"/>
              </a:rPr>
              <a:t>    "command": </a:t>
            </a:r>
            <a:r>
              <a:rPr lang="en-US" sz="950" dirty="0">
                <a:solidFill>
                  <a:srgbClr val="D97757"/>
                </a:solidFill>
                <a:latin typeface="Consolas" pitchFamily="34" charset="0"/>
                <a:ea typeface="Consolas" pitchFamily="34" charset="-122"/>
                <a:cs typeface="Consolas" pitchFamily="34" charset="-120"/>
              </a:rPr>
              <a:t>"python"</a:t>
            </a:r>
            <a:r>
              <a:rPr lang="en-US" sz="950" dirty="0">
                <a:solidFill>
                  <a:srgbClr val="C9C4B8"/>
                </a:solidFill>
                <a:latin typeface="Consolas" pitchFamily="34" charset="0"/>
                <a:ea typeface="Consolas" pitchFamily="34" charset="-122"/>
                <a:cs typeface="Consolas" pitchFamily="34" charset="-120"/>
              </a:rPr>
              <a:t>,</a:t>
            </a:r>
            <a:endParaRPr lang="en-US" sz="950" dirty="0"/>
          </a:p>
          <a:p>
            <a:pPr marL="0" indent="0">
              <a:lnSpc>
                <a:spcPct val="103000"/>
              </a:lnSpc>
              <a:buNone/>
            </a:pPr>
            <a:r>
              <a:rPr lang="en-US" sz="950" dirty="0">
                <a:solidFill>
                  <a:srgbClr val="9FE0C9"/>
                </a:solidFill>
                <a:latin typeface="Consolas" pitchFamily="34" charset="0"/>
                <a:ea typeface="Consolas" pitchFamily="34" charset="-122"/>
                <a:cs typeface="Consolas" pitchFamily="34" charset="-120"/>
              </a:rPr>
              <a:t>    "args": [</a:t>
            </a:r>
            <a:r>
              <a:rPr lang="en-US" sz="950" dirty="0">
                <a:solidFill>
                  <a:srgbClr val="D97757"/>
                </a:solidFill>
                <a:latin typeface="Consolas" pitchFamily="34" charset="0"/>
                <a:ea typeface="Consolas" pitchFamily="34" charset="-122"/>
                <a:cs typeface="Consolas" pitchFamily="34" charset="-120"/>
              </a:rPr>
              <a:t>"server.py"</a:t>
            </a:r>
            <a:r>
              <a:rPr lang="en-US" sz="950" dirty="0">
                <a:solidFill>
                  <a:srgbClr val="9FE0C9"/>
                </a:solidFill>
                <a:latin typeface="Consolas" pitchFamily="34" charset="0"/>
                <a:ea typeface="Consolas" pitchFamily="34" charset="-122"/>
                <a:cs typeface="Consolas" pitchFamily="34" charset="-120"/>
              </a:rPr>
              <a:t>]</a:t>
            </a:r>
            <a:endParaRPr lang="en-US" sz="950" dirty="0"/>
          </a:p>
          <a:p>
            <a:pPr marL="0" indent="0">
              <a:lnSpc>
                <a:spcPct val="103000"/>
              </a:lnSpc>
              <a:buNone/>
            </a:pPr>
            <a:r>
              <a:rPr lang="en-US" sz="950" dirty="0">
                <a:solidFill>
                  <a:srgbClr val="C9C4B8"/>
                </a:solidFill>
                <a:latin typeface="Consolas" pitchFamily="34" charset="0"/>
                <a:ea typeface="Consolas" pitchFamily="34" charset="-122"/>
                <a:cs typeface="Consolas" pitchFamily="34" charset="-120"/>
              </a:rPr>
              <a:t>  }</a:t>
            </a:r>
            <a:endParaRPr lang="en-US" sz="950" dirty="0"/>
          </a:p>
          <a:p>
            <a:pPr marL="0" indent="0">
              <a:lnSpc>
                <a:spcPct val="103000"/>
              </a:lnSpc>
              <a:buNone/>
            </a:pPr>
            <a:r>
              <a:rPr lang="en-US" sz="950" dirty="0">
                <a:solidFill>
                  <a:srgbClr val="9FB7E0"/>
                </a:solidFill>
                <a:latin typeface="Consolas" pitchFamily="34" charset="0"/>
                <a:ea typeface="Consolas" pitchFamily="34" charset="-122"/>
                <a:cs typeface="Consolas" pitchFamily="34" charset="-120"/>
              </a:rPr>
              <a:t>}</a:t>
            </a:r>
            <a:endParaRPr lang="en-US" sz="950" dirty="0"/>
          </a:p>
        </p:txBody>
      </p:sp>
      <p:sp>
        <p:nvSpPr>
          <p:cNvPr id="32" name="Text 29"/>
          <p:cNvSpPr/>
          <p:nvPr/>
        </p:nvSpPr>
        <p:spPr>
          <a:xfrm>
            <a:off x="502920" y="4553712"/>
            <a:ext cx="8138160" cy="274320"/>
          </a:xfrm>
          <a:prstGeom prst="rect">
            <a:avLst/>
          </a:prstGeom>
          <a:noFill/>
          <a:ln/>
        </p:spPr>
        <p:txBody>
          <a:bodyPr wrap="square" lIns="0" tIns="0" rIns="0" bIns="0" rtlCol="0" anchor="ctr"/>
          <a:lstStyle/>
          <a:p>
            <a:pPr marL="0" indent="0" algn="ctr">
              <a:buNone/>
            </a:pPr>
            <a:r>
              <a:rPr lang="en-US" sz="1200" i="1" dirty="0">
                <a:solidFill>
                  <a:srgbClr val="2B2A26"/>
                </a:solidFill>
                <a:latin typeface="Georgia" pitchFamily="34" charset="0"/>
                <a:ea typeface="Georgia" pitchFamily="34" charset="-122"/>
                <a:cs typeface="Georgia" pitchFamily="34" charset="-120"/>
              </a:rPr>
              <a:t>Same server works in any MCP client — no per-app glue code.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EEE6"/>
        </a:solidFill>
        <a:effectLst/>
      </p:bgPr>
    </p:bg>
    <p:spTree>
      <p:nvGrpSpPr>
        <p:cNvPr id="1" name=""/>
        <p:cNvGrpSpPr/>
        <p:nvPr/>
      </p:nvGrpSpPr>
      <p:grpSpPr>
        <a:xfrm>
          <a:off x="0" y="0"/>
          <a:ext cx="0" cy="0"/>
          <a:chOff x="0" y="0"/>
          <a:chExt cx="0" cy="0"/>
        </a:xfrm>
      </p:grpSpPr>
      <p:pic>
        <p:nvPicPr>
          <p:cNvPr id="2" name="Image 0" descr="/agent/turn2/workspace/assets/spark-coral.png"/>
          <p:cNvPicPr>
            <a:picLocks noChangeAspect="1"/>
          </p:cNvPicPr>
          <p:nvPr/>
        </p:nvPicPr>
        <p:blipFill>
          <a:blip r:embed="rId3"/>
          <a:stretch>
            <a:fillRect/>
          </a:stretch>
        </p:blipFill>
        <p:spPr>
          <a:xfrm>
            <a:off x="502920" y="457200"/>
            <a:ext cx="237744" cy="237744"/>
          </a:xfrm>
          <a:prstGeom prst="rect">
            <a:avLst/>
          </a:prstGeom>
        </p:spPr>
      </p:pic>
      <p:sp>
        <p:nvSpPr>
          <p:cNvPr id="3" name="Text 0"/>
          <p:cNvSpPr/>
          <p:nvPr/>
        </p:nvSpPr>
        <p:spPr>
          <a:xfrm>
            <a:off x="841248" y="429768"/>
            <a:ext cx="7315200" cy="292608"/>
          </a:xfrm>
          <a:prstGeom prst="rect">
            <a:avLst/>
          </a:prstGeom>
          <a:noFill/>
          <a:ln/>
        </p:spPr>
        <p:txBody>
          <a:bodyPr wrap="square" lIns="0" tIns="0" rIns="0" bIns="0" rtlCol="0" anchor="ctr"/>
          <a:lstStyle/>
          <a:p>
            <a:pPr marL="0" indent="0" algn="l">
              <a:buNone/>
            </a:pPr>
            <a:r>
              <a:rPr lang="en-US" sz="1150" b="1" kern="0" spc="220" dirty="0">
                <a:solidFill>
                  <a:srgbClr val="B3522F"/>
                </a:solidFill>
                <a:latin typeface="Arial" pitchFamily="34" charset="0"/>
                <a:ea typeface="Arial" pitchFamily="34" charset="-122"/>
                <a:cs typeface="Arial" pitchFamily="34" charset="-120"/>
              </a:rPr>
              <a:t>IMPACT ON TEAMS</a:t>
            </a:r>
            <a:endParaRPr lang="en-US" sz="1150" dirty="0"/>
          </a:p>
        </p:txBody>
      </p:sp>
      <p:sp>
        <p:nvSpPr>
          <p:cNvPr id="4" name="Text 1"/>
          <p:cNvSpPr/>
          <p:nvPr/>
        </p:nvSpPr>
        <p:spPr>
          <a:xfrm>
            <a:off x="484632" y="749808"/>
            <a:ext cx="8183880" cy="777240"/>
          </a:xfrm>
          <a:prstGeom prst="rect">
            <a:avLst/>
          </a:prstGeom>
          <a:noFill/>
          <a:ln/>
        </p:spPr>
        <p:txBody>
          <a:bodyPr wrap="square" lIns="0" tIns="0" rIns="0" bIns="0" rtlCol="0" anchor="t"/>
          <a:lstStyle/>
          <a:p>
            <a:pPr marL="0" indent="0" algn="l">
              <a:buNone/>
            </a:pPr>
            <a:r>
              <a:rPr lang="en-US" sz="3100" b="1" dirty="0">
                <a:solidFill>
                  <a:srgbClr val="1A1A18"/>
                </a:solidFill>
                <a:latin typeface="Georgia" pitchFamily="34" charset="0"/>
                <a:ea typeface="Georgia" pitchFamily="34" charset="-122"/>
                <a:cs typeface="Georgia" pitchFamily="34" charset="-120"/>
              </a:rPr>
              <a:t>How agents reshape developer workflows</a:t>
            </a:r>
            <a:endParaRPr lang="en-US" sz="3100" dirty="0"/>
          </a:p>
        </p:txBody>
      </p:sp>
      <p:sp>
        <p:nvSpPr>
          <p:cNvPr id="5" name="Shape 2"/>
          <p:cNvSpPr/>
          <p:nvPr/>
        </p:nvSpPr>
        <p:spPr>
          <a:xfrm>
            <a:off x="502920" y="4754880"/>
            <a:ext cx="8138160" cy="0"/>
          </a:xfrm>
          <a:prstGeom prst="line">
            <a:avLst/>
          </a:prstGeom>
          <a:noFill/>
          <a:ln w="12700">
            <a:solidFill>
              <a:srgbClr val="DAD6C8"/>
            </a:solidFill>
            <a:prstDash val="solid"/>
          </a:ln>
        </p:spPr>
        <p:txBody>
          <a:bodyPr/>
          <a:lstStyle/>
          <a:p>
            <a:endParaRPr lang="en-IN"/>
          </a:p>
        </p:txBody>
      </p:sp>
      <p:sp>
        <p:nvSpPr>
          <p:cNvPr id="6" name="Text 3"/>
          <p:cNvSpPr/>
          <p:nvPr/>
        </p:nvSpPr>
        <p:spPr>
          <a:xfrm>
            <a:off x="502920" y="4791456"/>
            <a:ext cx="5486400" cy="274320"/>
          </a:xfrm>
          <a:prstGeom prst="rect">
            <a:avLst/>
          </a:prstGeom>
          <a:noFill/>
          <a:ln/>
        </p:spPr>
        <p:txBody>
          <a:bodyPr wrap="square" lIns="0" tIns="0" rIns="0" bIns="0" rtlCol="0" anchor="ctr"/>
          <a:lstStyle/>
          <a:p>
            <a:pPr marL="0" indent="0" algn="l">
              <a:buNone/>
            </a:pPr>
            <a:r>
              <a:rPr lang="en-US" sz="850" dirty="0">
                <a:solidFill>
                  <a:srgbClr val="6B6862"/>
                </a:solidFill>
                <a:latin typeface="Arial" pitchFamily="34" charset="0"/>
                <a:ea typeface="Arial" pitchFamily="34" charset="-122"/>
                <a:cs typeface="Arial" pitchFamily="34" charset="-120"/>
              </a:rPr>
              <a:t>Claude Training  ·  From Prompts to Agents</a:t>
            </a:r>
            <a:endParaRPr lang="en-US" sz="850" dirty="0"/>
          </a:p>
        </p:txBody>
      </p:sp>
      <p:sp>
        <p:nvSpPr>
          <p:cNvPr id="7" name="Text 4"/>
          <p:cNvSpPr/>
          <p:nvPr/>
        </p:nvSpPr>
        <p:spPr>
          <a:xfrm>
            <a:off x="8183880" y="4791456"/>
            <a:ext cx="457200" cy="274320"/>
          </a:xfrm>
          <a:prstGeom prst="rect">
            <a:avLst/>
          </a:prstGeom>
          <a:noFill/>
          <a:ln/>
        </p:spPr>
        <p:txBody>
          <a:bodyPr wrap="square" lIns="0" tIns="0" rIns="0" bIns="0" rtlCol="0" anchor="ctr"/>
          <a:lstStyle/>
          <a:p>
            <a:pPr marL="0" indent="0" algn="r">
              <a:buNone/>
            </a:pPr>
            <a:r>
              <a:rPr lang="en-US" sz="850" b="1" dirty="0">
                <a:solidFill>
                  <a:srgbClr val="6B6862"/>
                </a:solidFill>
                <a:latin typeface="Arial" pitchFamily="34" charset="0"/>
                <a:ea typeface="Arial" pitchFamily="34" charset="-122"/>
                <a:cs typeface="Arial" pitchFamily="34" charset="-120"/>
              </a:rPr>
              <a:t>14</a:t>
            </a:r>
            <a:endParaRPr lang="en-US" sz="850" dirty="0"/>
          </a:p>
        </p:txBody>
      </p:sp>
      <p:sp>
        <p:nvSpPr>
          <p:cNvPr id="8" name="Text 5"/>
          <p:cNvSpPr/>
          <p:nvPr/>
        </p:nvSpPr>
        <p:spPr>
          <a:xfrm>
            <a:off x="502920" y="1591056"/>
            <a:ext cx="8138160" cy="603504"/>
          </a:xfrm>
          <a:prstGeom prst="rect">
            <a:avLst/>
          </a:prstGeom>
          <a:noFill/>
          <a:ln/>
        </p:spPr>
        <p:txBody>
          <a:bodyPr wrap="square" lIns="0" tIns="0" rIns="0" bIns="0" rtlCol="0" anchor="ctr"/>
          <a:lstStyle/>
          <a:p>
            <a:pPr marL="0" indent="0">
              <a:lnSpc>
                <a:spcPct val="122000"/>
              </a:lnSpc>
              <a:buNone/>
            </a:pPr>
            <a:r>
              <a:rPr lang="en-US" sz="1250" dirty="0">
                <a:solidFill>
                  <a:srgbClr val="2B2A26"/>
                </a:solidFill>
                <a:latin typeface="Arial" pitchFamily="34" charset="0"/>
                <a:ea typeface="Arial" pitchFamily="34" charset="-122"/>
                <a:cs typeface="Arial" pitchFamily="34" charset="-120"/>
              </a:rPr>
              <a:t>Agents now run first drafts of the software lifecycle — leaving developers to steer, review, and think bigger. As authoring speeds up, work shifts from typing code to directing and verifying it.</a:t>
            </a:r>
            <a:endParaRPr lang="en-US" sz="1250" dirty="0"/>
          </a:p>
        </p:txBody>
      </p:sp>
      <p:sp>
        <p:nvSpPr>
          <p:cNvPr id="9" name="Shape 6"/>
          <p:cNvSpPr/>
          <p:nvPr/>
        </p:nvSpPr>
        <p:spPr>
          <a:xfrm>
            <a:off x="502920" y="2286000"/>
            <a:ext cx="3913632" cy="1060704"/>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0" name="Text 7"/>
          <p:cNvSpPr/>
          <p:nvPr/>
        </p:nvSpPr>
        <p:spPr>
          <a:xfrm>
            <a:off x="740664" y="2432304"/>
            <a:ext cx="3456432" cy="329184"/>
          </a:xfrm>
          <a:prstGeom prst="rect">
            <a:avLst/>
          </a:prstGeom>
          <a:noFill/>
          <a:ln/>
        </p:spPr>
        <p:txBody>
          <a:bodyPr wrap="square" lIns="0" tIns="0" rIns="0" bIns="0" rtlCol="0" anchor="ctr"/>
          <a:lstStyle/>
          <a:p>
            <a:pPr marL="0" indent="0">
              <a:buNone/>
            </a:pPr>
            <a:r>
              <a:rPr lang="en-US" sz="1500" b="1" dirty="0">
                <a:solidFill>
                  <a:srgbClr val="1A1A18"/>
                </a:solidFill>
                <a:latin typeface="Georgia" pitchFamily="34" charset="0"/>
                <a:ea typeface="Georgia" pitchFamily="34" charset="-122"/>
                <a:cs typeface="Georgia" pitchFamily="34" charset="-120"/>
              </a:rPr>
              <a:t>From writing to directing</a:t>
            </a:r>
            <a:endParaRPr lang="en-US" sz="1500" dirty="0"/>
          </a:p>
        </p:txBody>
      </p:sp>
      <p:sp>
        <p:nvSpPr>
          <p:cNvPr id="11" name="Text 8"/>
          <p:cNvSpPr/>
          <p:nvPr/>
        </p:nvSpPr>
        <p:spPr>
          <a:xfrm>
            <a:off x="740664" y="2798064"/>
            <a:ext cx="3456432" cy="457200"/>
          </a:xfrm>
          <a:prstGeom prst="rect">
            <a:avLst/>
          </a:prstGeom>
          <a:noFill/>
          <a:ln/>
        </p:spPr>
        <p:txBody>
          <a:bodyPr wrap="square" lIns="0" tIns="0" rIns="0" bIns="0" rtlCol="0" anchor="ctr"/>
          <a:lstStyle/>
          <a:p>
            <a:pPr marL="0" indent="0">
              <a:lnSpc>
                <a:spcPct val="112000"/>
              </a:lnSpc>
              <a:buNone/>
            </a:pPr>
            <a:r>
              <a:rPr lang="en-US" sz="1100" dirty="0">
                <a:solidFill>
                  <a:srgbClr val="6B6862"/>
                </a:solidFill>
                <a:latin typeface="Arial" pitchFamily="34" charset="0"/>
                <a:ea typeface="Arial" pitchFamily="34" charset="-122"/>
                <a:cs typeface="Arial" pitchFamily="34" charset="-120"/>
              </a:rPr>
              <a:t>Engineers scope work and delegate execution to agents.</a:t>
            </a:r>
            <a:endParaRPr lang="en-US" sz="1100" dirty="0"/>
          </a:p>
        </p:txBody>
      </p:sp>
      <p:sp>
        <p:nvSpPr>
          <p:cNvPr id="12" name="Shape 9"/>
          <p:cNvSpPr/>
          <p:nvPr/>
        </p:nvSpPr>
        <p:spPr>
          <a:xfrm>
            <a:off x="4727448" y="2286000"/>
            <a:ext cx="3913632" cy="1060704"/>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3" name="Text 10"/>
          <p:cNvSpPr/>
          <p:nvPr/>
        </p:nvSpPr>
        <p:spPr>
          <a:xfrm>
            <a:off x="4965192" y="2432304"/>
            <a:ext cx="3456432" cy="329184"/>
          </a:xfrm>
          <a:prstGeom prst="rect">
            <a:avLst/>
          </a:prstGeom>
          <a:noFill/>
          <a:ln/>
        </p:spPr>
        <p:txBody>
          <a:bodyPr wrap="square" lIns="0" tIns="0" rIns="0" bIns="0" rtlCol="0" anchor="ctr"/>
          <a:lstStyle/>
          <a:p>
            <a:pPr marL="0" indent="0">
              <a:buNone/>
            </a:pPr>
            <a:r>
              <a:rPr lang="en-US" sz="1500" b="1" dirty="0">
                <a:solidFill>
                  <a:srgbClr val="1A1A18"/>
                </a:solidFill>
                <a:latin typeface="Georgia" pitchFamily="34" charset="0"/>
                <a:ea typeface="Georgia" pitchFamily="34" charset="-122"/>
                <a:cs typeface="Georgia" pitchFamily="34" charset="-120"/>
              </a:rPr>
              <a:t>Parallel workstreams</a:t>
            </a:r>
            <a:endParaRPr lang="en-US" sz="1500" dirty="0"/>
          </a:p>
        </p:txBody>
      </p:sp>
      <p:sp>
        <p:nvSpPr>
          <p:cNvPr id="14" name="Text 11"/>
          <p:cNvSpPr/>
          <p:nvPr/>
        </p:nvSpPr>
        <p:spPr>
          <a:xfrm>
            <a:off x="4965192" y="2798064"/>
            <a:ext cx="3456432" cy="457200"/>
          </a:xfrm>
          <a:prstGeom prst="rect">
            <a:avLst/>
          </a:prstGeom>
          <a:noFill/>
          <a:ln/>
        </p:spPr>
        <p:txBody>
          <a:bodyPr wrap="square" lIns="0" tIns="0" rIns="0" bIns="0" rtlCol="0" anchor="ctr"/>
          <a:lstStyle/>
          <a:p>
            <a:pPr marL="0" indent="0">
              <a:lnSpc>
                <a:spcPct val="112000"/>
              </a:lnSpc>
              <a:buNone/>
            </a:pPr>
            <a:r>
              <a:rPr lang="en-US" sz="1100" dirty="0">
                <a:solidFill>
                  <a:srgbClr val="6B6862"/>
                </a:solidFill>
                <a:latin typeface="Arial" pitchFamily="34" charset="0"/>
                <a:ea typeface="Arial" pitchFamily="34" charset="-122"/>
                <a:cs typeface="Arial" pitchFamily="34" charset="-120"/>
              </a:rPr>
              <a:t>Multiple agents draft, test, and iterate at once.</a:t>
            </a:r>
            <a:endParaRPr lang="en-US" sz="1100" dirty="0"/>
          </a:p>
        </p:txBody>
      </p:sp>
      <p:sp>
        <p:nvSpPr>
          <p:cNvPr id="15" name="Shape 12"/>
          <p:cNvSpPr/>
          <p:nvPr/>
        </p:nvSpPr>
        <p:spPr>
          <a:xfrm>
            <a:off x="502920" y="3547872"/>
            <a:ext cx="3913632" cy="1060704"/>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6" name="Text 13"/>
          <p:cNvSpPr/>
          <p:nvPr/>
        </p:nvSpPr>
        <p:spPr>
          <a:xfrm>
            <a:off x="740664" y="3694176"/>
            <a:ext cx="3456432" cy="329184"/>
          </a:xfrm>
          <a:prstGeom prst="rect">
            <a:avLst/>
          </a:prstGeom>
          <a:noFill/>
          <a:ln/>
        </p:spPr>
        <p:txBody>
          <a:bodyPr wrap="square" lIns="0" tIns="0" rIns="0" bIns="0" rtlCol="0" anchor="ctr"/>
          <a:lstStyle/>
          <a:p>
            <a:pPr marL="0" indent="0">
              <a:buNone/>
            </a:pPr>
            <a:r>
              <a:rPr lang="en-US" sz="1500" b="1" dirty="0">
                <a:solidFill>
                  <a:srgbClr val="1A1A18"/>
                </a:solidFill>
                <a:latin typeface="Georgia" pitchFamily="34" charset="0"/>
                <a:ea typeface="Georgia" pitchFamily="34" charset="-122"/>
                <a:cs typeface="Georgia" pitchFamily="34" charset="-120"/>
              </a:rPr>
              <a:t>Spec- &amp; test-driven</a:t>
            </a:r>
            <a:endParaRPr lang="en-US" sz="1500" dirty="0"/>
          </a:p>
        </p:txBody>
      </p:sp>
      <p:sp>
        <p:nvSpPr>
          <p:cNvPr id="17" name="Text 14"/>
          <p:cNvSpPr/>
          <p:nvPr/>
        </p:nvSpPr>
        <p:spPr>
          <a:xfrm>
            <a:off x="740664" y="4059936"/>
            <a:ext cx="3456432" cy="457200"/>
          </a:xfrm>
          <a:prstGeom prst="rect">
            <a:avLst/>
          </a:prstGeom>
          <a:noFill/>
          <a:ln/>
        </p:spPr>
        <p:txBody>
          <a:bodyPr wrap="square" lIns="0" tIns="0" rIns="0" bIns="0" rtlCol="0" anchor="ctr"/>
          <a:lstStyle/>
          <a:p>
            <a:pPr marL="0" indent="0">
              <a:lnSpc>
                <a:spcPct val="112000"/>
              </a:lnSpc>
              <a:buNone/>
            </a:pPr>
            <a:r>
              <a:rPr lang="en-US" sz="1100" dirty="0">
                <a:solidFill>
                  <a:srgbClr val="6B6862"/>
                </a:solidFill>
                <a:latin typeface="Arial" pitchFamily="34" charset="0"/>
                <a:ea typeface="Arial" pitchFamily="34" charset="-122"/>
                <a:cs typeface="Arial" pitchFamily="34" charset="-120"/>
              </a:rPr>
              <a:t>Clear specs and tests become the brief agents work against.</a:t>
            </a:r>
            <a:endParaRPr lang="en-US" sz="1100" dirty="0"/>
          </a:p>
        </p:txBody>
      </p:sp>
      <p:sp>
        <p:nvSpPr>
          <p:cNvPr id="18" name="Shape 15"/>
          <p:cNvSpPr/>
          <p:nvPr/>
        </p:nvSpPr>
        <p:spPr>
          <a:xfrm>
            <a:off x="4727448" y="3547872"/>
            <a:ext cx="3913632" cy="1060704"/>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9" name="Text 16"/>
          <p:cNvSpPr/>
          <p:nvPr/>
        </p:nvSpPr>
        <p:spPr>
          <a:xfrm>
            <a:off x="4965192" y="3694176"/>
            <a:ext cx="3456432" cy="329184"/>
          </a:xfrm>
          <a:prstGeom prst="rect">
            <a:avLst/>
          </a:prstGeom>
          <a:noFill/>
          <a:ln/>
        </p:spPr>
        <p:txBody>
          <a:bodyPr wrap="square" lIns="0" tIns="0" rIns="0" bIns="0" rtlCol="0" anchor="ctr"/>
          <a:lstStyle/>
          <a:p>
            <a:pPr marL="0" indent="0">
              <a:buNone/>
            </a:pPr>
            <a:r>
              <a:rPr lang="en-US" sz="1500" b="1" dirty="0">
                <a:solidFill>
                  <a:srgbClr val="1A1A18"/>
                </a:solidFill>
                <a:latin typeface="Georgia" pitchFamily="34" charset="0"/>
                <a:ea typeface="Georgia" pitchFamily="34" charset="-122"/>
                <a:cs typeface="Georgia" pitchFamily="34" charset="-120"/>
              </a:rPr>
              <a:t>Agents in the pipeline</a:t>
            </a:r>
            <a:endParaRPr lang="en-US" sz="1500" dirty="0"/>
          </a:p>
        </p:txBody>
      </p:sp>
      <p:sp>
        <p:nvSpPr>
          <p:cNvPr id="20" name="Text 17"/>
          <p:cNvSpPr/>
          <p:nvPr/>
        </p:nvSpPr>
        <p:spPr>
          <a:xfrm>
            <a:off x="4965192" y="4059936"/>
            <a:ext cx="3456432" cy="457200"/>
          </a:xfrm>
          <a:prstGeom prst="rect">
            <a:avLst/>
          </a:prstGeom>
          <a:noFill/>
          <a:ln/>
        </p:spPr>
        <p:txBody>
          <a:bodyPr wrap="square" lIns="0" tIns="0" rIns="0" bIns="0" rtlCol="0" anchor="ctr"/>
          <a:lstStyle/>
          <a:p>
            <a:pPr marL="0" indent="0">
              <a:lnSpc>
                <a:spcPct val="112000"/>
              </a:lnSpc>
              <a:buNone/>
            </a:pPr>
            <a:r>
              <a:rPr lang="en-US" sz="1100" dirty="0">
                <a:solidFill>
                  <a:srgbClr val="6B6862"/>
                </a:solidFill>
                <a:latin typeface="Arial" pitchFamily="34" charset="0"/>
                <a:ea typeface="Arial" pitchFamily="34" charset="-122"/>
                <a:cs typeface="Arial" pitchFamily="34" charset="-120"/>
              </a:rPr>
              <a:t>They draft PRs, run checks, and triage failures in CI.</a:t>
            </a:r>
            <a:endParaRPr lang="en-US" sz="1100" dirty="0"/>
          </a:p>
        </p:txBody>
      </p:sp>
      <p:sp>
        <p:nvSpPr>
          <p:cNvPr id="21" name="Text 18"/>
          <p:cNvSpPr/>
          <p:nvPr/>
        </p:nvSpPr>
        <p:spPr>
          <a:xfrm>
            <a:off x="502920" y="4517136"/>
            <a:ext cx="8138160" cy="292608"/>
          </a:xfrm>
          <a:prstGeom prst="rect">
            <a:avLst/>
          </a:prstGeom>
          <a:noFill/>
          <a:ln/>
        </p:spPr>
        <p:txBody>
          <a:bodyPr wrap="square" lIns="0" tIns="0" rIns="0" bIns="0" rtlCol="0" anchor="ctr"/>
          <a:lstStyle/>
          <a:p>
            <a:pPr marL="0" indent="0" algn="ctr">
              <a:buNone/>
            </a:pPr>
            <a:r>
              <a:rPr lang="en-US" sz="1150" i="1" dirty="0">
                <a:solidFill>
                  <a:srgbClr val="2B2A26"/>
                </a:solidFill>
                <a:latin typeface="Georgia" pitchFamily="34" charset="0"/>
                <a:ea typeface="Georgia" pitchFamily="34" charset="-122"/>
                <a:cs typeface="Georgia" pitchFamily="34" charset="-120"/>
              </a:rPr>
              <a:t>Analysts expect roughly a third of enterprise software to include agentic capabilities by 2028.</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EEE6"/>
        </a:solidFill>
        <a:effectLst/>
      </p:bgPr>
    </p:bg>
    <p:spTree>
      <p:nvGrpSpPr>
        <p:cNvPr id="1" name=""/>
        <p:cNvGrpSpPr/>
        <p:nvPr/>
      </p:nvGrpSpPr>
      <p:grpSpPr>
        <a:xfrm>
          <a:off x="0" y="0"/>
          <a:ext cx="0" cy="0"/>
          <a:chOff x="0" y="0"/>
          <a:chExt cx="0" cy="0"/>
        </a:xfrm>
      </p:grpSpPr>
      <p:pic>
        <p:nvPicPr>
          <p:cNvPr id="2" name="Image 0" descr="/agent/turn2/workspace/assets/spark-coral.png"/>
          <p:cNvPicPr>
            <a:picLocks noChangeAspect="1"/>
          </p:cNvPicPr>
          <p:nvPr/>
        </p:nvPicPr>
        <p:blipFill>
          <a:blip r:embed="rId3"/>
          <a:stretch>
            <a:fillRect/>
          </a:stretch>
        </p:blipFill>
        <p:spPr>
          <a:xfrm>
            <a:off x="502920" y="457200"/>
            <a:ext cx="237744" cy="237744"/>
          </a:xfrm>
          <a:prstGeom prst="rect">
            <a:avLst/>
          </a:prstGeom>
        </p:spPr>
      </p:pic>
      <p:sp>
        <p:nvSpPr>
          <p:cNvPr id="3" name="Text 0"/>
          <p:cNvSpPr/>
          <p:nvPr/>
        </p:nvSpPr>
        <p:spPr>
          <a:xfrm>
            <a:off x="841248" y="429768"/>
            <a:ext cx="7315200" cy="292608"/>
          </a:xfrm>
          <a:prstGeom prst="rect">
            <a:avLst/>
          </a:prstGeom>
          <a:noFill/>
          <a:ln/>
        </p:spPr>
        <p:txBody>
          <a:bodyPr wrap="square" lIns="0" tIns="0" rIns="0" bIns="0" rtlCol="0" anchor="ctr"/>
          <a:lstStyle/>
          <a:p>
            <a:pPr marL="0" indent="0" algn="l">
              <a:buNone/>
            </a:pPr>
            <a:r>
              <a:rPr lang="en-US" sz="1150" b="1" kern="0" spc="220" dirty="0">
                <a:solidFill>
                  <a:srgbClr val="B3522F"/>
                </a:solidFill>
                <a:latin typeface="Arial" pitchFamily="34" charset="0"/>
                <a:ea typeface="Arial" pitchFamily="34" charset="-122"/>
                <a:cs typeface="Arial" pitchFamily="34" charset="-120"/>
              </a:rPr>
              <a:t>REVIEW IN THE AGENTIC ERA</a:t>
            </a:r>
            <a:endParaRPr lang="en-US" sz="1150" dirty="0"/>
          </a:p>
        </p:txBody>
      </p:sp>
      <p:sp>
        <p:nvSpPr>
          <p:cNvPr id="4" name="Text 1"/>
          <p:cNvSpPr/>
          <p:nvPr/>
        </p:nvSpPr>
        <p:spPr>
          <a:xfrm>
            <a:off x="484632" y="749808"/>
            <a:ext cx="8183880" cy="777240"/>
          </a:xfrm>
          <a:prstGeom prst="rect">
            <a:avLst/>
          </a:prstGeom>
          <a:noFill/>
          <a:ln/>
        </p:spPr>
        <p:txBody>
          <a:bodyPr wrap="square" lIns="0" tIns="0" rIns="0" bIns="0" rtlCol="0" anchor="t"/>
          <a:lstStyle/>
          <a:p>
            <a:pPr marL="0" indent="0" algn="l">
              <a:buNone/>
            </a:pPr>
            <a:r>
              <a:rPr lang="en-US" sz="3100" b="1" dirty="0">
                <a:solidFill>
                  <a:srgbClr val="1A1A18"/>
                </a:solidFill>
                <a:latin typeface="Georgia" pitchFamily="34" charset="0"/>
                <a:ea typeface="Georgia" pitchFamily="34" charset="-122"/>
                <a:cs typeface="Georgia" pitchFamily="34" charset="-120"/>
              </a:rPr>
              <a:t>Rethinking code review</a:t>
            </a:r>
            <a:endParaRPr lang="en-US" sz="3100" dirty="0"/>
          </a:p>
        </p:txBody>
      </p:sp>
      <p:sp>
        <p:nvSpPr>
          <p:cNvPr id="5" name="Shape 2"/>
          <p:cNvSpPr/>
          <p:nvPr/>
        </p:nvSpPr>
        <p:spPr>
          <a:xfrm>
            <a:off x="502920" y="4754880"/>
            <a:ext cx="8138160" cy="0"/>
          </a:xfrm>
          <a:prstGeom prst="line">
            <a:avLst/>
          </a:prstGeom>
          <a:noFill/>
          <a:ln w="12700">
            <a:solidFill>
              <a:srgbClr val="DAD6C8"/>
            </a:solidFill>
            <a:prstDash val="solid"/>
          </a:ln>
        </p:spPr>
        <p:txBody>
          <a:bodyPr/>
          <a:lstStyle/>
          <a:p>
            <a:endParaRPr lang="en-IN"/>
          </a:p>
        </p:txBody>
      </p:sp>
      <p:sp>
        <p:nvSpPr>
          <p:cNvPr id="6" name="Text 3"/>
          <p:cNvSpPr/>
          <p:nvPr/>
        </p:nvSpPr>
        <p:spPr>
          <a:xfrm>
            <a:off x="502920" y="4791456"/>
            <a:ext cx="5486400" cy="274320"/>
          </a:xfrm>
          <a:prstGeom prst="rect">
            <a:avLst/>
          </a:prstGeom>
          <a:noFill/>
          <a:ln/>
        </p:spPr>
        <p:txBody>
          <a:bodyPr wrap="square" lIns="0" tIns="0" rIns="0" bIns="0" rtlCol="0" anchor="ctr"/>
          <a:lstStyle/>
          <a:p>
            <a:pPr marL="0" indent="0" algn="l">
              <a:buNone/>
            </a:pPr>
            <a:r>
              <a:rPr lang="en-US" sz="850" dirty="0">
                <a:solidFill>
                  <a:srgbClr val="6B6862"/>
                </a:solidFill>
                <a:latin typeface="Arial" pitchFamily="34" charset="0"/>
                <a:ea typeface="Arial" pitchFamily="34" charset="-122"/>
                <a:cs typeface="Arial" pitchFamily="34" charset="-120"/>
              </a:rPr>
              <a:t>Claude Training  ·  From Prompts to Agents</a:t>
            </a:r>
            <a:endParaRPr lang="en-US" sz="850" dirty="0"/>
          </a:p>
        </p:txBody>
      </p:sp>
      <p:sp>
        <p:nvSpPr>
          <p:cNvPr id="7" name="Text 4"/>
          <p:cNvSpPr/>
          <p:nvPr/>
        </p:nvSpPr>
        <p:spPr>
          <a:xfrm>
            <a:off x="8183880" y="4791456"/>
            <a:ext cx="457200" cy="274320"/>
          </a:xfrm>
          <a:prstGeom prst="rect">
            <a:avLst/>
          </a:prstGeom>
          <a:noFill/>
          <a:ln/>
        </p:spPr>
        <p:txBody>
          <a:bodyPr wrap="square" lIns="0" tIns="0" rIns="0" bIns="0" rtlCol="0" anchor="ctr"/>
          <a:lstStyle/>
          <a:p>
            <a:pPr marL="0" indent="0" algn="r">
              <a:buNone/>
            </a:pPr>
            <a:r>
              <a:rPr lang="en-US" sz="850" b="1" dirty="0">
                <a:solidFill>
                  <a:srgbClr val="6B6862"/>
                </a:solidFill>
                <a:latin typeface="Arial" pitchFamily="34" charset="0"/>
                <a:ea typeface="Arial" pitchFamily="34" charset="-122"/>
                <a:cs typeface="Arial" pitchFamily="34" charset="-120"/>
              </a:rPr>
              <a:t>15</a:t>
            </a:r>
            <a:endParaRPr lang="en-US" sz="850" dirty="0"/>
          </a:p>
        </p:txBody>
      </p:sp>
      <p:sp>
        <p:nvSpPr>
          <p:cNvPr id="8" name="Text 5"/>
          <p:cNvSpPr/>
          <p:nvPr/>
        </p:nvSpPr>
        <p:spPr>
          <a:xfrm>
            <a:off x="502920" y="1591056"/>
            <a:ext cx="8138160" cy="548640"/>
          </a:xfrm>
          <a:prstGeom prst="rect">
            <a:avLst/>
          </a:prstGeom>
          <a:noFill/>
          <a:ln/>
        </p:spPr>
        <p:txBody>
          <a:bodyPr wrap="square" lIns="0" tIns="0" rIns="0" bIns="0" rtlCol="0" anchor="ctr"/>
          <a:lstStyle/>
          <a:p>
            <a:pPr marL="0" indent="0">
              <a:lnSpc>
                <a:spcPct val="120000"/>
              </a:lnSpc>
              <a:buNone/>
            </a:pPr>
            <a:r>
              <a:rPr lang="en-US" sz="1250" b="1" dirty="0">
                <a:solidFill>
                  <a:srgbClr val="1A1A18"/>
                </a:solidFill>
                <a:latin typeface="Arial" pitchFamily="34" charset="0"/>
                <a:ea typeface="Arial" pitchFamily="34" charset="-122"/>
                <a:cs typeface="Arial" pitchFamily="34" charset="-120"/>
              </a:rPr>
              <a:t>The bottleneck moves from writing code to reading it. </a:t>
            </a:r>
            <a:r>
              <a:rPr lang="en-US" sz="1250" dirty="0">
                <a:solidFill>
                  <a:srgbClr val="2B2A26"/>
                </a:solidFill>
                <a:latin typeface="Arial" pitchFamily="34" charset="0"/>
                <a:ea typeface="Arial" pitchFamily="34" charset="-122"/>
                <a:cs typeface="Arial" pitchFamily="34" charset="-120"/>
              </a:rPr>
              <a:t>Agents can open PRs faster than human queues absorb them — so review has to evolve.</a:t>
            </a:r>
            <a:endParaRPr lang="en-US" sz="1250" dirty="0"/>
          </a:p>
        </p:txBody>
      </p:sp>
      <p:sp>
        <p:nvSpPr>
          <p:cNvPr id="9" name="Shape 6"/>
          <p:cNvSpPr/>
          <p:nvPr/>
        </p:nvSpPr>
        <p:spPr>
          <a:xfrm>
            <a:off x="502920" y="2240280"/>
            <a:ext cx="3913632" cy="786384"/>
          </a:xfrm>
          <a:prstGeom prst="rect">
            <a:avLst/>
          </a:prstGeom>
          <a:solidFill>
            <a:srgbClr val="FBFAF7"/>
          </a:solidFill>
          <a:ln w="12700">
            <a:solidFill>
              <a:srgbClr val="DAD6C8"/>
            </a:solidFill>
            <a:prstDash val="solid"/>
          </a:ln>
        </p:spPr>
        <p:txBody>
          <a:bodyPr/>
          <a:lstStyle/>
          <a:p>
            <a:endParaRPr lang="en-IN"/>
          </a:p>
        </p:txBody>
      </p:sp>
      <p:sp>
        <p:nvSpPr>
          <p:cNvPr id="10" name="Text 7"/>
          <p:cNvSpPr/>
          <p:nvPr/>
        </p:nvSpPr>
        <p:spPr>
          <a:xfrm>
            <a:off x="722376" y="2331720"/>
            <a:ext cx="3493008" cy="274320"/>
          </a:xfrm>
          <a:prstGeom prst="rect">
            <a:avLst/>
          </a:prstGeom>
          <a:noFill/>
          <a:ln/>
        </p:spPr>
        <p:txBody>
          <a:bodyPr wrap="square" lIns="0" tIns="0" rIns="0" bIns="0" rtlCol="0" anchor="ctr"/>
          <a:lstStyle/>
          <a:p>
            <a:pPr marL="0" indent="0">
              <a:buNone/>
            </a:pPr>
            <a:r>
              <a:rPr lang="en-US" sz="1250" b="1" dirty="0">
                <a:solidFill>
                  <a:srgbClr val="B3522F"/>
                </a:solidFill>
                <a:latin typeface="Arial" pitchFamily="34" charset="0"/>
                <a:ea typeface="Arial" pitchFamily="34" charset="-122"/>
                <a:cs typeface="Arial" pitchFamily="34" charset="-120"/>
              </a:rPr>
              <a:t>Smaller, scoped diffs</a:t>
            </a:r>
            <a:endParaRPr lang="en-US" sz="1250" dirty="0"/>
          </a:p>
        </p:txBody>
      </p:sp>
      <p:sp>
        <p:nvSpPr>
          <p:cNvPr id="11" name="Text 8"/>
          <p:cNvSpPr/>
          <p:nvPr/>
        </p:nvSpPr>
        <p:spPr>
          <a:xfrm>
            <a:off x="722376" y="2606040"/>
            <a:ext cx="3493008" cy="384048"/>
          </a:xfrm>
          <a:prstGeom prst="rect">
            <a:avLst/>
          </a:prstGeom>
          <a:noFill/>
          <a:ln/>
        </p:spPr>
        <p:txBody>
          <a:bodyPr wrap="square" lIns="0" tIns="0" rIns="0" bIns="0" rtlCol="0" anchor="ctr"/>
          <a:lstStyle/>
          <a:p>
            <a:pPr marL="0" indent="0">
              <a:lnSpc>
                <a:spcPct val="108000"/>
              </a:lnSpc>
              <a:buNone/>
            </a:pPr>
            <a:r>
              <a:rPr lang="en-US" sz="1030" dirty="0">
                <a:solidFill>
                  <a:srgbClr val="6B6862"/>
                </a:solidFill>
                <a:latin typeface="Arial" pitchFamily="34" charset="0"/>
                <a:ea typeface="Arial" pitchFamily="34" charset="-122"/>
                <a:cs typeface="Arial" pitchFamily="34" charset="-120"/>
              </a:rPr>
              <a:t>Keep agent changes reviewable — narrow, single-purpose PRs.</a:t>
            </a:r>
            <a:endParaRPr lang="en-US" sz="1030" dirty="0"/>
          </a:p>
        </p:txBody>
      </p:sp>
      <p:sp>
        <p:nvSpPr>
          <p:cNvPr id="12" name="Shape 9"/>
          <p:cNvSpPr/>
          <p:nvPr/>
        </p:nvSpPr>
        <p:spPr>
          <a:xfrm>
            <a:off x="4727448" y="2240280"/>
            <a:ext cx="3913632" cy="786384"/>
          </a:xfrm>
          <a:prstGeom prst="rect">
            <a:avLst/>
          </a:prstGeom>
          <a:solidFill>
            <a:srgbClr val="FBFAF7"/>
          </a:solidFill>
          <a:ln w="12700">
            <a:solidFill>
              <a:srgbClr val="DAD6C8"/>
            </a:solidFill>
            <a:prstDash val="solid"/>
          </a:ln>
        </p:spPr>
        <p:txBody>
          <a:bodyPr/>
          <a:lstStyle/>
          <a:p>
            <a:endParaRPr lang="en-IN"/>
          </a:p>
        </p:txBody>
      </p:sp>
      <p:sp>
        <p:nvSpPr>
          <p:cNvPr id="13" name="Text 10"/>
          <p:cNvSpPr/>
          <p:nvPr/>
        </p:nvSpPr>
        <p:spPr>
          <a:xfrm>
            <a:off x="4946904" y="2331720"/>
            <a:ext cx="3493008" cy="274320"/>
          </a:xfrm>
          <a:prstGeom prst="rect">
            <a:avLst/>
          </a:prstGeom>
          <a:noFill/>
          <a:ln/>
        </p:spPr>
        <p:txBody>
          <a:bodyPr wrap="square" lIns="0" tIns="0" rIns="0" bIns="0" rtlCol="0" anchor="ctr"/>
          <a:lstStyle/>
          <a:p>
            <a:pPr marL="0" indent="0">
              <a:buNone/>
            </a:pPr>
            <a:r>
              <a:rPr lang="en-US" sz="1250" b="1" dirty="0">
                <a:solidFill>
                  <a:srgbClr val="B3522F"/>
                </a:solidFill>
                <a:latin typeface="Arial" pitchFamily="34" charset="0"/>
                <a:ea typeface="Arial" pitchFamily="34" charset="-122"/>
                <a:cs typeface="Arial" pitchFamily="34" charset="-120"/>
              </a:rPr>
              <a:t>Agentic code review</a:t>
            </a:r>
            <a:endParaRPr lang="en-US" sz="1250" dirty="0"/>
          </a:p>
        </p:txBody>
      </p:sp>
      <p:sp>
        <p:nvSpPr>
          <p:cNvPr id="14" name="Text 11"/>
          <p:cNvSpPr/>
          <p:nvPr/>
        </p:nvSpPr>
        <p:spPr>
          <a:xfrm>
            <a:off x="4946904" y="2606040"/>
            <a:ext cx="3493008" cy="384048"/>
          </a:xfrm>
          <a:prstGeom prst="rect">
            <a:avLst/>
          </a:prstGeom>
          <a:noFill/>
          <a:ln/>
        </p:spPr>
        <p:txBody>
          <a:bodyPr wrap="square" lIns="0" tIns="0" rIns="0" bIns="0" rtlCol="0" anchor="ctr"/>
          <a:lstStyle/>
          <a:p>
            <a:pPr marL="0" indent="0">
              <a:lnSpc>
                <a:spcPct val="108000"/>
              </a:lnSpc>
              <a:buNone/>
            </a:pPr>
            <a:r>
              <a:rPr lang="en-US" sz="1030" dirty="0">
                <a:solidFill>
                  <a:srgbClr val="6B6862"/>
                </a:solidFill>
                <a:latin typeface="Arial" pitchFamily="34" charset="0"/>
                <a:ea typeface="Arial" pitchFamily="34" charset="-122"/>
                <a:cs typeface="Arial" pitchFamily="34" charset="-120"/>
              </a:rPr>
              <a:t>An AI reviewer uses repo context to assess intent and cross-file impact.</a:t>
            </a:r>
            <a:endParaRPr lang="en-US" sz="1030" dirty="0"/>
          </a:p>
        </p:txBody>
      </p:sp>
      <p:sp>
        <p:nvSpPr>
          <p:cNvPr id="15" name="Shape 12"/>
          <p:cNvSpPr/>
          <p:nvPr/>
        </p:nvSpPr>
        <p:spPr>
          <a:xfrm>
            <a:off x="502920" y="3172968"/>
            <a:ext cx="3913632" cy="786384"/>
          </a:xfrm>
          <a:prstGeom prst="rect">
            <a:avLst/>
          </a:prstGeom>
          <a:solidFill>
            <a:srgbClr val="FBFAF7"/>
          </a:solidFill>
          <a:ln w="12700">
            <a:solidFill>
              <a:srgbClr val="DAD6C8"/>
            </a:solidFill>
            <a:prstDash val="solid"/>
          </a:ln>
        </p:spPr>
        <p:txBody>
          <a:bodyPr/>
          <a:lstStyle/>
          <a:p>
            <a:endParaRPr lang="en-IN"/>
          </a:p>
        </p:txBody>
      </p:sp>
      <p:sp>
        <p:nvSpPr>
          <p:cNvPr id="16" name="Text 13"/>
          <p:cNvSpPr/>
          <p:nvPr/>
        </p:nvSpPr>
        <p:spPr>
          <a:xfrm>
            <a:off x="722376" y="3264408"/>
            <a:ext cx="3493008" cy="274320"/>
          </a:xfrm>
          <a:prstGeom prst="rect">
            <a:avLst/>
          </a:prstGeom>
          <a:noFill/>
          <a:ln/>
        </p:spPr>
        <p:txBody>
          <a:bodyPr wrap="square" lIns="0" tIns="0" rIns="0" bIns="0" rtlCol="0" anchor="ctr"/>
          <a:lstStyle/>
          <a:p>
            <a:pPr marL="0" indent="0">
              <a:buNone/>
            </a:pPr>
            <a:r>
              <a:rPr lang="en-US" sz="1250" b="1" dirty="0">
                <a:solidFill>
                  <a:srgbClr val="B3522F"/>
                </a:solidFill>
                <a:latin typeface="Arial" pitchFamily="34" charset="0"/>
                <a:ea typeface="Arial" pitchFamily="34" charset="-122"/>
                <a:cs typeface="Arial" pitchFamily="34" charset="-120"/>
              </a:rPr>
              <a:t>Humans still approve</a:t>
            </a:r>
            <a:endParaRPr lang="en-US" sz="1250" dirty="0"/>
          </a:p>
        </p:txBody>
      </p:sp>
      <p:sp>
        <p:nvSpPr>
          <p:cNvPr id="17" name="Text 14"/>
          <p:cNvSpPr/>
          <p:nvPr/>
        </p:nvSpPr>
        <p:spPr>
          <a:xfrm>
            <a:off x="722376" y="3538728"/>
            <a:ext cx="3493008" cy="384048"/>
          </a:xfrm>
          <a:prstGeom prst="rect">
            <a:avLst/>
          </a:prstGeom>
          <a:noFill/>
          <a:ln/>
        </p:spPr>
        <p:txBody>
          <a:bodyPr wrap="square" lIns="0" tIns="0" rIns="0" bIns="0" rtlCol="0" anchor="ctr"/>
          <a:lstStyle/>
          <a:p>
            <a:pPr marL="0" indent="0">
              <a:lnSpc>
                <a:spcPct val="108000"/>
              </a:lnSpc>
              <a:buNone/>
            </a:pPr>
            <a:r>
              <a:rPr lang="en-US" sz="1030" dirty="0">
                <a:solidFill>
                  <a:srgbClr val="6B6862"/>
                </a:solidFill>
                <a:latin typeface="Arial" pitchFamily="34" charset="0"/>
                <a:ea typeface="Arial" pitchFamily="34" charset="-122"/>
                <a:cs typeface="Arial" pitchFamily="34" charset="-120"/>
              </a:rPr>
              <a:t>Keep branch protection and human sign-off on the merge.</a:t>
            </a:r>
            <a:endParaRPr lang="en-US" sz="1030" dirty="0"/>
          </a:p>
        </p:txBody>
      </p:sp>
      <p:sp>
        <p:nvSpPr>
          <p:cNvPr id="18" name="Shape 15"/>
          <p:cNvSpPr/>
          <p:nvPr/>
        </p:nvSpPr>
        <p:spPr>
          <a:xfrm>
            <a:off x="4727448" y="3172968"/>
            <a:ext cx="3913632" cy="786384"/>
          </a:xfrm>
          <a:prstGeom prst="rect">
            <a:avLst/>
          </a:prstGeom>
          <a:solidFill>
            <a:srgbClr val="FBFAF7"/>
          </a:solidFill>
          <a:ln w="12700">
            <a:solidFill>
              <a:srgbClr val="DAD6C8"/>
            </a:solidFill>
            <a:prstDash val="solid"/>
          </a:ln>
        </p:spPr>
        <p:txBody>
          <a:bodyPr/>
          <a:lstStyle/>
          <a:p>
            <a:endParaRPr lang="en-IN"/>
          </a:p>
        </p:txBody>
      </p:sp>
      <p:sp>
        <p:nvSpPr>
          <p:cNvPr id="19" name="Text 16"/>
          <p:cNvSpPr/>
          <p:nvPr/>
        </p:nvSpPr>
        <p:spPr>
          <a:xfrm>
            <a:off x="4946904" y="3264408"/>
            <a:ext cx="3493008" cy="274320"/>
          </a:xfrm>
          <a:prstGeom prst="rect">
            <a:avLst/>
          </a:prstGeom>
          <a:noFill/>
          <a:ln/>
        </p:spPr>
        <p:txBody>
          <a:bodyPr wrap="square" lIns="0" tIns="0" rIns="0" bIns="0" rtlCol="0" anchor="ctr"/>
          <a:lstStyle/>
          <a:p>
            <a:pPr marL="0" indent="0">
              <a:buNone/>
            </a:pPr>
            <a:r>
              <a:rPr lang="en-US" sz="1250" b="1" dirty="0">
                <a:solidFill>
                  <a:srgbClr val="B3522F"/>
                </a:solidFill>
                <a:latin typeface="Arial" pitchFamily="34" charset="0"/>
                <a:ea typeface="Arial" pitchFamily="34" charset="-122"/>
                <a:cs typeface="Arial" pitchFamily="34" charset="-120"/>
              </a:rPr>
              <a:t>Tests &amp; evals as guardrails</a:t>
            </a:r>
            <a:endParaRPr lang="en-US" sz="1250" dirty="0"/>
          </a:p>
        </p:txBody>
      </p:sp>
      <p:sp>
        <p:nvSpPr>
          <p:cNvPr id="20" name="Text 17"/>
          <p:cNvSpPr/>
          <p:nvPr/>
        </p:nvSpPr>
        <p:spPr>
          <a:xfrm>
            <a:off x="4946904" y="3538728"/>
            <a:ext cx="3493008" cy="384048"/>
          </a:xfrm>
          <a:prstGeom prst="rect">
            <a:avLst/>
          </a:prstGeom>
          <a:noFill/>
          <a:ln/>
        </p:spPr>
        <p:txBody>
          <a:bodyPr wrap="square" lIns="0" tIns="0" rIns="0" bIns="0" rtlCol="0" anchor="ctr"/>
          <a:lstStyle/>
          <a:p>
            <a:pPr marL="0" indent="0">
              <a:lnSpc>
                <a:spcPct val="108000"/>
              </a:lnSpc>
              <a:buNone/>
            </a:pPr>
            <a:r>
              <a:rPr lang="en-US" sz="1030" dirty="0">
                <a:solidFill>
                  <a:srgbClr val="6B6862"/>
                </a:solidFill>
                <a:latin typeface="Arial" pitchFamily="34" charset="0"/>
                <a:ea typeface="Arial" pitchFamily="34" charset="-122"/>
                <a:cs typeface="Arial" pitchFamily="34" charset="-120"/>
              </a:rPr>
              <a:t>Automated checks and evals gate what agents can ship.</a:t>
            </a:r>
            <a:endParaRPr lang="en-US" sz="1030" dirty="0"/>
          </a:p>
        </p:txBody>
      </p:sp>
      <p:sp>
        <p:nvSpPr>
          <p:cNvPr id="21" name="Shape 18"/>
          <p:cNvSpPr/>
          <p:nvPr/>
        </p:nvSpPr>
        <p:spPr>
          <a:xfrm>
            <a:off x="502920" y="4105656"/>
            <a:ext cx="3913632" cy="786384"/>
          </a:xfrm>
          <a:prstGeom prst="rect">
            <a:avLst/>
          </a:prstGeom>
          <a:solidFill>
            <a:srgbClr val="FBFAF7"/>
          </a:solidFill>
          <a:ln w="12700">
            <a:solidFill>
              <a:srgbClr val="DAD6C8"/>
            </a:solidFill>
            <a:prstDash val="solid"/>
          </a:ln>
        </p:spPr>
        <p:txBody>
          <a:bodyPr/>
          <a:lstStyle/>
          <a:p>
            <a:endParaRPr lang="en-IN"/>
          </a:p>
        </p:txBody>
      </p:sp>
      <p:sp>
        <p:nvSpPr>
          <p:cNvPr id="22" name="Text 19"/>
          <p:cNvSpPr/>
          <p:nvPr/>
        </p:nvSpPr>
        <p:spPr>
          <a:xfrm>
            <a:off x="722376" y="4197096"/>
            <a:ext cx="3493008" cy="274320"/>
          </a:xfrm>
          <a:prstGeom prst="rect">
            <a:avLst/>
          </a:prstGeom>
          <a:noFill/>
          <a:ln/>
        </p:spPr>
        <p:txBody>
          <a:bodyPr wrap="square" lIns="0" tIns="0" rIns="0" bIns="0" rtlCol="0" anchor="ctr"/>
          <a:lstStyle/>
          <a:p>
            <a:pPr marL="0" indent="0">
              <a:buNone/>
            </a:pPr>
            <a:r>
              <a:rPr lang="en-US" sz="1250" b="1" dirty="0">
                <a:solidFill>
                  <a:srgbClr val="B3522F"/>
                </a:solidFill>
                <a:latin typeface="Arial" pitchFamily="34" charset="0"/>
                <a:ea typeface="Arial" pitchFamily="34" charset="-122"/>
                <a:cs typeface="Arial" pitchFamily="34" charset="-120"/>
              </a:rPr>
              <a:t>Provenance &amp; traceability</a:t>
            </a:r>
            <a:endParaRPr lang="en-US" sz="1250" dirty="0"/>
          </a:p>
        </p:txBody>
      </p:sp>
      <p:sp>
        <p:nvSpPr>
          <p:cNvPr id="23" name="Text 20"/>
          <p:cNvSpPr/>
          <p:nvPr/>
        </p:nvSpPr>
        <p:spPr>
          <a:xfrm>
            <a:off x="722376" y="4471416"/>
            <a:ext cx="3493008" cy="384048"/>
          </a:xfrm>
          <a:prstGeom prst="rect">
            <a:avLst/>
          </a:prstGeom>
          <a:noFill/>
          <a:ln/>
        </p:spPr>
        <p:txBody>
          <a:bodyPr wrap="square" lIns="0" tIns="0" rIns="0" bIns="0" rtlCol="0" anchor="ctr"/>
          <a:lstStyle/>
          <a:p>
            <a:pPr marL="0" indent="0">
              <a:lnSpc>
                <a:spcPct val="108000"/>
              </a:lnSpc>
              <a:buNone/>
            </a:pPr>
            <a:r>
              <a:rPr lang="en-US" sz="1030" dirty="0">
                <a:solidFill>
                  <a:srgbClr val="6B6862"/>
                </a:solidFill>
                <a:latin typeface="Arial" pitchFamily="34" charset="0"/>
                <a:ea typeface="Arial" pitchFamily="34" charset="-122"/>
                <a:cs typeface="Arial" pitchFamily="34" charset="-120"/>
              </a:rPr>
              <a:t>Record which agent produced a change, with what prompt and tools.</a:t>
            </a:r>
            <a:endParaRPr lang="en-US" sz="1030" dirty="0"/>
          </a:p>
        </p:txBody>
      </p:sp>
      <p:sp>
        <p:nvSpPr>
          <p:cNvPr id="24" name="Shape 21"/>
          <p:cNvSpPr/>
          <p:nvPr/>
        </p:nvSpPr>
        <p:spPr>
          <a:xfrm>
            <a:off x="4727448" y="4105656"/>
            <a:ext cx="3913632" cy="786384"/>
          </a:xfrm>
          <a:prstGeom prst="rect">
            <a:avLst/>
          </a:prstGeom>
          <a:solidFill>
            <a:srgbClr val="FBFAF7"/>
          </a:solidFill>
          <a:ln w="12700">
            <a:solidFill>
              <a:srgbClr val="DAD6C8"/>
            </a:solidFill>
            <a:prstDash val="solid"/>
          </a:ln>
        </p:spPr>
        <p:txBody>
          <a:bodyPr/>
          <a:lstStyle/>
          <a:p>
            <a:endParaRPr lang="en-IN"/>
          </a:p>
        </p:txBody>
      </p:sp>
      <p:sp>
        <p:nvSpPr>
          <p:cNvPr id="25" name="Text 22"/>
          <p:cNvSpPr/>
          <p:nvPr/>
        </p:nvSpPr>
        <p:spPr>
          <a:xfrm>
            <a:off x="4946904" y="4197096"/>
            <a:ext cx="3493008" cy="274320"/>
          </a:xfrm>
          <a:prstGeom prst="rect">
            <a:avLst/>
          </a:prstGeom>
          <a:noFill/>
          <a:ln/>
        </p:spPr>
        <p:txBody>
          <a:bodyPr wrap="square" lIns="0" tIns="0" rIns="0" bIns="0" rtlCol="0" anchor="ctr"/>
          <a:lstStyle/>
          <a:p>
            <a:pPr marL="0" indent="0">
              <a:buNone/>
            </a:pPr>
            <a:r>
              <a:rPr lang="en-US" sz="1250" b="1" dirty="0">
                <a:solidFill>
                  <a:srgbClr val="B3522F"/>
                </a:solidFill>
                <a:latin typeface="Arial" pitchFamily="34" charset="0"/>
                <a:ea typeface="Arial" pitchFamily="34" charset="-122"/>
                <a:cs typeface="Arial" pitchFamily="34" charset="-120"/>
              </a:rPr>
              <a:t>Review the spec, not just code</a:t>
            </a:r>
            <a:endParaRPr lang="en-US" sz="1250" dirty="0"/>
          </a:p>
        </p:txBody>
      </p:sp>
      <p:sp>
        <p:nvSpPr>
          <p:cNvPr id="26" name="Text 23"/>
          <p:cNvSpPr/>
          <p:nvPr/>
        </p:nvSpPr>
        <p:spPr>
          <a:xfrm>
            <a:off x="4946904" y="4471416"/>
            <a:ext cx="3493008" cy="384048"/>
          </a:xfrm>
          <a:prstGeom prst="rect">
            <a:avLst/>
          </a:prstGeom>
          <a:noFill/>
          <a:ln/>
        </p:spPr>
        <p:txBody>
          <a:bodyPr wrap="square" lIns="0" tIns="0" rIns="0" bIns="0" rtlCol="0" anchor="ctr"/>
          <a:lstStyle/>
          <a:p>
            <a:pPr marL="0" indent="0">
              <a:lnSpc>
                <a:spcPct val="108000"/>
              </a:lnSpc>
              <a:buNone/>
            </a:pPr>
            <a:r>
              <a:rPr lang="en-US" sz="1030" dirty="0">
                <a:solidFill>
                  <a:srgbClr val="6B6862"/>
                </a:solidFill>
                <a:latin typeface="Arial" pitchFamily="34" charset="0"/>
                <a:ea typeface="Arial" pitchFamily="34" charset="-122"/>
                <a:cs typeface="Arial" pitchFamily="34" charset="-120"/>
              </a:rPr>
              <a:t>Check intent and approach up front, not only the final diff.</a:t>
            </a:r>
            <a:endParaRPr lang="en-US" sz="103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EEE6"/>
        </a:solidFill>
        <a:effectLst/>
      </p:bgPr>
    </p:bg>
    <p:spTree>
      <p:nvGrpSpPr>
        <p:cNvPr id="1" name=""/>
        <p:cNvGrpSpPr/>
        <p:nvPr/>
      </p:nvGrpSpPr>
      <p:grpSpPr>
        <a:xfrm>
          <a:off x="0" y="0"/>
          <a:ext cx="0" cy="0"/>
          <a:chOff x="0" y="0"/>
          <a:chExt cx="0" cy="0"/>
        </a:xfrm>
      </p:grpSpPr>
      <p:pic>
        <p:nvPicPr>
          <p:cNvPr id="2" name="Image 0" descr="/agent/turn2/workspace/assets/spark-coral.png"/>
          <p:cNvPicPr>
            <a:picLocks noChangeAspect="1"/>
          </p:cNvPicPr>
          <p:nvPr/>
        </p:nvPicPr>
        <p:blipFill>
          <a:blip r:embed="rId3"/>
          <a:stretch>
            <a:fillRect/>
          </a:stretch>
        </p:blipFill>
        <p:spPr>
          <a:xfrm>
            <a:off x="502920" y="457200"/>
            <a:ext cx="237744" cy="237744"/>
          </a:xfrm>
          <a:prstGeom prst="rect">
            <a:avLst/>
          </a:prstGeom>
        </p:spPr>
      </p:pic>
      <p:sp>
        <p:nvSpPr>
          <p:cNvPr id="3" name="Text 0"/>
          <p:cNvSpPr/>
          <p:nvPr/>
        </p:nvSpPr>
        <p:spPr>
          <a:xfrm>
            <a:off x="841248" y="429768"/>
            <a:ext cx="7315200" cy="292608"/>
          </a:xfrm>
          <a:prstGeom prst="rect">
            <a:avLst/>
          </a:prstGeom>
          <a:noFill/>
          <a:ln/>
        </p:spPr>
        <p:txBody>
          <a:bodyPr wrap="square" lIns="0" tIns="0" rIns="0" bIns="0" rtlCol="0" anchor="ctr"/>
          <a:lstStyle/>
          <a:p>
            <a:pPr marL="0" indent="0" algn="l">
              <a:buNone/>
            </a:pPr>
            <a:r>
              <a:rPr lang="en-US" sz="1150" b="1" kern="0" spc="220" dirty="0">
                <a:solidFill>
                  <a:srgbClr val="B3522F"/>
                </a:solidFill>
                <a:latin typeface="Arial" pitchFamily="34" charset="0"/>
                <a:ea typeface="Arial" pitchFamily="34" charset="-122"/>
                <a:cs typeface="Arial" pitchFamily="34" charset="-120"/>
              </a:rPr>
              <a:t>DOING IT SAFELY</a:t>
            </a:r>
            <a:endParaRPr lang="en-US" sz="1150" dirty="0"/>
          </a:p>
        </p:txBody>
      </p:sp>
      <p:sp>
        <p:nvSpPr>
          <p:cNvPr id="4" name="Text 1"/>
          <p:cNvSpPr/>
          <p:nvPr/>
        </p:nvSpPr>
        <p:spPr>
          <a:xfrm>
            <a:off x="484632" y="749808"/>
            <a:ext cx="8183880" cy="777240"/>
          </a:xfrm>
          <a:prstGeom prst="rect">
            <a:avLst/>
          </a:prstGeom>
          <a:noFill/>
          <a:ln/>
        </p:spPr>
        <p:txBody>
          <a:bodyPr wrap="square" lIns="0" tIns="0" rIns="0" bIns="0" rtlCol="0" anchor="t"/>
          <a:lstStyle/>
          <a:p>
            <a:pPr marL="0" indent="0" algn="l">
              <a:buNone/>
            </a:pPr>
            <a:r>
              <a:rPr lang="en-US" sz="3100" b="1" dirty="0">
                <a:solidFill>
                  <a:srgbClr val="1A1A18"/>
                </a:solidFill>
                <a:latin typeface="Georgia" pitchFamily="34" charset="0"/>
                <a:ea typeface="Georgia" pitchFamily="34" charset="-122"/>
                <a:cs typeface="Georgia" pitchFamily="34" charset="-120"/>
              </a:rPr>
              <a:t>Guardrails for adopting agents</a:t>
            </a:r>
            <a:endParaRPr lang="en-US" sz="3100" dirty="0"/>
          </a:p>
        </p:txBody>
      </p:sp>
      <p:sp>
        <p:nvSpPr>
          <p:cNvPr id="5" name="Shape 2"/>
          <p:cNvSpPr/>
          <p:nvPr/>
        </p:nvSpPr>
        <p:spPr>
          <a:xfrm>
            <a:off x="502920" y="4754880"/>
            <a:ext cx="8138160" cy="0"/>
          </a:xfrm>
          <a:prstGeom prst="line">
            <a:avLst/>
          </a:prstGeom>
          <a:noFill/>
          <a:ln w="12700">
            <a:solidFill>
              <a:srgbClr val="DAD6C8"/>
            </a:solidFill>
            <a:prstDash val="solid"/>
          </a:ln>
        </p:spPr>
        <p:txBody>
          <a:bodyPr/>
          <a:lstStyle/>
          <a:p>
            <a:endParaRPr lang="en-IN"/>
          </a:p>
        </p:txBody>
      </p:sp>
      <p:sp>
        <p:nvSpPr>
          <p:cNvPr id="6" name="Text 3"/>
          <p:cNvSpPr/>
          <p:nvPr/>
        </p:nvSpPr>
        <p:spPr>
          <a:xfrm>
            <a:off x="502920" y="4791456"/>
            <a:ext cx="5486400" cy="274320"/>
          </a:xfrm>
          <a:prstGeom prst="rect">
            <a:avLst/>
          </a:prstGeom>
          <a:noFill/>
          <a:ln/>
        </p:spPr>
        <p:txBody>
          <a:bodyPr wrap="square" lIns="0" tIns="0" rIns="0" bIns="0" rtlCol="0" anchor="ctr"/>
          <a:lstStyle/>
          <a:p>
            <a:pPr marL="0" indent="0" algn="l">
              <a:buNone/>
            </a:pPr>
            <a:r>
              <a:rPr lang="en-US" sz="850" dirty="0">
                <a:solidFill>
                  <a:srgbClr val="6B6862"/>
                </a:solidFill>
                <a:latin typeface="Arial" pitchFamily="34" charset="0"/>
                <a:ea typeface="Arial" pitchFamily="34" charset="-122"/>
                <a:cs typeface="Arial" pitchFamily="34" charset="-120"/>
              </a:rPr>
              <a:t>Claude Training  ·  From Prompts to Agents</a:t>
            </a:r>
            <a:endParaRPr lang="en-US" sz="850" dirty="0"/>
          </a:p>
        </p:txBody>
      </p:sp>
      <p:sp>
        <p:nvSpPr>
          <p:cNvPr id="7" name="Text 4"/>
          <p:cNvSpPr/>
          <p:nvPr/>
        </p:nvSpPr>
        <p:spPr>
          <a:xfrm>
            <a:off x="8183880" y="4791456"/>
            <a:ext cx="457200" cy="274320"/>
          </a:xfrm>
          <a:prstGeom prst="rect">
            <a:avLst/>
          </a:prstGeom>
          <a:noFill/>
          <a:ln/>
        </p:spPr>
        <p:txBody>
          <a:bodyPr wrap="square" lIns="0" tIns="0" rIns="0" bIns="0" rtlCol="0" anchor="ctr"/>
          <a:lstStyle/>
          <a:p>
            <a:pPr marL="0" indent="0" algn="r">
              <a:buNone/>
            </a:pPr>
            <a:r>
              <a:rPr lang="en-US" sz="850" b="1" dirty="0">
                <a:solidFill>
                  <a:srgbClr val="6B6862"/>
                </a:solidFill>
                <a:latin typeface="Arial" pitchFamily="34" charset="0"/>
                <a:ea typeface="Arial" pitchFamily="34" charset="-122"/>
                <a:cs typeface="Arial" pitchFamily="34" charset="-120"/>
              </a:rPr>
              <a:t>16</a:t>
            </a:r>
            <a:endParaRPr lang="en-US" sz="850" dirty="0"/>
          </a:p>
        </p:txBody>
      </p:sp>
      <p:sp>
        <p:nvSpPr>
          <p:cNvPr id="8" name="Shape 5"/>
          <p:cNvSpPr/>
          <p:nvPr/>
        </p:nvSpPr>
        <p:spPr>
          <a:xfrm>
            <a:off x="502920" y="1783080"/>
            <a:ext cx="3913632" cy="786384"/>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9" name="Text 6"/>
          <p:cNvSpPr/>
          <p:nvPr/>
        </p:nvSpPr>
        <p:spPr>
          <a:xfrm>
            <a:off x="722376" y="1874520"/>
            <a:ext cx="3493008" cy="274320"/>
          </a:xfrm>
          <a:prstGeom prst="rect">
            <a:avLst/>
          </a:prstGeom>
          <a:noFill/>
          <a:ln/>
        </p:spPr>
        <p:txBody>
          <a:bodyPr wrap="square" lIns="0" tIns="0" rIns="0" bIns="0" rtlCol="0" anchor="ctr"/>
          <a:lstStyle/>
          <a:p>
            <a:pPr marL="0" indent="0">
              <a:buNone/>
            </a:pPr>
            <a:r>
              <a:rPr lang="en-US" sz="1400" b="1" dirty="0">
                <a:solidFill>
                  <a:srgbClr val="1A1A18"/>
                </a:solidFill>
                <a:latin typeface="Georgia" pitchFamily="34" charset="0"/>
                <a:ea typeface="Georgia" pitchFamily="34" charset="-122"/>
                <a:cs typeface="Georgia" pitchFamily="34" charset="-120"/>
              </a:rPr>
              <a:t>Scope autonomy to risk</a:t>
            </a:r>
            <a:endParaRPr lang="en-US" sz="1400" dirty="0"/>
          </a:p>
        </p:txBody>
      </p:sp>
      <p:sp>
        <p:nvSpPr>
          <p:cNvPr id="10" name="Text 7"/>
          <p:cNvSpPr/>
          <p:nvPr/>
        </p:nvSpPr>
        <p:spPr>
          <a:xfrm>
            <a:off x="722376" y="2167128"/>
            <a:ext cx="3493008" cy="365760"/>
          </a:xfrm>
          <a:prstGeom prst="rect">
            <a:avLst/>
          </a:prstGeom>
          <a:noFill/>
          <a:ln/>
        </p:spPr>
        <p:txBody>
          <a:bodyPr wrap="square" lIns="0" tIns="0" rIns="0" bIns="0" rtlCol="0" anchor="ctr"/>
          <a:lstStyle/>
          <a:p>
            <a:pPr marL="0" indent="0">
              <a:lnSpc>
                <a:spcPct val="108000"/>
              </a:lnSpc>
              <a:buNone/>
            </a:pPr>
            <a:r>
              <a:rPr lang="en-US" sz="1030" dirty="0">
                <a:solidFill>
                  <a:srgbClr val="6B6862"/>
                </a:solidFill>
                <a:latin typeface="Arial" pitchFamily="34" charset="0"/>
                <a:ea typeface="Arial" pitchFamily="34" charset="-122"/>
                <a:cs typeface="Arial" pitchFamily="34" charset="-120"/>
              </a:rPr>
              <a:t>Free rein on read-only work; gates on anything irreversible.</a:t>
            </a:r>
            <a:endParaRPr lang="en-US" sz="1030" dirty="0"/>
          </a:p>
        </p:txBody>
      </p:sp>
      <p:sp>
        <p:nvSpPr>
          <p:cNvPr id="11" name="Shape 8"/>
          <p:cNvSpPr/>
          <p:nvPr/>
        </p:nvSpPr>
        <p:spPr>
          <a:xfrm>
            <a:off x="4727448" y="1783080"/>
            <a:ext cx="3913632" cy="786384"/>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2" name="Text 9"/>
          <p:cNvSpPr/>
          <p:nvPr/>
        </p:nvSpPr>
        <p:spPr>
          <a:xfrm>
            <a:off x="4946904" y="1874520"/>
            <a:ext cx="3493008" cy="274320"/>
          </a:xfrm>
          <a:prstGeom prst="rect">
            <a:avLst/>
          </a:prstGeom>
          <a:noFill/>
          <a:ln/>
        </p:spPr>
        <p:txBody>
          <a:bodyPr wrap="square" lIns="0" tIns="0" rIns="0" bIns="0" rtlCol="0" anchor="ctr"/>
          <a:lstStyle/>
          <a:p>
            <a:pPr marL="0" indent="0">
              <a:buNone/>
            </a:pPr>
            <a:r>
              <a:rPr lang="en-US" sz="1400" b="1" dirty="0">
                <a:solidFill>
                  <a:srgbClr val="1A1A18"/>
                </a:solidFill>
                <a:latin typeface="Georgia" pitchFamily="34" charset="0"/>
                <a:ea typeface="Georgia" pitchFamily="34" charset="-122"/>
                <a:cs typeface="Georgia" pitchFamily="34" charset="-120"/>
              </a:rPr>
              <a:t>Least-privilege tools</a:t>
            </a:r>
            <a:endParaRPr lang="en-US" sz="1400" dirty="0"/>
          </a:p>
        </p:txBody>
      </p:sp>
      <p:sp>
        <p:nvSpPr>
          <p:cNvPr id="13" name="Text 10"/>
          <p:cNvSpPr/>
          <p:nvPr/>
        </p:nvSpPr>
        <p:spPr>
          <a:xfrm>
            <a:off x="4946904" y="2167128"/>
            <a:ext cx="3493008" cy="365760"/>
          </a:xfrm>
          <a:prstGeom prst="rect">
            <a:avLst/>
          </a:prstGeom>
          <a:noFill/>
          <a:ln/>
        </p:spPr>
        <p:txBody>
          <a:bodyPr wrap="square" lIns="0" tIns="0" rIns="0" bIns="0" rtlCol="0" anchor="ctr"/>
          <a:lstStyle/>
          <a:p>
            <a:pPr marL="0" indent="0">
              <a:lnSpc>
                <a:spcPct val="108000"/>
              </a:lnSpc>
              <a:buNone/>
            </a:pPr>
            <a:r>
              <a:rPr lang="en-US" sz="1030" dirty="0">
                <a:solidFill>
                  <a:srgbClr val="6B6862"/>
                </a:solidFill>
                <a:latin typeface="Arial" pitchFamily="34" charset="0"/>
                <a:ea typeface="Arial" pitchFamily="34" charset="-122"/>
                <a:cs typeface="Arial" pitchFamily="34" charset="-120"/>
              </a:rPr>
              <a:t>Grant only the tools and scopes a task genuinely needs.</a:t>
            </a:r>
            <a:endParaRPr lang="en-US" sz="1030" dirty="0"/>
          </a:p>
        </p:txBody>
      </p:sp>
      <p:sp>
        <p:nvSpPr>
          <p:cNvPr id="14" name="Shape 11"/>
          <p:cNvSpPr/>
          <p:nvPr/>
        </p:nvSpPr>
        <p:spPr>
          <a:xfrm>
            <a:off x="502920" y="2715768"/>
            <a:ext cx="3913632" cy="786384"/>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5" name="Text 12"/>
          <p:cNvSpPr/>
          <p:nvPr/>
        </p:nvSpPr>
        <p:spPr>
          <a:xfrm>
            <a:off x="722376" y="2807208"/>
            <a:ext cx="3493008" cy="274320"/>
          </a:xfrm>
          <a:prstGeom prst="rect">
            <a:avLst/>
          </a:prstGeom>
          <a:noFill/>
          <a:ln/>
        </p:spPr>
        <p:txBody>
          <a:bodyPr wrap="square" lIns="0" tIns="0" rIns="0" bIns="0" rtlCol="0" anchor="ctr"/>
          <a:lstStyle/>
          <a:p>
            <a:pPr marL="0" indent="0">
              <a:buNone/>
            </a:pPr>
            <a:r>
              <a:rPr lang="en-US" sz="1400" b="1" dirty="0">
                <a:solidFill>
                  <a:srgbClr val="1A1A18"/>
                </a:solidFill>
                <a:latin typeface="Georgia" pitchFamily="34" charset="0"/>
                <a:ea typeface="Georgia" pitchFamily="34" charset="-122"/>
                <a:cs typeface="Georgia" pitchFamily="34" charset="-120"/>
              </a:rPr>
              <a:t>Observability</a:t>
            </a:r>
            <a:endParaRPr lang="en-US" sz="1400" dirty="0"/>
          </a:p>
        </p:txBody>
      </p:sp>
      <p:sp>
        <p:nvSpPr>
          <p:cNvPr id="16" name="Text 13"/>
          <p:cNvSpPr/>
          <p:nvPr/>
        </p:nvSpPr>
        <p:spPr>
          <a:xfrm>
            <a:off x="722376" y="3099816"/>
            <a:ext cx="3493008" cy="365760"/>
          </a:xfrm>
          <a:prstGeom prst="rect">
            <a:avLst/>
          </a:prstGeom>
          <a:noFill/>
          <a:ln/>
        </p:spPr>
        <p:txBody>
          <a:bodyPr wrap="square" lIns="0" tIns="0" rIns="0" bIns="0" rtlCol="0" anchor="ctr"/>
          <a:lstStyle/>
          <a:p>
            <a:pPr marL="0" indent="0">
              <a:lnSpc>
                <a:spcPct val="108000"/>
              </a:lnSpc>
              <a:buNone/>
            </a:pPr>
            <a:r>
              <a:rPr lang="en-US" sz="1030" dirty="0">
                <a:solidFill>
                  <a:srgbClr val="6B6862"/>
                </a:solidFill>
                <a:latin typeface="Arial" pitchFamily="34" charset="0"/>
                <a:ea typeface="Arial" pitchFamily="34" charset="-122"/>
                <a:cs typeface="Arial" pitchFamily="34" charset="-120"/>
              </a:rPr>
              <a:t>Log every action, tool call, and result — make runs replayable.</a:t>
            </a:r>
            <a:endParaRPr lang="en-US" sz="1030" dirty="0"/>
          </a:p>
        </p:txBody>
      </p:sp>
      <p:sp>
        <p:nvSpPr>
          <p:cNvPr id="17" name="Shape 14"/>
          <p:cNvSpPr/>
          <p:nvPr/>
        </p:nvSpPr>
        <p:spPr>
          <a:xfrm>
            <a:off x="4727448" y="2715768"/>
            <a:ext cx="3913632" cy="786384"/>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18" name="Text 15"/>
          <p:cNvSpPr/>
          <p:nvPr/>
        </p:nvSpPr>
        <p:spPr>
          <a:xfrm>
            <a:off x="4946904" y="2807208"/>
            <a:ext cx="3493008" cy="274320"/>
          </a:xfrm>
          <a:prstGeom prst="rect">
            <a:avLst/>
          </a:prstGeom>
          <a:noFill/>
          <a:ln/>
        </p:spPr>
        <p:txBody>
          <a:bodyPr wrap="square" lIns="0" tIns="0" rIns="0" bIns="0" rtlCol="0" anchor="ctr"/>
          <a:lstStyle/>
          <a:p>
            <a:pPr marL="0" indent="0">
              <a:buNone/>
            </a:pPr>
            <a:r>
              <a:rPr lang="en-US" sz="1400" b="1" dirty="0">
                <a:solidFill>
                  <a:srgbClr val="1A1A18"/>
                </a:solidFill>
                <a:latin typeface="Georgia" pitchFamily="34" charset="0"/>
                <a:ea typeface="Georgia" pitchFamily="34" charset="-122"/>
                <a:cs typeface="Georgia" pitchFamily="34" charset="-120"/>
              </a:rPr>
              <a:t>Evals &amp; test harnesses</a:t>
            </a:r>
            <a:endParaRPr lang="en-US" sz="1400" dirty="0"/>
          </a:p>
        </p:txBody>
      </p:sp>
      <p:sp>
        <p:nvSpPr>
          <p:cNvPr id="19" name="Text 16"/>
          <p:cNvSpPr/>
          <p:nvPr/>
        </p:nvSpPr>
        <p:spPr>
          <a:xfrm>
            <a:off x="4946904" y="3099816"/>
            <a:ext cx="3493008" cy="365760"/>
          </a:xfrm>
          <a:prstGeom prst="rect">
            <a:avLst/>
          </a:prstGeom>
          <a:noFill/>
          <a:ln/>
        </p:spPr>
        <p:txBody>
          <a:bodyPr wrap="square" lIns="0" tIns="0" rIns="0" bIns="0" rtlCol="0" anchor="ctr"/>
          <a:lstStyle/>
          <a:p>
            <a:pPr marL="0" indent="0">
              <a:lnSpc>
                <a:spcPct val="108000"/>
              </a:lnSpc>
              <a:buNone/>
            </a:pPr>
            <a:r>
              <a:rPr lang="en-US" sz="1030" dirty="0">
                <a:solidFill>
                  <a:srgbClr val="6B6862"/>
                </a:solidFill>
                <a:latin typeface="Arial" pitchFamily="34" charset="0"/>
                <a:ea typeface="Arial" pitchFamily="34" charset="-122"/>
                <a:cs typeface="Arial" pitchFamily="34" charset="-120"/>
              </a:rPr>
              <a:t>Measure agents against real tasks before and after rollout.</a:t>
            </a:r>
            <a:endParaRPr lang="en-US" sz="1030" dirty="0"/>
          </a:p>
        </p:txBody>
      </p:sp>
      <p:sp>
        <p:nvSpPr>
          <p:cNvPr id="20" name="Shape 17"/>
          <p:cNvSpPr/>
          <p:nvPr/>
        </p:nvSpPr>
        <p:spPr>
          <a:xfrm>
            <a:off x="502920" y="3648456"/>
            <a:ext cx="3913632" cy="786384"/>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21" name="Text 18"/>
          <p:cNvSpPr/>
          <p:nvPr/>
        </p:nvSpPr>
        <p:spPr>
          <a:xfrm>
            <a:off x="722376" y="3739896"/>
            <a:ext cx="3493008" cy="274320"/>
          </a:xfrm>
          <a:prstGeom prst="rect">
            <a:avLst/>
          </a:prstGeom>
          <a:noFill/>
          <a:ln/>
        </p:spPr>
        <p:txBody>
          <a:bodyPr wrap="square" lIns="0" tIns="0" rIns="0" bIns="0" rtlCol="0" anchor="ctr"/>
          <a:lstStyle/>
          <a:p>
            <a:pPr marL="0" indent="0">
              <a:buNone/>
            </a:pPr>
            <a:r>
              <a:rPr lang="en-US" sz="1400" b="1" dirty="0">
                <a:solidFill>
                  <a:srgbClr val="1A1A18"/>
                </a:solidFill>
                <a:latin typeface="Georgia" pitchFamily="34" charset="0"/>
                <a:ea typeface="Georgia" pitchFamily="34" charset="-122"/>
                <a:cs typeface="Georgia" pitchFamily="34" charset="-120"/>
              </a:rPr>
              <a:t>Human approval gates</a:t>
            </a:r>
            <a:endParaRPr lang="en-US" sz="1400" dirty="0"/>
          </a:p>
        </p:txBody>
      </p:sp>
      <p:sp>
        <p:nvSpPr>
          <p:cNvPr id="22" name="Text 19"/>
          <p:cNvSpPr/>
          <p:nvPr/>
        </p:nvSpPr>
        <p:spPr>
          <a:xfrm>
            <a:off x="722376" y="4032504"/>
            <a:ext cx="3493008" cy="365760"/>
          </a:xfrm>
          <a:prstGeom prst="rect">
            <a:avLst/>
          </a:prstGeom>
          <a:noFill/>
          <a:ln/>
        </p:spPr>
        <p:txBody>
          <a:bodyPr wrap="square" lIns="0" tIns="0" rIns="0" bIns="0" rtlCol="0" anchor="ctr"/>
          <a:lstStyle/>
          <a:p>
            <a:pPr marL="0" indent="0">
              <a:lnSpc>
                <a:spcPct val="108000"/>
              </a:lnSpc>
              <a:buNone/>
            </a:pPr>
            <a:r>
              <a:rPr lang="en-US" sz="1030" dirty="0">
                <a:solidFill>
                  <a:srgbClr val="6B6862"/>
                </a:solidFill>
                <a:latin typeface="Arial" pitchFamily="34" charset="0"/>
                <a:ea typeface="Arial" pitchFamily="34" charset="-122"/>
                <a:cs typeface="Arial" pitchFamily="34" charset="-120"/>
              </a:rPr>
              <a:t>Require sign-off at the high-stakes steps.</a:t>
            </a:r>
            <a:endParaRPr lang="en-US" sz="1030" dirty="0"/>
          </a:p>
        </p:txBody>
      </p:sp>
      <p:sp>
        <p:nvSpPr>
          <p:cNvPr id="23" name="Shape 20"/>
          <p:cNvSpPr/>
          <p:nvPr/>
        </p:nvSpPr>
        <p:spPr>
          <a:xfrm>
            <a:off x="4727448" y="3648456"/>
            <a:ext cx="3913632" cy="786384"/>
          </a:xfrm>
          <a:prstGeom prst="rect">
            <a:avLst/>
          </a:prstGeom>
          <a:solidFill>
            <a:srgbClr val="FBFAF7"/>
          </a:solidFill>
          <a:ln w="12700">
            <a:solidFill>
              <a:srgbClr val="DAD6C8"/>
            </a:solidFill>
            <a:prstDash val="solid"/>
          </a:ln>
          <a:effectLst>
            <a:outerShdw blurRad="88900" dist="38100" dir="5400000" algn="bl" rotWithShape="0">
              <a:srgbClr val="9C9486">
                <a:alpha val="22000"/>
              </a:srgbClr>
            </a:outerShdw>
          </a:effectLst>
        </p:spPr>
        <p:txBody>
          <a:bodyPr/>
          <a:lstStyle/>
          <a:p>
            <a:endParaRPr lang="en-IN"/>
          </a:p>
        </p:txBody>
      </p:sp>
      <p:sp>
        <p:nvSpPr>
          <p:cNvPr id="24" name="Text 21"/>
          <p:cNvSpPr/>
          <p:nvPr/>
        </p:nvSpPr>
        <p:spPr>
          <a:xfrm>
            <a:off x="4946904" y="3739896"/>
            <a:ext cx="3493008" cy="274320"/>
          </a:xfrm>
          <a:prstGeom prst="rect">
            <a:avLst/>
          </a:prstGeom>
          <a:noFill/>
          <a:ln/>
        </p:spPr>
        <p:txBody>
          <a:bodyPr wrap="square" lIns="0" tIns="0" rIns="0" bIns="0" rtlCol="0" anchor="ctr"/>
          <a:lstStyle/>
          <a:p>
            <a:pPr marL="0" indent="0">
              <a:buNone/>
            </a:pPr>
            <a:r>
              <a:rPr lang="en-US" sz="1400" b="1" dirty="0">
                <a:solidFill>
                  <a:srgbClr val="1A1A18"/>
                </a:solidFill>
                <a:latin typeface="Georgia" pitchFamily="34" charset="0"/>
                <a:ea typeface="Georgia" pitchFamily="34" charset="-122"/>
                <a:cs typeface="Georgia" pitchFamily="34" charset="-120"/>
              </a:rPr>
              <a:t>Manage context</a:t>
            </a:r>
            <a:endParaRPr lang="en-US" sz="1400" dirty="0"/>
          </a:p>
        </p:txBody>
      </p:sp>
      <p:sp>
        <p:nvSpPr>
          <p:cNvPr id="25" name="Text 22"/>
          <p:cNvSpPr/>
          <p:nvPr/>
        </p:nvSpPr>
        <p:spPr>
          <a:xfrm>
            <a:off x="4946904" y="4032504"/>
            <a:ext cx="3493008" cy="365760"/>
          </a:xfrm>
          <a:prstGeom prst="rect">
            <a:avLst/>
          </a:prstGeom>
          <a:noFill/>
          <a:ln/>
        </p:spPr>
        <p:txBody>
          <a:bodyPr wrap="square" lIns="0" tIns="0" rIns="0" bIns="0" rtlCol="0" anchor="ctr"/>
          <a:lstStyle/>
          <a:p>
            <a:pPr marL="0" indent="0">
              <a:lnSpc>
                <a:spcPct val="108000"/>
              </a:lnSpc>
              <a:buNone/>
            </a:pPr>
            <a:r>
              <a:rPr lang="en-US" sz="1030" dirty="0">
                <a:solidFill>
                  <a:srgbClr val="6B6862"/>
                </a:solidFill>
                <a:latin typeface="Arial" pitchFamily="34" charset="0"/>
                <a:ea typeface="Arial" pitchFamily="34" charset="-122"/>
                <a:cs typeface="Arial" pitchFamily="34" charset="-120"/>
              </a:rPr>
              <a:t>Curate what the agent sees; trim noise, supply the right docs.</a:t>
            </a:r>
            <a:endParaRPr lang="en-US" sz="103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A18"/>
        </a:solidFill>
        <a:effectLst/>
      </p:bgPr>
    </p:bg>
    <p:spTree>
      <p:nvGrpSpPr>
        <p:cNvPr id="1" name=""/>
        <p:cNvGrpSpPr/>
        <p:nvPr/>
      </p:nvGrpSpPr>
      <p:grpSpPr>
        <a:xfrm>
          <a:off x="0" y="0"/>
          <a:ext cx="0" cy="0"/>
          <a:chOff x="0" y="0"/>
          <a:chExt cx="0" cy="0"/>
        </a:xfrm>
      </p:grpSpPr>
      <p:pic>
        <p:nvPicPr>
          <p:cNvPr id="2" name="Image 0" descr="/agent/turn2/workspace/assets/spark-coral.png"/>
          <p:cNvPicPr>
            <a:picLocks noChangeAspect="1"/>
          </p:cNvPicPr>
          <p:nvPr/>
        </p:nvPicPr>
        <p:blipFill>
          <a:blip r:embed="rId3">
            <a:alphaModFix amt="12000"/>
          </a:blip>
          <a:stretch>
            <a:fillRect/>
          </a:stretch>
        </p:blipFill>
        <p:spPr>
          <a:xfrm>
            <a:off x="7452360" y="3429000"/>
            <a:ext cx="1645920" cy="1645920"/>
          </a:xfrm>
          <a:prstGeom prst="rect">
            <a:avLst/>
          </a:prstGeom>
        </p:spPr>
      </p:pic>
      <p:pic>
        <p:nvPicPr>
          <p:cNvPr id="3" name="Image 1" descr="/agent/turn2/workspace/assets/spark-coral.png"/>
          <p:cNvPicPr>
            <a:picLocks noChangeAspect="1"/>
          </p:cNvPicPr>
          <p:nvPr/>
        </p:nvPicPr>
        <p:blipFill>
          <a:blip r:embed="rId3"/>
          <a:stretch>
            <a:fillRect/>
          </a:stretch>
        </p:blipFill>
        <p:spPr>
          <a:xfrm>
            <a:off x="548640" y="502920"/>
            <a:ext cx="274320" cy="274320"/>
          </a:xfrm>
          <a:prstGeom prst="rect">
            <a:avLst/>
          </a:prstGeom>
        </p:spPr>
      </p:pic>
      <p:sp>
        <p:nvSpPr>
          <p:cNvPr id="4" name="Text 0"/>
          <p:cNvSpPr/>
          <p:nvPr/>
        </p:nvSpPr>
        <p:spPr>
          <a:xfrm>
            <a:off x="914400" y="484632"/>
            <a:ext cx="5486400" cy="310896"/>
          </a:xfrm>
          <a:prstGeom prst="rect">
            <a:avLst/>
          </a:prstGeom>
          <a:noFill/>
          <a:ln/>
        </p:spPr>
        <p:txBody>
          <a:bodyPr wrap="square" lIns="0" tIns="0" rIns="0" bIns="0" rtlCol="0" anchor="ctr"/>
          <a:lstStyle/>
          <a:p>
            <a:pPr marL="0" indent="0">
              <a:buNone/>
            </a:pPr>
            <a:r>
              <a:rPr lang="en-US" sz="1100" b="1" kern="0" spc="260" dirty="0">
                <a:solidFill>
                  <a:srgbClr val="D97757"/>
                </a:solidFill>
                <a:latin typeface="Arial" pitchFamily="34" charset="0"/>
                <a:ea typeface="Arial" pitchFamily="34" charset="-122"/>
                <a:cs typeface="Arial" pitchFamily="34" charset="-120"/>
              </a:rPr>
              <a:t>WRAP-UP</a:t>
            </a:r>
            <a:endParaRPr lang="en-US" sz="1100" dirty="0"/>
          </a:p>
        </p:txBody>
      </p:sp>
      <p:sp>
        <p:nvSpPr>
          <p:cNvPr id="5" name="Text 1"/>
          <p:cNvSpPr/>
          <p:nvPr/>
        </p:nvSpPr>
        <p:spPr>
          <a:xfrm>
            <a:off x="502920" y="914400"/>
            <a:ext cx="7315200" cy="640080"/>
          </a:xfrm>
          <a:prstGeom prst="rect">
            <a:avLst/>
          </a:prstGeom>
          <a:noFill/>
          <a:ln/>
        </p:spPr>
        <p:txBody>
          <a:bodyPr wrap="square" lIns="0" tIns="0" rIns="0" bIns="0" rtlCol="0" anchor="ctr"/>
          <a:lstStyle/>
          <a:p>
            <a:pPr marL="0" indent="0">
              <a:buNone/>
            </a:pPr>
            <a:r>
              <a:rPr lang="en-US" sz="3400" b="1" dirty="0">
                <a:solidFill>
                  <a:srgbClr val="F0EEE6"/>
                </a:solidFill>
                <a:latin typeface="Georgia" pitchFamily="34" charset="0"/>
                <a:ea typeface="Georgia" pitchFamily="34" charset="-122"/>
                <a:cs typeface="Georgia" pitchFamily="34" charset="-120"/>
              </a:rPr>
              <a:t>Key takeaways</a:t>
            </a:r>
            <a:endParaRPr lang="en-US" sz="3400" dirty="0"/>
          </a:p>
        </p:txBody>
      </p:sp>
      <p:sp>
        <p:nvSpPr>
          <p:cNvPr id="6" name="Text 2"/>
          <p:cNvSpPr/>
          <p:nvPr/>
        </p:nvSpPr>
        <p:spPr>
          <a:xfrm>
            <a:off x="548640" y="1764792"/>
            <a:ext cx="457200" cy="365760"/>
          </a:xfrm>
          <a:prstGeom prst="rect">
            <a:avLst/>
          </a:prstGeom>
          <a:noFill/>
          <a:ln/>
        </p:spPr>
        <p:txBody>
          <a:bodyPr wrap="square" lIns="0" tIns="0" rIns="0" bIns="0" rtlCol="0" anchor="ctr"/>
          <a:lstStyle/>
          <a:p>
            <a:pPr marL="0" indent="0">
              <a:buNone/>
            </a:pPr>
            <a:r>
              <a:rPr lang="en-US" sz="1800" b="1" dirty="0">
                <a:solidFill>
                  <a:srgbClr val="D97757"/>
                </a:solidFill>
                <a:latin typeface="Georgia" pitchFamily="34" charset="0"/>
                <a:ea typeface="Georgia" pitchFamily="34" charset="-122"/>
                <a:cs typeface="Georgia" pitchFamily="34" charset="-120"/>
              </a:rPr>
              <a:t>1</a:t>
            </a:r>
            <a:endParaRPr lang="en-US" sz="1800" dirty="0"/>
          </a:p>
        </p:txBody>
      </p:sp>
      <p:sp>
        <p:nvSpPr>
          <p:cNvPr id="7" name="Text 3"/>
          <p:cNvSpPr/>
          <p:nvPr/>
        </p:nvSpPr>
        <p:spPr>
          <a:xfrm>
            <a:off x="1024128" y="1746504"/>
            <a:ext cx="7132320" cy="502920"/>
          </a:xfrm>
          <a:prstGeom prst="rect">
            <a:avLst/>
          </a:prstGeom>
          <a:noFill/>
          <a:ln/>
        </p:spPr>
        <p:txBody>
          <a:bodyPr wrap="square" lIns="0" tIns="0" rIns="0" bIns="0" rtlCol="0" anchor="t"/>
          <a:lstStyle/>
          <a:p>
            <a:pPr marL="0" indent="0">
              <a:lnSpc>
                <a:spcPct val="110000"/>
              </a:lnSpc>
              <a:buNone/>
            </a:pPr>
            <a:r>
              <a:rPr lang="en-US" sz="1250" b="1" dirty="0">
                <a:solidFill>
                  <a:srgbClr val="F0EEE6"/>
                </a:solidFill>
                <a:latin typeface="Arial" pitchFamily="34" charset="0"/>
                <a:ea typeface="Arial" pitchFamily="34" charset="-122"/>
                <a:cs typeface="Arial" pitchFamily="34" charset="-120"/>
              </a:rPr>
              <a:t>Prompts → RAG → agents   </a:t>
            </a:r>
            <a:r>
              <a:rPr lang="en-US" sz="1250" dirty="0">
                <a:solidFill>
                  <a:srgbClr val="B0AB9F"/>
                </a:solidFill>
                <a:latin typeface="Arial" pitchFamily="34" charset="0"/>
                <a:ea typeface="Arial" pitchFamily="34" charset="-122"/>
                <a:cs typeface="Arial" pitchFamily="34" charset="-120"/>
              </a:rPr>
              <a:t>Retrieval grounds the model in your data; agents let it act.</a:t>
            </a:r>
            <a:endParaRPr lang="en-US" sz="1250" dirty="0"/>
          </a:p>
        </p:txBody>
      </p:sp>
      <p:sp>
        <p:nvSpPr>
          <p:cNvPr id="8" name="Text 4"/>
          <p:cNvSpPr/>
          <p:nvPr/>
        </p:nvSpPr>
        <p:spPr>
          <a:xfrm>
            <a:off x="548640" y="2331720"/>
            <a:ext cx="457200" cy="365760"/>
          </a:xfrm>
          <a:prstGeom prst="rect">
            <a:avLst/>
          </a:prstGeom>
          <a:noFill/>
          <a:ln/>
        </p:spPr>
        <p:txBody>
          <a:bodyPr wrap="square" lIns="0" tIns="0" rIns="0" bIns="0" rtlCol="0" anchor="ctr"/>
          <a:lstStyle/>
          <a:p>
            <a:pPr marL="0" indent="0">
              <a:buNone/>
            </a:pPr>
            <a:r>
              <a:rPr lang="en-US" sz="1800" b="1" dirty="0">
                <a:solidFill>
                  <a:srgbClr val="D97757"/>
                </a:solidFill>
                <a:latin typeface="Georgia" pitchFamily="34" charset="0"/>
                <a:ea typeface="Georgia" pitchFamily="34" charset="-122"/>
                <a:cs typeface="Georgia" pitchFamily="34" charset="-120"/>
              </a:rPr>
              <a:t>2</a:t>
            </a:r>
            <a:endParaRPr lang="en-US" sz="1800" dirty="0"/>
          </a:p>
        </p:txBody>
      </p:sp>
      <p:sp>
        <p:nvSpPr>
          <p:cNvPr id="9" name="Text 5"/>
          <p:cNvSpPr/>
          <p:nvPr/>
        </p:nvSpPr>
        <p:spPr>
          <a:xfrm>
            <a:off x="1024128" y="2313432"/>
            <a:ext cx="7132320" cy="502920"/>
          </a:xfrm>
          <a:prstGeom prst="rect">
            <a:avLst/>
          </a:prstGeom>
          <a:noFill/>
          <a:ln/>
        </p:spPr>
        <p:txBody>
          <a:bodyPr wrap="square" lIns="0" tIns="0" rIns="0" bIns="0" rtlCol="0" anchor="t"/>
          <a:lstStyle/>
          <a:p>
            <a:pPr marL="0" indent="0">
              <a:lnSpc>
                <a:spcPct val="110000"/>
              </a:lnSpc>
              <a:buNone/>
            </a:pPr>
            <a:r>
              <a:rPr lang="en-US" sz="1250" b="1" dirty="0">
                <a:solidFill>
                  <a:srgbClr val="F0EEE6"/>
                </a:solidFill>
                <a:latin typeface="Arial" pitchFamily="34" charset="0"/>
                <a:ea typeface="Arial" pitchFamily="34" charset="-122"/>
                <a:cs typeface="Arial" pitchFamily="34" charset="-120"/>
              </a:rPr>
              <a:t>The loop is the difference   </a:t>
            </a:r>
            <a:r>
              <a:rPr lang="en-US" sz="1250" dirty="0">
                <a:solidFill>
                  <a:srgbClr val="B0AB9F"/>
                </a:solidFill>
                <a:latin typeface="Arial" pitchFamily="34" charset="0"/>
                <a:ea typeface="Arial" pitchFamily="34" charset="-122"/>
                <a:cs typeface="Arial" pitchFamily="34" charset="-120"/>
              </a:rPr>
              <a:t>Reason → act → observe, repeated until a stop condition — with tools as its hands.</a:t>
            </a:r>
            <a:endParaRPr lang="en-US" sz="1250" dirty="0"/>
          </a:p>
        </p:txBody>
      </p:sp>
      <p:sp>
        <p:nvSpPr>
          <p:cNvPr id="10" name="Text 6"/>
          <p:cNvSpPr/>
          <p:nvPr/>
        </p:nvSpPr>
        <p:spPr>
          <a:xfrm>
            <a:off x="548640" y="2898648"/>
            <a:ext cx="457200" cy="365760"/>
          </a:xfrm>
          <a:prstGeom prst="rect">
            <a:avLst/>
          </a:prstGeom>
          <a:noFill/>
          <a:ln/>
        </p:spPr>
        <p:txBody>
          <a:bodyPr wrap="square" lIns="0" tIns="0" rIns="0" bIns="0" rtlCol="0" anchor="ctr"/>
          <a:lstStyle/>
          <a:p>
            <a:pPr marL="0" indent="0">
              <a:buNone/>
            </a:pPr>
            <a:r>
              <a:rPr lang="en-US" sz="1800" b="1" dirty="0">
                <a:solidFill>
                  <a:srgbClr val="D97757"/>
                </a:solidFill>
                <a:latin typeface="Georgia" pitchFamily="34" charset="0"/>
                <a:ea typeface="Georgia" pitchFamily="34" charset="-122"/>
                <a:cs typeface="Georgia" pitchFamily="34" charset="-120"/>
              </a:rPr>
              <a:t>3</a:t>
            </a:r>
            <a:endParaRPr lang="en-US" sz="1800" dirty="0"/>
          </a:p>
        </p:txBody>
      </p:sp>
      <p:sp>
        <p:nvSpPr>
          <p:cNvPr id="11" name="Text 7"/>
          <p:cNvSpPr/>
          <p:nvPr/>
        </p:nvSpPr>
        <p:spPr>
          <a:xfrm>
            <a:off x="1024128" y="2880360"/>
            <a:ext cx="7132320" cy="502920"/>
          </a:xfrm>
          <a:prstGeom prst="rect">
            <a:avLst/>
          </a:prstGeom>
          <a:noFill/>
          <a:ln/>
        </p:spPr>
        <p:txBody>
          <a:bodyPr wrap="square" lIns="0" tIns="0" rIns="0" bIns="0" rtlCol="0" anchor="t"/>
          <a:lstStyle/>
          <a:p>
            <a:pPr marL="0" indent="0">
              <a:lnSpc>
                <a:spcPct val="110000"/>
              </a:lnSpc>
              <a:buNone/>
            </a:pPr>
            <a:r>
              <a:rPr lang="en-US" sz="1250" b="1" dirty="0">
                <a:solidFill>
                  <a:srgbClr val="F0EEE6"/>
                </a:solidFill>
                <a:latin typeface="Arial" pitchFamily="34" charset="0"/>
                <a:ea typeface="Arial" pitchFamily="34" charset="-122"/>
                <a:cs typeface="Arial" pitchFamily="34" charset="-120"/>
              </a:rPr>
              <a:t>Match autonomy to risk   </a:t>
            </a:r>
            <a:r>
              <a:rPr lang="en-US" sz="1250" dirty="0">
                <a:solidFill>
                  <a:srgbClr val="B0AB9F"/>
                </a:solidFill>
                <a:latin typeface="Arial" pitchFamily="34" charset="0"/>
                <a:ea typeface="Arial" pitchFamily="34" charset="-122"/>
                <a:cs typeface="Arial" pitchFamily="34" charset="-120"/>
              </a:rPr>
              <a:t>Scope what an agent can do to the blast radius of the action.</a:t>
            </a:r>
            <a:endParaRPr lang="en-US" sz="1250" dirty="0"/>
          </a:p>
        </p:txBody>
      </p:sp>
      <p:sp>
        <p:nvSpPr>
          <p:cNvPr id="12" name="Text 8"/>
          <p:cNvSpPr/>
          <p:nvPr/>
        </p:nvSpPr>
        <p:spPr>
          <a:xfrm>
            <a:off x="548640" y="3465576"/>
            <a:ext cx="457200" cy="365760"/>
          </a:xfrm>
          <a:prstGeom prst="rect">
            <a:avLst/>
          </a:prstGeom>
          <a:noFill/>
          <a:ln/>
        </p:spPr>
        <p:txBody>
          <a:bodyPr wrap="square" lIns="0" tIns="0" rIns="0" bIns="0" rtlCol="0" anchor="ctr"/>
          <a:lstStyle/>
          <a:p>
            <a:pPr marL="0" indent="0">
              <a:buNone/>
            </a:pPr>
            <a:r>
              <a:rPr lang="en-US" sz="1800" b="1" dirty="0">
                <a:solidFill>
                  <a:srgbClr val="D97757"/>
                </a:solidFill>
                <a:latin typeface="Georgia" pitchFamily="34" charset="0"/>
                <a:ea typeface="Georgia" pitchFamily="34" charset="-122"/>
                <a:cs typeface="Georgia" pitchFamily="34" charset="-120"/>
              </a:rPr>
              <a:t>4</a:t>
            </a:r>
            <a:endParaRPr lang="en-US" sz="1800" dirty="0"/>
          </a:p>
        </p:txBody>
      </p:sp>
      <p:sp>
        <p:nvSpPr>
          <p:cNvPr id="13" name="Text 9"/>
          <p:cNvSpPr/>
          <p:nvPr/>
        </p:nvSpPr>
        <p:spPr>
          <a:xfrm>
            <a:off x="1024128" y="3447288"/>
            <a:ext cx="7132320" cy="502920"/>
          </a:xfrm>
          <a:prstGeom prst="rect">
            <a:avLst/>
          </a:prstGeom>
          <a:noFill/>
          <a:ln/>
        </p:spPr>
        <p:txBody>
          <a:bodyPr wrap="square" lIns="0" tIns="0" rIns="0" bIns="0" rtlCol="0" anchor="t"/>
          <a:lstStyle/>
          <a:p>
            <a:pPr marL="0" indent="0">
              <a:lnSpc>
                <a:spcPct val="110000"/>
              </a:lnSpc>
              <a:buNone/>
            </a:pPr>
            <a:r>
              <a:rPr lang="en-US" sz="1250" b="1" dirty="0">
                <a:solidFill>
                  <a:srgbClr val="F0EEE6"/>
                </a:solidFill>
                <a:latin typeface="Arial" pitchFamily="34" charset="0"/>
                <a:ea typeface="Arial" pitchFamily="34" charset="-122"/>
                <a:cs typeface="Arial" pitchFamily="34" charset="-120"/>
              </a:rPr>
              <a:t>MCP standardises the plumbing   </a:t>
            </a:r>
            <a:r>
              <a:rPr lang="en-US" sz="1250" dirty="0">
                <a:solidFill>
                  <a:srgbClr val="B0AB9F"/>
                </a:solidFill>
                <a:latin typeface="Arial" pitchFamily="34" charset="0"/>
                <a:ea typeface="Arial" pitchFamily="34" charset="-122"/>
                <a:cs typeface="Arial" pitchFamily="34" charset="-120"/>
              </a:rPr>
              <a:t>An MCP server exposes tools, resources, and prompts to any client.</a:t>
            </a:r>
            <a:endParaRPr lang="en-US" sz="1250" dirty="0"/>
          </a:p>
        </p:txBody>
      </p:sp>
      <p:sp>
        <p:nvSpPr>
          <p:cNvPr id="14" name="Text 10"/>
          <p:cNvSpPr/>
          <p:nvPr/>
        </p:nvSpPr>
        <p:spPr>
          <a:xfrm>
            <a:off x="548640" y="4032504"/>
            <a:ext cx="457200" cy="365760"/>
          </a:xfrm>
          <a:prstGeom prst="rect">
            <a:avLst/>
          </a:prstGeom>
          <a:noFill/>
          <a:ln/>
        </p:spPr>
        <p:txBody>
          <a:bodyPr wrap="square" lIns="0" tIns="0" rIns="0" bIns="0" rtlCol="0" anchor="ctr"/>
          <a:lstStyle/>
          <a:p>
            <a:pPr marL="0" indent="0">
              <a:buNone/>
            </a:pPr>
            <a:r>
              <a:rPr lang="en-US" sz="1800" b="1" dirty="0">
                <a:solidFill>
                  <a:srgbClr val="D97757"/>
                </a:solidFill>
                <a:latin typeface="Georgia" pitchFamily="34" charset="0"/>
                <a:ea typeface="Georgia" pitchFamily="34" charset="-122"/>
                <a:cs typeface="Georgia" pitchFamily="34" charset="-120"/>
              </a:rPr>
              <a:t>5</a:t>
            </a:r>
            <a:endParaRPr lang="en-US" sz="1800" dirty="0"/>
          </a:p>
        </p:txBody>
      </p:sp>
      <p:sp>
        <p:nvSpPr>
          <p:cNvPr id="15" name="Text 11"/>
          <p:cNvSpPr/>
          <p:nvPr/>
        </p:nvSpPr>
        <p:spPr>
          <a:xfrm>
            <a:off x="1024128" y="4014216"/>
            <a:ext cx="7132320" cy="502920"/>
          </a:xfrm>
          <a:prstGeom prst="rect">
            <a:avLst/>
          </a:prstGeom>
          <a:noFill/>
          <a:ln/>
        </p:spPr>
        <p:txBody>
          <a:bodyPr wrap="square" lIns="0" tIns="0" rIns="0" bIns="0" rtlCol="0" anchor="t"/>
          <a:lstStyle/>
          <a:p>
            <a:pPr marL="0" indent="0">
              <a:lnSpc>
                <a:spcPct val="110000"/>
              </a:lnSpc>
              <a:buNone/>
            </a:pPr>
            <a:r>
              <a:rPr lang="en-US" sz="1250" b="1" dirty="0">
                <a:solidFill>
                  <a:srgbClr val="F0EEE6"/>
                </a:solidFill>
                <a:latin typeface="Arial" pitchFamily="34" charset="0"/>
                <a:ea typeface="Arial" pitchFamily="34" charset="-122"/>
                <a:cs typeface="Arial" pitchFamily="34" charset="-120"/>
              </a:rPr>
              <a:t>Workflows &amp; review evolve   </a:t>
            </a:r>
            <a:r>
              <a:rPr lang="en-US" sz="1250" dirty="0">
                <a:solidFill>
                  <a:srgbClr val="B0AB9F"/>
                </a:solidFill>
                <a:latin typeface="Arial" pitchFamily="34" charset="0"/>
                <a:ea typeface="Arial" pitchFamily="34" charset="-122"/>
                <a:cs typeface="Arial" pitchFamily="34" charset="-120"/>
              </a:rPr>
              <a:t>Direct and verify more than you type; keep humans on the merge.</a:t>
            </a:r>
            <a:endParaRPr lang="en-US" sz="1250" dirty="0"/>
          </a:p>
        </p:txBody>
      </p:sp>
      <p:sp>
        <p:nvSpPr>
          <p:cNvPr id="16" name="Shape 12"/>
          <p:cNvSpPr/>
          <p:nvPr/>
        </p:nvSpPr>
        <p:spPr>
          <a:xfrm>
            <a:off x="548640" y="4736592"/>
            <a:ext cx="8046720" cy="0"/>
          </a:xfrm>
          <a:prstGeom prst="line">
            <a:avLst/>
          </a:prstGeom>
          <a:noFill/>
          <a:ln w="12700">
            <a:solidFill>
              <a:srgbClr val="3A3833"/>
            </a:solidFill>
            <a:prstDash val="solid"/>
          </a:ln>
        </p:spPr>
        <p:txBody>
          <a:bodyPr/>
          <a:lstStyle/>
          <a:p>
            <a:endParaRPr lang="en-IN"/>
          </a:p>
        </p:txBody>
      </p:sp>
      <p:sp>
        <p:nvSpPr>
          <p:cNvPr id="17" name="Text 13"/>
          <p:cNvSpPr/>
          <p:nvPr/>
        </p:nvSpPr>
        <p:spPr>
          <a:xfrm>
            <a:off x="548640" y="4773168"/>
            <a:ext cx="8046720" cy="274320"/>
          </a:xfrm>
          <a:prstGeom prst="rect">
            <a:avLst/>
          </a:prstGeom>
          <a:noFill/>
          <a:ln/>
        </p:spPr>
        <p:txBody>
          <a:bodyPr wrap="square" lIns="0" tIns="0" rIns="0" bIns="0" rtlCol="0" anchor="ctr"/>
          <a:lstStyle/>
          <a:p>
            <a:pPr marL="0" indent="0">
              <a:buNone/>
            </a:pPr>
            <a:r>
              <a:rPr lang="en-US" sz="900" dirty="0">
                <a:solidFill>
                  <a:srgbClr val="8A867C"/>
                </a:solidFill>
                <a:latin typeface="Arial" pitchFamily="34" charset="0"/>
                <a:ea typeface="Arial" pitchFamily="34" charset="-122"/>
                <a:cs typeface="Arial" pitchFamily="34" charset="-120"/>
              </a:rPr>
              <a:t>Claude Training  ·  From Prompts to Agents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781</TotalTime>
  <Words>4245</Words>
  <Application>Microsoft Office PowerPoint</Application>
  <PresentationFormat>On-screen Show (16:9)</PresentationFormat>
  <Paragraphs>345</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Nikhil Shah</dc:creator>
  <cp:lastModifiedBy>Nikhil Shah</cp:lastModifiedBy>
  <cp:revision>5</cp:revision>
  <dcterms:created xsi:type="dcterms:W3CDTF">2026-06-28T07:27:14Z</dcterms:created>
  <dcterms:modified xsi:type="dcterms:W3CDTF">2026-07-01T03:12:37Z</dcterms:modified>
</cp:coreProperties>
</file>