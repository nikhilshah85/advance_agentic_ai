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66466" autoAdjust="0"/>
  </p:normalViewPr>
  <p:slideViewPr>
    <p:cSldViewPr snapToGrid="0">
      <p:cViewPr varScale="1">
        <p:scale>
          <a:sx n="60" d="100"/>
          <a:sy n="60" d="100"/>
        </p:scale>
        <p:origin x="1341"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Claude Cowork developer training. This session is for engineers who will actually build with Claude — through the API, Claude Code, and the desktop assistant. We'll cover four things: the Opus/Sonnet/Haiku model family and what sets them apart; the surfaces you access Claude through; where Claude sits relative to GitHub Copilot, cloud-hosted models, and other tools; and a practical framework for picking the right tool for each task based on capability, context length, latency, and cost. All figures reflect the Claude lineup as of mid-2026.</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roadmap. We start with the model family because every downstream decision — which surface, which competitor comparison, which task routing — comes back to picking the right model. Then we walk the surfaces you'll use day to day, place Claude in the broader tooling landscape, and finish with a concrete selection framework you can apply immediately. Keep the four levers from topic four in mind throughout: capability, context length, latency, and cost.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mental model is a spectrum of intelligence, speed, and cost. Haiku is the speed tier — built for everyday requests, and notably Haiku 4.5 rivals the reasoning of the older Sonnet 4.0, so it is far more capable than 'cheap' implies. Sonnet is the daily driver and your default; most problems never outgrow it, and it handles computer use, vision, and document creation. Opus is the reasoning specialist you reserve for genuinely hard problems. Prices shown are API input/output per million tokens. Fable is the newest, most autonomous tier for your largest projects — useful to know it exists, but Opus, Sonnet, and Haiku cover the vast majority of work.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at-a-glance reference. Prices are per million tokens, input then output. All three current models share a 200K-token context window, with a one-million-token beta available on Sonnet and Opus for large codebases and document sets. Latency rises as you move right, but so does reasoning depth. Two important levers live in the bottom rows: the effort parameter, which trades intelligence for latency and cost inside a single model, and fast mode on Opus, which delivers up to 2.5x output speed at premium pricing. Often tuning effort is a better move than switching models entirely.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Differentiation isn't only across models — it's also within a model. The left card is the classic trade-off: capability, speed, and cost move together as you change tiers, with roughly a five-fold output-price spread from Haiku to Opus. The right column is what experienced teams actually reach for first. The effort parameter trades intelligence for latency and cost inside one model and is frequently a better lever than jumping tiers. Fast mode buys speed on Opus without downgrading. Prompt caching and the Batch API are your biggest cost wins — up to 90% and 50% respectively. And be aware the newer Opus tokenizer can consume up to 35% more tokens, which matters for budgeting.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shows up through four surfaces, and most developers use several. Chat is the claude.ai app — the quickest way to explore, with the free tier covering Haiku and Sonnet and paid tiers adding Opus and Fable. The API is how you build Claude into your own products, and it's where the optimization features live: prompt caching, batch, MCP connectors, Managed Agents, and the effort parameter. Claude Code is the terminal-first agentic coding tool with full-codebase awareness. And the desktop assistant wraps three tabs — Chat, Cowork, and Code — into one app, with Cowork being the home for Dispatch and longer-running agentic work. That Cowork tab is the namesake of this training.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desktop assistant is one app with three tabs. Chat is conversation, Code is dedicated software-development sessions, and Cowork sits in the middle for Dispatch and longer agentic work — you describe the outcome and Claude plans, executes, and checks its own work. For developers the desktop app adds real muscle: parallel sessions each isolated by Git so you can run multiple efforts safely; an integrated terminal, file editor, diff review, and live app preview; computer use to drive apps directly; connectors for GitHub, Slack, and Linear with PR monitoring through CI; the choice to run locally, in the cloud, or over SSH; and the ability to dispatch and monitor runs from your phone. Note the desktop app is macOS and Windows — on Linux, use the CLI.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think of this as a winner-take-all comparison — most teams combine these. Claude is the reasoning and agentic layer: codebase-level understanding and autonomous multi-file work. GitHub Copilot owns in-IDE inline completion and is the most widely adopted assistant; tellingly, it can run Claude models itself, so it's as much a delivery surface as a competitor. Cloud-hosted models — Claude on Bedrock and Vertex — aren't a different intelligence; they're the same Claude deployed inside your cloud's data boundary and billing. And the long tail of tools like Codex, Cursor, Kiro, and Codeium each win a specific niche, while Claude's edge is depth of reasoning and agentic autonomy. The next slides zoom into the two comparisons developers ask about most.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get compared constantly, but they optimize for different moments. Copilot is the inline-completion standard: it lives in your editor, suggests as you type, and is unmatched for fast in-flow coding plus enterprise governance and broad IDE support. Claude Code is terminal-first and agentic — it reads the whole codebase through agentic search, coordinates multi-file changes, runs tests, and opens PRs with high autonomy. Rule of thumb: Copilot to accelerate the code you're actively writing; Claude Code to hand off a whole task and review the result. They coexist well, and Copilot can even call Claude models under the hood.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someone asks 'should we run Claude on Bedrock or direct?', the surprising answer is that per-token price is identical across all three paths. What differs is everything around the tokens. Bedrock keeps data inside the AWS boundary, uses IAM auth and CloudTrail, and offers provisioned throughput and guardrails — but new Claude features can lag by days to weeks. The Claude Platform on AWS is Anthropic-operated, billed through AWS Marketplace in consumption units, and gets features same-day. The direct API is the simplest path to same-day features, web search, Managed Agents, and MCP. Vertex AI mirrors this for GCP teams. So the decision is governance and data residency, not cost — choose the path that matches the cloud you already operate 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framework to apply on every task. Capability: match the model's intelligence to how hard the task really is — a good default is to start on Haiku and upgrade only when it falls short, or start on Opus for hard problems and optimize down later; and tune effort before changing tiers. Context length: 200K handles most work, the 1M beta is there for large codebases, and caching repeated context cuts cost dramatically. Latency: Haiku for real-time and high-volume, fast mode or lower effort when Opus needs to be quicker. Cost: there's a five-fold output spread across tiers, and batch plus caching are your two biggest savings levers. These four rarely point the same direction — the skill is balancing them for the specific job.</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screenshot. Read it top to bottom as a routing table. For high-volume quick tasks, Haiku; for the broad middle of everyday engineering, Sonnet as your default; for the genuinely hard problems, Opus with effort and fast mode; and for the largest autonomous projects, Fable. On surfaces: Copilot when you want inline completion in your editor, Claude Code or the Cowork tab when you want to hand off a whole multi-file task and review PRs, and Bedrock or Vertex when data boundary and cloud governance drive the decision. Start cheap, measure, and escalate only when the task demands 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five things to carry out of this session. One: default to Sonnet, drop to Haiku for speed and volume, and reserve Opus for genuinely hard work. Two: tune effort, fast mode, caching, and batch before you switch models — those levers often deliver what you need and can cut cost up to ninety percent. Three: pick the surface for the job — chat to explore, the API to build, Claude Code and the Cowork tab to hand off whole tasks. Four: Claude is the reasoning and agentic layer; Copilot accelerates in-IDE coding and Bedrock and Vertex are deployment paths for the same model inside your data boundary. Five: balance capability, context length, latency, and cost on every task, and start cheap. Thanks — let's open it up for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7394462"/>
      </p:ext>
    </p:ext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1E1D"/>
        </a:solidFill>
        <a:effectLst/>
      </p:bgPr>
    </p:bg>
    <p:spTree>
      <p:nvGrpSpPr>
        <p:cNvPr id="1" name=""/>
        <p:cNvGrpSpPr/>
        <p:nvPr/>
      </p:nvGrpSpPr>
      <p:grpSpPr>
        <a:xfrm>
          <a:off x="0" y="0"/>
          <a:ext cx="0" cy="0"/>
          <a:chOff x="0" y="0"/>
          <a:chExt cx="0" cy="0"/>
        </a:xfrm>
      </p:grpSpPr>
      <p:pic>
        <p:nvPicPr>
          <p:cNvPr id="2" name="Image 0" descr="/agent/turn1/workspace/assets/spark_coral.png"/>
          <p:cNvPicPr>
            <a:picLocks noChangeAspect="1"/>
          </p:cNvPicPr>
          <p:nvPr/>
        </p:nvPicPr>
        <p:blipFill>
          <a:blip r:embed="rId3">
            <a:alphaModFix amt="14000"/>
          </a:blip>
          <a:stretch>
            <a:fillRect/>
          </a:stretch>
        </p:blipFill>
        <p:spPr>
          <a:xfrm>
            <a:off x="7955280" y="365760"/>
            <a:ext cx="4236415" cy="6035040"/>
          </a:xfrm>
          <a:prstGeom prst="rect">
            <a:avLst/>
          </a:prstGeom>
        </p:spPr>
      </p:pic>
      <p:pic>
        <p:nvPicPr>
          <p:cNvPr id="3" name="Image 1" descr="/agent/turn1/workspace/assets/spark_coral.png"/>
          <p:cNvPicPr>
            <a:picLocks noChangeAspect="1"/>
          </p:cNvPicPr>
          <p:nvPr/>
        </p:nvPicPr>
        <p:blipFill>
          <a:blip r:embed="rId3"/>
          <a:stretch>
            <a:fillRect/>
          </a:stretch>
        </p:blipFill>
        <p:spPr>
          <a:xfrm>
            <a:off x="868680" y="841248"/>
            <a:ext cx="566928" cy="566928"/>
          </a:xfrm>
          <a:prstGeom prst="rect">
            <a:avLst/>
          </a:prstGeom>
        </p:spPr>
      </p:pic>
      <p:sp>
        <p:nvSpPr>
          <p:cNvPr id="4" name="Text 0"/>
          <p:cNvSpPr/>
          <p:nvPr/>
        </p:nvSpPr>
        <p:spPr>
          <a:xfrm>
            <a:off x="1554480" y="914400"/>
            <a:ext cx="7315200" cy="411480"/>
          </a:xfrm>
          <a:prstGeom prst="rect">
            <a:avLst/>
          </a:prstGeom>
          <a:noFill/>
          <a:ln/>
        </p:spPr>
        <p:txBody>
          <a:bodyPr wrap="square" lIns="0" tIns="0" rIns="0" bIns="0" rtlCol="0" anchor="ctr"/>
          <a:lstStyle/>
          <a:p>
            <a:pPr marL="0" indent="0">
              <a:buNone/>
            </a:pPr>
            <a:r>
              <a:rPr lang="en-US" sz="1300" b="1" kern="0" spc="300" dirty="0">
                <a:solidFill>
                  <a:srgbClr val="D97757"/>
                </a:solidFill>
                <a:latin typeface="Calibri" pitchFamily="34" charset="0"/>
                <a:ea typeface="Calibri" pitchFamily="34" charset="-122"/>
                <a:cs typeface="Calibri" pitchFamily="34" charset="-120"/>
              </a:rPr>
              <a:t>ANTHROPIC  ·  CLAUDE</a:t>
            </a:r>
            <a:endParaRPr lang="en-US" sz="1300" dirty="0"/>
          </a:p>
        </p:txBody>
      </p:sp>
      <p:sp>
        <p:nvSpPr>
          <p:cNvPr id="5" name="Text 1"/>
          <p:cNvSpPr/>
          <p:nvPr/>
        </p:nvSpPr>
        <p:spPr>
          <a:xfrm>
            <a:off x="841248" y="2331720"/>
            <a:ext cx="10515600" cy="1143000"/>
          </a:xfrm>
          <a:prstGeom prst="rect">
            <a:avLst/>
          </a:prstGeom>
          <a:noFill/>
          <a:ln/>
        </p:spPr>
        <p:txBody>
          <a:bodyPr wrap="square" lIns="0" tIns="0" rIns="0" bIns="0" rtlCol="0" anchor="ctr"/>
          <a:lstStyle/>
          <a:p>
            <a:pPr marL="0" indent="0">
              <a:buNone/>
            </a:pPr>
            <a:r>
              <a:rPr lang="en-US" sz="6600" b="1" dirty="0">
                <a:solidFill>
                  <a:srgbClr val="F0EEE6"/>
                </a:solidFill>
                <a:latin typeface="Georgia" pitchFamily="34" charset="0"/>
                <a:ea typeface="Georgia" pitchFamily="34" charset="-122"/>
                <a:cs typeface="Georgia" pitchFamily="34" charset="-120"/>
              </a:rPr>
              <a:t>Claude World</a:t>
            </a:r>
            <a:endParaRPr lang="en-US" sz="6600" dirty="0"/>
          </a:p>
        </p:txBody>
      </p:sp>
      <p:sp>
        <p:nvSpPr>
          <p:cNvPr id="6" name="Text 2"/>
          <p:cNvSpPr/>
          <p:nvPr/>
        </p:nvSpPr>
        <p:spPr>
          <a:xfrm>
            <a:off x="868680" y="3611880"/>
            <a:ext cx="7955280" cy="914400"/>
          </a:xfrm>
          <a:prstGeom prst="rect">
            <a:avLst/>
          </a:prstGeom>
          <a:noFill/>
          <a:ln/>
        </p:spPr>
        <p:txBody>
          <a:bodyPr wrap="square" lIns="0" tIns="0" rIns="0" bIns="0" rtlCol="0" anchor="ctr"/>
          <a:lstStyle/>
          <a:p>
            <a:pPr marL="0" indent="0">
              <a:lnSpc>
                <a:spcPct val="108000"/>
              </a:lnSpc>
              <a:buNone/>
            </a:pPr>
            <a:r>
              <a:rPr lang="en-US" sz="2100" i="1" dirty="0">
                <a:solidFill>
                  <a:srgbClr val="C9C7BE"/>
                </a:solidFill>
                <a:latin typeface="Georgia" pitchFamily="34" charset="0"/>
                <a:ea typeface="Georgia" pitchFamily="34" charset="-122"/>
                <a:cs typeface="Georgia" pitchFamily="34" charset="-120"/>
              </a:rPr>
              <a:t>A working guide to the model family, access surfaces, and choosing the right tool for the job</a:t>
            </a:r>
            <a:endParaRPr lang="en-US" sz="2100" dirty="0"/>
          </a:p>
        </p:txBody>
      </p:sp>
      <p:sp>
        <p:nvSpPr>
          <p:cNvPr id="7" name="Text 3"/>
          <p:cNvSpPr/>
          <p:nvPr/>
        </p:nvSpPr>
        <p:spPr>
          <a:xfrm>
            <a:off x="868680" y="5806440"/>
            <a:ext cx="8229600" cy="365760"/>
          </a:xfrm>
          <a:prstGeom prst="rect">
            <a:avLst/>
          </a:prstGeom>
          <a:noFill/>
          <a:ln/>
        </p:spPr>
        <p:txBody>
          <a:bodyPr wrap="square" lIns="0" tIns="0" rIns="0" bIns="0" rtlCol="0" anchor="ctr"/>
          <a:lstStyle/>
          <a:p>
            <a:pPr marL="0" indent="0">
              <a:buNone/>
            </a:pPr>
            <a:r>
              <a:rPr lang="en-US" sz="1400" b="1" dirty="0">
                <a:solidFill>
                  <a:srgbClr val="F0EEE6"/>
                </a:solidFill>
                <a:latin typeface="Calibri" pitchFamily="34" charset="0"/>
                <a:ea typeface="Calibri" pitchFamily="34" charset="-122"/>
                <a:cs typeface="Calibri" pitchFamily="34" charset="-120"/>
              </a:rPr>
              <a:t>Developer enablement</a:t>
            </a:r>
            <a:r>
              <a:rPr lang="en-US" sz="1400" dirty="0">
                <a:solidFill>
                  <a:srgbClr val="9B9A92"/>
                </a:solidFill>
                <a:latin typeface="Calibri" pitchFamily="34" charset="0"/>
                <a:ea typeface="Calibri" pitchFamily="34" charset="-122"/>
                <a:cs typeface="Calibri" pitchFamily="34" charset="-120"/>
              </a:rPr>
              <a:t>   ·   Technical training session</a:t>
            </a:r>
            <a:endParaRPr lang="en-US" sz="1400" dirty="0"/>
          </a:p>
        </p:txBody>
      </p:sp>
      <p:sp>
        <p:nvSpPr>
          <p:cNvPr id="8" name="Text 4"/>
          <p:cNvSpPr/>
          <p:nvPr/>
        </p:nvSpPr>
        <p:spPr>
          <a:xfrm>
            <a:off x="9418320" y="5806440"/>
            <a:ext cx="1920240" cy="365760"/>
          </a:xfrm>
          <a:prstGeom prst="rect">
            <a:avLst/>
          </a:prstGeom>
          <a:noFill/>
          <a:ln/>
        </p:spPr>
        <p:txBody>
          <a:bodyPr wrap="square" lIns="0" tIns="0" rIns="0" bIns="0" rtlCol="0" anchor="ctr"/>
          <a:lstStyle/>
          <a:p>
            <a:pPr marL="0" indent="0" algn="r">
              <a:buNone/>
            </a:pPr>
            <a:r>
              <a:rPr lang="en-US" sz="1400" dirty="0">
                <a:solidFill>
                  <a:srgbClr val="9B9A92"/>
                </a:solidFill>
                <a:latin typeface="Calibri" pitchFamily="34" charset="0"/>
                <a:ea typeface="Calibri" pitchFamily="34" charset="-122"/>
                <a:cs typeface="Calibri" pitchFamily="34" charset="-120"/>
              </a:rPr>
              <a:t>June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EEE6"/>
        </a:solidFill>
        <a:effectLst/>
      </p:bgPr>
    </p:bg>
    <p:spTree>
      <p:nvGrpSpPr>
        <p:cNvPr id="1" name=""/>
        <p:cNvGrpSpPr/>
        <p:nvPr/>
      </p:nvGrpSpPr>
      <p:grpSpPr>
        <a:xfrm>
          <a:off x="0" y="0"/>
          <a:ext cx="0" cy="0"/>
          <a:chOff x="0" y="0"/>
          <a:chExt cx="0" cy="0"/>
        </a:xfrm>
      </p:grpSpPr>
      <p:sp>
        <p:nvSpPr>
          <p:cNvPr id="2" name="Text 0"/>
          <p:cNvSpPr/>
          <p:nvPr/>
        </p:nvSpPr>
        <p:spPr>
          <a:xfrm>
            <a:off x="566928" y="457200"/>
            <a:ext cx="10058400" cy="274320"/>
          </a:xfrm>
          <a:prstGeom prst="rect">
            <a:avLst/>
          </a:prstGeom>
          <a:noFill/>
          <a:ln/>
        </p:spPr>
        <p:txBody>
          <a:bodyPr wrap="square" lIns="0" tIns="0" rIns="0" bIns="0" rtlCol="0" anchor="ctr"/>
          <a:lstStyle/>
          <a:p>
            <a:pPr marL="0" indent="0" algn="l">
              <a:buNone/>
            </a:pPr>
            <a:r>
              <a:rPr lang="en-US" sz="1200" b="1" kern="0" spc="250" dirty="0">
                <a:solidFill>
                  <a:srgbClr val="D97757"/>
                </a:solidFill>
                <a:latin typeface="Calibri" pitchFamily="34" charset="0"/>
                <a:ea typeface="Calibri" pitchFamily="34" charset="-122"/>
                <a:cs typeface="Calibri" pitchFamily="34" charset="-120"/>
              </a:rPr>
              <a:t>SESSION OVERVIEW</a:t>
            </a:r>
            <a:endParaRPr lang="en-US" sz="1200" dirty="0"/>
          </a:p>
        </p:txBody>
      </p:sp>
      <p:sp>
        <p:nvSpPr>
          <p:cNvPr id="3" name="Text 1"/>
          <p:cNvSpPr/>
          <p:nvPr/>
        </p:nvSpPr>
        <p:spPr>
          <a:xfrm>
            <a:off x="566928" y="749808"/>
            <a:ext cx="11064240" cy="777240"/>
          </a:xfrm>
          <a:prstGeom prst="rect">
            <a:avLst/>
          </a:prstGeom>
          <a:noFill/>
          <a:ln/>
        </p:spPr>
        <p:txBody>
          <a:bodyPr wrap="square" lIns="0" tIns="0" rIns="0" bIns="0" rtlCol="0" anchor="t"/>
          <a:lstStyle/>
          <a:p>
            <a:pPr marL="0" indent="0" algn="l">
              <a:lnSpc>
                <a:spcPct val="98000"/>
              </a:lnSpc>
              <a:buNone/>
            </a:pPr>
            <a:r>
              <a:rPr lang="en-US" sz="3000" b="1" dirty="0">
                <a:solidFill>
                  <a:srgbClr val="1F1E1D"/>
                </a:solidFill>
                <a:latin typeface="Georgia" pitchFamily="34" charset="0"/>
                <a:ea typeface="Georgia" pitchFamily="34" charset="-122"/>
                <a:cs typeface="Georgia" pitchFamily="34" charset="-120"/>
              </a:rPr>
              <a:t>What we'll cover</a:t>
            </a:r>
            <a:endParaRPr lang="en-US" sz="3000" dirty="0"/>
          </a:p>
        </p:txBody>
      </p:sp>
      <p:sp>
        <p:nvSpPr>
          <p:cNvPr id="4" name="Shape 2"/>
          <p:cNvSpPr/>
          <p:nvPr/>
        </p:nvSpPr>
        <p:spPr>
          <a:xfrm>
            <a:off x="566928" y="1810512"/>
            <a:ext cx="11064240" cy="914400"/>
          </a:xfrm>
          <a:prstGeom prst="roundRect">
            <a:avLst>
              <a:gd name="adj" fmla="val 9000"/>
            </a:avLst>
          </a:prstGeom>
          <a:solidFill>
            <a:srgbClr val="FAF9F5"/>
          </a:solidFill>
          <a:ln w="12700">
            <a:solidFill>
              <a:srgbClr val="E3E0D6"/>
            </a:solidFill>
            <a:prstDash val="solid"/>
          </a:ln>
          <a:effectLst>
            <a:outerShdw blurRad="114300" dist="38100" dir="5400000" algn="bl" rotWithShape="0">
              <a:srgbClr val="1F1E1D">
                <a:alpha val="10000"/>
              </a:srgbClr>
            </a:outerShdw>
          </a:effectLst>
        </p:spPr>
        <p:txBody>
          <a:bodyPr/>
          <a:lstStyle/>
          <a:p>
            <a:endParaRPr lang="en-IN"/>
          </a:p>
        </p:txBody>
      </p:sp>
      <p:sp>
        <p:nvSpPr>
          <p:cNvPr id="5" name="Text 3"/>
          <p:cNvSpPr/>
          <p:nvPr/>
        </p:nvSpPr>
        <p:spPr>
          <a:xfrm>
            <a:off x="868680" y="1810512"/>
            <a:ext cx="1371600" cy="914400"/>
          </a:xfrm>
          <a:prstGeom prst="rect">
            <a:avLst/>
          </a:prstGeom>
          <a:noFill/>
          <a:ln/>
        </p:spPr>
        <p:txBody>
          <a:bodyPr wrap="square" lIns="0" tIns="0" rIns="0" bIns="0" rtlCol="0" anchor="ctr"/>
          <a:lstStyle/>
          <a:p>
            <a:pPr marL="0" indent="0" algn="l">
              <a:buNone/>
            </a:pPr>
            <a:r>
              <a:rPr lang="en-US" sz="4000" b="1" dirty="0">
                <a:solidFill>
                  <a:srgbClr val="D97757"/>
                </a:solidFill>
                <a:latin typeface="Georgia" pitchFamily="34" charset="0"/>
                <a:ea typeface="Georgia" pitchFamily="34" charset="-122"/>
                <a:cs typeface="Georgia" pitchFamily="34" charset="-120"/>
              </a:rPr>
              <a:t>01</a:t>
            </a:r>
            <a:endParaRPr lang="en-US" sz="4000" dirty="0"/>
          </a:p>
        </p:txBody>
      </p:sp>
      <p:sp>
        <p:nvSpPr>
          <p:cNvPr id="6" name="Text 4"/>
          <p:cNvSpPr/>
          <p:nvPr/>
        </p:nvSpPr>
        <p:spPr>
          <a:xfrm>
            <a:off x="2286000" y="1956816"/>
            <a:ext cx="3383280" cy="640080"/>
          </a:xfrm>
          <a:prstGeom prst="rect">
            <a:avLst/>
          </a:prstGeom>
          <a:noFill/>
          <a:ln/>
        </p:spPr>
        <p:txBody>
          <a:bodyPr wrap="square" lIns="0" tIns="0" rIns="0" bIns="0" rtlCol="0" anchor="ctr"/>
          <a:lstStyle/>
          <a:p>
            <a:pPr marL="0" indent="0">
              <a:buNone/>
            </a:pPr>
            <a:r>
              <a:rPr lang="en-US" sz="1900" b="1" dirty="0">
                <a:solidFill>
                  <a:srgbClr val="1F1E1D"/>
                </a:solidFill>
                <a:latin typeface="Georgia" pitchFamily="34" charset="0"/>
                <a:ea typeface="Georgia" pitchFamily="34" charset="-122"/>
                <a:cs typeface="Georgia" pitchFamily="34" charset="-120"/>
              </a:rPr>
              <a:t>The model family</a:t>
            </a:r>
            <a:endParaRPr lang="en-US" sz="1900" dirty="0"/>
          </a:p>
        </p:txBody>
      </p:sp>
      <p:sp>
        <p:nvSpPr>
          <p:cNvPr id="7" name="Text 5"/>
          <p:cNvSpPr/>
          <p:nvPr/>
        </p:nvSpPr>
        <p:spPr>
          <a:xfrm>
            <a:off x="5806440" y="1956816"/>
            <a:ext cx="5532120" cy="640080"/>
          </a:xfrm>
          <a:prstGeom prst="rect">
            <a:avLst/>
          </a:prstGeom>
          <a:noFill/>
          <a:ln/>
        </p:spPr>
        <p:txBody>
          <a:bodyPr wrap="square" lIns="0" tIns="0" rIns="0" bIns="0" rtlCol="0" anchor="ctr"/>
          <a:lstStyle/>
          <a:p>
            <a:pPr>
              <a:lnSpc>
                <a:spcPct val="105000"/>
              </a:lnSpc>
            </a:pPr>
            <a:r>
              <a:rPr lang="en-US" sz="1350" dirty="0">
                <a:solidFill>
                  <a:srgbClr val="3A3835"/>
                </a:solidFill>
                <a:latin typeface="Calibri" pitchFamily="34" charset="0"/>
                <a:ea typeface="Calibri" pitchFamily="34" charset="-122"/>
                <a:cs typeface="Calibri" pitchFamily="34" charset="-120"/>
              </a:rPr>
              <a:t>Haiku , Sonnet  and Opus— what each tier is built for and what differentiates them.</a:t>
            </a:r>
            <a:endParaRPr lang="en-US" sz="1350" dirty="0"/>
          </a:p>
        </p:txBody>
      </p:sp>
      <p:sp>
        <p:nvSpPr>
          <p:cNvPr id="8" name="Shape 6"/>
          <p:cNvSpPr/>
          <p:nvPr/>
        </p:nvSpPr>
        <p:spPr>
          <a:xfrm>
            <a:off x="566928" y="2926080"/>
            <a:ext cx="11064240" cy="914400"/>
          </a:xfrm>
          <a:prstGeom prst="roundRect">
            <a:avLst>
              <a:gd name="adj" fmla="val 9000"/>
            </a:avLst>
          </a:prstGeom>
          <a:solidFill>
            <a:srgbClr val="FAF9F5"/>
          </a:solidFill>
          <a:ln w="12700">
            <a:solidFill>
              <a:srgbClr val="E3E0D6"/>
            </a:solidFill>
            <a:prstDash val="solid"/>
          </a:ln>
          <a:effectLst>
            <a:outerShdw blurRad="114300" dist="38100" dir="5400000" algn="bl" rotWithShape="0">
              <a:srgbClr val="1F1E1D">
                <a:alpha val="10000"/>
              </a:srgbClr>
            </a:outerShdw>
          </a:effectLst>
        </p:spPr>
        <p:txBody>
          <a:bodyPr/>
          <a:lstStyle/>
          <a:p>
            <a:endParaRPr lang="en-IN"/>
          </a:p>
        </p:txBody>
      </p:sp>
      <p:sp>
        <p:nvSpPr>
          <p:cNvPr id="9" name="Text 7"/>
          <p:cNvSpPr/>
          <p:nvPr/>
        </p:nvSpPr>
        <p:spPr>
          <a:xfrm>
            <a:off x="868680" y="2926080"/>
            <a:ext cx="1371600" cy="914400"/>
          </a:xfrm>
          <a:prstGeom prst="rect">
            <a:avLst/>
          </a:prstGeom>
          <a:noFill/>
          <a:ln/>
        </p:spPr>
        <p:txBody>
          <a:bodyPr wrap="square" lIns="0" tIns="0" rIns="0" bIns="0" rtlCol="0" anchor="ctr"/>
          <a:lstStyle/>
          <a:p>
            <a:pPr marL="0" indent="0" algn="l">
              <a:buNone/>
            </a:pPr>
            <a:r>
              <a:rPr lang="en-US" sz="4000" b="1" dirty="0">
                <a:solidFill>
                  <a:srgbClr val="D97757"/>
                </a:solidFill>
                <a:latin typeface="Georgia" pitchFamily="34" charset="0"/>
                <a:ea typeface="Georgia" pitchFamily="34" charset="-122"/>
                <a:cs typeface="Georgia" pitchFamily="34" charset="-120"/>
              </a:rPr>
              <a:t>02</a:t>
            </a:r>
            <a:endParaRPr lang="en-US" sz="4000" dirty="0"/>
          </a:p>
        </p:txBody>
      </p:sp>
      <p:sp>
        <p:nvSpPr>
          <p:cNvPr id="10" name="Text 8"/>
          <p:cNvSpPr/>
          <p:nvPr/>
        </p:nvSpPr>
        <p:spPr>
          <a:xfrm>
            <a:off x="2286000" y="3072384"/>
            <a:ext cx="3383280" cy="640080"/>
          </a:xfrm>
          <a:prstGeom prst="rect">
            <a:avLst/>
          </a:prstGeom>
          <a:noFill/>
          <a:ln/>
        </p:spPr>
        <p:txBody>
          <a:bodyPr wrap="square" lIns="0" tIns="0" rIns="0" bIns="0" rtlCol="0" anchor="ctr"/>
          <a:lstStyle/>
          <a:p>
            <a:pPr marL="0" indent="0">
              <a:buNone/>
            </a:pPr>
            <a:r>
              <a:rPr lang="en-US" sz="1900" b="1" dirty="0">
                <a:solidFill>
                  <a:srgbClr val="1F1E1D"/>
                </a:solidFill>
                <a:latin typeface="Georgia" pitchFamily="34" charset="0"/>
                <a:ea typeface="Georgia" pitchFamily="34" charset="-122"/>
                <a:cs typeface="Georgia" pitchFamily="34" charset="-120"/>
              </a:rPr>
              <a:t>Access surfaces</a:t>
            </a:r>
            <a:endParaRPr lang="en-US" sz="1900" dirty="0"/>
          </a:p>
        </p:txBody>
      </p:sp>
      <p:sp>
        <p:nvSpPr>
          <p:cNvPr id="11" name="Text 9"/>
          <p:cNvSpPr/>
          <p:nvPr/>
        </p:nvSpPr>
        <p:spPr>
          <a:xfrm>
            <a:off x="5806440" y="3072384"/>
            <a:ext cx="5532120" cy="640080"/>
          </a:xfrm>
          <a:prstGeom prst="rect">
            <a:avLst/>
          </a:prstGeom>
          <a:noFill/>
          <a:ln/>
        </p:spPr>
        <p:txBody>
          <a:bodyPr wrap="square" lIns="0" tIns="0" rIns="0" bIns="0" rtlCol="0" anchor="ctr"/>
          <a:lstStyle/>
          <a:p>
            <a:pPr marL="0" indent="0">
              <a:lnSpc>
                <a:spcPct val="105000"/>
              </a:lnSpc>
              <a:buNone/>
            </a:pPr>
            <a:r>
              <a:rPr lang="en-US" sz="1350" dirty="0">
                <a:solidFill>
                  <a:srgbClr val="3A3835"/>
                </a:solidFill>
                <a:latin typeface="Calibri" pitchFamily="34" charset="0"/>
                <a:ea typeface="Calibri" pitchFamily="34" charset="-122"/>
                <a:cs typeface="Calibri" pitchFamily="34" charset="-120"/>
              </a:rPr>
              <a:t>Chat, the API, Claude Code, and the desktop assistant — including the Cowork tab.</a:t>
            </a:r>
            <a:endParaRPr lang="en-US" sz="1350" dirty="0"/>
          </a:p>
        </p:txBody>
      </p:sp>
      <p:sp>
        <p:nvSpPr>
          <p:cNvPr id="12" name="Shape 10"/>
          <p:cNvSpPr/>
          <p:nvPr/>
        </p:nvSpPr>
        <p:spPr>
          <a:xfrm>
            <a:off x="566928" y="4041648"/>
            <a:ext cx="11064240" cy="914400"/>
          </a:xfrm>
          <a:prstGeom prst="roundRect">
            <a:avLst>
              <a:gd name="adj" fmla="val 9000"/>
            </a:avLst>
          </a:prstGeom>
          <a:solidFill>
            <a:srgbClr val="FAF9F5"/>
          </a:solidFill>
          <a:ln w="12700">
            <a:solidFill>
              <a:srgbClr val="E3E0D6"/>
            </a:solidFill>
            <a:prstDash val="solid"/>
          </a:ln>
          <a:effectLst>
            <a:outerShdw blurRad="114300" dist="38100" dir="5400000" algn="bl" rotWithShape="0">
              <a:srgbClr val="1F1E1D">
                <a:alpha val="10000"/>
              </a:srgbClr>
            </a:outerShdw>
          </a:effectLst>
        </p:spPr>
        <p:txBody>
          <a:bodyPr/>
          <a:lstStyle/>
          <a:p>
            <a:endParaRPr lang="en-IN"/>
          </a:p>
        </p:txBody>
      </p:sp>
      <p:sp>
        <p:nvSpPr>
          <p:cNvPr id="13" name="Text 11"/>
          <p:cNvSpPr/>
          <p:nvPr/>
        </p:nvSpPr>
        <p:spPr>
          <a:xfrm>
            <a:off x="868680" y="4041648"/>
            <a:ext cx="1371600" cy="914400"/>
          </a:xfrm>
          <a:prstGeom prst="rect">
            <a:avLst/>
          </a:prstGeom>
          <a:noFill/>
          <a:ln/>
        </p:spPr>
        <p:txBody>
          <a:bodyPr wrap="square" lIns="0" tIns="0" rIns="0" bIns="0" rtlCol="0" anchor="ctr"/>
          <a:lstStyle/>
          <a:p>
            <a:pPr marL="0" indent="0" algn="l">
              <a:buNone/>
            </a:pPr>
            <a:r>
              <a:rPr lang="en-US" sz="4000" b="1" dirty="0">
                <a:solidFill>
                  <a:srgbClr val="D97757"/>
                </a:solidFill>
                <a:latin typeface="Georgia" pitchFamily="34" charset="0"/>
                <a:ea typeface="Georgia" pitchFamily="34" charset="-122"/>
                <a:cs typeface="Georgia" pitchFamily="34" charset="-120"/>
              </a:rPr>
              <a:t>03</a:t>
            </a:r>
            <a:endParaRPr lang="en-US" sz="4000" dirty="0"/>
          </a:p>
        </p:txBody>
      </p:sp>
      <p:sp>
        <p:nvSpPr>
          <p:cNvPr id="14" name="Text 12"/>
          <p:cNvSpPr/>
          <p:nvPr/>
        </p:nvSpPr>
        <p:spPr>
          <a:xfrm>
            <a:off x="2286000" y="4187952"/>
            <a:ext cx="3383280" cy="640080"/>
          </a:xfrm>
          <a:prstGeom prst="rect">
            <a:avLst/>
          </a:prstGeom>
          <a:noFill/>
          <a:ln/>
        </p:spPr>
        <p:txBody>
          <a:bodyPr wrap="square" lIns="0" tIns="0" rIns="0" bIns="0" rtlCol="0" anchor="ctr"/>
          <a:lstStyle/>
          <a:p>
            <a:pPr marL="0" indent="0">
              <a:buNone/>
            </a:pPr>
            <a:r>
              <a:rPr lang="en-US" sz="1900" b="1" dirty="0">
                <a:solidFill>
                  <a:srgbClr val="1F1E1D"/>
                </a:solidFill>
                <a:latin typeface="Georgia" pitchFamily="34" charset="0"/>
                <a:ea typeface="Georgia" pitchFamily="34" charset="-122"/>
                <a:cs typeface="Georgia" pitchFamily="34" charset="-120"/>
              </a:rPr>
              <a:t>Where Claude fits</a:t>
            </a:r>
            <a:endParaRPr lang="en-US" sz="1900" dirty="0"/>
          </a:p>
        </p:txBody>
      </p:sp>
      <p:sp>
        <p:nvSpPr>
          <p:cNvPr id="15" name="Text 13"/>
          <p:cNvSpPr/>
          <p:nvPr/>
        </p:nvSpPr>
        <p:spPr>
          <a:xfrm>
            <a:off x="5806440" y="4187952"/>
            <a:ext cx="5532120" cy="640080"/>
          </a:xfrm>
          <a:prstGeom prst="rect">
            <a:avLst/>
          </a:prstGeom>
          <a:noFill/>
          <a:ln/>
        </p:spPr>
        <p:txBody>
          <a:bodyPr wrap="square" lIns="0" tIns="0" rIns="0" bIns="0" rtlCol="0" anchor="ctr"/>
          <a:lstStyle/>
          <a:p>
            <a:pPr marL="0" indent="0">
              <a:lnSpc>
                <a:spcPct val="105000"/>
              </a:lnSpc>
              <a:buNone/>
            </a:pPr>
            <a:r>
              <a:rPr lang="en-US" sz="1350" dirty="0">
                <a:solidFill>
                  <a:srgbClr val="3A3835"/>
                </a:solidFill>
                <a:latin typeface="Calibri" pitchFamily="34" charset="0"/>
                <a:ea typeface="Calibri" pitchFamily="34" charset="-122"/>
                <a:cs typeface="Calibri" pitchFamily="34" charset="-120"/>
              </a:rPr>
              <a:t>Positioning relative to GitHub Copilot, cloud-hosted models, and other developer tools.</a:t>
            </a:r>
            <a:endParaRPr lang="en-US" sz="1350" dirty="0"/>
          </a:p>
        </p:txBody>
      </p:sp>
      <p:sp>
        <p:nvSpPr>
          <p:cNvPr id="16" name="Shape 14"/>
          <p:cNvSpPr/>
          <p:nvPr/>
        </p:nvSpPr>
        <p:spPr>
          <a:xfrm>
            <a:off x="566928" y="5157216"/>
            <a:ext cx="11064240" cy="914400"/>
          </a:xfrm>
          <a:prstGeom prst="roundRect">
            <a:avLst>
              <a:gd name="adj" fmla="val 9000"/>
            </a:avLst>
          </a:prstGeom>
          <a:solidFill>
            <a:srgbClr val="FAF9F5"/>
          </a:solidFill>
          <a:ln w="12700">
            <a:solidFill>
              <a:srgbClr val="E3E0D6"/>
            </a:solidFill>
            <a:prstDash val="solid"/>
          </a:ln>
          <a:effectLst>
            <a:outerShdw blurRad="114300" dist="38100" dir="5400000" algn="bl" rotWithShape="0">
              <a:srgbClr val="1F1E1D">
                <a:alpha val="10000"/>
              </a:srgbClr>
            </a:outerShdw>
          </a:effectLst>
        </p:spPr>
        <p:txBody>
          <a:bodyPr/>
          <a:lstStyle/>
          <a:p>
            <a:endParaRPr lang="en-IN"/>
          </a:p>
        </p:txBody>
      </p:sp>
      <p:sp>
        <p:nvSpPr>
          <p:cNvPr id="17" name="Text 15"/>
          <p:cNvSpPr/>
          <p:nvPr/>
        </p:nvSpPr>
        <p:spPr>
          <a:xfrm>
            <a:off x="868680" y="5157216"/>
            <a:ext cx="1371600" cy="914400"/>
          </a:xfrm>
          <a:prstGeom prst="rect">
            <a:avLst/>
          </a:prstGeom>
          <a:noFill/>
          <a:ln/>
        </p:spPr>
        <p:txBody>
          <a:bodyPr wrap="square" lIns="0" tIns="0" rIns="0" bIns="0" rtlCol="0" anchor="ctr"/>
          <a:lstStyle/>
          <a:p>
            <a:pPr marL="0" indent="0" algn="l">
              <a:buNone/>
            </a:pPr>
            <a:r>
              <a:rPr lang="en-US" sz="4000" b="1" dirty="0">
                <a:solidFill>
                  <a:srgbClr val="D97757"/>
                </a:solidFill>
                <a:latin typeface="Georgia" pitchFamily="34" charset="0"/>
                <a:ea typeface="Georgia" pitchFamily="34" charset="-122"/>
                <a:cs typeface="Georgia" pitchFamily="34" charset="-120"/>
              </a:rPr>
              <a:t>04</a:t>
            </a:r>
            <a:endParaRPr lang="en-US" sz="4000" dirty="0"/>
          </a:p>
        </p:txBody>
      </p:sp>
      <p:sp>
        <p:nvSpPr>
          <p:cNvPr id="18" name="Text 16"/>
          <p:cNvSpPr/>
          <p:nvPr/>
        </p:nvSpPr>
        <p:spPr>
          <a:xfrm>
            <a:off x="2286000" y="5303520"/>
            <a:ext cx="3383280" cy="640080"/>
          </a:xfrm>
          <a:prstGeom prst="rect">
            <a:avLst/>
          </a:prstGeom>
          <a:noFill/>
          <a:ln/>
        </p:spPr>
        <p:txBody>
          <a:bodyPr wrap="square" lIns="0" tIns="0" rIns="0" bIns="0" rtlCol="0" anchor="ctr"/>
          <a:lstStyle/>
          <a:p>
            <a:pPr marL="0" indent="0">
              <a:buNone/>
            </a:pPr>
            <a:r>
              <a:rPr lang="en-US" sz="1900" b="1" dirty="0">
                <a:solidFill>
                  <a:srgbClr val="1F1E1D"/>
                </a:solidFill>
                <a:latin typeface="Georgia" pitchFamily="34" charset="0"/>
                <a:ea typeface="Georgia" pitchFamily="34" charset="-122"/>
                <a:cs typeface="Georgia" pitchFamily="34" charset="-120"/>
              </a:rPr>
              <a:t>Tool-for-task selection</a:t>
            </a:r>
            <a:endParaRPr lang="en-US" sz="1900" dirty="0"/>
          </a:p>
        </p:txBody>
      </p:sp>
      <p:sp>
        <p:nvSpPr>
          <p:cNvPr id="19" name="Text 17"/>
          <p:cNvSpPr/>
          <p:nvPr/>
        </p:nvSpPr>
        <p:spPr>
          <a:xfrm>
            <a:off x="5806440" y="5303520"/>
            <a:ext cx="5532120" cy="640080"/>
          </a:xfrm>
          <a:prstGeom prst="rect">
            <a:avLst/>
          </a:prstGeom>
          <a:noFill/>
          <a:ln/>
        </p:spPr>
        <p:txBody>
          <a:bodyPr wrap="square" lIns="0" tIns="0" rIns="0" bIns="0" rtlCol="0" anchor="ctr"/>
          <a:lstStyle/>
          <a:p>
            <a:pPr marL="0" indent="0">
              <a:lnSpc>
                <a:spcPct val="105000"/>
              </a:lnSpc>
              <a:buNone/>
            </a:pPr>
            <a:r>
              <a:rPr lang="en-US" sz="1350" dirty="0">
                <a:solidFill>
                  <a:srgbClr val="3A3835"/>
                </a:solidFill>
                <a:latin typeface="Calibri" pitchFamily="34" charset="0"/>
                <a:ea typeface="Calibri" pitchFamily="34" charset="-122"/>
                <a:cs typeface="Calibri" pitchFamily="34" charset="-120"/>
              </a:rPr>
              <a:t>A decision framework across capability, context length, latency, and cost.</a:t>
            </a:r>
            <a:endParaRPr lang="en-US" sz="1350" dirty="0"/>
          </a:p>
        </p:txBody>
      </p:sp>
      <p:pic>
        <p:nvPicPr>
          <p:cNvPr id="20" name="Image 0" descr="/agent/turn1/workspace/assets/spark_coral.png"/>
          <p:cNvPicPr>
            <a:picLocks noChangeAspect="1"/>
          </p:cNvPicPr>
          <p:nvPr/>
        </p:nvPicPr>
        <p:blipFill>
          <a:blip r:embed="rId3"/>
          <a:stretch>
            <a:fillRect/>
          </a:stretch>
        </p:blipFill>
        <p:spPr>
          <a:xfrm>
            <a:off x="566928" y="6419088"/>
            <a:ext cx="201168" cy="201168"/>
          </a:xfrm>
          <a:prstGeom prst="rect">
            <a:avLst/>
          </a:prstGeom>
        </p:spPr>
      </p:pic>
      <p:sp>
        <p:nvSpPr>
          <p:cNvPr id="21" name="Text 18"/>
          <p:cNvSpPr/>
          <p:nvPr/>
        </p:nvSpPr>
        <p:spPr>
          <a:xfrm>
            <a:off x="841248" y="6364224"/>
            <a:ext cx="6400800" cy="310896"/>
          </a:xfrm>
          <a:prstGeom prst="rect">
            <a:avLst/>
          </a:prstGeom>
          <a:noFill/>
          <a:ln/>
        </p:spPr>
        <p:txBody>
          <a:bodyPr wrap="square" lIns="0" tIns="0" rIns="0" bIns="0" rtlCol="0" anchor="ctr"/>
          <a:lstStyle/>
          <a:p>
            <a:pPr marL="0" indent="0" algn="l">
              <a:buNone/>
            </a:pPr>
            <a:r>
              <a:rPr lang="en-US" sz="950" kern="0" spc="50" dirty="0">
                <a:solidFill>
                  <a:srgbClr val="73726C"/>
                </a:solidFill>
                <a:latin typeface="Calibri" pitchFamily="34" charset="0"/>
                <a:ea typeface="Calibri" pitchFamily="34" charset="-122"/>
                <a:cs typeface="Calibri" pitchFamily="34" charset="-120"/>
              </a:rPr>
              <a:t>Claude Cowork  ·  Developer Training</a:t>
            </a:r>
            <a:endParaRPr lang="en-US" sz="950" dirty="0"/>
          </a:p>
        </p:txBody>
      </p:sp>
      <p:sp>
        <p:nvSpPr>
          <p:cNvPr id="22" name="Text 19"/>
          <p:cNvSpPr/>
          <p:nvPr/>
        </p:nvSpPr>
        <p:spPr>
          <a:xfrm>
            <a:off x="10972800" y="6364224"/>
            <a:ext cx="685800" cy="310896"/>
          </a:xfrm>
          <a:prstGeom prst="rect">
            <a:avLst/>
          </a:prstGeom>
          <a:noFill/>
          <a:ln/>
        </p:spPr>
        <p:txBody>
          <a:bodyPr wrap="square" lIns="0" tIns="0" rIns="0" bIns="0" rtlCol="0" anchor="ctr"/>
          <a:lstStyle/>
          <a:p>
            <a:pPr marL="0" indent="0" algn="r">
              <a:buNone/>
            </a:pPr>
            <a:r>
              <a:rPr lang="en-US" sz="950" b="1" dirty="0">
                <a:solidFill>
                  <a:srgbClr val="73726C"/>
                </a:solidFill>
                <a:latin typeface="Calibri" pitchFamily="34" charset="0"/>
                <a:ea typeface="Calibri" pitchFamily="34" charset="-122"/>
                <a:cs typeface="Calibri" pitchFamily="34" charset="-120"/>
              </a:rPr>
              <a:t>02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EEE6"/>
        </a:solidFill>
        <a:effectLst/>
      </p:bgPr>
    </p:bg>
    <p:spTree>
      <p:nvGrpSpPr>
        <p:cNvPr id="1" name=""/>
        <p:cNvGrpSpPr/>
        <p:nvPr/>
      </p:nvGrpSpPr>
      <p:grpSpPr>
        <a:xfrm>
          <a:off x="0" y="0"/>
          <a:ext cx="0" cy="0"/>
          <a:chOff x="0" y="0"/>
          <a:chExt cx="0" cy="0"/>
        </a:xfrm>
      </p:grpSpPr>
      <p:sp>
        <p:nvSpPr>
          <p:cNvPr id="2" name="Text 0"/>
          <p:cNvSpPr/>
          <p:nvPr/>
        </p:nvSpPr>
        <p:spPr>
          <a:xfrm>
            <a:off x="566928" y="457200"/>
            <a:ext cx="10058400" cy="274320"/>
          </a:xfrm>
          <a:prstGeom prst="rect">
            <a:avLst/>
          </a:prstGeom>
          <a:noFill/>
          <a:ln/>
        </p:spPr>
        <p:txBody>
          <a:bodyPr wrap="square" lIns="0" tIns="0" rIns="0" bIns="0" rtlCol="0" anchor="ctr"/>
          <a:lstStyle/>
          <a:p>
            <a:pPr marL="0" indent="0" algn="l">
              <a:buNone/>
            </a:pPr>
            <a:r>
              <a:rPr lang="en-US" sz="1200" b="1" kern="0" spc="250" dirty="0">
                <a:solidFill>
                  <a:srgbClr val="D97757"/>
                </a:solidFill>
                <a:latin typeface="Calibri" pitchFamily="34" charset="0"/>
                <a:ea typeface="Calibri" pitchFamily="34" charset="-122"/>
                <a:cs typeface="Calibri" pitchFamily="34" charset="-120"/>
              </a:rPr>
              <a:t>THE MODEL FAMILY</a:t>
            </a:r>
            <a:endParaRPr lang="en-US" sz="1200" dirty="0"/>
          </a:p>
        </p:txBody>
      </p:sp>
      <p:sp>
        <p:nvSpPr>
          <p:cNvPr id="3" name="Text 1"/>
          <p:cNvSpPr/>
          <p:nvPr/>
        </p:nvSpPr>
        <p:spPr>
          <a:xfrm>
            <a:off x="566928" y="749808"/>
            <a:ext cx="11064240" cy="777240"/>
          </a:xfrm>
          <a:prstGeom prst="rect">
            <a:avLst/>
          </a:prstGeom>
          <a:noFill/>
          <a:ln/>
        </p:spPr>
        <p:txBody>
          <a:bodyPr wrap="square" lIns="0" tIns="0" rIns="0" bIns="0" rtlCol="0" anchor="t"/>
          <a:lstStyle/>
          <a:p>
            <a:pPr marL="0" indent="0" algn="l">
              <a:lnSpc>
                <a:spcPct val="98000"/>
              </a:lnSpc>
              <a:buNone/>
            </a:pPr>
            <a:r>
              <a:rPr lang="en-US" sz="3000" b="1" dirty="0">
                <a:solidFill>
                  <a:srgbClr val="1F1E1D"/>
                </a:solidFill>
                <a:latin typeface="Georgia" pitchFamily="34" charset="0"/>
                <a:ea typeface="Georgia" pitchFamily="34" charset="-122"/>
                <a:cs typeface="Georgia" pitchFamily="34" charset="-120"/>
              </a:rPr>
              <a:t>Three tiers, one simple rule</a:t>
            </a:r>
            <a:endParaRPr lang="en-US" sz="3000" dirty="0"/>
          </a:p>
        </p:txBody>
      </p:sp>
      <p:sp>
        <p:nvSpPr>
          <p:cNvPr id="4" name="Text 2"/>
          <p:cNvSpPr/>
          <p:nvPr/>
        </p:nvSpPr>
        <p:spPr>
          <a:xfrm>
            <a:off x="566928" y="1572768"/>
            <a:ext cx="11064240" cy="548640"/>
          </a:xfrm>
          <a:prstGeom prst="rect">
            <a:avLst/>
          </a:prstGeom>
          <a:noFill/>
          <a:ln/>
        </p:spPr>
        <p:txBody>
          <a:bodyPr wrap="square" lIns="0" tIns="0" rIns="0" bIns="0" rtlCol="0" anchor="ctr"/>
          <a:lstStyle/>
          <a:p>
            <a:pPr marL="0" indent="0">
              <a:buNone/>
            </a:pPr>
            <a:r>
              <a:rPr lang="en-US" sz="1650" i="1" dirty="0">
                <a:solidFill>
                  <a:srgbClr val="3A3835"/>
                </a:solidFill>
                <a:latin typeface="Georgia" pitchFamily="34" charset="0"/>
                <a:ea typeface="Georgia" pitchFamily="34" charset="-122"/>
                <a:cs typeface="Georgia" pitchFamily="34" charset="-120"/>
              </a:rPr>
              <a:t>Use </a:t>
            </a:r>
            <a:r>
              <a:rPr lang="en-US" sz="1650" b="1" i="1" dirty="0">
                <a:solidFill>
                  <a:srgbClr val="C2613F"/>
                </a:solidFill>
                <a:latin typeface="Georgia" pitchFamily="34" charset="0"/>
                <a:ea typeface="Georgia" pitchFamily="34" charset="-122"/>
                <a:cs typeface="Georgia" pitchFamily="34" charset="-120"/>
              </a:rPr>
              <a:t>Sonnet</a:t>
            </a:r>
            <a:r>
              <a:rPr lang="en-US" sz="1650" i="1" dirty="0">
                <a:solidFill>
                  <a:srgbClr val="3A3835"/>
                </a:solidFill>
                <a:latin typeface="Georgia" pitchFamily="34" charset="0"/>
                <a:ea typeface="Georgia" pitchFamily="34" charset="-122"/>
                <a:cs typeface="Georgia" pitchFamily="34" charset="-120"/>
              </a:rPr>
              <a:t> for almost everything, drop to </a:t>
            </a:r>
            <a:r>
              <a:rPr lang="en-US" sz="1650" b="1" i="1" dirty="0">
                <a:solidFill>
                  <a:srgbClr val="C2613F"/>
                </a:solidFill>
                <a:latin typeface="Georgia" pitchFamily="34" charset="0"/>
                <a:ea typeface="Georgia" pitchFamily="34" charset="-122"/>
                <a:cs typeface="Georgia" pitchFamily="34" charset="-120"/>
              </a:rPr>
              <a:t>Haiku</a:t>
            </a:r>
            <a:r>
              <a:rPr lang="en-US" sz="1650" i="1" dirty="0">
                <a:solidFill>
                  <a:srgbClr val="3A3835"/>
                </a:solidFill>
                <a:latin typeface="Georgia" pitchFamily="34" charset="0"/>
                <a:ea typeface="Georgia" pitchFamily="34" charset="-122"/>
                <a:cs typeface="Georgia" pitchFamily="34" charset="-120"/>
              </a:rPr>
              <a:t> when speed and volume matter most, and reach for </a:t>
            </a:r>
            <a:r>
              <a:rPr lang="en-US" sz="1650" b="1" i="1" dirty="0">
                <a:solidFill>
                  <a:srgbClr val="C2613F"/>
                </a:solidFill>
                <a:latin typeface="Georgia" pitchFamily="34" charset="0"/>
                <a:ea typeface="Georgia" pitchFamily="34" charset="-122"/>
                <a:cs typeface="Georgia" pitchFamily="34" charset="-120"/>
              </a:rPr>
              <a:t>Opus</a:t>
            </a:r>
            <a:r>
              <a:rPr lang="en-US" sz="1650" i="1" dirty="0">
                <a:solidFill>
                  <a:srgbClr val="3A3835"/>
                </a:solidFill>
                <a:latin typeface="Georgia" pitchFamily="34" charset="0"/>
                <a:ea typeface="Georgia" pitchFamily="34" charset="-122"/>
                <a:cs typeface="Georgia" pitchFamily="34" charset="-120"/>
              </a:rPr>
              <a:t> only when the task is genuinely hard.</a:t>
            </a:r>
            <a:endParaRPr lang="en-US" sz="1650" dirty="0"/>
          </a:p>
        </p:txBody>
      </p:sp>
      <p:sp>
        <p:nvSpPr>
          <p:cNvPr id="5" name="Shape 3"/>
          <p:cNvSpPr/>
          <p:nvPr/>
        </p:nvSpPr>
        <p:spPr>
          <a:xfrm>
            <a:off x="568300" y="2286000"/>
            <a:ext cx="3520440" cy="3246120"/>
          </a:xfrm>
          <a:prstGeom prst="roundRect">
            <a:avLst>
              <a:gd name="adj" fmla="val 2535"/>
            </a:avLst>
          </a:prstGeom>
          <a:solidFill>
            <a:srgbClr val="FFFFFF"/>
          </a:solidFill>
          <a:ln w="12700">
            <a:solidFill>
              <a:srgbClr val="E3E0D6"/>
            </a:solidFill>
            <a:prstDash val="solid"/>
          </a:ln>
          <a:effectLst>
            <a:outerShdw blurRad="114300" dist="38100" dir="5400000" algn="bl" rotWithShape="0">
              <a:srgbClr val="1F1E1D">
                <a:alpha val="10000"/>
              </a:srgbClr>
            </a:outerShdw>
          </a:effectLst>
        </p:spPr>
        <p:txBody>
          <a:bodyPr/>
          <a:lstStyle/>
          <a:p>
            <a:endParaRPr lang="en-IN"/>
          </a:p>
        </p:txBody>
      </p:sp>
      <p:sp>
        <p:nvSpPr>
          <p:cNvPr id="6" name="Shape 4"/>
          <p:cNvSpPr/>
          <p:nvPr/>
        </p:nvSpPr>
        <p:spPr>
          <a:xfrm>
            <a:off x="568300" y="2286000"/>
            <a:ext cx="3520440" cy="841248"/>
          </a:xfrm>
          <a:prstGeom prst="roundRect">
            <a:avLst>
              <a:gd name="adj" fmla="val 9783"/>
            </a:avLst>
          </a:prstGeom>
          <a:solidFill>
            <a:srgbClr val="D9A066"/>
          </a:solidFill>
          <a:ln/>
        </p:spPr>
        <p:txBody>
          <a:bodyPr/>
          <a:lstStyle/>
          <a:p>
            <a:endParaRPr lang="en-IN"/>
          </a:p>
        </p:txBody>
      </p:sp>
      <p:sp>
        <p:nvSpPr>
          <p:cNvPr id="7" name="Shape 5"/>
          <p:cNvSpPr/>
          <p:nvPr/>
        </p:nvSpPr>
        <p:spPr>
          <a:xfrm>
            <a:off x="568300" y="2706624"/>
            <a:ext cx="3520440" cy="420624"/>
          </a:xfrm>
          <a:prstGeom prst="rect">
            <a:avLst/>
          </a:prstGeom>
          <a:solidFill>
            <a:srgbClr val="D9A066"/>
          </a:solidFill>
          <a:ln/>
        </p:spPr>
        <p:txBody>
          <a:bodyPr/>
          <a:lstStyle/>
          <a:p>
            <a:endParaRPr lang="en-IN"/>
          </a:p>
        </p:txBody>
      </p:sp>
      <p:sp>
        <p:nvSpPr>
          <p:cNvPr id="8" name="Text 6"/>
          <p:cNvSpPr/>
          <p:nvPr/>
        </p:nvSpPr>
        <p:spPr>
          <a:xfrm>
            <a:off x="842620" y="2286000"/>
            <a:ext cx="2971800" cy="841248"/>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Haiku</a:t>
            </a:r>
            <a:r>
              <a:rPr lang="en-US" sz="2500" dirty="0">
                <a:solidFill>
                  <a:srgbClr val="FFFFFF"/>
                </a:solidFill>
                <a:latin typeface="Georgia" pitchFamily="34" charset="0"/>
                <a:ea typeface="Georgia" pitchFamily="34" charset="-122"/>
                <a:cs typeface="Georgia" pitchFamily="34" charset="-120"/>
              </a:rPr>
              <a:t>  4.5</a:t>
            </a:r>
            <a:endParaRPr lang="en-US" sz="2500" dirty="0"/>
          </a:p>
        </p:txBody>
      </p:sp>
      <p:sp>
        <p:nvSpPr>
          <p:cNvPr id="9" name="Text 7"/>
          <p:cNvSpPr/>
          <p:nvPr/>
        </p:nvSpPr>
        <p:spPr>
          <a:xfrm>
            <a:off x="842620" y="3236976"/>
            <a:ext cx="2971800" cy="310896"/>
          </a:xfrm>
          <a:prstGeom prst="rect">
            <a:avLst/>
          </a:prstGeom>
          <a:noFill/>
          <a:ln/>
        </p:spPr>
        <p:txBody>
          <a:bodyPr wrap="square" lIns="0" tIns="0" rIns="0" bIns="0" rtlCol="0" anchor="ctr"/>
          <a:lstStyle/>
          <a:p>
            <a:pPr marL="0" indent="0">
              <a:buNone/>
            </a:pPr>
            <a:r>
              <a:rPr lang="en-US" sz="1300" b="1" kern="0" spc="50" dirty="0">
                <a:solidFill>
                  <a:srgbClr val="D9A066"/>
                </a:solidFill>
                <a:latin typeface="Calibri" pitchFamily="34" charset="0"/>
                <a:ea typeface="Calibri" pitchFamily="34" charset="-122"/>
                <a:cs typeface="Calibri" pitchFamily="34" charset="-120"/>
              </a:rPr>
              <a:t>Fast &amp; lightweight</a:t>
            </a:r>
            <a:endParaRPr lang="en-US" sz="1300" dirty="0"/>
          </a:p>
        </p:txBody>
      </p:sp>
      <p:sp>
        <p:nvSpPr>
          <p:cNvPr id="10" name="Text 8"/>
          <p:cNvSpPr/>
          <p:nvPr/>
        </p:nvSpPr>
        <p:spPr>
          <a:xfrm>
            <a:off x="842620" y="3611880"/>
            <a:ext cx="3017520" cy="1325880"/>
          </a:xfrm>
          <a:prstGeom prst="rect">
            <a:avLst/>
          </a:prstGeom>
          <a:noFill/>
          <a:ln/>
        </p:spPr>
        <p:txBody>
          <a:bodyPr wrap="square" lIns="0" tIns="0" rIns="0" bIns="0" rtlCol="0" anchor="t"/>
          <a:lstStyle/>
          <a:p>
            <a:pPr marL="177800" indent="-177800">
              <a:lnSpc>
                <a:spcPct val="100000"/>
              </a:lnSpc>
              <a:spcAft>
                <a:spcPts val="600"/>
              </a:spcAft>
              <a:buSzPct val="100000"/>
              <a:buChar char="•"/>
            </a:pPr>
            <a:r>
              <a:rPr lang="en-US" sz="1250" dirty="0">
                <a:solidFill>
                  <a:srgbClr val="3A3835"/>
                </a:solidFill>
                <a:latin typeface="Calibri" pitchFamily="34" charset="0"/>
                <a:ea typeface="Calibri" pitchFamily="34" charset="-122"/>
                <a:cs typeface="Calibri" pitchFamily="34" charset="-120"/>
              </a:rPr>
              <a:t>Instant answers, summaries, extraction</a:t>
            </a:r>
            <a:endParaRPr lang="en-US" sz="1250" dirty="0"/>
          </a:p>
          <a:p>
            <a:pPr marL="177800" indent="-177800">
              <a:lnSpc>
                <a:spcPct val="100000"/>
              </a:lnSpc>
              <a:spcAft>
                <a:spcPts val="600"/>
              </a:spcAft>
              <a:buSzPct val="100000"/>
              <a:buChar char="•"/>
            </a:pPr>
            <a:r>
              <a:rPr lang="en-US" sz="1250" dirty="0">
                <a:solidFill>
                  <a:srgbClr val="3A3835"/>
                </a:solidFill>
                <a:latin typeface="Calibri" pitchFamily="34" charset="0"/>
                <a:ea typeface="Calibri" pitchFamily="34" charset="-122"/>
                <a:cs typeface="Calibri" pitchFamily="34" charset="-120"/>
              </a:rPr>
              <a:t>Rivals Sonnet 4.0 reasoning at a fraction of the cost</a:t>
            </a:r>
            <a:endParaRPr lang="en-US" sz="1250" dirty="0"/>
          </a:p>
          <a:p>
            <a:pPr marL="177800" indent="-177800">
              <a:lnSpc>
                <a:spcPct val="100000"/>
              </a:lnSpc>
              <a:spcAft>
                <a:spcPts val="600"/>
              </a:spcAft>
              <a:buSzPct val="100000"/>
              <a:buChar char="•"/>
            </a:pPr>
            <a:r>
              <a:rPr lang="en-US" sz="1250" dirty="0">
                <a:solidFill>
                  <a:srgbClr val="3A3835"/>
                </a:solidFill>
                <a:latin typeface="Calibri" pitchFamily="34" charset="0"/>
                <a:ea typeface="Calibri" pitchFamily="34" charset="-122"/>
                <a:cs typeface="Calibri" pitchFamily="34" charset="-120"/>
              </a:rPr>
              <a:t>High-volume, latency-sensitive workloads</a:t>
            </a:r>
            <a:endParaRPr lang="en-US" sz="1250" dirty="0"/>
          </a:p>
        </p:txBody>
      </p:sp>
      <p:sp>
        <p:nvSpPr>
          <p:cNvPr id="11" name="Text 9"/>
          <p:cNvSpPr/>
          <p:nvPr/>
        </p:nvSpPr>
        <p:spPr>
          <a:xfrm>
            <a:off x="842620" y="5074920"/>
            <a:ext cx="2971800" cy="365760"/>
          </a:xfrm>
          <a:prstGeom prst="rect">
            <a:avLst/>
          </a:prstGeom>
          <a:noFill/>
          <a:ln/>
        </p:spPr>
        <p:txBody>
          <a:bodyPr wrap="square" lIns="0" tIns="0" rIns="0" bIns="0" rtlCol="0" anchor="ctr"/>
          <a:lstStyle/>
          <a:p>
            <a:pPr marL="0" indent="0">
              <a:buNone/>
            </a:pPr>
            <a:r>
              <a:rPr lang="en-US" sz="1100" dirty="0">
                <a:solidFill>
                  <a:srgbClr val="73726C"/>
                </a:solidFill>
                <a:latin typeface="Calibri" pitchFamily="34" charset="0"/>
                <a:ea typeface="Calibri" pitchFamily="34" charset="-122"/>
                <a:cs typeface="Calibri" pitchFamily="34" charset="-120"/>
              </a:rPr>
              <a:t>API  </a:t>
            </a:r>
            <a:r>
              <a:rPr lang="en-US" sz="1400" b="1" dirty="0">
                <a:solidFill>
                  <a:srgbClr val="1F1E1D"/>
                </a:solidFill>
                <a:latin typeface="Calibri" pitchFamily="34" charset="0"/>
                <a:ea typeface="Calibri" pitchFamily="34" charset="-122"/>
                <a:cs typeface="Calibri" pitchFamily="34" charset="-120"/>
              </a:rPr>
              <a:t>$1 / $5</a:t>
            </a:r>
            <a:r>
              <a:rPr lang="en-US" sz="1100" dirty="0">
                <a:solidFill>
                  <a:srgbClr val="73726C"/>
                </a:solidFill>
                <a:latin typeface="Calibri" pitchFamily="34" charset="0"/>
                <a:ea typeface="Calibri" pitchFamily="34" charset="-122"/>
                <a:cs typeface="Calibri" pitchFamily="34" charset="-120"/>
              </a:rPr>
              <a:t>  / MTok</a:t>
            </a:r>
            <a:endParaRPr lang="en-US" sz="1100" dirty="0"/>
          </a:p>
        </p:txBody>
      </p:sp>
      <p:sp>
        <p:nvSpPr>
          <p:cNvPr id="12" name="Shape 10"/>
          <p:cNvSpPr/>
          <p:nvPr/>
        </p:nvSpPr>
        <p:spPr>
          <a:xfrm>
            <a:off x="4335628" y="2286000"/>
            <a:ext cx="3520440" cy="3246120"/>
          </a:xfrm>
          <a:prstGeom prst="roundRect">
            <a:avLst>
              <a:gd name="adj" fmla="val 2535"/>
            </a:avLst>
          </a:prstGeom>
          <a:solidFill>
            <a:srgbClr val="FFFFFF"/>
          </a:solidFill>
          <a:ln w="12700">
            <a:solidFill>
              <a:srgbClr val="E3E0D6"/>
            </a:solidFill>
            <a:prstDash val="solid"/>
          </a:ln>
          <a:effectLst>
            <a:outerShdw blurRad="114300" dist="38100" dir="5400000" algn="bl" rotWithShape="0">
              <a:srgbClr val="1F1E1D">
                <a:alpha val="10000"/>
              </a:srgbClr>
            </a:outerShdw>
          </a:effectLst>
        </p:spPr>
        <p:txBody>
          <a:bodyPr/>
          <a:lstStyle/>
          <a:p>
            <a:endParaRPr lang="en-IN"/>
          </a:p>
        </p:txBody>
      </p:sp>
      <p:sp>
        <p:nvSpPr>
          <p:cNvPr id="13" name="Shape 11"/>
          <p:cNvSpPr/>
          <p:nvPr/>
        </p:nvSpPr>
        <p:spPr>
          <a:xfrm>
            <a:off x="4335628" y="2286000"/>
            <a:ext cx="3520440" cy="841248"/>
          </a:xfrm>
          <a:prstGeom prst="roundRect">
            <a:avLst>
              <a:gd name="adj" fmla="val 9783"/>
            </a:avLst>
          </a:prstGeom>
          <a:solidFill>
            <a:srgbClr val="D97757"/>
          </a:solidFill>
          <a:ln/>
        </p:spPr>
        <p:txBody>
          <a:bodyPr/>
          <a:lstStyle/>
          <a:p>
            <a:endParaRPr lang="en-IN"/>
          </a:p>
        </p:txBody>
      </p:sp>
      <p:sp>
        <p:nvSpPr>
          <p:cNvPr id="14" name="Shape 12"/>
          <p:cNvSpPr/>
          <p:nvPr/>
        </p:nvSpPr>
        <p:spPr>
          <a:xfrm>
            <a:off x="4335628" y="2706624"/>
            <a:ext cx="3520440" cy="420624"/>
          </a:xfrm>
          <a:prstGeom prst="rect">
            <a:avLst/>
          </a:prstGeom>
          <a:solidFill>
            <a:srgbClr val="D97757"/>
          </a:solidFill>
          <a:ln/>
        </p:spPr>
        <p:txBody>
          <a:bodyPr/>
          <a:lstStyle/>
          <a:p>
            <a:endParaRPr lang="en-IN"/>
          </a:p>
        </p:txBody>
      </p:sp>
      <p:sp>
        <p:nvSpPr>
          <p:cNvPr id="15" name="Text 13"/>
          <p:cNvSpPr/>
          <p:nvPr/>
        </p:nvSpPr>
        <p:spPr>
          <a:xfrm>
            <a:off x="4609948" y="2286000"/>
            <a:ext cx="2971800" cy="841248"/>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Sonnet</a:t>
            </a:r>
            <a:r>
              <a:rPr lang="en-US" sz="2500" dirty="0">
                <a:solidFill>
                  <a:srgbClr val="FFFFFF"/>
                </a:solidFill>
                <a:latin typeface="Georgia" pitchFamily="34" charset="0"/>
                <a:ea typeface="Georgia" pitchFamily="34" charset="-122"/>
                <a:cs typeface="Georgia" pitchFamily="34" charset="-120"/>
              </a:rPr>
              <a:t>  4.6</a:t>
            </a:r>
            <a:endParaRPr lang="en-US" sz="2500" dirty="0"/>
          </a:p>
        </p:txBody>
      </p:sp>
      <p:sp>
        <p:nvSpPr>
          <p:cNvPr id="16" name="Text 14"/>
          <p:cNvSpPr/>
          <p:nvPr/>
        </p:nvSpPr>
        <p:spPr>
          <a:xfrm>
            <a:off x="4609948" y="3236976"/>
            <a:ext cx="2971800" cy="310896"/>
          </a:xfrm>
          <a:prstGeom prst="rect">
            <a:avLst/>
          </a:prstGeom>
          <a:noFill/>
          <a:ln/>
        </p:spPr>
        <p:txBody>
          <a:bodyPr wrap="square" lIns="0" tIns="0" rIns="0" bIns="0" rtlCol="0" anchor="ctr"/>
          <a:lstStyle/>
          <a:p>
            <a:pPr marL="0" indent="0">
              <a:buNone/>
            </a:pPr>
            <a:r>
              <a:rPr lang="en-US" sz="1300" b="1" kern="0" spc="50" dirty="0">
                <a:solidFill>
                  <a:srgbClr val="D97757"/>
                </a:solidFill>
                <a:latin typeface="Calibri" pitchFamily="34" charset="0"/>
                <a:ea typeface="Calibri" pitchFamily="34" charset="-122"/>
                <a:cs typeface="Calibri" pitchFamily="34" charset="-120"/>
              </a:rPr>
              <a:t>The daily driver</a:t>
            </a:r>
            <a:endParaRPr lang="en-US" sz="1300" dirty="0"/>
          </a:p>
        </p:txBody>
      </p:sp>
      <p:sp>
        <p:nvSpPr>
          <p:cNvPr id="17" name="Text 15"/>
          <p:cNvSpPr/>
          <p:nvPr/>
        </p:nvSpPr>
        <p:spPr>
          <a:xfrm>
            <a:off x="4609948" y="3611880"/>
            <a:ext cx="3017520" cy="1325880"/>
          </a:xfrm>
          <a:prstGeom prst="rect">
            <a:avLst/>
          </a:prstGeom>
          <a:noFill/>
          <a:ln/>
        </p:spPr>
        <p:txBody>
          <a:bodyPr wrap="square" lIns="0" tIns="0" rIns="0" bIns="0" rtlCol="0" anchor="t"/>
          <a:lstStyle/>
          <a:p>
            <a:pPr marL="177800" indent="-177800">
              <a:lnSpc>
                <a:spcPct val="100000"/>
              </a:lnSpc>
              <a:spcAft>
                <a:spcPts val="600"/>
              </a:spcAft>
              <a:buSzPct val="100000"/>
              <a:buChar char="•"/>
            </a:pPr>
            <a:r>
              <a:rPr lang="en-US" sz="1250" dirty="0">
                <a:solidFill>
                  <a:srgbClr val="3A3835"/>
                </a:solidFill>
                <a:latin typeface="Calibri" pitchFamily="34" charset="0"/>
                <a:ea typeface="Calibri" pitchFamily="34" charset="-122"/>
                <a:cs typeface="Calibri" pitchFamily="34" charset="-120"/>
              </a:rPr>
              <a:t>Coding, writing, analysis, multi-step work</a:t>
            </a:r>
            <a:endParaRPr lang="en-US" sz="1250" dirty="0"/>
          </a:p>
          <a:p>
            <a:pPr marL="177800" indent="-177800">
              <a:lnSpc>
                <a:spcPct val="100000"/>
              </a:lnSpc>
              <a:spcAft>
                <a:spcPts val="600"/>
              </a:spcAft>
              <a:buSzPct val="100000"/>
              <a:buChar char="•"/>
            </a:pPr>
            <a:r>
              <a:rPr lang="en-US" sz="1250" dirty="0">
                <a:solidFill>
                  <a:srgbClr val="3A3835"/>
                </a:solidFill>
                <a:latin typeface="Calibri" pitchFamily="34" charset="0"/>
                <a:ea typeface="Calibri" pitchFamily="34" charset="-122"/>
                <a:cs typeface="Calibri" pitchFamily="34" charset="-120"/>
              </a:rPr>
              <a:t>Computer use, vision, document creation</a:t>
            </a:r>
            <a:endParaRPr lang="en-US" sz="1250" dirty="0"/>
          </a:p>
          <a:p>
            <a:pPr marL="177800" indent="-177800">
              <a:lnSpc>
                <a:spcPct val="100000"/>
              </a:lnSpc>
              <a:spcAft>
                <a:spcPts val="600"/>
              </a:spcAft>
              <a:buSzPct val="100000"/>
              <a:buChar char="•"/>
            </a:pPr>
            <a:r>
              <a:rPr lang="en-US" sz="1250" dirty="0">
                <a:solidFill>
                  <a:srgbClr val="3A3835"/>
                </a:solidFill>
                <a:latin typeface="Calibri" pitchFamily="34" charset="0"/>
                <a:ea typeface="Calibri" pitchFamily="34" charset="-122"/>
                <a:cs typeface="Calibri" pitchFamily="34" charset="-120"/>
              </a:rPr>
              <a:t>Handles ~80% of production use cases</a:t>
            </a:r>
            <a:endParaRPr lang="en-US" sz="1250" dirty="0"/>
          </a:p>
        </p:txBody>
      </p:sp>
      <p:sp>
        <p:nvSpPr>
          <p:cNvPr id="18" name="Text 16"/>
          <p:cNvSpPr/>
          <p:nvPr/>
        </p:nvSpPr>
        <p:spPr>
          <a:xfrm>
            <a:off x="4609948" y="5074920"/>
            <a:ext cx="2971800" cy="365760"/>
          </a:xfrm>
          <a:prstGeom prst="rect">
            <a:avLst/>
          </a:prstGeom>
          <a:noFill/>
          <a:ln/>
        </p:spPr>
        <p:txBody>
          <a:bodyPr wrap="square" lIns="0" tIns="0" rIns="0" bIns="0" rtlCol="0" anchor="ctr"/>
          <a:lstStyle/>
          <a:p>
            <a:pPr marL="0" indent="0">
              <a:buNone/>
            </a:pPr>
            <a:r>
              <a:rPr lang="en-US" sz="1100" dirty="0">
                <a:solidFill>
                  <a:srgbClr val="73726C"/>
                </a:solidFill>
                <a:latin typeface="Calibri" pitchFamily="34" charset="0"/>
                <a:ea typeface="Calibri" pitchFamily="34" charset="-122"/>
                <a:cs typeface="Calibri" pitchFamily="34" charset="-120"/>
              </a:rPr>
              <a:t>API  </a:t>
            </a:r>
            <a:r>
              <a:rPr lang="en-US" sz="1400" b="1" dirty="0">
                <a:solidFill>
                  <a:srgbClr val="1F1E1D"/>
                </a:solidFill>
                <a:latin typeface="Calibri" pitchFamily="34" charset="0"/>
                <a:ea typeface="Calibri" pitchFamily="34" charset="-122"/>
                <a:cs typeface="Calibri" pitchFamily="34" charset="-120"/>
              </a:rPr>
              <a:t>$3 / $15</a:t>
            </a:r>
            <a:r>
              <a:rPr lang="en-US" sz="1100" dirty="0">
                <a:solidFill>
                  <a:srgbClr val="73726C"/>
                </a:solidFill>
                <a:latin typeface="Calibri" pitchFamily="34" charset="0"/>
                <a:ea typeface="Calibri" pitchFamily="34" charset="-122"/>
                <a:cs typeface="Calibri" pitchFamily="34" charset="-120"/>
              </a:rPr>
              <a:t>  / MTok</a:t>
            </a:r>
            <a:endParaRPr lang="en-US" sz="1100" dirty="0"/>
          </a:p>
        </p:txBody>
      </p:sp>
      <p:sp>
        <p:nvSpPr>
          <p:cNvPr id="19" name="Shape 17"/>
          <p:cNvSpPr/>
          <p:nvPr/>
        </p:nvSpPr>
        <p:spPr>
          <a:xfrm>
            <a:off x="8102956" y="2286000"/>
            <a:ext cx="3520440" cy="3246120"/>
          </a:xfrm>
          <a:prstGeom prst="roundRect">
            <a:avLst>
              <a:gd name="adj" fmla="val 2535"/>
            </a:avLst>
          </a:prstGeom>
          <a:solidFill>
            <a:srgbClr val="FFFFFF"/>
          </a:solidFill>
          <a:ln w="12700">
            <a:solidFill>
              <a:srgbClr val="E3E0D6"/>
            </a:solidFill>
            <a:prstDash val="solid"/>
          </a:ln>
          <a:effectLst>
            <a:outerShdw blurRad="114300" dist="38100" dir="5400000" algn="bl" rotWithShape="0">
              <a:srgbClr val="1F1E1D">
                <a:alpha val="10000"/>
              </a:srgbClr>
            </a:outerShdw>
          </a:effectLst>
        </p:spPr>
        <p:txBody>
          <a:bodyPr/>
          <a:lstStyle/>
          <a:p>
            <a:endParaRPr lang="en-IN"/>
          </a:p>
        </p:txBody>
      </p:sp>
      <p:sp>
        <p:nvSpPr>
          <p:cNvPr id="20" name="Shape 18"/>
          <p:cNvSpPr/>
          <p:nvPr/>
        </p:nvSpPr>
        <p:spPr>
          <a:xfrm>
            <a:off x="8102956" y="2286000"/>
            <a:ext cx="3520440" cy="841248"/>
          </a:xfrm>
          <a:prstGeom prst="roundRect">
            <a:avLst>
              <a:gd name="adj" fmla="val 9783"/>
            </a:avLst>
          </a:prstGeom>
          <a:solidFill>
            <a:srgbClr val="C2613F"/>
          </a:solidFill>
          <a:ln/>
        </p:spPr>
        <p:txBody>
          <a:bodyPr/>
          <a:lstStyle/>
          <a:p>
            <a:endParaRPr lang="en-IN"/>
          </a:p>
        </p:txBody>
      </p:sp>
      <p:sp>
        <p:nvSpPr>
          <p:cNvPr id="21" name="Shape 19"/>
          <p:cNvSpPr/>
          <p:nvPr/>
        </p:nvSpPr>
        <p:spPr>
          <a:xfrm>
            <a:off x="8102956" y="2706624"/>
            <a:ext cx="3520440" cy="420624"/>
          </a:xfrm>
          <a:prstGeom prst="rect">
            <a:avLst/>
          </a:prstGeom>
          <a:solidFill>
            <a:srgbClr val="C2613F"/>
          </a:solidFill>
          <a:ln/>
        </p:spPr>
        <p:txBody>
          <a:bodyPr/>
          <a:lstStyle/>
          <a:p>
            <a:endParaRPr lang="en-IN"/>
          </a:p>
        </p:txBody>
      </p:sp>
      <p:sp>
        <p:nvSpPr>
          <p:cNvPr id="22" name="Text 20"/>
          <p:cNvSpPr/>
          <p:nvPr/>
        </p:nvSpPr>
        <p:spPr>
          <a:xfrm>
            <a:off x="8377276" y="2286000"/>
            <a:ext cx="2971800" cy="841248"/>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Opus</a:t>
            </a:r>
            <a:r>
              <a:rPr lang="en-US" sz="2500" dirty="0">
                <a:solidFill>
                  <a:srgbClr val="FFFFFF"/>
                </a:solidFill>
                <a:latin typeface="Georgia" pitchFamily="34" charset="0"/>
                <a:ea typeface="Georgia" pitchFamily="34" charset="-122"/>
                <a:cs typeface="Georgia" pitchFamily="34" charset="-120"/>
              </a:rPr>
              <a:t>  4.8</a:t>
            </a:r>
            <a:endParaRPr lang="en-US" sz="2500" dirty="0"/>
          </a:p>
        </p:txBody>
      </p:sp>
      <p:sp>
        <p:nvSpPr>
          <p:cNvPr id="23" name="Text 21"/>
          <p:cNvSpPr/>
          <p:nvPr/>
        </p:nvSpPr>
        <p:spPr>
          <a:xfrm>
            <a:off x="8377276" y="3236976"/>
            <a:ext cx="2971800" cy="310896"/>
          </a:xfrm>
          <a:prstGeom prst="rect">
            <a:avLst/>
          </a:prstGeom>
          <a:noFill/>
          <a:ln/>
        </p:spPr>
        <p:txBody>
          <a:bodyPr wrap="square" lIns="0" tIns="0" rIns="0" bIns="0" rtlCol="0" anchor="ctr"/>
          <a:lstStyle/>
          <a:p>
            <a:pPr marL="0" indent="0">
              <a:buNone/>
            </a:pPr>
            <a:r>
              <a:rPr lang="en-US" sz="1300" b="1" kern="0" spc="50" dirty="0">
                <a:solidFill>
                  <a:srgbClr val="C2613F"/>
                </a:solidFill>
                <a:latin typeface="Calibri" pitchFamily="34" charset="0"/>
                <a:ea typeface="Calibri" pitchFamily="34" charset="-122"/>
                <a:cs typeface="Calibri" pitchFamily="34" charset="-120"/>
              </a:rPr>
              <a:t>Reasoning specialist</a:t>
            </a:r>
            <a:endParaRPr lang="en-US" sz="1300" dirty="0"/>
          </a:p>
        </p:txBody>
      </p:sp>
      <p:sp>
        <p:nvSpPr>
          <p:cNvPr id="24" name="Text 22"/>
          <p:cNvSpPr/>
          <p:nvPr/>
        </p:nvSpPr>
        <p:spPr>
          <a:xfrm>
            <a:off x="8377276" y="3611880"/>
            <a:ext cx="3017520" cy="1325880"/>
          </a:xfrm>
          <a:prstGeom prst="rect">
            <a:avLst/>
          </a:prstGeom>
          <a:noFill/>
          <a:ln/>
        </p:spPr>
        <p:txBody>
          <a:bodyPr wrap="square" lIns="0" tIns="0" rIns="0" bIns="0" rtlCol="0" anchor="t"/>
          <a:lstStyle/>
          <a:p>
            <a:pPr marL="177800" indent="-177800">
              <a:lnSpc>
                <a:spcPct val="100000"/>
              </a:lnSpc>
              <a:spcAft>
                <a:spcPts val="600"/>
              </a:spcAft>
              <a:buSzPct val="100000"/>
              <a:buChar char="•"/>
            </a:pPr>
            <a:r>
              <a:rPr lang="en-US" sz="1250" dirty="0">
                <a:solidFill>
                  <a:srgbClr val="3A3835"/>
                </a:solidFill>
                <a:latin typeface="Calibri" pitchFamily="34" charset="0"/>
                <a:ea typeface="Calibri" pitchFamily="34" charset="-122"/>
                <a:cs typeface="Calibri" pitchFamily="34" charset="-120"/>
              </a:rPr>
              <a:t>Deep, sustained reasoning over time</a:t>
            </a:r>
            <a:endParaRPr lang="en-US" sz="1250" dirty="0"/>
          </a:p>
          <a:p>
            <a:pPr marL="177800" indent="-177800">
              <a:lnSpc>
                <a:spcPct val="100000"/>
              </a:lnSpc>
              <a:spcAft>
                <a:spcPts val="600"/>
              </a:spcAft>
              <a:buSzPct val="100000"/>
              <a:buChar char="•"/>
            </a:pPr>
            <a:r>
              <a:rPr lang="en-US" sz="1250" dirty="0">
                <a:solidFill>
                  <a:srgbClr val="3A3835"/>
                </a:solidFill>
                <a:latin typeface="Calibri" pitchFamily="34" charset="0"/>
                <a:ea typeface="Calibri" pitchFamily="34" charset="-122"/>
                <a:cs typeface="Calibri" pitchFamily="34" charset="-120"/>
              </a:rPr>
              <a:t>Science, math, high-autonomy agentic work</a:t>
            </a:r>
            <a:endParaRPr lang="en-US" sz="1250" dirty="0"/>
          </a:p>
          <a:p>
            <a:pPr marL="177800" indent="-177800">
              <a:lnSpc>
                <a:spcPct val="100000"/>
              </a:lnSpc>
              <a:spcAft>
                <a:spcPts val="600"/>
              </a:spcAft>
              <a:buSzPct val="100000"/>
              <a:buChar char="•"/>
            </a:pPr>
            <a:r>
              <a:rPr lang="en-US" sz="1250" dirty="0">
                <a:solidFill>
                  <a:srgbClr val="3A3835"/>
                </a:solidFill>
                <a:latin typeface="Calibri" pitchFamily="34" charset="0"/>
                <a:ea typeface="Calibri" pitchFamily="34" charset="-122"/>
                <a:cs typeface="Calibri" pitchFamily="34" charset="-120"/>
              </a:rPr>
              <a:t>Supports fast mode and effort tuning</a:t>
            </a:r>
            <a:endParaRPr lang="en-US" sz="1250" dirty="0"/>
          </a:p>
        </p:txBody>
      </p:sp>
      <p:sp>
        <p:nvSpPr>
          <p:cNvPr id="25" name="Text 23"/>
          <p:cNvSpPr/>
          <p:nvPr/>
        </p:nvSpPr>
        <p:spPr>
          <a:xfrm>
            <a:off x="8377276" y="5074920"/>
            <a:ext cx="2971800" cy="365760"/>
          </a:xfrm>
          <a:prstGeom prst="rect">
            <a:avLst/>
          </a:prstGeom>
          <a:noFill/>
          <a:ln/>
        </p:spPr>
        <p:txBody>
          <a:bodyPr wrap="square" lIns="0" tIns="0" rIns="0" bIns="0" rtlCol="0" anchor="ctr"/>
          <a:lstStyle/>
          <a:p>
            <a:pPr marL="0" indent="0">
              <a:buNone/>
            </a:pPr>
            <a:r>
              <a:rPr lang="en-US" sz="1100" dirty="0">
                <a:solidFill>
                  <a:srgbClr val="73726C"/>
                </a:solidFill>
                <a:latin typeface="Calibri" pitchFamily="34" charset="0"/>
                <a:ea typeface="Calibri" pitchFamily="34" charset="-122"/>
                <a:cs typeface="Calibri" pitchFamily="34" charset="-120"/>
              </a:rPr>
              <a:t>API  </a:t>
            </a:r>
            <a:r>
              <a:rPr lang="en-US" sz="1400" b="1" dirty="0">
                <a:solidFill>
                  <a:srgbClr val="1F1E1D"/>
                </a:solidFill>
                <a:latin typeface="Calibri" pitchFamily="34" charset="0"/>
                <a:ea typeface="Calibri" pitchFamily="34" charset="-122"/>
                <a:cs typeface="Calibri" pitchFamily="34" charset="-120"/>
              </a:rPr>
              <a:t>$5 / $25</a:t>
            </a:r>
            <a:r>
              <a:rPr lang="en-US" sz="1100" dirty="0">
                <a:solidFill>
                  <a:srgbClr val="73726C"/>
                </a:solidFill>
                <a:latin typeface="Calibri" pitchFamily="34" charset="0"/>
                <a:ea typeface="Calibri" pitchFamily="34" charset="-122"/>
                <a:cs typeface="Calibri" pitchFamily="34" charset="-120"/>
              </a:rPr>
              <a:t>  / MTok</a:t>
            </a:r>
            <a:endParaRPr lang="en-US" sz="1100" dirty="0"/>
          </a:p>
        </p:txBody>
      </p:sp>
      <p:sp>
        <p:nvSpPr>
          <p:cNvPr id="26" name="Text 24"/>
          <p:cNvSpPr/>
          <p:nvPr/>
        </p:nvSpPr>
        <p:spPr>
          <a:xfrm>
            <a:off x="566928" y="5715000"/>
            <a:ext cx="11064240" cy="274320"/>
          </a:xfrm>
          <a:prstGeom prst="rect">
            <a:avLst/>
          </a:prstGeom>
          <a:noFill/>
          <a:ln/>
        </p:spPr>
        <p:txBody>
          <a:bodyPr wrap="square" lIns="0" tIns="0" rIns="0" bIns="0" rtlCol="0" anchor="ctr"/>
          <a:lstStyle/>
          <a:p>
            <a:pPr marL="0" indent="0" algn="ctr">
              <a:buNone/>
            </a:pPr>
            <a:r>
              <a:rPr lang="en-US" sz="1150" i="1" dirty="0">
                <a:solidFill>
                  <a:srgbClr val="73726C"/>
                </a:solidFill>
                <a:latin typeface="Calibri" pitchFamily="34" charset="0"/>
                <a:ea typeface="Calibri" pitchFamily="34" charset="-122"/>
                <a:cs typeface="Calibri" pitchFamily="34" charset="-120"/>
              </a:rPr>
              <a:t>Also in the family: Fable — the newest tier, built for long, complex projects it can run autonomously with fewer check-ins.</a:t>
            </a:r>
            <a:endParaRPr lang="en-US" sz="1150" dirty="0"/>
          </a:p>
        </p:txBody>
      </p:sp>
      <p:pic>
        <p:nvPicPr>
          <p:cNvPr id="27" name="Image 0" descr="/agent/turn1/workspace/assets/spark_coral.png"/>
          <p:cNvPicPr>
            <a:picLocks noChangeAspect="1"/>
          </p:cNvPicPr>
          <p:nvPr/>
        </p:nvPicPr>
        <p:blipFill>
          <a:blip r:embed="rId3"/>
          <a:stretch>
            <a:fillRect/>
          </a:stretch>
        </p:blipFill>
        <p:spPr>
          <a:xfrm>
            <a:off x="566928" y="6419088"/>
            <a:ext cx="201168" cy="201168"/>
          </a:xfrm>
          <a:prstGeom prst="rect">
            <a:avLst/>
          </a:prstGeom>
        </p:spPr>
      </p:pic>
      <p:sp>
        <p:nvSpPr>
          <p:cNvPr id="28" name="Text 25"/>
          <p:cNvSpPr/>
          <p:nvPr/>
        </p:nvSpPr>
        <p:spPr>
          <a:xfrm>
            <a:off x="841248" y="6364224"/>
            <a:ext cx="6400800" cy="310896"/>
          </a:xfrm>
          <a:prstGeom prst="rect">
            <a:avLst/>
          </a:prstGeom>
          <a:noFill/>
          <a:ln/>
        </p:spPr>
        <p:txBody>
          <a:bodyPr wrap="square" lIns="0" tIns="0" rIns="0" bIns="0" rtlCol="0" anchor="ctr"/>
          <a:lstStyle/>
          <a:p>
            <a:pPr marL="0" indent="0" algn="l">
              <a:buNone/>
            </a:pPr>
            <a:r>
              <a:rPr lang="en-US" sz="950" kern="0" spc="50" dirty="0">
                <a:solidFill>
                  <a:srgbClr val="73726C"/>
                </a:solidFill>
                <a:latin typeface="Calibri" pitchFamily="34" charset="0"/>
                <a:ea typeface="Calibri" pitchFamily="34" charset="-122"/>
                <a:cs typeface="Calibri" pitchFamily="34" charset="-120"/>
              </a:rPr>
              <a:t>Claude Cowork  ·  Developer Training</a:t>
            </a:r>
            <a:endParaRPr lang="en-US" sz="950" dirty="0"/>
          </a:p>
        </p:txBody>
      </p:sp>
      <p:sp>
        <p:nvSpPr>
          <p:cNvPr id="29" name="Text 26"/>
          <p:cNvSpPr/>
          <p:nvPr/>
        </p:nvSpPr>
        <p:spPr>
          <a:xfrm>
            <a:off x="10972800" y="6364224"/>
            <a:ext cx="685800" cy="310896"/>
          </a:xfrm>
          <a:prstGeom prst="rect">
            <a:avLst/>
          </a:prstGeom>
          <a:noFill/>
          <a:ln/>
        </p:spPr>
        <p:txBody>
          <a:bodyPr wrap="square" lIns="0" tIns="0" rIns="0" bIns="0" rtlCol="0" anchor="ctr"/>
          <a:lstStyle/>
          <a:p>
            <a:pPr marL="0" indent="0" algn="r">
              <a:buNone/>
            </a:pPr>
            <a:r>
              <a:rPr lang="en-US" sz="950" b="1" dirty="0">
                <a:solidFill>
                  <a:srgbClr val="73726C"/>
                </a:solidFill>
                <a:latin typeface="Calibri" pitchFamily="34" charset="0"/>
                <a:ea typeface="Calibri" pitchFamily="34" charset="-122"/>
                <a:cs typeface="Calibri" pitchFamily="34" charset="-120"/>
              </a:rPr>
              <a:t>03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EEE6"/>
        </a:solidFill>
        <a:effectLst/>
      </p:bgPr>
    </p:bg>
    <p:spTree>
      <p:nvGrpSpPr>
        <p:cNvPr id="1" name=""/>
        <p:cNvGrpSpPr/>
        <p:nvPr/>
      </p:nvGrpSpPr>
      <p:grpSpPr>
        <a:xfrm>
          <a:off x="0" y="0"/>
          <a:ext cx="0" cy="0"/>
          <a:chOff x="0" y="0"/>
          <a:chExt cx="0" cy="0"/>
        </a:xfrm>
      </p:grpSpPr>
      <p:sp>
        <p:nvSpPr>
          <p:cNvPr id="2" name="Text 0"/>
          <p:cNvSpPr/>
          <p:nvPr/>
        </p:nvSpPr>
        <p:spPr>
          <a:xfrm>
            <a:off x="566928" y="457200"/>
            <a:ext cx="10058400" cy="274320"/>
          </a:xfrm>
          <a:prstGeom prst="rect">
            <a:avLst/>
          </a:prstGeom>
          <a:noFill/>
          <a:ln/>
        </p:spPr>
        <p:txBody>
          <a:bodyPr wrap="square" lIns="0" tIns="0" rIns="0" bIns="0" rtlCol="0" anchor="ctr"/>
          <a:lstStyle/>
          <a:p>
            <a:pPr marL="0" indent="0" algn="l">
              <a:buNone/>
            </a:pPr>
            <a:r>
              <a:rPr lang="en-US" sz="1200" b="1" kern="0" spc="250" dirty="0">
                <a:solidFill>
                  <a:srgbClr val="D97757"/>
                </a:solidFill>
                <a:latin typeface="Calibri" pitchFamily="34" charset="0"/>
                <a:ea typeface="Calibri" pitchFamily="34" charset="-122"/>
                <a:cs typeface="Calibri" pitchFamily="34" charset="-120"/>
              </a:rPr>
              <a:t>THE MODEL FAMILY</a:t>
            </a:r>
            <a:endParaRPr lang="en-US" sz="1200" dirty="0"/>
          </a:p>
        </p:txBody>
      </p:sp>
      <p:sp>
        <p:nvSpPr>
          <p:cNvPr id="3" name="Text 1"/>
          <p:cNvSpPr/>
          <p:nvPr/>
        </p:nvSpPr>
        <p:spPr>
          <a:xfrm>
            <a:off x="566928" y="749808"/>
            <a:ext cx="11064240" cy="777240"/>
          </a:xfrm>
          <a:prstGeom prst="rect">
            <a:avLst/>
          </a:prstGeom>
          <a:noFill/>
          <a:ln/>
        </p:spPr>
        <p:txBody>
          <a:bodyPr wrap="square" lIns="0" tIns="0" rIns="0" bIns="0" rtlCol="0" anchor="t"/>
          <a:lstStyle/>
          <a:p>
            <a:pPr marL="0" indent="0" algn="l">
              <a:lnSpc>
                <a:spcPct val="98000"/>
              </a:lnSpc>
              <a:buNone/>
            </a:pPr>
            <a:r>
              <a:rPr lang="en-US" sz="3000" b="1" dirty="0">
                <a:solidFill>
                  <a:srgbClr val="1F1E1D"/>
                </a:solidFill>
                <a:latin typeface="Georgia" pitchFamily="34" charset="0"/>
                <a:ea typeface="Georgia" pitchFamily="34" charset="-122"/>
                <a:cs typeface="Georgia" pitchFamily="34" charset="-120"/>
              </a:rPr>
              <a:t>Opus vs. Sonnet vs. Haiku, side by side</a:t>
            </a:r>
            <a:endParaRPr lang="en-US" sz="3000" dirty="0"/>
          </a:p>
        </p:txBody>
      </p:sp>
      <p:sp>
        <p:nvSpPr>
          <p:cNvPr id="4" name="Shape 2"/>
          <p:cNvSpPr/>
          <p:nvPr/>
        </p:nvSpPr>
        <p:spPr>
          <a:xfrm>
            <a:off x="3081528" y="1810512"/>
            <a:ext cx="2773680" cy="603504"/>
          </a:xfrm>
          <a:prstGeom prst="roundRect">
            <a:avLst>
              <a:gd name="adj" fmla="val 10606"/>
            </a:avLst>
          </a:prstGeom>
          <a:solidFill>
            <a:srgbClr val="D9A066"/>
          </a:solidFill>
          <a:ln/>
        </p:spPr>
        <p:txBody>
          <a:bodyPr/>
          <a:lstStyle/>
          <a:p>
            <a:endParaRPr lang="en-IN"/>
          </a:p>
        </p:txBody>
      </p:sp>
      <p:sp>
        <p:nvSpPr>
          <p:cNvPr id="5" name="Text 3"/>
          <p:cNvSpPr/>
          <p:nvPr/>
        </p:nvSpPr>
        <p:spPr>
          <a:xfrm>
            <a:off x="3081528" y="1810512"/>
            <a:ext cx="2773680" cy="603504"/>
          </a:xfrm>
          <a:prstGeom prst="rect">
            <a:avLst/>
          </a:prstGeom>
          <a:noFill/>
          <a:ln/>
        </p:spPr>
        <p:txBody>
          <a:bodyPr wrap="square" lIns="0" tIns="0" rIns="0" bIns="0" rtlCol="0" anchor="ctr"/>
          <a:lstStyle/>
          <a:p>
            <a:pPr marL="0" indent="0" algn="ctr">
              <a:buNone/>
            </a:pPr>
            <a:r>
              <a:rPr lang="en-US" sz="1650" b="1" dirty="0">
                <a:solidFill>
                  <a:srgbClr val="FFFFFF"/>
                </a:solidFill>
                <a:latin typeface="Georgia" pitchFamily="34" charset="0"/>
                <a:ea typeface="Georgia" pitchFamily="34" charset="-122"/>
                <a:cs typeface="Georgia" pitchFamily="34" charset="-120"/>
              </a:rPr>
              <a:t>Haiku 4.5</a:t>
            </a:r>
            <a:endParaRPr lang="en-US" sz="1650" dirty="0"/>
          </a:p>
        </p:txBody>
      </p:sp>
      <p:sp>
        <p:nvSpPr>
          <p:cNvPr id="6" name="Shape 4"/>
          <p:cNvSpPr/>
          <p:nvPr/>
        </p:nvSpPr>
        <p:spPr>
          <a:xfrm>
            <a:off x="5946648" y="1810512"/>
            <a:ext cx="2773680" cy="603504"/>
          </a:xfrm>
          <a:prstGeom prst="roundRect">
            <a:avLst>
              <a:gd name="adj" fmla="val 10606"/>
            </a:avLst>
          </a:prstGeom>
          <a:solidFill>
            <a:srgbClr val="D97757"/>
          </a:solidFill>
          <a:ln/>
        </p:spPr>
        <p:txBody>
          <a:bodyPr/>
          <a:lstStyle/>
          <a:p>
            <a:endParaRPr lang="en-IN"/>
          </a:p>
        </p:txBody>
      </p:sp>
      <p:sp>
        <p:nvSpPr>
          <p:cNvPr id="7" name="Text 5"/>
          <p:cNvSpPr/>
          <p:nvPr/>
        </p:nvSpPr>
        <p:spPr>
          <a:xfrm>
            <a:off x="5946648" y="1810512"/>
            <a:ext cx="2773680" cy="603504"/>
          </a:xfrm>
          <a:prstGeom prst="rect">
            <a:avLst/>
          </a:prstGeom>
          <a:noFill/>
          <a:ln/>
        </p:spPr>
        <p:txBody>
          <a:bodyPr wrap="square" lIns="0" tIns="0" rIns="0" bIns="0" rtlCol="0" anchor="ctr"/>
          <a:lstStyle/>
          <a:p>
            <a:pPr marL="0" indent="0" algn="ctr">
              <a:buNone/>
            </a:pPr>
            <a:r>
              <a:rPr lang="en-US" sz="1650" b="1" dirty="0">
                <a:solidFill>
                  <a:srgbClr val="FFFFFF"/>
                </a:solidFill>
                <a:latin typeface="Georgia" pitchFamily="34" charset="0"/>
                <a:ea typeface="Georgia" pitchFamily="34" charset="-122"/>
                <a:cs typeface="Georgia" pitchFamily="34" charset="-120"/>
              </a:rPr>
              <a:t>Sonnet 4.6</a:t>
            </a:r>
            <a:endParaRPr lang="en-US" sz="1650" dirty="0"/>
          </a:p>
        </p:txBody>
      </p:sp>
      <p:sp>
        <p:nvSpPr>
          <p:cNvPr id="8" name="Shape 6"/>
          <p:cNvSpPr/>
          <p:nvPr/>
        </p:nvSpPr>
        <p:spPr>
          <a:xfrm>
            <a:off x="8811768" y="1810512"/>
            <a:ext cx="2773680" cy="603504"/>
          </a:xfrm>
          <a:prstGeom prst="roundRect">
            <a:avLst>
              <a:gd name="adj" fmla="val 10606"/>
            </a:avLst>
          </a:prstGeom>
          <a:solidFill>
            <a:srgbClr val="C2613F"/>
          </a:solidFill>
          <a:ln/>
        </p:spPr>
        <p:txBody>
          <a:bodyPr/>
          <a:lstStyle/>
          <a:p>
            <a:endParaRPr lang="en-IN"/>
          </a:p>
        </p:txBody>
      </p:sp>
      <p:sp>
        <p:nvSpPr>
          <p:cNvPr id="9" name="Text 7"/>
          <p:cNvSpPr/>
          <p:nvPr/>
        </p:nvSpPr>
        <p:spPr>
          <a:xfrm>
            <a:off x="8811768" y="1810512"/>
            <a:ext cx="2773680" cy="603504"/>
          </a:xfrm>
          <a:prstGeom prst="rect">
            <a:avLst/>
          </a:prstGeom>
          <a:noFill/>
          <a:ln/>
        </p:spPr>
        <p:txBody>
          <a:bodyPr wrap="square" lIns="0" tIns="0" rIns="0" bIns="0" rtlCol="0" anchor="ctr"/>
          <a:lstStyle/>
          <a:p>
            <a:pPr marL="0" indent="0" algn="ctr">
              <a:buNone/>
            </a:pPr>
            <a:r>
              <a:rPr lang="en-US" sz="1650" b="1" dirty="0">
                <a:solidFill>
                  <a:srgbClr val="FFFFFF"/>
                </a:solidFill>
                <a:latin typeface="Georgia" pitchFamily="34" charset="0"/>
                <a:ea typeface="Georgia" pitchFamily="34" charset="-122"/>
                <a:cs typeface="Georgia" pitchFamily="34" charset="-120"/>
              </a:rPr>
              <a:t>Opus 4.8</a:t>
            </a:r>
            <a:endParaRPr lang="en-US" sz="1650" dirty="0"/>
          </a:p>
        </p:txBody>
      </p:sp>
      <p:sp>
        <p:nvSpPr>
          <p:cNvPr id="10" name="Shape 8"/>
          <p:cNvSpPr/>
          <p:nvPr/>
        </p:nvSpPr>
        <p:spPr>
          <a:xfrm>
            <a:off x="3035808" y="2523744"/>
            <a:ext cx="8595360" cy="566928"/>
          </a:xfrm>
          <a:prstGeom prst="rect">
            <a:avLst/>
          </a:prstGeom>
          <a:solidFill>
            <a:srgbClr val="FFFFFF"/>
          </a:solidFill>
          <a:ln w="12700">
            <a:solidFill>
              <a:srgbClr val="E3E0D6"/>
            </a:solidFill>
            <a:prstDash val="solid"/>
          </a:ln>
        </p:spPr>
        <p:txBody>
          <a:bodyPr/>
          <a:lstStyle/>
          <a:p>
            <a:endParaRPr lang="en-IN"/>
          </a:p>
        </p:txBody>
      </p:sp>
      <p:sp>
        <p:nvSpPr>
          <p:cNvPr id="11" name="Text 9"/>
          <p:cNvSpPr/>
          <p:nvPr/>
        </p:nvSpPr>
        <p:spPr>
          <a:xfrm>
            <a:off x="621792" y="2523744"/>
            <a:ext cx="2377440" cy="566928"/>
          </a:xfrm>
          <a:prstGeom prst="rect">
            <a:avLst/>
          </a:prstGeom>
          <a:noFill/>
          <a:ln/>
        </p:spPr>
        <p:txBody>
          <a:bodyPr wrap="square" lIns="0" tIns="0" rIns="0" bIns="0" rtlCol="0" anchor="ctr"/>
          <a:lstStyle/>
          <a:p>
            <a:pPr marL="0" indent="0" algn="l">
              <a:buNone/>
            </a:pPr>
            <a:r>
              <a:rPr lang="en-US" sz="1350" b="1" dirty="0">
                <a:solidFill>
                  <a:srgbClr val="1F1E1D"/>
                </a:solidFill>
                <a:latin typeface="Calibri" pitchFamily="34" charset="0"/>
                <a:ea typeface="Calibri" pitchFamily="34" charset="-122"/>
                <a:cs typeface="Calibri" pitchFamily="34" charset="-120"/>
              </a:rPr>
              <a:t>Built for</a:t>
            </a:r>
            <a:endParaRPr lang="en-US" sz="1350" dirty="0"/>
          </a:p>
        </p:txBody>
      </p:sp>
      <p:sp>
        <p:nvSpPr>
          <p:cNvPr id="12" name="Text 10"/>
          <p:cNvSpPr/>
          <p:nvPr/>
        </p:nvSpPr>
        <p:spPr>
          <a:xfrm>
            <a:off x="3127248" y="2523744"/>
            <a:ext cx="2682240" cy="566928"/>
          </a:xfrm>
          <a:prstGeom prst="rect">
            <a:avLst/>
          </a:prstGeom>
          <a:noFill/>
          <a:ln/>
        </p:spPr>
        <p:txBody>
          <a:bodyPr wrap="square" lIns="0" tIns="0" rIns="0" bIns="0" rtlCol="0" anchor="ctr"/>
          <a:lstStyle/>
          <a:p>
            <a:pPr marL="0" indent="0" algn="ctr">
              <a:lnSpc>
                <a:spcPct val="95000"/>
              </a:lnSpc>
              <a:buNone/>
            </a:pPr>
            <a:r>
              <a:rPr lang="en-US" sz="1250" dirty="0">
                <a:solidFill>
                  <a:srgbClr val="3A3835"/>
                </a:solidFill>
                <a:latin typeface="Calibri" pitchFamily="34" charset="0"/>
                <a:ea typeface="Calibri" pitchFamily="34" charset="-122"/>
                <a:cs typeface="Calibri" pitchFamily="34" charset="-120"/>
              </a:rPr>
              <a:t>Speed &amp; volume</a:t>
            </a:r>
            <a:endParaRPr lang="en-US" sz="1250" dirty="0"/>
          </a:p>
        </p:txBody>
      </p:sp>
      <p:sp>
        <p:nvSpPr>
          <p:cNvPr id="13" name="Text 11"/>
          <p:cNvSpPr/>
          <p:nvPr/>
        </p:nvSpPr>
        <p:spPr>
          <a:xfrm>
            <a:off x="5992368" y="2523744"/>
            <a:ext cx="2682240" cy="566928"/>
          </a:xfrm>
          <a:prstGeom prst="rect">
            <a:avLst/>
          </a:prstGeom>
          <a:noFill/>
          <a:ln/>
        </p:spPr>
        <p:txBody>
          <a:bodyPr wrap="square" lIns="0" tIns="0" rIns="0" bIns="0" rtlCol="0" anchor="ctr"/>
          <a:lstStyle/>
          <a:p>
            <a:pPr marL="0" indent="0" algn="ctr">
              <a:lnSpc>
                <a:spcPct val="95000"/>
              </a:lnSpc>
              <a:buNone/>
            </a:pPr>
            <a:r>
              <a:rPr lang="en-US" sz="1250" dirty="0">
                <a:solidFill>
                  <a:srgbClr val="3A3835"/>
                </a:solidFill>
                <a:latin typeface="Calibri" pitchFamily="34" charset="0"/>
                <a:ea typeface="Calibri" pitchFamily="34" charset="-122"/>
                <a:cs typeface="Calibri" pitchFamily="34" charset="-120"/>
              </a:rPr>
              <a:t>Production default</a:t>
            </a:r>
            <a:endParaRPr lang="en-US" sz="1250" dirty="0"/>
          </a:p>
        </p:txBody>
      </p:sp>
      <p:sp>
        <p:nvSpPr>
          <p:cNvPr id="14" name="Text 12"/>
          <p:cNvSpPr/>
          <p:nvPr/>
        </p:nvSpPr>
        <p:spPr>
          <a:xfrm>
            <a:off x="8857488" y="2523744"/>
            <a:ext cx="2682240" cy="566928"/>
          </a:xfrm>
          <a:prstGeom prst="rect">
            <a:avLst/>
          </a:prstGeom>
          <a:noFill/>
          <a:ln/>
        </p:spPr>
        <p:txBody>
          <a:bodyPr wrap="square" lIns="0" tIns="0" rIns="0" bIns="0" rtlCol="0" anchor="ctr"/>
          <a:lstStyle/>
          <a:p>
            <a:pPr marL="0" indent="0" algn="ctr">
              <a:lnSpc>
                <a:spcPct val="95000"/>
              </a:lnSpc>
              <a:buNone/>
            </a:pPr>
            <a:r>
              <a:rPr lang="en-US" sz="1250" dirty="0">
                <a:solidFill>
                  <a:srgbClr val="3A3835"/>
                </a:solidFill>
                <a:latin typeface="Calibri" pitchFamily="34" charset="0"/>
                <a:ea typeface="Calibri" pitchFamily="34" charset="-122"/>
                <a:cs typeface="Calibri" pitchFamily="34" charset="-120"/>
              </a:rPr>
              <a:t>Hardest reasoning</a:t>
            </a:r>
            <a:endParaRPr lang="en-US" sz="1250" dirty="0"/>
          </a:p>
        </p:txBody>
      </p:sp>
      <p:sp>
        <p:nvSpPr>
          <p:cNvPr id="15" name="Shape 13"/>
          <p:cNvSpPr/>
          <p:nvPr/>
        </p:nvSpPr>
        <p:spPr>
          <a:xfrm>
            <a:off x="3035808" y="3090672"/>
            <a:ext cx="8595360" cy="566928"/>
          </a:xfrm>
          <a:prstGeom prst="rect">
            <a:avLst/>
          </a:prstGeom>
          <a:solidFill>
            <a:srgbClr val="FAF9F5"/>
          </a:solidFill>
          <a:ln w="12700">
            <a:solidFill>
              <a:srgbClr val="E3E0D6"/>
            </a:solidFill>
            <a:prstDash val="solid"/>
          </a:ln>
        </p:spPr>
        <p:txBody>
          <a:bodyPr/>
          <a:lstStyle/>
          <a:p>
            <a:endParaRPr lang="en-IN"/>
          </a:p>
        </p:txBody>
      </p:sp>
      <p:sp>
        <p:nvSpPr>
          <p:cNvPr id="16" name="Text 14"/>
          <p:cNvSpPr/>
          <p:nvPr/>
        </p:nvSpPr>
        <p:spPr>
          <a:xfrm>
            <a:off x="621792" y="3090672"/>
            <a:ext cx="2377440" cy="566928"/>
          </a:xfrm>
          <a:prstGeom prst="rect">
            <a:avLst/>
          </a:prstGeom>
          <a:noFill/>
          <a:ln/>
        </p:spPr>
        <p:txBody>
          <a:bodyPr wrap="square" lIns="0" tIns="0" rIns="0" bIns="0" rtlCol="0" anchor="ctr"/>
          <a:lstStyle/>
          <a:p>
            <a:pPr marL="0" indent="0" algn="l">
              <a:buNone/>
            </a:pPr>
            <a:r>
              <a:rPr lang="en-US" sz="1350" b="1" dirty="0">
                <a:solidFill>
                  <a:srgbClr val="1F1E1D"/>
                </a:solidFill>
                <a:latin typeface="Calibri" pitchFamily="34" charset="0"/>
                <a:ea typeface="Calibri" pitchFamily="34" charset="-122"/>
                <a:cs typeface="Calibri" pitchFamily="34" charset="-120"/>
              </a:rPr>
              <a:t>Input / output</a:t>
            </a:r>
            <a:endParaRPr lang="en-US" sz="1350" dirty="0"/>
          </a:p>
        </p:txBody>
      </p:sp>
      <p:sp>
        <p:nvSpPr>
          <p:cNvPr id="17" name="Text 15"/>
          <p:cNvSpPr/>
          <p:nvPr/>
        </p:nvSpPr>
        <p:spPr>
          <a:xfrm>
            <a:off x="3127248" y="3090672"/>
            <a:ext cx="2682240" cy="566928"/>
          </a:xfrm>
          <a:prstGeom prst="rect">
            <a:avLst/>
          </a:prstGeom>
          <a:noFill/>
          <a:ln/>
        </p:spPr>
        <p:txBody>
          <a:bodyPr wrap="square" lIns="0" tIns="0" rIns="0" bIns="0" rtlCol="0" anchor="ctr"/>
          <a:lstStyle/>
          <a:p>
            <a:pPr marL="0" indent="0" algn="ctr">
              <a:lnSpc>
                <a:spcPct val="95000"/>
              </a:lnSpc>
              <a:buNone/>
            </a:pPr>
            <a:r>
              <a:rPr lang="en-US" sz="1250" dirty="0">
                <a:solidFill>
                  <a:srgbClr val="3A3835"/>
                </a:solidFill>
                <a:latin typeface="Calibri" pitchFamily="34" charset="0"/>
                <a:ea typeface="Calibri" pitchFamily="34" charset="-122"/>
                <a:cs typeface="Calibri" pitchFamily="34" charset="-120"/>
              </a:rPr>
              <a:t>$1 / $5</a:t>
            </a:r>
            <a:endParaRPr lang="en-US" sz="1250" dirty="0"/>
          </a:p>
        </p:txBody>
      </p:sp>
      <p:sp>
        <p:nvSpPr>
          <p:cNvPr id="18" name="Text 16"/>
          <p:cNvSpPr/>
          <p:nvPr/>
        </p:nvSpPr>
        <p:spPr>
          <a:xfrm>
            <a:off x="5992368" y="3090672"/>
            <a:ext cx="2682240" cy="566928"/>
          </a:xfrm>
          <a:prstGeom prst="rect">
            <a:avLst/>
          </a:prstGeom>
          <a:noFill/>
          <a:ln/>
        </p:spPr>
        <p:txBody>
          <a:bodyPr wrap="square" lIns="0" tIns="0" rIns="0" bIns="0" rtlCol="0" anchor="ctr"/>
          <a:lstStyle/>
          <a:p>
            <a:pPr marL="0" indent="0" algn="ctr">
              <a:lnSpc>
                <a:spcPct val="95000"/>
              </a:lnSpc>
              <a:buNone/>
            </a:pPr>
            <a:r>
              <a:rPr lang="en-US" sz="1250" dirty="0">
                <a:solidFill>
                  <a:srgbClr val="3A3835"/>
                </a:solidFill>
                <a:latin typeface="Calibri" pitchFamily="34" charset="0"/>
                <a:ea typeface="Calibri" pitchFamily="34" charset="-122"/>
                <a:cs typeface="Calibri" pitchFamily="34" charset="-120"/>
              </a:rPr>
              <a:t>$3 / $15</a:t>
            </a:r>
            <a:endParaRPr lang="en-US" sz="1250" dirty="0"/>
          </a:p>
        </p:txBody>
      </p:sp>
      <p:sp>
        <p:nvSpPr>
          <p:cNvPr id="19" name="Text 17"/>
          <p:cNvSpPr/>
          <p:nvPr/>
        </p:nvSpPr>
        <p:spPr>
          <a:xfrm>
            <a:off x="8857488" y="3090672"/>
            <a:ext cx="2682240" cy="566928"/>
          </a:xfrm>
          <a:prstGeom prst="rect">
            <a:avLst/>
          </a:prstGeom>
          <a:noFill/>
          <a:ln/>
        </p:spPr>
        <p:txBody>
          <a:bodyPr wrap="square" lIns="0" tIns="0" rIns="0" bIns="0" rtlCol="0" anchor="ctr"/>
          <a:lstStyle/>
          <a:p>
            <a:pPr marL="0" indent="0" algn="ctr">
              <a:lnSpc>
                <a:spcPct val="95000"/>
              </a:lnSpc>
              <a:buNone/>
            </a:pPr>
            <a:r>
              <a:rPr lang="en-US" sz="1250" dirty="0">
                <a:solidFill>
                  <a:srgbClr val="3A3835"/>
                </a:solidFill>
                <a:latin typeface="Calibri" pitchFamily="34" charset="0"/>
                <a:ea typeface="Calibri" pitchFamily="34" charset="-122"/>
                <a:cs typeface="Calibri" pitchFamily="34" charset="-120"/>
              </a:rPr>
              <a:t>$5 / $25</a:t>
            </a:r>
            <a:endParaRPr lang="en-US" sz="1250" dirty="0"/>
          </a:p>
        </p:txBody>
      </p:sp>
      <p:sp>
        <p:nvSpPr>
          <p:cNvPr id="20" name="Shape 18"/>
          <p:cNvSpPr/>
          <p:nvPr/>
        </p:nvSpPr>
        <p:spPr>
          <a:xfrm>
            <a:off x="3035808" y="3657600"/>
            <a:ext cx="8595360" cy="566928"/>
          </a:xfrm>
          <a:prstGeom prst="rect">
            <a:avLst/>
          </a:prstGeom>
          <a:solidFill>
            <a:srgbClr val="FFFFFF"/>
          </a:solidFill>
          <a:ln w="12700">
            <a:solidFill>
              <a:srgbClr val="E3E0D6"/>
            </a:solidFill>
            <a:prstDash val="solid"/>
          </a:ln>
        </p:spPr>
        <p:txBody>
          <a:bodyPr/>
          <a:lstStyle/>
          <a:p>
            <a:endParaRPr lang="en-IN"/>
          </a:p>
        </p:txBody>
      </p:sp>
      <p:sp>
        <p:nvSpPr>
          <p:cNvPr id="21" name="Text 19"/>
          <p:cNvSpPr/>
          <p:nvPr/>
        </p:nvSpPr>
        <p:spPr>
          <a:xfrm>
            <a:off x="621792" y="3657600"/>
            <a:ext cx="2377440" cy="566928"/>
          </a:xfrm>
          <a:prstGeom prst="rect">
            <a:avLst/>
          </a:prstGeom>
          <a:noFill/>
          <a:ln/>
        </p:spPr>
        <p:txBody>
          <a:bodyPr wrap="square" lIns="0" tIns="0" rIns="0" bIns="0" rtlCol="0" anchor="ctr"/>
          <a:lstStyle/>
          <a:p>
            <a:pPr marL="0" indent="0" algn="l">
              <a:buNone/>
            </a:pPr>
            <a:r>
              <a:rPr lang="en-US" sz="1350" b="1" dirty="0">
                <a:solidFill>
                  <a:srgbClr val="1F1E1D"/>
                </a:solidFill>
                <a:latin typeface="Calibri" pitchFamily="34" charset="0"/>
                <a:ea typeface="Calibri" pitchFamily="34" charset="-122"/>
                <a:cs typeface="Calibri" pitchFamily="34" charset="-120"/>
              </a:rPr>
              <a:t>Context window</a:t>
            </a:r>
            <a:endParaRPr lang="en-US" sz="1350" dirty="0"/>
          </a:p>
        </p:txBody>
      </p:sp>
      <p:sp>
        <p:nvSpPr>
          <p:cNvPr id="22" name="Text 20"/>
          <p:cNvSpPr/>
          <p:nvPr/>
        </p:nvSpPr>
        <p:spPr>
          <a:xfrm>
            <a:off x="3127248" y="3657600"/>
            <a:ext cx="2682240" cy="566928"/>
          </a:xfrm>
          <a:prstGeom prst="rect">
            <a:avLst/>
          </a:prstGeom>
          <a:noFill/>
          <a:ln/>
        </p:spPr>
        <p:txBody>
          <a:bodyPr wrap="square" lIns="0" tIns="0" rIns="0" bIns="0" rtlCol="0" anchor="ctr"/>
          <a:lstStyle/>
          <a:p>
            <a:pPr marL="0" indent="0" algn="ctr">
              <a:lnSpc>
                <a:spcPct val="95000"/>
              </a:lnSpc>
              <a:buNone/>
            </a:pPr>
            <a:r>
              <a:rPr lang="en-US" sz="1250" dirty="0">
                <a:solidFill>
                  <a:srgbClr val="3A3835"/>
                </a:solidFill>
                <a:latin typeface="Calibri" pitchFamily="34" charset="0"/>
                <a:ea typeface="Calibri" pitchFamily="34" charset="-122"/>
                <a:cs typeface="Calibri" pitchFamily="34" charset="-120"/>
              </a:rPr>
              <a:t>200K</a:t>
            </a:r>
            <a:endParaRPr lang="en-US" sz="1250" dirty="0"/>
          </a:p>
        </p:txBody>
      </p:sp>
      <p:sp>
        <p:nvSpPr>
          <p:cNvPr id="23" name="Text 21"/>
          <p:cNvSpPr/>
          <p:nvPr/>
        </p:nvSpPr>
        <p:spPr>
          <a:xfrm>
            <a:off x="5992368" y="3657600"/>
            <a:ext cx="2682240" cy="566928"/>
          </a:xfrm>
          <a:prstGeom prst="rect">
            <a:avLst/>
          </a:prstGeom>
          <a:noFill/>
          <a:ln/>
        </p:spPr>
        <p:txBody>
          <a:bodyPr wrap="square" lIns="0" tIns="0" rIns="0" bIns="0" rtlCol="0" anchor="ctr"/>
          <a:lstStyle/>
          <a:p>
            <a:pPr marL="0" indent="0" algn="ctr">
              <a:lnSpc>
                <a:spcPct val="95000"/>
              </a:lnSpc>
              <a:buNone/>
            </a:pPr>
            <a:r>
              <a:rPr lang="en-US" sz="1250" dirty="0">
                <a:solidFill>
                  <a:srgbClr val="3A3835"/>
                </a:solidFill>
                <a:latin typeface="Calibri" pitchFamily="34" charset="0"/>
                <a:ea typeface="Calibri" pitchFamily="34" charset="-122"/>
                <a:cs typeface="Calibri" pitchFamily="34" charset="-120"/>
              </a:rPr>
              <a:t>200K (1M beta)</a:t>
            </a:r>
            <a:endParaRPr lang="en-US" sz="1250" dirty="0"/>
          </a:p>
        </p:txBody>
      </p:sp>
      <p:sp>
        <p:nvSpPr>
          <p:cNvPr id="24" name="Text 22"/>
          <p:cNvSpPr/>
          <p:nvPr/>
        </p:nvSpPr>
        <p:spPr>
          <a:xfrm>
            <a:off x="8857488" y="3657600"/>
            <a:ext cx="2682240" cy="566928"/>
          </a:xfrm>
          <a:prstGeom prst="rect">
            <a:avLst/>
          </a:prstGeom>
          <a:noFill/>
          <a:ln/>
        </p:spPr>
        <p:txBody>
          <a:bodyPr wrap="square" lIns="0" tIns="0" rIns="0" bIns="0" rtlCol="0" anchor="ctr"/>
          <a:lstStyle/>
          <a:p>
            <a:pPr marL="0" indent="0" algn="ctr">
              <a:lnSpc>
                <a:spcPct val="95000"/>
              </a:lnSpc>
              <a:buNone/>
            </a:pPr>
            <a:r>
              <a:rPr lang="en-US" sz="1250" dirty="0">
                <a:solidFill>
                  <a:srgbClr val="3A3835"/>
                </a:solidFill>
                <a:latin typeface="Calibri" pitchFamily="34" charset="0"/>
                <a:ea typeface="Calibri" pitchFamily="34" charset="-122"/>
                <a:cs typeface="Calibri" pitchFamily="34" charset="-120"/>
              </a:rPr>
              <a:t>200K (1M beta)</a:t>
            </a:r>
            <a:endParaRPr lang="en-US" sz="1250" dirty="0"/>
          </a:p>
        </p:txBody>
      </p:sp>
      <p:sp>
        <p:nvSpPr>
          <p:cNvPr id="25" name="Shape 23"/>
          <p:cNvSpPr/>
          <p:nvPr/>
        </p:nvSpPr>
        <p:spPr>
          <a:xfrm>
            <a:off x="3035808" y="4224528"/>
            <a:ext cx="8595360" cy="566928"/>
          </a:xfrm>
          <a:prstGeom prst="rect">
            <a:avLst/>
          </a:prstGeom>
          <a:solidFill>
            <a:srgbClr val="FAF9F5"/>
          </a:solidFill>
          <a:ln w="12700">
            <a:solidFill>
              <a:srgbClr val="E3E0D6"/>
            </a:solidFill>
            <a:prstDash val="solid"/>
          </a:ln>
        </p:spPr>
        <p:txBody>
          <a:bodyPr/>
          <a:lstStyle/>
          <a:p>
            <a:endParaRPr lang="en-IN"/>
          </a:p>
        </p:txBody>
      </p:sp>
      <p:sp>
        <p:nvSpPr>
          <p:cNvPr id="26" name="Text 24"/>
          <p:cNvSpPr/>
          <p:nvPr/>
        </p:nvSpPr>
        <p:spPr>
          <a:xfrm>
            <a:off x="621792" y="4224528"/>
            <a:ext cx="2377440" cy="566928"/>
          </a:xfrm>
          <a:prstGeom prst="rect">
            <a:avLst/>
          </a:prstGeom>
          <a:noFill/>
          <a:ln/>
        </p:spPr>
        <p:txBody>
          <a:bodyPr wrap="square" lIns="0" tIns="0" rIns="0" bIns="0" rtlCol="0" anchor="ctr"/>
          <a:lstStyle/>
          <a:p>
            <a:pPr marL="0" indent="0" algn="l">
              <a:buNone/>
            </a:pPr>
            <a:r>
              <a:rPr lang="en-US" sz="1350" b="1" dirty="0">
                <a:solidFill>
                  <a:srgbClr val="1F1E1D"/>
                </a:solidFill>
                <a:latin typeface="Calibri" pitchFamily="34" charset="0"/>
                <a:ea typeface="Calibri" pitchFamily="34" charset="-122"/>
                <a:cs typeface="Calibri" pitchFamily="34" charset="-120"/>
              </a:rPr>
              <a:t>Relative latency</a:t>
            </a:r>
            <a:endParaRPr lang="en-US" sz="1350" dirty="0"/>
          </a:p>
        </p:txBody>
      </p:sp>
      <p:sp>
        <p:nvSpPr>
          <p:cNvPr id="27" name="Text 25"/>
          <p:cNvSpPr/>
          <p:nvPr/>
        </p:nvSpPr>
        <p:spPr>
          <a:xfrm>
            <a:off x="3127248" y="4224528"/>
            <a:ext cx="2682240" cy="566928"/>
          </a:xfrm>
          <a:prstGeom prst="rect">
            <a:avLst/>
          </a:prstGeom>
          <a:noFill/>
          <a:ln/>
        </p:spPr>
        <p:txBody>
          <a:bodyPr wrap="square" lIns="0" tIns="0" rIns="0" bIns="0" rtlCol="0" anchor="ctr"/>
          <a:lstStyle/>
          <a:p>
            <a:pPr marL="0" indent="0" algn="ctr">
              <a:lnSpc>
                <a:spcPct val="95000"/>
              </a:lnSpc>
              <a:buNone/>
            </a:pPr>
            <a:r>
              <a:rPr lang="en-US" sz="1250" dirty="0">
                <a:solidFill>
                  <a:srgbClr val="3A3835"/>
                </a:solidFill>
                <a:latin typeface="Calibri" pitchFamily="34" charset="0"/>
                <a:ea typeface="Calibri" pitchFamily="34" charset="-122"/>
                <a:cs typeface="Calibri" pitchFamily="34" charset="-120"/>
              </a:rPr>
              <a:t>Fastest</a:t>
            </a:r>
            <a:endParaRPr lang="en-US" sz="1250" dirty="0"/>
          </a:p>
        </p:txBody>
      </p:sp>
      <p:sp>
        <p:nvSpPr>
          <p:cNvPr id="28" name="Text 26"/>
          <p:cNvSpPr/>
          <p:nvPr/>
        </p:nvSpPr>
        <p:spPr>
          <a:xfrm>
            <a:off x="5992368" y="4224528"/>
            <a:ext cx="2682240" cy="566928"/>
          </a:xfrm>
          <a:prstGeom prst="rect">
            <a:avLst/>
          </a:prstGeom>
          <a:noFill/>
          <a:ln/>
        </p:spPr>
        <p:txBody>
          <a:bodyPr wrap="square" lIns="0" tIns="0" rIns="0" bIns="0" rtlCol="0" anchor="ctr"/>
          <a:lstStyle/>
          <a:p>
            <a:pPr marL="0" indent="0" algn="ctr">
              <a:lnSpc>
                <a:spcPct val="95000"/>
              </a:lnSpc>
              <a:buNone/>
            </a:pPr>
            <a:r>
              <a:rPr lang="en-US" sz="1250" dirty="0">
                <a:solidFill>
                  <a:srgbClr val="3A3835"/>
                </a:solidFill>
                <a:latin typeface="Calibri" pitchFamily="34" charset="0"/>
                <a:ea typeface="Calibri" pitchFamily="34" charset="-122"/>
                <a:cs typeface="Calibri" pitchFamily="34" charset="-120"/>
              </a:rPr>
              <a:t>Responsive</a:t>
            </a:r>
            <a:endParaRPr lang="en-US" sz="1250" dirty="0"/>
          </a:p>
        </p:txBody>
      </p:sp>
      <p:sp>
        <p:nvSpPr>
          <p:cNvPr id="29" name="Text 27"/>
          <p:cNvSpPr/>
          <p:nvPr/>
        </p:nvSpPr>
        <p:spPr>
          <a:xfrm>
            <a:off x="8857488" y="4224528"/>
            <a:ext cx="2682240" cy="566928"/>
          </a:xfrm>
          <a:prstGeom prst="rect">
            <a:avLst/>
          </a:prstGeom>
          <a:noFill/>
          <a:ln/>
        </p:spPr>
        <p:txBody>
          <a:bodyPr wrap="square" lIns="0" tIns="0" rIns="0" bIns="0" rtlCol="0" anchor="ctr"/>
          <a:lstStyle/>
          <a:p>
            <a:pPr marL="0" indent="0" algn="ctr">
              <a:lnSpc>
                <a:spcPct val="95000"/>
              </a:lnSpc>
              <a:buNone/>
            </a:pPr>
            <a:r>
              <a:rPr lang="en-US" sz="1250" dirty="0">
                <a:solidFill>
                  <a:srgbClr val="3A3835"/>
                </a:solidFill>
                <a:latin typeface="Calibri" pitchFamily="34" charset="0"/>
                <a:ea typeface="Calibri" pitchFamily="34" charset="-122"/>
                <a:cs typeface="Calibri" pitchFamily="34" charset="-120"/>
              </a:rPr>
              <a:t>Deliberate*</a:t>
            </a:r>
            <a:endParaRPr lang="en-US" sz="1250" dirty="0"/>
          </a:p>
        </p:txBody>
      </p:sp>
      <p:sp>
        <p:nvSpPr>
          <p:cNvPr id="30" name="Shape 28"/>
          <p:cNvSpPr/>
          <p:nvPr/>
        </p:nvSpPr>
        <p:spPr>
          <a:xfrm>
            <a:off x="3035808" y="4791456"/>
            <a:ext cx="8595360" cy="566928"/>
          </a:xfrm>
          <a:prstGeom prst="rect">
            <a:avLst/>
          </a:prstGeom>
          <a:solidFill>
            <a:srgbClr val="FFFFFF"/>
          </a:solidFill>
          <a:ln w="12700">
            <a:solidFill>
              <a:srgbClr val="E3E0D6"/>
            </a:solidFill>
            <a:prstDash val="solid"/>
          </a:ln>
        </p:spPr>
        <p:txBody>
          <a:bodyPr/>
          <a:lstStyle/>
          <a:p>
            <a:endParaRPr lang="en-IN"/>
          </a:p>
        </p:txBody>
      </p:sp>
      <p:sp>
        <p:nvSpPr>
          <p:cNvPr id="31" name="Text 29"/>
          <p:cNvSpPr/>
          <p:nvPr/>
        </p:nvSpPr>
        <p:spPr>
          <a:xfrm>
            <a:off x="621792" y="4791456"/>
            <a:ext cx="2377440" cy="566928"/>
          </a:xfrm>
          <a:prstGeom prst="rect">
            <a:avLst/>
          </a:prstGeom>
          <a:noFill/>
          <a:ln/>
        </p:spPr>
        <p:txBody>
          <a:bodyPr wrap="square" lIns="0" tIns="0" rIns="0" bIns="0" rtlCol="0" anchor="ctr"/>
          <a:lstStyle/>
          <a:p>
            <a:pPr marL="0" indent="0" algn="l">
              <a:buNone/>
            </a:pPr>
            <a:r>
              <a:rPr lang="en-US" sz="1350" b="1" dirty="0">
                <a:solidFill>
                  <a:srgbClr val="1F1E1D"/>
                </a:solidFill>
                <a:latin typeface="Calibri" pitchFamily="34" charset="0"/>
                <a:ea typeface="Calibri" pitchFamily="34" charset="-122"/>
                <a:cs typeface="Calibri" pitchFamily="34" charset="-120"/>
              </a:rPr>
              <a:t>Effort / fast mode</a:t>
            </a:r>
            <a:endParaRPr lang="en-US" sz="1350" dirty="0"/>
          </a:p>
        </p:txBody>
      </p:sp>
      <p:sp>
        <p:nvSpPr>
          <p:cNvPr id="32" name="Text 30"/>
          <p:cNvSpPr/>
          <p:nvPr/>
        </p:nvSpPr>
        <p:spPr>
          <a:xfrm>
            <a:off x="3127248" y="4791456"/>
            <a:ext cx="2682240" cy="566928"/>
          </a:xfrm>
          <a:prstGeom prst="rect">
            <a:avLst/>
          </a:prstGeom>
          <a:noFill/>
          <a:ln/>
        </p:spPr>
        <p:txBody>
          <a:bodyPr wrap="square" lIns="0" tIns="0" rIns="0" bIns="0" rtlCol="0" anchor="ctr"/>
          <a:lstStyle/>
          <a:p>
            <a:pPr marL="0" indent="0" algn="ctr">
              <a:lnSpc>
                <a:spcPct val="95000"/>
              </a:lnSpc>
              <a:buNone/>
            </a:pPr>
            <a:r>
              <a:rPr lang="en-US" sz="1250" dirty="0">
                <a:solidFill>
                  <a:srgbClr val="3A3835"/>
                </a:solidFill>
                <a:latin typeface="Calibri" pitchFamily="34" charset="0"/>
                <a:ea typeface="Calibri" pitchFamily="34" charset="-122"/>
                <a:cs typeface="Calibri" pitchFamily="34" charset="-120"/>
              </a:rPr>
              <a:t>—</a:t>
            </a:r>
            <a:endParaRPr lang="en-US" sz="1250" dirty="0"/>
          </a:p>
        </p:txBody>
      </p:sp>
      <p:sp>
        <p:nvSpPr>
          <p:cNvPr id="33" name="Text 31"/>
          <p:cNvSpPr/>
          <p:nvPr/>
        </p:nvSpPr>
        <p:spPr>
          <a:xfrm>
            <a:off x="5992368" y="4791456"/>
            <a:ext cx="2682240" cy="566928"/>
          </a:xfrm>
          <a:prstGeom prst="rect">
            <a:avLst/>
          </a:prstGeom>
          <a:noFill/>
          <a:ln/>
        </p:spPr>
        <p:txBody>
          <a:bodyPr wrap="square" lIns="0" tIns="0" rIns="0" bIns="0" rtlCol="0" anchor="ctr"/>
          <a:lstStyle/>
          <a:p>
            <a:pPr marL="0" indent="0" algn="ctr">
              <a:lnSpc>
                <a:spcPct val="95000"/>
              </a:lnSpc>
              <a:buNone/>
            </a:pPr>
            <a:r>
              <a:rPr lang="en-US" sz="1250" dirty="0">
                <a:solidFill>
                  <a:srgbClr val="3A3835"/>
                </a:solidFill>
                <a:latin typeface="Calibri" pitchFamily="34" charset="0"/>
                <a:ea typeface="Calibri" pitchFamily="34" charset="-122"/>
                <a:cs typeface="Calibri" pitchFamily="34" charset="-120"/>
              </a:rPr>
              <a:t>Effort parameter</a:t>
            </a:r>
            <a:endParaRPr lang="en-US" sz="1250" dirty="0"/>
          </a:p>
        </p:txBody>
      </p:sp>
      <p:sp>
        <p:nvSpPr>
          <p:cNvPr id="34" name="Text 32"/>
          <p:cNvSpPr/>
          <p:nvPr/>
        </p:nvSpPr>
        <p:spPr>
          <a:xfrm>
            <a:off x="8857488" y="4791456"/>
            <a:ext cx="2682240" cy="566928"/>
          </a:xfrm>
          <a:prstGeom prst="rect">
            <a:avLst/>
          </a:prstGeom>
          <a:noFill/>
          <a:ln/>
        </p:spPr>
        <p:txBody>
          <a:bodyPr wrap="square" lIns="0" tIns="0" rIns="0" bIns="0" rtlCol="0" anchor="ctr"/>
          <a:lstStyle/>
          <a:p>
            <a:pPr marL="0" indent="0" algn="ctr">
              <a:lnSpc>
                <a:spcPct val="95000"/>
              </a:lnSpc>
              <a:buNone/>
            </a:pPr>
            <a:r>
              <a:rPr lang="en-US" sz="1250" dirty="0">
                <a:solidFill>
                  <a:srgbClr val="3A3835"/>
                </a:solidFill>
                <a:latin typeface="Calibri" pitchFamily="34" charset="0"/>
                <a:ea typeface="Calibri" pitchFamily="34" charset="-122"/>
                <a:cs typeface="Calibri" pitchFamily="34" charset="-120"/>
              </a:rPr>
              <a:t>Effort + fast mode</a:t>
            </a:r>
            <a:endParaRPr lang="en-US" sz="1250" dirty="0"/>
          </a:p>
        </p:txBody>
      </p:sp>
      <p:sp>
        <p:nvSpPr>
          <p:cNvPr id="35" name="Shape 33"/>
          <p:cNvSpPr/>
          <p:nvPr/>
        </p:nvSpPr>
        <p:spPr>
          <a:xfrm>
            <a:off x="3035808" y="5358384"/>
            <a:ext cx="8595360" cy="566928"/>
          </a:xfrm>
          <a:prstGeom prst="rect">
            <a:avLst/>
          </a:prstGeom>
          <a:solidFill>
            <a:srgbClr val="FAF9F5"/>
          </a:solidFill>
          <a:ln w="12700">
            <a:solidFill>
              <a:srgbClr val="E3E0D6"/>
            </a:solidFill>
            <a:prstDash val="solid"/>
          </a:ln>
        </p:spPr>
        <p:txBody>
          <a:bodyPr/>
          <a:lstStyle/>
          <a:p>
            <a:endParaRPr lang="en-IN"/>
          </a:p>
        </p:txBody>
      </p:sp>
      <p:sp>
        <p:nvSpPr>
          <p:cNvPr id="36" name="Text 34"/>
          <p:cNvSpPr/>
          <p:nvPr/>
        </p:nvSpPr>
        <p:spPr>
          <a:xfrm>
            <a:off x="621792" y="5358384"/>
            <a:ext cx="2377440" cy="566928"/>
          </a:xfrm>
          <a:prstGeom prst="rect">
            <a:avLst/>
          </a:prstGeom>
          <a:noFill/>
          <a:ln/>
        </p:spPr>
        <p:txBody>
          <a:bodyPr wrap="square" lIns="0" tIns="0" rIns="0" bIns="0" rtlCol="0" anchor="ctr"/>
          <a:lstStyle/>
          <a:p>
            <a:pPr marL="0" indent="0" algn="l">
              <a:buNone/>
            </a:pPr>
            <a:r>
              <a:rPr lang="en-US" sz="1350" b="1" dirty="0">
                <a:solidFill>
                  <a:srgbClr val="1F1E1D"/>
                </a:solidFill>
                <a:latin typeface="Calibri" pitchFamily="34" charset="0"/>
                <a:ea typeface="Calibri" pitchFamily="34" charset="-122"/>
                <a:cs typeface="Calibri" pitchFamily="34" charset="-120"/>
              </a:rPr>
              <a:t>Reach for it when</a:t>
            </a:r>
            <a:endParaRPr lang="en-US" sz="1350" dirty="0"/>
          </a:p>
        </p:txBody>
      </p:sp>
      <p:sp>
        <p:nvSpPr>
          <p:cNvPr id="37" name="Text 35"/>
          <p:cNvSpPr/>
          <p:nvPr/>
        </p:nvSpPr>
        <p:spPr>
          <a:xfrm>
            <a:off x="3127248" y="5358384"/>
            <a:ext cx="2682240" cy="566928"/>
          </a:xfrm>
          <a:prstGeom prst="rect">
            <a:avLst/>
          </a:prstGeom>
          <a:noFill/>
          <a:ln/>
        </p:spPr>
        <p:txBody>
          <a:bodyPr wrap="square" lIns="0" tIns="0" rIns="0" bIns="0" rtlCol="0" anchor="ctr"/>
          <a:lstStyle/>
          <a:p>
            <a:pPr marL="0" indent="0" algn="ctr">
              <a:lnSpc>
                <a:spcPct val="95000"/>
              </a:lnSpc>
              <a:buNone/>
            </a:pPr>
            <a:r>
              <a:rPr lang="en-US" sz="1250" i="1" dirty="0">
                <a:solidFill>
                  <a:srgbClr val="3A3835"/>
                </a:solidFill>
                <a:latin typeface="Calibri" pitchFamily="34" charset="0"/>
                <a:ea typeface="Calibri" pitchFamily="34" charset="-122"/>
                <a:cs typeface="Calibri" pitchFamily="34" charset="-120"/>
              </a:rPr>
              <a:t>Quick, high-throughput tasks</a:t>
            </a:r>
            <a:endParaRPr lang="en-US" sz="1250" dirty="0"/>
          </a:p>
        </p:txBody>
      </p:sp>
      <p:sp>
        <p:nvSpPr>
          <p:cNvPr id="38" name="Text 36"/>
          <p:cNvSpPr/>
          <p:nvPr/>
        </p:nvSpPr>
        <p:spPr>
          <a:xfrm>
            <a:off x="5992368" y="5358384"/>
            <a:ext cx="2682240" cy="566928"/>
          </a:xfrm>
          <a:prstGeom prst="rect">
            <a:avLst/>
          </a:prstGeom>
          <a:noFill/>
          <a:ln/>
        </p:spPr>
        <p:txBody>
          <a:bodyPr wrap="square" lIns="0" tIns="0" rIns="0" bIns="0" rtlCol="0" anchor="ctr"/>
          <a:lstStyle/>
          <a:p>
            <a:pPr marL="0" indent="0" algn="ctr">
              <a:lnSpc>
                <a:spcPct val="95000"/>
              </a:lnSpc>
              <a:buNone/>
            </a:pPr>
            <a:r>
              <a:rPr lang="en-US" sz="1250" i="1" dirty="0">
                <a:solidFill>
                  <a:srgbClr val="3A3835"/>
                </a:solidFill>
                <a:latin typeface="Calibri" pitchFamily="34" charset="0"/>
                <a:ea typeface="Calibri" pitchFamily="34" charset="-122"/>
                <a:cs typeface="Calibri" pitchFamily="34" charset="-120"/>
              </a:rPr>
              <a:t>Coding, analysis, agents</a:t>
            </a:r>
            <a:endParaRPr lang="en-US" sz="1250" dirty="0"/>
          </a:p>
        </p:txBody>
      </p:sp>
      <p:sp>
        <p:nvSpPr>
          <p:cNvPr id="39" name="Text 37"/>
          <p:cNvSpPr/>
          <p:nvPr/>
        </p:nvSpPr>
        <p:spPr>
          <a:xfrm>
            <a:off x="8857488" y="5358384"/>
            <a:ext cx="2682240" cy="566928"/>
          </a:xfrm>
          <a:prstGeom prst="rect">
            <a:avLst/>
          </a:prstGeom>
          <a:noFill/>
          <a:ln/>
        </p:spPr>
        <p:txBody>
          <a:bodyPr wrap="square" lIns="0" tIns="0" rIns="0" bIns="0" rtlCol="0" anchor="ctr"/>
          <a:lstStyle/>
          <a:p>
            <a:pPr marL="0" indent="0" algn="ctr">
              <a:lnSpc>
                <a:spcPct val="95000"/>
              </a:lnSpc>
              <a:buNone/>
            </a:pPr>
            <a:r>
              <a:rPr lang="en-US" sz="1250" i="1" dirty="0">
                <a:solidFill>
                  <a:srgbClr val="3A3835"/>
                </a:solidFill>
                <a:latin typeface="Calibri" pitchFamily="34" charset="0"/>
                <a:ea typeface="Calibri" pitchFamily="34" charset="-122"/>
                <a:cs typeface="Calibri" pitchFamily="34" charset="-120"/>
              </a:rPr>
              <a:t>Deep reasoning, autonomy</a:t>
            </a:r>
            <a:endParaRPr lang="en-US" sz="1250" dirty="0"/>
          </a:p>
        </p:txBody>
      </p:sp>
      <p:sp>
        <p:nvSpPr>
          <p:cNvPr id="40" name="Text 38"/>
          <p:cNvSpPr/>
          <p:nvPr/>
        </p:nvSpPr>
        <p:spPr>
          <a:xfrm>
            <a:off x="566928" y="6071616"/>
            <a:ext cx="11064240" cy="365760"/>
          </a:xfrm>
          <a:prstGeom prst="rect">
            <a:avLst/>
          </a:prstGeom>
          <a:noFill/>
          <a:ln/>
        </p:spPr>
        <p:txBody>
          <a:bodyPr wrap="square" lIns="0" tIns="0" rIns="0" bIns="0" rtlCol="0" anchor="ctr"/>
          <a:lstStyle/>
          <a:p>
            <a:pPr marL="0" indent="0">
              <a:buNone/>
            </a:pPr>
            <a:r>
              <a:rPr lang="en-US" sz="1150" i="1" dirty="0">
                <a:solidFill>
                  <a:srgbClr val="73726C"/>
                </a:solidFill>
                <a:latin typeface="Calibri" pitchFamily="34" charset="0"/>
                <a:ea typeface="Calibri" pitchFamily="34" charset="-122"/>
                <a:cs typeface="Calibri" pitchFamily="34" charset="-120"/>
              </a:rPr>
              <a:t>* Opus trades latency for depth; tune the effort parameter or enable fast mode (up to 2.5x output speed) when you need it quicker.</a:t>
            </a:r>
            <a:endParaRPr lang="en-US" sz="1150" dirty="0"/>
          </a:p>
        </p:txBody>
      </p:sp>
      <p:pic>
        <p:nvPicPr>
          <p:cNvPr id="41" name="Image 0" descr="/agent/turn1/workspace/assets/spark_coral.png"/>
          <p:cNvPicPr>
            <a:picLocks noChangeAspect="1"/>
          </p:cNvPicPr>
          <p:nvPr/>
        </p:nvPicPr>
        <p:blipFill>
          <a:blip r:embed="rId3"/>
          <a:stretch>
            <a:fillRect/>
          </a:stretch>
        </p:blipFill>
        <p:spPr>
          <a:xfrm>
            <a:off x="566928" y="6419088"/>
            <a:ext cx="201168" cy="201168"/>
          </a:xfrm>
          <a:prstGeom prst="rect">
            <a:avLst/>
          </a:prstGeom>
        </p:spPr>
      </p:pic>
      <p:sp>
        <p:nvSpPr>
          <p:cNvPr id="42" name="Text 39"/>
          <p:cNvSpPr/>
          <p:nvPr/>
        </p:nvSpPr>
        <p:spPr>
          <a:xfrm>
            <a:off x="841248" y="6364224"/>
            <a:ext cx="6400800" cy="310896"/>
          </a:xfrm>
          <a:prstGeom prst="rect">
            <a:avLst/>
          </a:prstGeom>
          <a:noFill/>
          <a:ln/>
        </p:spPr>
        <p:txBody>
          <a:bodyPr wrap="square" lIns="0" tIns="0" rIns="0" bIns="0" rtlCol="0" anchor="ctr"/>
          <a:lstStyle/>
          <a:p>
            <a:pPr marL="0" indent="0" algn="l">
              <a:buNone/>
            </a:pPr>
            <a:r>
              <a:rPr lang="en-US" sz="950" kern="0" spc="50" dirty="0">
                <a:solidFill>
                  <a:srgbClr val="73726C"/>
                </a:solidFill>
                <a:latin typeface="Calibri" pitchFamily="34" charset="0"/>
                <a:ea typeface="Calibri" pitchFamily="34" charset="-122"/>
                <a:cs typeface="Calibri" pitchFamily="34" charset="-120"/>
              </a:rPr>
              <a:t>Claude Cowork  ·  Developer Training</a:t>
            </a:r>
            <a:endParaRPr lang="en-US" sz="950" dirty="0"/>
          </a:p>
        </p:txBody>
      </p:sp>
      <p:sp>
        <p:nvSpPr>
          <p:cNvPr id="43" name="Text 40"/>
          <p:cNvSpPr/>
          <p:nvPr/>
        </p:nvSpPr>
        <p:spPr>
          <a:xfrm>
            <a:off x="10972800" y="6364224"/>
            <a:ext cx="685800" cy="310896"/>
          </a:xfrm>
          <a:prstGeom prst="rect">
            <a:avLst/>
          </a:prstGeom>
          <a:noFill/>
          <a:ln/>
        </p:spPr>
        <p:txBody>
          <a:bodyPr wrap="square" lIns="0" tIns="0" rIns="0" bIns="0" rtlCol="0" anchor="ctr"/>
          <a:lstStyle/>
          <a:p>
            <a:pPr marL="0" indent="0" algn="r">
              <a:buNone/>
            </a:pPr>
            <a:r>
              <a:rPr lang="en-US" sz="950" b="1" dirty="0">
                <a:solidFill>
                  <a:srgbClr val="73726C"/>
                </a:solidFill>
                <a:latin typeface="Calibri" pitchFamily="34" charset="0"/>
                <a:ea typeface="Calibri" pitchFamily="34" charset="-122"/>
                <a:cs typeface="Calibri" pitchFamily="34" charset="-120"/>
              </a:rPr>
              <a:t>04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EEE6"/>
        </a:solidFill>
        <a:effectLst/>
      </p:bgPr>
    </p:bg>
    <p:spTree>
      <p:nvGrpSpPr>
        <p:cNvPr id="1" name=""/>
        <p:cNvGrpSpPr/>
        <p:nvPr/>
      </p:nvGrpSpPr>
      <p:grpSpPr>
        <a:xfrm>
          <a:off x="0" y="0"/>
          <a:ext cx="0" cy="0"/>
          <a:chOff x="0" y="0"/>
          <a:chExt cx="0" cy="0"/>
        </a:xfrm>
      </p:grpSpPr>
      <p:sp>
        <p:nvSpPr>
          <p:cNvPr id="2" name="Text 0"/>
          <p:cNvSpPr/>
          <p:nvPr/>
        </p:nvSpPr>
        <p:spPr>
          <a:xfrm>
            <a:off x="566928" y="457200"/>
            <a:ext cx="10058400" cy="274320"/>
          </a:xfrm>
          <a:prstGeom prst="rect">
            <a:avLst/>
          </a:prstGeom>
          <a:noFill/>
          <a:ln/>
        </p:spPr>
        <p:txBody>
          <a:bodyPr wrap="square" lIns="0" tIns="0" rIns="0" bIns="0" rtlCol="0" anchor="ctr"/>
          <a:lstStyle/>
          <a:p>
            <a:pPr marL="0" indent="0" algn="l">
              <a:buNone/>
            </a:pPr>
            <a:r>
              <a:rPr lang="en-US" sz="1200" b="1" kern="0" spc="250" dirty="0">
                <a:solidFill>
                  <a:srgbClr val="D97757"/>
                </a:solidFill>
                <a:latin typeface="Calibri" pitchFamily="34" charset="0"/>
                <a:ea typeface="Calibri" pitchFamily="34" charset="-122"/>
                <a:cs typeface="Calibri" pitchFamily="34" charset="-120"/>
              </a:rPr>
              <a:t>THE MODEL FAMILY</a:t>
            </a:r>
            <a:endParaRPr lang="en-US" sz="1200" dirty="0"/>
          </a:p>
        </p:txBody>
      </p:sp>
      <p:sp>
        <p:nvSpPr>
          <p:cNvPr id="3" name="Text 1"/>
          <p:cNvSpPr/>
          <p:nvPr/>
        </p:nvSpPr>
        <p:spPr>
          <a:xfrm>
            <a:off x="566928" y="749808"/>
            <a:ext cx="11064240" cy="777240"/>
          </a:xfrm>
          <a:prstGeom prst="rect">
            <a:avLst/>
          </a:prstGeom>
          <a:noFill/>
          <a:ln/>
        </p:spPr>
        <p:txBody>
          <a:bodyPr wrap="square" lIns="0" tIns="0" rIns="0" bIns="0" rtlCol="0" anchor="t"/>
          <a:lstStyle/>
          <a:p>
            <a:pPr marL="0" indent="0" algn="l">
              <a:lnSpc>
                <a:spcPct val="98000"/>
              </a:lnSpc>
              <a:buNone/>
            </a:pPr>
            <a:r>
              <a:rPr lang="en-US" sz="3000" b="1" dirty="0">
                <a:solidFill>
                  <a:srgbClr val="1F1E1D"/>
                </a:solidFill>
                <a:latin typeface="Georgia" pitchFamily="34" charset="0"/>
                <a:ea typeface="Georgia" pitchFamily="34" charset="-122"/>
                <a:cs typeface="Georgia" pitchFamily="34" charset="-120"/>
              </a:rPr>
              <a:t>What actually differentiates them</a:t>
            </a:r>
            <a:endParaRPr lang="en-US" sz="3000" dirty="0"/>
          </a:p>
        </p:txBody>
      </p:sp>
      <p:sp>
        <p:nvSpPr>
          <p:cNvPr id="4" name="Shape 2"/>
          <p:cNvSpPr/>
          <p:nvPr/>
        </p:nvSpPr>
        <p:spPr>
          <a:xfrm>
            <a:off x="566928" y="1783080"/>
            <a:ext cx="5074920" cy="4160520"/>
          </a:xfrm>
          <a:prstGeom prst="roundRect">
            <a:avLst>
              <a:gd name="adj" fmla="val 1978"/>
            </a:avLst>
          </a:prstGeom>
          <a:solidFill>
            <a:srgbClr val="FFFFFF"/>
          </a:solidFill>
          <a:ln w="12700">
            <a:solidFill>
              <a:srgbClr val="E3E0D6"/>
            </a:solidFill>
            <a:prstDash val="solid"/>
          </a:ln>
          <a:effectLst>
            <a:outerShdw blurRad="114300" dist="38100" dir="5400000" algn="bl" rotWithShape="0">
              <a:srgbClr val="1F1E1D">
                <a:alpha val="10000"/>
              </a:srgbClr>
            </a:outerShdw>
          </a:effectLst>
        </p:spPr>
        <p:txBody>
          <a:bodyPr/>
          <a:lstStyle/>
          <a:p>
            <a:endParaRPr lang="en-IN"/>
          </a:p>
        </p:txBody>
      </p:sp>
      <p:sp>
        <p:nvSpPr>
          <p:cNvPr id="5" name="Text 3"/>
          <p:cNvSpPr/>
          <p:nvPr/>
        </p:nvSpPr>
        <p:spPr>
          <a:xfrm>
            <a:off x="841248" y="2011680"/>
            <a:ext cx="4572000" cy="365760"/>
          </a:xfrm>
          <a:prstGeom prst="rect">
            <a:avLst/>
          </a:prstGeom>
          <a:noFill/>
          <a:ln/>
        </p:spPr>
        <p:txBody>
          <a:bodyPr wrap="square" lIns="0" tIns="0" rIns="0" bIns="0" rtlCol="0" anchor="ctr"/>
          <a:lstStyle/>
          <a:p>
            <a:pPr marL="0" indent="0">
              <a:buNone/>
            </a:pPr>
            <a:r>
              <a:rPr lang="en-US" sz="1900" b="1" dirty="0">
                <a:solidFill>
                  <a:srgbClr val="1F1E1D"/>
                </a:solidFill>
                <a:latin typeface="Georgia" pitchFamily="34" charset="0"/>
                <a:ea typeface="Georgia" pitchFamily="34" charset="-122"/>
                <a:cs typeface="Georgia" pitchFamily="34" charset="-120"/>
              </a:rPr>
              <a:t>The three-way trade-off</a:t>
            </a:r>
            <a:endParaRPr lang="en-US" sz="1900" dirty="0"/>
          </a:p>
        </p:txBody>
      </p:sp>
      <p:sp>
        <p:nvSpPr>
          <p:cNvPr id="6" name="Shape 4"/>
          <p:cNvSpPr/>
          <p:nvPr/>
        </p:nvSpPr>
        <p:spPr>
          <a:xfrm>
            <a:off x="841248" y="2578608"/>
            <a:ext cx="146304" cy="146304"/>
          </a:xfrm>
          <a:prstGeom prst="ellipse">
            <a:avLst/>
          </a:prstGeom>
          <a:solidFill>
            <a:srgbClr val="C2613F"/>
          </a:solidFill>
          <a:ln/>
        </p:spPr>
        <p:txBody>
          <a:bodyPr/>
          <a:lstStyle/>
          <a:p>
            <a:endParaRPr lang="en-IN"/>
          </a:p>
        </p:txBody>
      </p:sp>
      <p:sp>
        <p:nvSpPr>
          <p:cNvPr id="7" name="Text 5"/>
          <p:cNvSpPr/>
          <p:nvPr/>
        </p:nvSpPr>
        <p:spPr>
          <a:xfrm>
            <a:off x="1097280" y="2487168"/>
            <a:ext cx="4389120" cy="310896"/>
          </a:xfrm>
          <a:prstGeom prst="rect">
            <a:avLst/>
          </a:prstGeom>
          <a:noFill/>
          <a:ln/>
        </p:spPr>
        <p:txBody>
          <a:bodyPr wrap="square" lIns="0" tIns="0" rIns="0" bIns="0" rtlCol="0" anchor="ctr"/>
          <a:lstStyle/>
          <a:p>
            <a:pPr marL="0" indent="0">
              <a:buNone/>
            </a:pPr>
            <a:r>
              <a:rPr lang="en-US" sz="1500" b="1" dirty="0">
                <a:solidFill>
                  <a:srgbClr val="1F1E1D"/>
                </a:solidFill>
                <a:latin typeface="Calibri" pitchFamily="34" charset="0"/>
                <a:ea typeface="Calibri" pitchFamily="34" charset="-122"/>
                <a:cs typeface="Calibri" pitchFamily="34" charset="-120"/>
              </a:rPr>
              <a:t>Capability</a:t>
            </a:r>
            <a:endParaRPr lang="en-US" sz="1500" dirty="0"/>
          </a:p>
        </p:txBody>
      </p:sp>
      <p:sp>
        <p:nvSpPr>
          <p:cNvPr id="8" name="Text 6"/>
          <p:cNvSpPr/>
          <p:nvPr/>
        </p:nvSpPr>
        <p:spPr>
          <a:xfrm>
            <a:off x="1097280" y="2779776"/>
            <a:ext cx="4434840" cy="640080"/>
          </a:xfrm>
          <a:prstGeom prst="rect">
            <a:avLst/>
          </a:prstGeom>
          <a:noFill/>
          <a:ln/>
        </p:spPr>
        <p:txBody>
          <a:bodyPr wrap="square" lIns="0" tIns="0" rIns="0" bIns="0" rtlCol="0" anchor="ctr"/>
          <a:lstStyle/>
          <a:p>
            <a:pPr marL="0" indent="0">
              <a:lnSpc>
                <a:spcPct val="104000"/>
              </a:lnSpc>
              <a:buNone/>
            </a:pPr>
            <a:r>
              <a:rPr lang="en-US" sz="1250" dirty="0">
                <a:solidFill>
                  <a:srgbClr val="3A3835"/>
                </a:solidFill>
                <a:latin typeface="Calibri" pitchFamily="34" charset="0"/>
                <a:ea typeface="Calibri" pitchFamily="34" charset="-122"/>
                <a:cs typeface="Calibri" pitchFamily="34" charset="-120"/>
              </a:rPr>
              <a:t>Opus leads on depth; Sonnet covers most work; Haiku is lightest.</a:t>
            </a:r>
            <a:endParaRPr lang="en-US" sz="1250" dirty="0"/>
          </a:p>
        </p:txBody>
      </p:sp>
      <p:sp>
        <p:nvSpPr>
          <p:cNvPr id="9" name="Shape 7"/>
          <p:cNvSpPr/>
          <p:nvPr/>
        </p:nvSpPr>
        <p:spPr>
          <a:xfrm>
            <a:off x="841248" y="3657600"/>
            <a:ext cx="146304" cy="146304"/>
          </a:xfrm>
          <a:prstGeom prst="ellipse">
            <a:avLst/>
          </a:prstGeom>
          <a:solidFill>
            <a:srgbClr val="D97757"/>
          </a:solidFill>
          <a:ln/>
        </p:spPr>
        <p:txBody>
          <a:bodyPr/>
          <a:lstStyle/>
          <a:p>
            <a:endParaRPr lang="en-IN"/>
          </a:p>
        </p:txBody>
      </p:sp>
      <p:sp>
        <p:nvSpPr>
          <p:cNvPr id="10" name="Text 8"/>
          <p:cNvSpPr/>
          <p:nvPr/>
        </p:nvSpPr>
        <p:spPr>
          <a:xfrm>
            <a:off x="1097280" y="3566160"/>
            <a:ext cx="4389120" cy="310896"/>
          </a:xfrm>
          <a:prstGeom prst="rect">
            <a:avLst/>
          </a:prstGeom>
          <a:noFill/>
          <a:ln/>
        </p:spPr>
        <p:txBody>
          <a:bodyPr wrap="square" lIns="0" tIns="0" rIns="0" bIns="0" rtlCol="0" anchor="ctr"/>
          <a:lstStyle/>
          <a:p>
            <a:pPr marL="0" indent="0">
              <a:buNone/>
            </a:pPr>
            <a:r>
              <a:rPr lang="en-US" sz="1500" b="1" dirty="0">
                <a:solidFill>
                  <a:srgbClr val="1F1E1D"/>
                </a:solidFill>
                <a:latin typeface="Calibri" pitchFamily="34" charset="0"/>
                <a:ea typeface="Calibri" pitchFamily="34" charset="-122"/>
                <a:cs typeface="Calibri" pitchFamily="34" charset="-120"/>
              </a:rPr>
              <a:t>Speed</a:t>
            </a:r>
            <a:endParaRPr lang="en-US" sz="1500" dirty="0"/>
          </a:p>
        </p:txBody>
      </p:sp>
      <p:sp>
        <p:nvSpPr>
          <p:cNvPr id="11" name="Text 9"/>
          <p:cNvSpPr/>
          <p:nvPr/>
        </p:nvSpPr>
        <p:spPr>
          <a:xfrm>
            <a:off x="1097280" y="3858768"/>
            <a:ext cx="4434840" cy="640080"/>
          </a:xfrm>
          <a:prstGeom prst="rect">
            <a:avLst/>
          </a:prstGeom>
          <a:noFill/>
          <a:ln/>
        </p:spPr>
        <p:txBody>
          <a:bodyPr wrap="square" lIns="0" tIns="0" rIns="0" bIns="0" rtlCol="0" anchor="ctr"/>
          <a:lstStyle/>
          <a:p>
            <a:pPr marL="0" indent="0">
              <a:lnSpc>
                <a:spcPct val="104000"/>
              </a:lnSpc>
              <a:buNone/>
            </a:pPr>
            <a:r>
              <a:rPr lang="en-US" sz="1250" dirty="0">
                <a:solidFill>
                  <a:srgbClr val="3A3835"/>
                </a:solidFill>
                <a:latin typeface="Calibri" pitchFamily="34" charset="0"/>
                <a:ea typeface="Calibri" pitchFamily="34" charset="-122"/>
                <a:cs typeface="Calibri" pitchFamily="34" charset="-120"/>
              </a:rPr>
              <a:t>Haiku is fastest; Opus is most deliberate but supports fast mode.</a:t>
            </a:r>
            <a:endParaRPr lang="en-US" sz="1250" dirty="0"/>
          </a:p>
        </p:txBody>
      </p:sp>
      <p:sp>
        <p:nvSpPr>
          <p:cNvPr id="12" name="Shape 10"/>
          <p:cNvSpPr/>
          <p:nvPr/>
        </p:nvSpPr>
        <p:spPr>
          <a:xfrm>
            <a:off x="841248" y="4736592"/>
            <a:ext cx="146304" cy="146304"/>
          </a:xfrm>
          <a:prstGeom prst="ellipse">
            <a:avLst/>
          </a:prstGeom>
          <a:solidFill>
            <a:srgbClr val="D9A066"/>
          </a:solidFill>
          <a:ln/>
        </p:spPr>
        <p:txBody>
          <a:bodyPr/>
          <a:lstStyle/>
          <a:p>
            <a:endParaRPr lang="en-IN"/>
          </a:p>
        </p:txBody>
      </p:sp>
      <p:sp>
        <p:nvSpPr>
          <p:cNvPr id="13" name="Text 11"/>
          <p:cNvSpPr/>
          <p:nvPr/>
        </p:nvSpPr>
        <p:spPr>
          <a:xfrm>
            <a:off x="1097280" y="4645152"/>
            <a:ext cx="4389120" cy="310896"/>
          </a:xfrm>
          <a:prstGeom prst="rect">
            <a:avLst/>
          </a:prstGeom>
          <a:noFill/>
          <a:ln/>
        </p:spPr>
        <p:txBody>
          <a:bodyPr wrap="square" lIns="0" tIns="0" rIns="0" bIns="0" rtlCol="0" anchor="ctr"/>
          <a:lstStyle/>
          <a:p>
            <a:pPr marL="0" indent="0">
              <a:buNone/>
            </a:pPr>
            <a:r>
              <a:rPr lang="en-US" sz="1500" b="1" dirty="0">
                <a:solidFill>
                  <a:srgbClr val="1F1E1D"/>
                </a:solidFill>
                <a:latin typeface="Calibri" pitchFamily="34" charset="0"/>
                <a:ea typeface="Calibri" pitchFamily="34" charset="-122"/>
                <a:cs typeface="Calibri" pitchFamily="34" charset="-120"/>
              </a:rPr>
              <a:t>Cost</a:t>
            </a:r>
            <a:endParaRPr lang="en-US" sz="1500" dirty="0"/>
          </a:p>
        </p:txBody>
      </p:sp>
      <p:sp>
        <p:nvSpPr>
          <p:cNvPr id="14" name="Text 12"/>
          <p:cNvSpPr/>
          <p:nvPr/>
        </p:nvSpPr>
        <p:spPr>
          <a:xfrm>
            <a:off x="1097280" y="4937760"/>
            <a:ext cx="4434840" cy="640080"/>
          </a:xfrm>
          <a:prstGeom prst="rect">
            <a:avLst/>
          </a:prstGeom>
          <a:noFill/>
          <a:ln/>
        </p:spPr>
        <p:txBody>
          <a:bodyPr wrap="square" lIns="0" tIns="0" rIns="0" bIns="0" rtlCol="0" anchor="ctr"/>
          <a:lstStyle/>
          <a:p>
            <a:pPr marL="0" indent="0">
              <a:lnSpc>
                <a:spcPct val="104000"/>
              </a:lnSpc>
              <a:buNone/>
            </a:pPr>
            <a:r>
              <a:rPr lang="en-US" sz="1250" dirty="0">
                <a:solidFill>
                  <a:srgbClr val="3A3835"/>
                </a:solidFill>
                <a:latin typeface="Calibri" pitchFamily="34" charset="0"/>
                <a:ea typeface="Calibri" pitchFamily="34" charset="-122"/>
                <a:cs typeface="Calibri" pitchFamily="34" charset="-120"/>
              </a:rPr>
              <a:t>A 5x spread output-side: $5 (Haiku) to $25 (Opus) per MTok.</a:t>
            </a:r>
            <a:endParaRPr lang="en-US" sz="1250" dirty="0"/>
          </a:p>
        </p:txBody>
      </p:sp>
      <p:sp>
        <p:nvSpPr>
          <p:cNvPr id="15" name="Shape 13"/>
          <p:cNvSpPr/>
          <p:nvPr/>
        </p:nvSpPr>
        <p:spPr>
          <a:xfrm>
            <a:off x="5897880" y="1783080"/>
            <a:ext cx="5733288" cy="914400"/>
          </a:xfrm>
          <a:prstGeom prst="roundRect">
            <a:avLst>
              <a:gd name="adj" fmla="val 9000"/>
            </a:avLst>
          </a:prstGeom>
          <a:solidFill>
            <a:srgbClr val="FAF9F5"/>
          </a:solidFill>
          <a:ln w="12700">
            <a:solidFill>
              <a:srgbClr val="E3E0D6"/>
            </a:solidFill>
            <a:prstDash val="solid"/>
          </a:ln>
          <a:effectLst>
            <a:outerShdw blurRad="114300" dist="38100" dir="5400000" algn="bl" rotWithShape="0">
              <a:srgbClr val="1F1E1D">
                <a:alpha val="10000"/>
              </a:srgbClr>
            </a:outerShdw>
          </a:effectLst>
        </p:spPr>
        <p:txBody>
          <a:bodyPr/>
          <a:lstStyle/>
          <a:p>
            <a:endParaRPr lang="en-IN"/>
          </a:p>
        </p:txBody>
      </p:sp>
      <p:sp>
        <p:nvSpPr>
          <p:cNvPr id="16" name="Text 14"/>
          <p:cNvSpPr/>
          <p:nvPr/>
        </p:nvSpPr>
        <p:spPr>
          <a:xfrm>
            <a:off x="6153912" y="1892808"/>
            <a:ext cx="5276088" cy="292608"/>
          </a:xfrm>
          <a:prstGeom prst="rect">
            <a:avLst/>
          </a:prstGeom>
          <a:noFill/>
          <a:ln/>
        </p:spPr>
        <p:txBody>
          <a:bodyPr wrap="square" lIns="0" tIns="0" rIns="0" bIns="0" rtlCol="0" anchor="ctr"/>
          <a:lstStyle/>
          <a:p>
            <a:pPr marL="0" indent="0">
              <a:buNone/>
            </a:pPr>
            <a:r>
              <a:rPr lang="en-US" sz="1550" b="1" dirty="0">
                <a:solidFill>
                  <a:srgbClr val="C2613F"/>
                </a:solidFill>
                <a:latin typeface="Georgia" pitchFamily="34" charset="0"/>
                <a:ea typeface="Georgia" pitchFamily="34" charset="-122"/>
                <a:cs typeface="Georgia" pitchFamily="34" charset="-120"/>
              </a:rPr>
              <a:t>Effort parameter</a:t>
            </a:r>
            <a:endParaRPr lang="en-US" sz="1550" dirty="0"/>
          </a:p>
        </p:txBody>
      </p:sp>
      <p:sp>
        <p:nvSpPr>
          <p:cNvPr id="17" name="Text 15"/>
          <p:cNvSpPr/>
          <p:nvPr/>
        </p:nvSpPr>
        <p:spPr>
          <a:xfrm>
            <a:off x="6153912" y="2185416"/>
            <a:ext cx="5276088" cy="457200"/>
          </a:xfrm>
          <a:prstGeom prst="rect">
            <a:avLst/>
          </a:prstGeom>
          <a:noFill/>
          <a:ln/>
        </p:spPr>
        <p:txBody>
          <a:bodyPr wrap="square" lIns="0" tIns="0" rIns="0" bIns="0" rtlCol="0" anchor="ctr"/>
          <a:lstStyle/>
          <a:p>
            <a:pPr marL="0" indent="0">
              <a:lnSpc>
                <a:spcPct val="100000"/>
              </a:lnSpc>
              <a:buNone/>
            </a:pPr>
            <a:r>
              <a:rPr lang="en-US" sz="1200" dirty="0">
                <a:solidFill>
                  <a:srgbClr val="3A3835"/>
                </a:solidFill>
                <a:latin typeface="Calibri" pitchFamily="34" charset="0"/>
                <a:ea typeface="Calibri" pitchFamily="34" charset="-122"/>
                <a:cs typeface="Calibri" pitchFamily="34" charset="-120"/>
              </a:rPr>
              <a:t>Recent Opus and Sonnet trade intelligence for latency and cost within one model. Tuning effort is often a better lever than switching models.</a:t>
            </a:r>
            <a:endParaRPr lang="en-US" sz="1200" dirty="0"/>
          </a:p>
        </p:txBody>
      </p:sp>
      <p:sp>
        <p:nvSpPr>
          <p:cNvPr id="18" name="Shape 16"/>
          <p:cNvSpPr/>
          <p:nvPr/>
        </p:nvSpPr>
        <p:spPr>
          <a:xfrm>
            <a:off x="5897880" y="2852928"/>
            <a:ext cx="5733288" cy="914400"/>
          </a:xfrm>
          <a:prstGeom prst="roundRect">
            <a:avLst>
              <a:gd name="adj" fmla="val 9000"/>
            </a:avLst>
          </a:prstGeom>
          <a:solidFill>
            <a:srgbClr val="FAF9F5"/>
          </a:solidFill>
          <a:ln w="12700">
            <a:solidFill>
              <a:srgbClr val="E3E0D6"/>
            </a:solidFill>
            <a:prstDash val="solid"/>
          </a:ln>
          <a:effectLst>
            <a:outerShdw blurRad="114300" dist="38100" dir="5400000" algn="bl" rotWithShape="0">
              <a:srgbClr val="1F1E1D">
                <a:alpha val="10000"/>
              </a:srgbClr>
            </a:outerShdw>
          </a:effectLst>
        </p:spPr>
        <p:txBody>
          <a:bodyPr/>
          <a:lstStyle/>
          <a:p>
            <a:endParaRPr lang="en-IN"/>
          </a:p>
        </p:txBody>
      </p:sp>
      <p:sp>
        <p:nvSpPr>
          <p:cNvPr id="19" name="Text 17"/>
          <p:cNvSpPr/>
          <p:nvPr/>
        </p:nvSpPr>
        <p:spPr>
          <a:xfrm>
            <a:off x="6153912" y="2962656"/>
            <a:ext cx="5276088" cy="292608"/>
          </a:xfrm>
          <a:prstGeom prst="rect">
            <a:avLst/>
          </a:prstGeom>
          <a:noFill/>
          <a:ln/>
        </p:spPr>
        <p:txBody>
          <a:bodyPr wrap="square" lIns="0" tIns="0" rIns="0" bIns="0" rtlCol="0" anchor="ctr"/>
          <a:lstStyle/>
          <a:p>
            <a:pPr marL="0" indent="0">
              <a:buNone/>
            </a:pPr>
            <a:r>
              <a:rPr lang="en-US" sz="1550" b="1" dirty="0">
                <a:solidFill>
                  <a:srgbClr val="C2613F"/>
                </a:solidFill>
                <a:latin typeface="Georgia" pitchFamily="34" charset="0"/>
                <a:ea typeface="Georgia" pitchFamily="34" charset="-122"/>
                <a:cs typeface="Georgia" pitchFamily="34" charset="-120"/>
              </a:rPr>
              <a:t>Fast mode</a:t>
            </a:r>
            <a:endParaRPr lang="en-US" sz="1550" dirty="0"/>
          </a:p>
        </p:txBody>
      </p:sp>
      <p:sp>
        <p:nvSpPr>
          <p:cNvPr id="20" name="Text 18"/>
          <p:cNvSpPr/>
          <p:nvPr/>
        </p:nvSpPr>
        <p:spPr>
          <a:xfrm>
            <a:off x="6153912" y="3255264"/>
            <a:ext cx="5276088" cy="457200"/>
          </a:xfrm>
          <a:prstGeom prst="rect">
            <a:avLst/>
          </a:prstGeom>
          <a:noFill/>
          <a:ln/>
        </p:spPr>
        <p:txBody>
          <a:bodyPr wrap="square" lIns="0" tIns="0" rIns="0" bIns="0" rtlCol="0" anchor="ctr"/>
          <a:lstStyle/>
          <a:p>
            <a:pPr marL="0" indent="0">
              <a:lnSpc>
                <a:spcPct val="100000"/>
              </a:lnSpc>
              <a:buNone/>
            </a:pPr>
            <a:r>
              <a:rPr lang="en-US" sz="1200" dirty="0">
                <a:solidFill>
                  <a:srgbClr val="3A3835"/>
                </a:solidFill>
                <a:latin typeface="Calibri" pitchFamily="34" charset="0"/>
                <a:ea typeface="Calibri" pitchFamily="34" charset="-122"/>
                <a:cs typeface="Calibri" pitchFamily="34" charset="-120"/>
              </a:rPr>
              <a:t>On Opus, delivers up to 2.5x output speed at premium pricing — speed without dropping a tier.</a:t>
            </a:r>
            <a:endParaRPr lang="en-US" sz="1200" dirty="0"/>
          </a:p>
        </p:txBody>
      </p:sp>
      <p:sp>
        <p:nvSpPr>
          <p:cNvPr id="21" name="Shape 19"/>
          <p:cNvSpPr/>
          <p:nvPr/>
        </p:nvSpPr>
        <p:spPr>
          <a:xfrm>
            <a:off x="5897880" y="3922776"/>
            <a:ext cx="5733288" cy="914400"/>
          </a:xfrm>
          <a:prstGeom prst="roundRect">
            <a:avLst>
              <a:gd name="adj" fmla="val 9000"/>
            </a:avLst>
          </a:prstGeom>
          <a:solidFill>
            <a:srgbClr val="FAF9F5"/>
          </a:solidFill>
          <a:ln w="12700">
            <a:solidFill>
              <a:srgbClr val="E3E0D6"/>
            </a:solidFill>
            <a:prstDash val="solid"/>
          </a:ln>
          <a:effectLst>
            <a:outerShdw blurRad="114300" dist="38100" dir="5400000" algn="bl" rotWithShape="0">
              <a:srgbClr val="1F1E1D">
                <a:alpha val="10000"/>
              </a:srgbClr>
            </a:outerShdw>
          </a:effectLst>
        </p:spPr>
        <p:txBody>
          <a:bodyPr/>
          <a:lstStyle/>
          <a:p>
            <a:endParaRPr lang="en-IN"/>
          </a:p>
        </p:txBody>
      </p:sp>
      <p:sp>
        <p:nvSpPr>
          <p:cNvPr id="22" name="Text 20"/>
          <p:cNvSpPr/>
          <p:nvPr/>
        </p:nvSpPr>
        <p:spPr>
          <a:xfrm>
            <a:off x="6153912" y="4032504"/>
            <a:ext cx="5276088" cy="292608"/>
          </a:xfrm>
          <a:prstGeom prst="rect">
            <a:avLst/>
          </a:prstGeom>
          <a:noFill/>
          <a:ln/>
        </p:spPr>
        <p:txBody>
          <a:bodyPr wrap="square" lIns="0" tIns="0" rIns="0" bIns="0" rtlCol="0" anchor="ctr"/>
          <a:lstStyle/>
          <a:p>
            <a:pPr marL="0" indent="0">
              <a:buNone/>
            </a:pPr>
            <a:r>
              <a:rPr lang="en-US" sz="1550" b="1" dirty="0">
                <a:solidFill>
                  <a:srgbClr val="C2613F"/>
                </a:solidFill>
                <a:latin typeface="Georgia" pitchFamily="34" charset="0"/>
                <a:ea typeface="Georgia" pitchFamily="34" charset="-122"/>
                <a:cs typeface="Georgia" pitchFamily="34" charset="-120"/>
              </a:rPr>
              <a:t>Cost optimizers</a:t>
            </a:r>
            <a:endParaRPr lang="en-US" sz="1550" dirty="0"/>
          </a:p>
        </p:txBody>
      </p:sp>
      <p:sp>
        <p:nvSpPr>
          <p:cNvPr id="23" name="Text 21"/>
          <p:cNvSpPr/>
          <p:nvPr/>
        </p:nvSpPr>
        <p:spPr>
          <a:xfrm>
            <a:off x="6153912" y="4325112"/>
            <a:ext cx="5276088" cy="457200"/>
          </a:xfrm>
          <a:prstGeom prst="rect">
            <a:avLst/>
          </a:prstGeom>
          <a:noFill/>
          <a:ln/>
        </p:spPr>
        <p:txBody>
          <a:bodyPr wrap="square" lIns="0" tIns="0" rIns="0" bIns="0" rtlCol="0" anchor="ctr"/>
          <a:lstStyle/>
          <a:p>
            <a:pPr marL="0" indent="0">
              <a:lnSpc>
                <a:spcPct val="100000"/>
              </a:lnSpc>
              <a:buNone/>
            </a:pPr>
            <a:r>
              <a:rPr lang="en-US" sz="1200" dirty="0">
                <a:solidFill>
                  <a:srgbClr val="3A3835"/>
                </a:solidFill>
                <a:latin typeface="Calibri" pitchFamily="34" charset="0"/>
                <a:ea typeface="Calibri" pitchFamily="34" charset="-122"/>
                <a:cs typeface="Calibri" pitchFamily="34" charset="-120"/>
              </a:rPr>
              <a:t>Prompt caching cuts repeated-context cost up to 90%; the Batch API saves 50% on asynchronous work.</a:t>
            </a:r>
            <a:endParaRPr lang="en-US" sz="1200" dirty="0"/>
          </a:p>
        </p:txBody>
      </p:sp>
      <p:sp>
        <p:nvSpPr>
          <p:cNvPr id="24" name="Shape 22"/>
          <p:cNvSpPr/>
          <p:nvPr/>
        </p:nvSpPr>
        <p:spPr>
          <a:xfrm>
            <a:off x="5897880" y="4992624"/>
            <a:ext cx="5733288" cy="914400"/>
          </a:xfrm>
          <a:prstGeom prst="roundRect">
            <a:avLst>
              <a:gd name="adj" fmla="val 9000"/>
            </a:avLst>
          </a:prstGeom>
          <a:solidFill>
            <a:srgbClr val="FAF9F5"/>
          </a:solidFill>
          <a:ln w="12700">
            <a:solidFill>
              <a:srgbClr val="E3E0D6"/>
            </a:solidFill>
            <a:prstDash val="solid"/>
          </a:ln>
          <a:effectLst>
            <a:outerShdw blurRad="114300" dist="38100" dir="5400000" algn="bl" rotWithShape="0">
              <a:srgbClr val="1F1E1D">
                <a:alpha val="10000"/>
              </a:srgbClr>
            </a:outerShdw>
          </a:effectLst>
        </p:spPr>
        <p:txBody>
          <a:bodyPr/>
          <a:lstStyle/>
          <a:p>
            <a:endParaRPr lang="en-IN"/>
          </a:p>
        </p:txBody>
      </p:sp>
      <p:sp>
        <p:nvSpPr>
          <p:cNvPr id="25" name="Text 23"/>
          <p:cNvSpPr/>
          <p:nvPr/>
        </p:nvSpPr>
        <p:spPr>
          <a:xfrm>
            <a:off x="6153912" y="5102352"/>
            <a:ext cx="5276088" cy="292608"/>
          </a:xfrm>
          <a:prstGeom prst="rect">
            <a:avLst/>
          </a:prstGeom>
          <a:noFill/>
          <a:ln/>
        </p:spPr>
        <p:txBody>
          <a:bodyPr wrap="square" lIns="0" tIns="0" rIns="0" bIns="0" rtlCol="0" anchor="ctr"/>
          <a:lstStyle/>
          <a:p>
            <a:pPr marL="0" indent="0">
              <a:buNone/>
            </a:pPr>
            <a:r>
              <a:rPr lang="en-US" sz="1550" b="1" dirty="0">
                <a:solidFill>
                  <a:srgbClr val="C2613F"/>
                </a:solidFill>
                <a:latin typeface="Georgia" pitchFamily="34" charset="0"/>
                <a:ea typeface="Georgia" pitchFamily="34" charset="-122"/>
                <a:cs typeface="Georgia" pitchFamily="34" charset="-120"/>
              </a:rPr>
              <a:t>Tokenizer note</a:t>
            </a:r>
            <a:endParaRPr lang="en-US" sz="1550" dirty="0"/>
          </a:p>
        </p:txBody>
      </p:sp>
      <p:sp>
        <p:nvSpPr>
          <p:cNvPr id="26" name="Text 24"/>
          <p:cNvSpPr/>
          <p:nvPr/>
        </p:nvSpPr>
        <p:spPr>
          <a:xfrm>
            <a:off x="6153912" y="5394960"/>
            <a:ext cx="5276088" cy="457200"/>
          </a:xfrm>
          <a:prstGeom prst="rect">
            <a:avLst/>
          </a:prstGeom>
          <a:noFill/>
          <a:ln/>
        </p:spPr>
        <p:txBody>
          <a:bodyPr wrap="square" lIns="0" tIns="0" rIns="0" bIns="0" rtlCol="0" anchor="ctr"/>
          <a:lstStyle/>
          <a:p>
            <a:pPr marL="0" indent="0">
              <a:lnSpc>
                <a:spcPct val="100000"/>
              </a:lnSpc>
              <a:buNone/>
            </a:pPr>
            <a:r>
              <a:rPr lang="en-US" sz="1200" dirty="0">
                <a:solidFill>
                  <a:srgbClr val="3A3835"/>
                </a:solidFill>
                <a:latin typeface="Calibri" pitchFamily="34" charset="0"/>
                <a:ea typeface="Calibri" pitchFamily="34" charset="-122"/>
                <a:cs typeface="Calibri" pitchFamily="34" charset="-120"/>
              </a:rPr>
              <a:t>Opus 4.7+ use a new tokenizer that improves quality but can use up to 35% more tokens for the same text.</a:t>
            </a:r>
            <a:endParaRPr lang="en-US" sz="1200" dirty="0"/>
          </a:p>
        </p:txBody>
      </p:sp>
      <p:pic>
        <p:nvPicPr>
          <p:cNvPr id="27" name="Image 0" descr="/agent/turn1/workspace/assets/spark_coral.png"/>
          <p:cNvPicPr>
            <a:picLocks noChangeAspect="1"/>
          </p:cNvPicPr>
          <p:nvPr/>
        </p:nvPicPr>
        <p:blipFill>
          <a:blip r:embed="rId3"/>
          <a:stretch>
            <a:fillRect/>
          </a:stretch>
        </p:blipFill>
        <p:spPr>
          <a:xfrm>
            <a:off x="566928" y="6419088"/>
            <a:ext cx="201168" cy="201168"/>
          </a:xfrm>
          <a:prstGeom prst="rect">
            <a:avLst/>
          </a:prstGeom>
        </p:spPr>
      </p:pic>
      <p:sp>
        <p:nvSpPr>
          <p:cNvPr id="28" name="Text 25"/>
          <p:cNvSpPr/>
          <p:nvPr/>
        </p:nvSpPr>
        <p:spPr>
          <a:xfrm>
            <a:off x="841248" y="6364224"/>
            <a:ext cx="6400800" cy="310896"/>
          </a:xfrm>
          <a:prstGeom prst="rect">
            <a:avLst/>
          </a:prstGeom>
          <a:noFill/>
          <a:ln/>
        </p:spPr>
        <p:txBody>
          <a:bodyPr wrap="square" lIns="0" tIns="0" rIns="0" bIns="0" rtlCol="0" anchor="ctr"/>
          <a:lstStyle/>
          <a:p>
            <a:pPr marL="0" indent="0" algn="l">
              <a:buNone/>
            </a:pPr>
            <a:r>
              <a:rPr lang="en-US" sz="950" kern="0" spc="50" dirty="0">
                <a:solidFill>
                  <a:srgbClr val="73726C"/>
                </a:solidFill>
                <a:latin typeface="Calibri" pitchFamily="34" charset="0"/>
                <a:ea typeface="Calibri" pitchFamily="34" charset="-122"/>
                <a:cs typeface="Calibri" pitchFamily="34" charset="-120"/>
              </a:rPr>
              <a:t>Claude Cowork  ·  Developer Training</a:t>
            </a:r>
            <a:endParaRPr lang="en-US" sz="950" dirty="0"/>
          </a:p>
        </p:txBody>
      </p:sp>
      <p:sp>
        <p:nvSpPr>
          <p:cNvPr id="29" name="Text 26"/>
          <p:cNvSpPr/>
          <p:nvPr/>
        </p:nvSpPr>
        <p:spPr>
          <a:xfrm>
            <a:off x="10972800" y="6364224"/>
            <a:ext cx="685800" cy="310896"/>
          </a:xfrm>
          <a:prstGeom prst="rect">
            <a:avLst/>
          </a:prstGeom>
          <a:noFill/>
          <a:ln/>
        </p:spPr>
        <p:txBody>
          <a:bodyPr wrap="square" lIns="0" tIns="0" rIns="0" bIns="0" rtlCol="0" anchor="ctr"/>
          <a:lstStyle/>
          <a:p>
            <a:pPr marL="0" indent="0" algn="r">
              <a:buNone/>
            </a:pPr>
            <a:r>
              <a:rPr lang="en-US" sz="950" b="1" dirty="0">
                <a:solidFill>
                  <a:srgbClr val="73726C"/>
                </a:solidFill>
                <a:latin typeface="Calibri" pitchFamily="34" charset="0"/>
                <a:ea typeface="Calibri" pitchFamily="34" charset="-122"/>
                <a:cs typeface="Calibri" pitchFamily="34" charset="-120"/>
              </a:rPr>
              <a:t>05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EEE6"/>
        </a:solidFill>
        <a:effectLst/>
      </p:bgPr>
    </p:bg>
    <p:spTree>
      <p:nvGrpSpPr>
        <p:cNvPr id="1" name=""/>
        <p:cNvGrpSpPr/>
        <p:nvPr/>
      </p:nvGrpSpPr>
      <p:grpSpPr>
        <a:xfrm>
          <a:off x="0" y="0"/>
          <a:ext cx="0" cy="0"/>
          <a:chOff x="0" y="0"/>
          <a:chExt cx="0" cy="0"/>
        </a:xfrm>
      </p:grpSpPr>
      <p:sp>
        <p:nvSpPr>
          <p:cNvPr id="2" name="Text 0"/>
          <p:cNvSpPr/>
          <p:nvPr/>
        </p:nvSpPr>
        <p:spPr>
          <a:xfrm>
            <a:off x="566928" y="457200"/>
            <a:ext cx="10058400" cy="274320"/>
          </a:xfrm>
          <a:prstGeom prst="rect">
            <a:avLst/>
          </a:prstGeom>
          <a:noFill/>
          <a:ln/>
        </p:spPr>
        <p:txBody>
          <a:bodyPr wrap="square" lIns="0" tIns="0" rIns="0" bIns="0" rtlCol="0" anchor="ctr"/>
          <a:lstStyle/>
          <a:p>
            <a:pPr marL="0" indent="0" algn="l">
              <a:buNone/>
            </a:pPr>
            <a:r>
              <a:rPr lang="en-US" sz="1200" b="1" kern="0" spc="250" dirty="0">
                <a:solidFill>
                  <a:srgbClr val="D97757"/>
                </a:solidFill>
                <a:latin typeface="Calibri" pitchFamily="34" charset="0"/>
                <a:ea typeface="Calibri" pitchFamily="34" charset="-122"/>
                <a:cs typeface="Calibri" pitchFamily="34" charset="-120"/>
              </a:rPr>
              <a:t>ACCESS SURFACES</a:t>
            </a:r>
            <a:endParaRPr lang="en-US" sz="1200" dirty="0"/>
          </a:p>
        </p:txBody>
      </p:sp>
      <p:sp>
        <p:nvSpPr>
          <p:cNvPr id="3" name="Text 1"/>
          <p:cNvSpPr/>
          <p:nvPr/>
        </p:nvSpPr>
        <p:spPr>
          <a:xfrm>
            <a:off x="566928" y="749808"/>
            <a:ext cx="11064240" cy="777240"/>
          </a:xfrm>
          <a:prstGeom prst="rect">
            <a:avLst/>
          </a:prstGeom>
          <a:noFill/>
          <a:ln/>
        </p:spPr>
        <p:txBody>
          <a:bodyPr wrap="square" lIns="0" tIns="0" rIns="0" bIns="0" rtlCol="0" anchor="t"/>
          <a:lstStyle/>
          <a:p>
            <a:pPr marL="0" indent="0" algn="l">
              <a:lnSpc>
                <a:spcPct val="98000"/>
              </a:lnSpc>
              <a:buNone/>
            </a:pPr>
            <a:r>
              <a:rPr lang="en-US" sz="3000" b="1" dirty="0">
                <a:solidFill>
                  <a:srgbClr val="1F1E1D"/>
                </a:solidFill>
                <a:latin typeface="Georgia" pitchFamily="34" charset="0"/>
                <a:ea typeface="Georgia" pitchFamily="34" charset="-122"/>
                <a:cs typeface="Georgia" pitchFamily="34" charset="-120"/>
              </a:rPr>
              <a:t>Four ways to reach Claude</a:t>
            </a:r>
            <a:endParaRPr lang="en-US" sz="3000" dirty="0"/>
          </a:p>
        </p:txBody>
      </p:sp>
      <p:sp>
        <p:nvSpPr>
          <p:cNvPr id="4" name="Shape 2"/>
          <p:cNvSpPr/>
          <p:nvPr/>
        </p:nvSpPr>
        <p:spPr>
          <a:xfrm>
            <a:off x="298552" y="2057400"/>
            <a:ext cx="2761488" cy="3657600"/>
          </a:xfrm>
          <a:prstGeom prst="roundRect">
            <a:avLst>
              <a:gd name="adj" fmla="val 2980"/>
            </a:avLst>
          </a:prstGeom>
          <a:solidFill>
            <a:srgbClr val="FFFFFF"/>
          </a:solidFill>
          <a:ln w="12700">
            <a:solidFill>
              <a:srgbClr val="E3E0D6"/>
            </a:solidFill>
            <a:prstDash val="solid"/>
          </a:ln>
          <a:effectLst>
            <a:outerShdw blurRad="114300" dist="38100" dir="5400000" algn="bl" rotWithShape="0">
              <a:srgbClr val="1F1E1D">
                <a:alpha val="10000"/>
              </a:srgbClr>
            </a:outerShdw>
          </a:effectLst>
        </p:spPr>
        <p:txBody>
          <a:bodyPr/>
          <a:lstStyle/>
          <a:p>
            <a:endParaRPr lang="en-IN"/>
          </a:p>
        </p:txBody>
      </p:sp>
      <p:sp>
        <p:nvSpPr>
          <p:cNvPr id="5" name="Shape 3"/>
          <p:cNvSpPr/>
          <p:nvPr/>
        </p:nvSpPr>
        <p:spPr>
          <a:xfrm>
            <a:off x="298552" y="2057400"/>
            <a:ext cx="2761488" cy="164592"/>
          </a:xfrm>
          <a:prstGeom prst="roundRect">
            <a:avLst>
              <a:gd name="adj" fmla="val 50000"/>
            </a:avLst>
          </a:prstGeom>
          <a:solidFill>
            <a:srgbClr val="D97757"/>
          </a:solidFill>
          <a:ln/>
        </p:spPr>
        <p:txBody>
          <a:bodyPr/>
          <a:lstStyle/>
          <a:p>
            <a:endParaRPr lang="en-IN"/>
          </a:p>
        </p:txBody>
      </p:sp>
      <p:sp>
        <p:nvSpPr>
          <p:cNvPr id="6" name="Shape 4"/>
          <p:cNvSpPr/>
          <p:nvPr/>
        </p:nvSpPr>
        <p:spPr>
          <a:xfrm>
            <a:off x="298552" y="2139696"/>
            <a:ext cx="2761488" cy="82296"/>
          </a:xfrm>
          <a:prstGeom prst="rect">
            <a:avLst/>
          </a:prstGeom>
          <a:solidFill>
            <a:srgbClr val="D97757"/>
          </a:solidFill>
          <a:ln/>
        </p:spPr>
        <p:txBody>
          <a:bodyPr/>
          <a:lstStyle/>
          <a:p>
            <a:endParaRPr lang="en-IN"/>
          </a:p>
        </p:txBody>
      </p:sp>
      <p:sp>
        <p:nvSpPr>
          <p:cNvPr id="7" name="Text 5"/>
          <p:cNvSpPr/>
          <p:nvPr/>
        </p:nvSpPr>
        <p:spPr>
          <a:xfrm>
            <a:off x="536296" y="2368296"/>
            <a:ext cx="2304288" cy="502920"/>
          </a:xfrm>
          <a:prstGeom prst="rect">
            <a:avLst/>
          </a:prstGeom>
          <a:noFill/>
          <a:ln/>
        </p:spPr>
        <p:txBody>
          <a:bodyPr wrap="square" lIns="0" tIns="0" rIns="0" bIns="0" rtlCol="0" anchor="ctr"/>
          <a:lstStyle/>
          <a:p>
            <a:pPr marL="0" indent="0">
              <a:buNone/>
            </a:pPr>
            <a:r>
              <a:rPr lang="en-US" sz="1850" b="1" dirty="0">
                <a:solidFill>
                  <a:srgbClr val="1F1E1D"/>
                </a:solidFill>
                <a:latin typeface="Georgia" pitchFamily="34" charset="0"/>
                <a:ea typeface="Georgia" pitchFamily="34" charset="-122"/>
                <a:cs typeface="Georgia" pitchFamily="34" charset="-120"/>
              </a:rPr>
              <a:t>Chat</a:t>
            </a:r>
            <a:endParaRPr lang="en-US" sz="1850" dirty="0"/>
          </a:p>
        </p:txBody>
      </p:sp>
      <p:sp>
        <p:nvSpPr>
          <p:cNvPr id="8" name="Text 6"/>
          <p:cNvSpPr/>
          <p:nvPr/>
        </p:nvSpPr>
        <p:spPr>
          <a:xfrm>
            <a:off x="536296" y="2898648"/>
            <a:ext cx="2304288" cy="310896"/>
          </a:xfrm>
          <a:prstGeom prst="rect">
            <a:avLst/>
          </a:prstGeom>
          <a:noFill/>
          <a:ln/>
        </p:spPr>
        <p:txBody>
          <a:bodyPr wrap="square" lIns="0" tIns="0" rIns="0" bIns="0" rtlCol="0" anchor="ctr"/>
          <a:lstStyle/>
          <a:p>
            <a:pPr marL="0" indent="0">
              <a:buNone/>
            </a:pPr>
            <a:r>
              <a:rPr lang="en-US" sz="1200" b="1" dirty="0">
                <a:solidFill>
                  <a:srgbClr val="D97757"/>
                </a:solidFill>
                <a:latin typeface="Calibri" pitchFamily="34" charset="0"/>
                <a:ea typeface="Calibri" pitchFamily="34" charset="-122"/>
                <a:cs typeface="Calibri" pitchFamily="34" charset="-120"/>
              </a:rPr>
              <a:t>claude.ai</a:t>
            </a:r>
            <a:endParaRPr lang="en-US" sz="1200" dirty="0"/>
          </a:p>
        </p:txBody>
      </p:sp>
      <p:sp>
        <p:nvSpPr>
          <p:cNvPr id="9" name="Text 7"/>
          <p:cNvSpPr/>
          <p:nvPr/>
        </p:nvSpPr>
        <p:spPr>
          <a:xfrm>
            <a:off x="536296" y="3337560"/>
            <a:ext cx="2322576" cy="2194560"/>
          </a:xfrm>
          <a:prstGeom prst="rect">
            <a:avLst/>
          </a:prstGeom>
          <a:noFill/>
          <a:ln/>
        </p:spPr>
        <p:txBody>
          <a:bodyPr wrap="square" lIns="0" tIns="0" rIns="0" bIns="0" rtlCol="0" anchor="t"/>
          <a:lstStyle/>
          <a:p>
            <a:pPr marL="165100" indent="-165100">
              <a:lnSpc>
                <a:spcPct val="102000"/>
              </a:lnSpc>
              <a:spcAft>
                <a:spcPts val="900"/>
              </a:spcAft>
              <a:buSzPct val="100000"/>
              <a:buChar char="•"/>
            </a:pPr>
            <a:r>
              <a:rPr lang="en-US" sz="1200" dirty="0">
                <a:solidFill>
                  <a:srgbClr val="3A3835"/>
                </a:solidFill>
                <a:latin typeface="Calibri" pitchFamily="34" charset="0"/>
                <a:ea typeface="Calibri" pitchFamily="34" charset="-122"/>
                <a:cs typeface="Calibri" pitchFamily="34" charset="-120"/>
              </a:rPr>
              <a:t>Conversational web &amp; mobile app</a:t>
            </a:r>
            <a:endParaRPr lang="en-US" sz="1200" dirty="0"/>
          </a:p>
          <a:p>
            <a:pPr marL="165100" indent="-165100">
              <a:lnSpc>
                <a:spcPct val="102000"/>
              </a:lnSpc>
              <a:spcAft>
                <a:spcPts val="900"/>
              </a:spcAft>
              <a:buSzPct val="100000"/>
              <a:buChar char="•"/>
            </a:pPr>
            <a:r>
              <a:rPr lang="en-US" sz="1200" dirty="0">
                <a:solidFill>
                  <a:srgbClr val="3A3835"/>
                </a:solidFill>
                <a:latin typeface="Calibri" pitchFamily="34" charset="0"/>
                <a:ea typeface="Calibri" pitchFamily="34" charset="-122"/>
                <a:cs typeface="Calibri" pitchFamily="34" charset="-120"/>
              </a:rPr>
              <a:t>Free includes Haiku + Sonnet; Pro / Max add Opus and Fable</a:t>
            </a:r>
            <a:endParaRPr lang="en-US" sz="1200" dirty="0"/>
          </a:p>
          <a:p>
            <a:pPr marL="165100" indent="-165100">
              <a:lnSpc>
                <a:spcPct val="102000"/>
              </a:lnSpc>
              <a:spcAft>
                <a:spcPts val="900"/>
              </a:spcAft>
              <a:buSzPct val="100000"/>
              <a:buChar char="•"/>
            </a:pPr>
            <a:r>
              <a:rPr lang="en-US" sz="1200" dirty="0">
                <a:solidFill>
                  <a:srgbClr val="3A3835"/>
                </a:solidFill>
                <a:latin typeface="Calibri" pitchFamily="34" charset="0"/>
                <a:ea typeface="Calibri" pitchFamily="34" charset="-122"/>
                <a:cs typeface="Calibri" pitchFamily="34" charset="-120"/>
              </a:rPr>
              <a:t>Fastest path for exploration and one-off work</a:t>
            </a:r>
            <a:endParaRPr lang="en-US" sz="1200" dirty="0"/>
          </a:p>
        </p:txBody>
      </p:sp>
      <p:sp>
        <p:nvSpPr>
          <p:cNvPr id="10" name="Shape 8"/>
          <p:cNvSpPr/>
          <p:nvPr/>
        </p:nvSpPr>
        <p:spPr>
          <a:xfrm>
            <a:off x="3242920" y="2066544"/>
            <a:ext cx="2761488" cy="3657600"/>
          </a:xfrm>
          <a:prstGeom prst="roundRect">
            <a:avLst>
              <a:gd name="adj" fmla="val 2980"/>
            </a:avLst>
          </a:prstGeom>
          <a:solidFill>
            <a:srgbClr val="FFFFFF"/>
          </a:solidFill>
          <a:ln w="12700">
            <a:solidFill>
              <a:srgbClr val="E3E0D6"/>
            </a:solidFill>
            <a:prstDash val="solid"/>
          </a:ln>
          <a:effectLst>
            <a:outerShdw blurRad="114300" dist="38100" dir="5400000" algn="bl" rotWithShape="0">
              <a:srgbClr val="1F1E1D">
                <a:alpha val="10000"/>
              </a:srgbClr>
            </a:outerShdw>
          </a:effectLst>
        </p:spPr>
        <p:txBody>
          <a:bodyPr/>
          <a:lstStyle/>
          <a:p>
            <a:endParaRPr lang="en-IN"/>
          </a:p>
        </p:txBody>
      </p:sp>
      <p:sp>
        <p:nvSpPr>
          <p:cNvPr id="11" name="Shape 9"/>
          <p:cNvSpPr/>
          <p:nvPr/>
        </p:nvSpPr>
        <p:spPr>
          <a:xfrm>
            <a:off x="3242920" y="2057400"/>
            <a:ext cx="2761488" cy="164592"/>
          </a:xfrm>
          <a:prstGeom prst="roundRect">
            <a:avLst>
              <a:gd name="adj" fmla="val 50000"/>
            </a:avLst>
          </a:prstGeom>
          <a:solidFill>
            <a:srgbClr val="D97757"/>
          </a:solidFill>
          <a:ln/>
        </p:spPr>
        <p:txBody>
          <a:bodyPr/>
          <a:lstStyle/>
          <a:p>
            <a:endParaRPr lang="en-IN"/>
          </a:p>
        </p:txBody>
      </p:sp>
      <p:sp>
        <p:nvSpPr>
          <p:cNvPr id="12" name="Shape 10"/>
          <p:cNvSpPr/>
          <p:nvPr/>
        </p:nvSpPr>
        <p:spPr>
          <a:xfrm>
            <a:off x="3242920" y="2139696"/>
            <a:ext cx="2761488" cy="82296"/>
          </a:xfrm>
          <a:prstGeom prst="rect">
            <a:avLst/>
          </a:prstGeom>
          <a:solidFill>
            <a:srgbClr val="D97757"/>
          </a:solidFill>
          <a:ln/>
        </p:spPr>
        <p:txBody>
          <a:bodyPr/>
          <a:lstStyle/>
          <a:p>
            <a:endParaRPr lang="en-IN"/>
          </a:p>
        </p:txBody>
      </p:sp>
      <p:sp>
        <p:nvSpPr>
          <p:cNvPr id="13" name="Text 11"/>
          <p:cNvSpPr/>
          <p:nvPr/>
        </p:nvSpPr>
        <p:spPr>
          <a:xfrm>
            <a:off x="3480664" y="2368296"/>
            <a:ext cx="2304288" cy="502920"/>
          </a:xfrm>
          <a:prstGeom prst="rect">
            <a:avLst/>
          </a:prstGeom>
          <a:noFill/>
          <a:ln/>
        </p:spPr>
        <p:txBody>
          <a:bodyPr wrap="square" lIns="0" tIns="0" rIns="0" bIns="0" rtlCol="0" anchor="ctr"/>
          <a:lstStyle/>
          <a:p>
            <a:pPr marL="0" indent="0">
              <a:buNone/>
            </a:pPr>
            <a:r>
              <a:rPr lang="en-US" sz="1850" b="1" dirty="0">
                <a:solidFill>
                  <a:srgbClr val="1F1E1D"/>
                </a:solidFill>
                <a:latin typeface="Georgia" pitchFamily="34" charset="0"/>
                <a:ea typeface="Georgia" pitchFamily="34" charset="-122"/>
                <a:cs typeface="Georgia" pitchFamily="34" charset="-120"/>
              </a:rPr>
              <a:t>API</a:t>
            </a:r>
            <a:endParaRPr lang="en-US" sz="1850" dirty="0"/>
          </a:p>
        </p:txBody>
      </p:sp>
      <p:sp>
        <p:nvSpPr>
          <p:cNvPr id="14" name="Text 12"/>
          <p:cNvSpPr/>
          <p:nvPr/>
        </p:nvSpPr>
        <p:spPr>
          <a:xfrm>
            <a:off x="3480664" y="2898648"/>
            <a:ext cx="2304288" cy="310896"/>
          </a:xfrm>
          <a:prstGeom prst="rect">
            <a:avLst/>
          </a:prstGeom>
          <a:noFill/>
          <a:ln/>
        </p:spPr>
        <p:txBody>
          <a:bodyPr wrap="square" lIns="0" tIns="0" rIns="0" bIns="0" rtlCol="0" anchor="ctr"/>
          <a:lstStyle/>
          <a:p>
            <a:pPr marL="0" indent="0">
              <a:buNone/>
            </a:pPr>
            <a:r>
              <a:rPr lang="en-US" sz="1200" b="1" dirty="0">
                <a:solidFill>
                  <a:srgbClr val="D97757"/>
                </a:solidFill>
                <a:latin typeface="Calibri" pitchFamily="34" charset="0"/>
                <a:ea typeface="Calibri" pitchFamily="34" charset="-122"/>
                <a:cs typeface="Calibri" pitchFamily="34" charset="-120"/>
              </a:rPr>
              <a:t>Messages API &amp; SDKs</a:t>
            </a:r>
            <a:endParaRPr lang="en-US" sz="1200" dirty="0"/>
          </a:p>
        </p:txBody>
      </p:sp>
      <p:sp>
        <p:nvSpPr>
          <p:cNvPr id="15" name="Text 13"/>
          <p:cNvSpPr/>
          <p:nvPr/>
        </p:nvSpPr>
        <p:spPr>
          <a:xfrm>
            <a:off x="3480664" y="3337560"/>
            <a:ext cx="2322576" cy="2194560"/>
          </a:xfrm>
          <a:prstGeom prst="rect">
            <a:avLst/>
          </a:prstGeom>
          <a:noFill/>
          <a:ln/>
        </p:spPr>
        <p:txBody>
          <a:bodyPr wrap="square" lIns="0" tIns="0" rIns="0" bIns="0" rtlCol="0" anchor="t"/>
          <a:lstStyle/>
          <a:p>
            <a:pPr marL="165100" indent="-165100">
              <a:lnSpc>
                <a:spcPct val="102000"/>
              </a:lnSpc>
              <a:spcAft>
                <a:spcPts val="900"/>
              </a:spcAft>
              <a:buSzPct val="100000"/>
              <a:buChar char="•"/>
            </a:pPr>
            <a:r>
              <a:rPr lang="en-US" sz="1200" dirty="0">
                <a:solidFill>
                  <a:srgbClr val="3A3835"/>
                </a:solidFill>
                <a:latin typeface="Calibri" pitchFamily="34" charset="0"/>
                <a:ea typeface="Calibri" pitchFamily="34" charset="-122"/>
                <a:cs typeface="Calibri" pitchFamily="34" charset="-120"/>
              </a:rPr>
              <a:t>Programmatic access for your apps</a:t>
            </a:r>
            <a:endParaRPr lang="en-US" sz="1200" dirty="0"/>
          </a:p>
          <a:p>
            <a:pPr marL="165100" indent="-165100">
              <a:lnSpc>
                <a:spcPct val="102000"/>
              </a:lnSpc>
              <a:spcAft>
                <a:spcPts val="900"/>
              </a:spcAft>
              <a:buSzPct val="100000"/>
              <a:buChar char="•"/>
            </a:pPr>
            <a:r>
              <a:rPr lang="en-US" sz="1200" dirty="0">
                <a:solidFill>
                  <a:srgbClr val="3A3835"/>
                </a:solidFill>
                <a:latin typeface="Calibri" pitchFamily="34" charset="0"/>
                <a:ea typeface="Calibri" pitchFamily="34" charset="-122"/>
                <a:cs typeface="Calibri" pitchFamily="34" charset="-120"/>
              </a:rPr>
              <a:t>Prompt caching, Batch API, MCP connectors</a:t>
            </a:r>
            <a:endParaRPr lang="en-US" sz="1200" dirty="0"/>
          </a:p>
          <a:p>
            <a:pPr marL="165100" indent="-165100">
              <a:lnSpc>
                <a:spcPct val="102000"/>
              </a:lnSpc>
              <a:spcAft>
                <a:spcPts val="900"/>
              </a:spcAft>
              <a:buSzPct val="100000"/>
              <a:buChar char="•"/>
            </a:pPr>
            <a:r>
              <a:rPr lang="en-US" sz="1200" dirty="0">
                <a:solidFill>
                  <a:srgbClr val="3A3835"/>
                </a:solidFill>
                <a:latin typeface="Calibri" pitchFamily="34" charset="0"/>
                <a:ea typeface="Calibri" pitchFamily="34" charset="-122"/>
                <a:cs typeface="Calibri" pitchFamily="34" charset="-120"/>
              </a:rPr>
              <a:t>Managed Agents and the effort parameter</a:t>
            </a:r>
            <a:endParaRPr lang="en-US" sz="1200" dirty="0"/>
          </a:p>
        </p:txBody>
      </p:sp>
      <p:sp>
        <p:nvSpPr>
          <p:cNvPr id="16" name="Shape 14"/>
          <p:cNvSpPr/>
          <p:nvPr/>
        </p:nvSpPr>
        <p:spPr>
          <a:xfrm>
            <a:off x="6187288" y="2057400"/>
            <a:ext cx="2761488" cy="3657600"/>
          </a:xfrm>
          <a:prstGeom prst="roundRect">
            <a:avLst>
              <a:gd name="adj" fmla="val 2980"/>
            </a:avLst>
          </a:prstGeom>
          <a:solidFill>
            <a:srgbClr val="FFFFFF"/>
          </a:solidFill>
          <a:ln w="12700">
            <a:solidFill>
              <a:srgbClr val="E3E0D6"/>
            </a:solidFill>
            <a:prstDash val="solid"/>
          </a:ln>
          <a:effectLst>
            <a:outerShdw blurRad="114300" dist="38100" dir="5400000" algn="bl" rotWithShape="0">
              <a:srgbClr val="1F1E1D">
                <a:alpha val="10000"/>
              </a:srgbClr>
            </a:outerShdw>
          </a:effectLst>
        </p:spPr>
        <p:txBody>
          <a:bodyPr/>
          <a:lstStyle/>
          <a:p>
            <a:endParaRPr lang="en-IN"/>
          </a:p>
        </p:txBody>
      </p:sp>
      <p:sp>
        <p:nvSpPr>
          <p:cNvPr id="17" name="Shape 15"/>
          <p:cNvSpPr/>
          <p:nvPr/>
        </p:nvSpPr>
        <p:spPr>
          <a:xfrm>
            <a:off x="6187288" y="2057400"/>
            <a:ext cx="2761488" cy="164592"/>
          </a:xfrm>
          <a:prstGeom prst="roundRect">
            <a:avLst>
              <a:gd name="adj" fmla="val 50000"/>
            </a:avLst>
          </a:prstGeom>
          <a:solidFill>
            <a:srgbClr val="D97757"/>
          </a:solidFill>
          <a:ln/>
        </p:spPr>
        <p:txBody>
          <a:bodyPr/>
          <a:lstStyle/>
          <a:p>
            <a:endParaRPr lang="en-IN"/>
          </a:p>
        </p:txBody>
      </p:sp>
      <p:sp>
        <p:nvSpPr>
          <p:cNvPr id="18" name="Shape 16"/>
          <p:cNvSpPr/>
          <p:nvPr/>
        </p:nvSpPr>
        <p:spPr>
          <a:xfrm>
            <a:off x="6187288" y="2139696"/>
            <a:ext cx="2761488" cy="82296"/>
          </a:xfrm>
          <a:prstGeom prst="rect">
            <a:avLst/>
          </a:prstGeom>
          <a:solidFill>
            <a:srgbClr val="D97757"/>
          </a:solidFill>
          <a:ln/>
        </p:spPr>
        <p:txBody>
          <a:bodyPr/>
          <a:lstStyle/>
          <a:p>
            <a:endParaRPr lang="en-IN"/>
          </a:p>
        </p:txBody>
      </p:sp>
      <p:sp>
        <p:nvSpPr>
          <p:cNvPr id="19" name="Text 17"/>
          <p:cNvSpPr/>
          <p:nvPr/>
        </p:nvSpPr>
        <p:spPr>
          <a:xfrm>
            <a:off x="6425032" y="2368296"/>
            <a:ext cx="2304288" cy="502920"/>
          </a:xfrm>
          <a:prstGeom prst="rect">
            <a:avLst/>
          </a:prstGeom>
          <a:noFill/>
          <a:ln/>
        </p:spPr>
        <p:txBody>
          <a:bodyPr wrap="square" lIns="0" tIns="0" rIns="0" bIns="0" rtlCol="0" anchor="ctr"/>
          <a:lstStyle/>
          <a:p>
            <a:pPr marL="0" indent="0">
              <a:buNone/>
            </a:pPr>
            <a:r>
              <a:rPr lang="en-US" sz="1850" b="1" dirty="0">
                <a:solidFill>
                  <a:srgbClr val="1F1E1D"/>
                </a:solidFill>
                <a:latin typeface="Georgia" pitchFamily="34" charset="0"/>
                <a:ea typeface="Georgia" pitchFamily="34" charset="-122"/>
                <a:cs typeface="Georgia" pitchFamily="34" charset="-120"/>
              </a:rPr>
              <a:t>Claude Code</a:t>
            </a:r>
            <a:endParaRPr lang="en-US" sz="1850" dirty="0"/>
          </a:p>
        </p:txBody>
      </p:sp>
      <p:sp>
        <p:nvSpPr>
          <p:cNvPr id="20" name="Text 18"/>
          <p:cNvSpPr/>
          <p:nvPr/>
        </p:nvSpPr>
        <p:spPr>
          <a:xfrm>
            <a:off x="6425032" y="2898648"/>
            <a:ext cx="2304288" cy="310896"/>
          </a:xfrm>
          <a:prstGeom prst="rect">
            <a:avLst/>
          </a:prstGeom>
          <a:noFill/>
          <a:ln/>
        </p:spPr>
        <p:txBody>
          <a:bodyPr wrap="square" lIns="0" tIns="0" rIns="0" bIns="0" rtlCol="0" anchor="ctr"/>
          <a:lstStyle/>
          <a:p>
            <a:pPr marL="0" indent="0">
              <a:buNone/>
            </a:pPr>
            <a:r>
              <a:rPr lang="en-US" sz="1200" b="1" dirty="0">
                <a:solidFill>
                  <a:srgbClr val="D97757"/>
                </a:solidFill>
                <a:latin typeface="Calibri" pitchFamily="34" charset="0"/>
                <a:ea typeface="Calibri" pitchFamily="34" charset="-122"/>
                <a:cs typeface="Calibri" pitchFamily="34" charset="-120"/>
              </a:rPr>
              <a:t>Terminal-first agent</a:t>
            </a:r>
            <a:endParaRPr lang="en-US" sz="1200" dirty="0"/>
          </a:p>
        </p:txBody>
      </p:sp>
      <p:sp>
        <p:nvSpPr>
          <p:cNvPr id="21" name="Text 19"/>
          <p:cNvSpPr/>
          <p:nvPr/>
        </p:nvSpPr>
        <p:spPr>
          <a:xfrm>
            <a:off x="6425032" y="3337560"/>
            <a:ext cx="2322576" cy="2194560"/>
          </a:xfrm>
          <a:prstGeom prst="rect">
            <a:avLst/>
          </a:prstGeom>
          <a:noFill/>
          <a:ln/>
        </p:spPr>
        <p:txBody>
          <a:bodyPr wrap="square" lIns="0" tIns="0" rIns="0" bIns="0" rtlCol="0" anchor="t"/>
          <a:lstStyle/>
          <a:p>
            <a:pPr marL="165100" indent="-165100">
              <a:lnSpc>
                <a:spcPct val="102000"/>
              </a:lnSpc>
              <a:spcAft>
                <a:spcPts val="900"/>
              </a:spcAft>
              <a:buSzPct val="100000"/>
              <a:buChar char="•"/>
            </a:pPr>
            <a:r>
              <a:rPr lang="en-US" sz="1200" dirty="0">
                <a:solidFill>
                  <a:srgbClr val="3A3835"/>
                </a:solidFill>
                <a:latin typeface="Calibri" pitchFamily="34" charset="0"/>
                <a:ea typeface="Calibri" pitchFamily="34" charset="-122"/>
                <a:cs typeface="Calibri" pitchFamily="34" charset="-120"/>
              </a:rPr>
              <a:t>Full-codebase awareness via agentic search</a:t>
            </a:r>
            <a:endParaRPr lang="en-US" sz="1200" dirty="0"/>
          </a:p>
          <a:p>
            <a:pPr marL="165100" indent="-165100">
              <a:lnSpc>
                <a:spcPct val="102000"/>
              </a:lnSpc>
              <a:spcAft>
                <a:spcPts val="900"/>
              </a:spcAft>
              <a:buSzPct val="100000"/>
              <a:buChar char="•"/>
            </a:pPr>
            <a:r>
              <a:rPr lang="en-US" sz="1200" dirty="0">
                <a:solidFill>
                  <a:srgbClr val="3A3835"/>
                </a:solidFill>
                <a:latin typeface="Calibri" pitchFamily="34" charset="0"/>
                <a:ea typeface="Calibri" pitchFamily="34" charset="-122"/>
                <a:cs typeface="Calibri" pitchFamily="34" charset="-120"/>
              </a:rPr>
              <a:t>Multi-file edits, runs commands, opens PRs</a:t>
            </a:r>
            <a:endParaRPr lang="en-US" sz="1200" dirty="0"/>
          </a:p>
          <a:p>
            <a:pPr marL="165100" indent="-165100">
              <a:lnSpc>
                <a:spcPct val="102000"/>
              </a:lnSpc>
              <a:spcAft>
                <a:spcPts val="900"/>
              </a:spcAft>
              <a:buSzPct val="100000"/>
              <a:buChar char="•"/>
            </a:pPr>
            <a:r>
              <a:rPr lang="en-US" sz="1200" dirty="0">
                <a:solidFill>
                  <a:srgbClr val="3A3835"/>
                </a:solidFill>
                <a:latin typeface="Calibri" pitchFamily="34" charset="0"/>
                <a:ea typeface="Calibri" pitchFamily="34" charset="-122"/>
                <a:cs typeface="Calibri" pitchFamily="34" charset="-120"/>
              </a:rPr>
              <a:t>Works alongside any IDE; MCP + checkpoints</a:t>
            </a:r>
            <a:endParaRPr lang="en-US" sz="1200" dirty="0"/>
          </a:p>
        </p:txBody>
      </p:sp>
      <p:sp>
        <p:nvSpPr>
          <p:cNvPr id="22" name="Shape 20"/>
          <p:cNvSpPr/>
          <p:nvPr/>
        </p:nvSpPr>
        <p:spPr>
          <a:xfrm>
            <a:off x="9131656" y="2057400"/>
            <a:ext cx="2761488" cy="3657600"/>
          </a:xfrm>
          <a:prstGeom prst="roundRect">
            <a:avLst>
              <a:gd name="adj" fmla="val 2980"/>
            </a:avLst>
          </a:prstGeom>
          <a:solidFill>
            <a:srgbClr val="FFFFFF"/>
          </a:solidFill>
          <a:ln w="12700">
            <a:solidFill>
              <a:srgbClr val="E3E0D6"/>
            </a:solidFill>
            <a:prstDash val="solid"/>
          </a:ln>
          <a:effectLst>
            <a:outerShdw blurRad="114300" dist="38100" dir="5400000" algn="bl" rotWithShape="0">
              <a:srgbClr val="1F1E1D">
                <a:alpha val="10000"/>
              </a:srgbClr>
            </a:outerShdw>
          </a:effectLst>
        </p:spPr>
        <p:txBody>
          <a:bodyPr/>
          <a:lstStyle/>
          <a:p>
            <a:endParaRPr lang="en-IN"/>
          </a:p>
        </p:txBody>
      </p:sp>
      <p:sp>
        <p:nvSpPr>
          <p:cNvPr id="23" name="Shape 21"/>
          <p:cNvSpPr/>
          <p:nvPr/>
        </p:nvSpPr>
        <p:spPr>
          <a:xfrm>
            <a:off x="9131656" y="2057400"/>
            <a:ext cx="2761488" cy="164592"/>
          </a:xfrm>
          <a:prstGeom prst="roundRect">
            <a:avLst>
              <a:gd name="adj" fmla="val 50000"/>
            </a:avLst>
          </a:prstGeom>
          <a:solidFill>
            <a:srgbClr val="D97757"/>
          </a:solidFill>
          <a:ln/>
        </p:spPr>
        <p:txBody>
          <a:bodyPr/>
          <a:lstStyle/>
          <a:p>
            <a:endParaRPr lang="en-IN"/>
          </a:p>
        </p:txBody>
      </p:sp>
      <p:sp>
        <p:nvSpPr>
          <p:cNvPr id="24" name="Shape 22"/>
          <p:cNvSpPr/>
          <p:nvPr/>
        </p:nvSpPr>
        <p:spPr>
          <a:xfrm>
            <a:off x="9131656" y="2139696"/>
            <a:ext cx="2761488" cy="82296"/>
          </a:xfrm>
          <a:prstGeom prst="rect">
            <a:avLst/>
          </a:prstGeom>
          <a:solidFill>
            <a:srgbClr val="D97757"/>
          </a:solidFill>
          <a:ln/>
        </p:spPr>
        <p:txBody>
          <a:bodyPr/>
          <a:lstStyle/>
          <a:p>
            <a:endParaRPr lang="en-IN"/>
          </a:p>
        </p:txBody>
      </p:sp>
      <p:sp>
        <p:nvSpPr>
          <p:cNvPr id="25" name="Text 23"/>
          <p:cNvSpPr/>
          <p:nvPr/>
        </p:nvSpPr>
        <p:spPr>
          <a:xfrm>
            <a:off x="9369400" y="2368296"/>
            <a:ext cx="2304288" cy="502920"/>
          </a:xfrm>
          <a:prstGeom prst="rect">
            <a:avLst/>
          </a:prstGeom>
          <a:noFill/>
          <a:ln/>
        </p:spPr>
        <p:txBody>
          <a:bodyPr wrap="square" lIns="0" tIns="0" rIns="0" bIns="0" rtlCol="0" anchor="ctr"/>
          <a:lstStyle/>
          <a:p>
            <a:pPr marL="0" indent="0">
              <a:buNone/>
            </a:pPr>
            <a:r>
              <a:rPr lang="en-US" sz="1850" b="1" dirty="0">
                <a:solidFill>
                  <a:srgbClr val="1F1E1D"/>
                </a:solidFill>
                <a:latin typeface="Georgia" pitchFamily="34" charset="0"/>
                <a:ea typeface="Georgia" pitchFamily="34" charset="-122"/>
                <a:cs typeface="Georgia" pitchFamily="34" charset="-120"/>
              </a:rPr>
              <a:t>Desktop assistant</a:t>
            </a:r>
            <a:endParaRPr lang="en-US" sz="1850" dirty="0"/>
          </a:p>
        </p:txBody>
      </p:sp>
      <p:sp>
        <p:nvSpPr>
          <p:cNvPr id="26" name="Text 24"/>
          <p:cNvSpPr/>
          <p:nvPr/>
        </p:nvSpPr>
        <p:spPr>
          <a:xfrm>
            <a:off x="9369400" y="2898648"/>
            <a:ext cx="2304288" cy="310896"/>
          </a:xfrm>
          <a:prstGeom prst="rect">
            <a:avLst/>
          </a:prstGeom>
          <a:noFill/>
          <a:ln/>
        </p:spPr>
        <p:txBody>
          <a:bodyPr wrap="square" lIns="0" tIns="0" rIns="0" bIns="0" rtlCol="0" anchor="ctr"/>
          <a:lstStyle/>
          <a:p>
            <a:pPr marL="0" indent="0">
              <a:buNone/>
            </a:pPr>
            <a:r>
              <a:rPr lang="en-US" sz="1200" b="1" dirty="0">
                <a:solidFill>
                  <a:srgbClr val="D97757"/>
                </a:solidFill>
                <a:latin typeface="Calibri" pitchFamily="34" charset="0"/>
                <a:ea typeface="Calibri" pitchFamily="34" charset="-122"/>
                <a:cs typeface="Calibri" pitchFamily="34" charset="-120"/>
              </a:rPr>
              <a:t>Cowork on the desktop</a:t>
            </a:r>
            <a:endParaRPr lang="en-US" sz="1200" dirty="0"/>
          </a:p>
        </p:txBody>
      </p:sp>
      <p:sp>
        <p:nvSpPr>
          <p:cNvPr id="27" name="Text 25"/>
          <p:cNvSpPr/>
          <p:nvPr/>
        </p:nvSpPr>
        <p:spPr>
          <a:xfrm>
            <a:off x="9369400" y="3337560"/>
            <a:ext cx="2322576" cy="2194560"/>
          </a:xfrm>
          <a:prstGeom prst="rect">
            <a:avLst/>
          </a:prstGeom>
          <a:noFill/>
          <a:ln/>
        </p:spPr>
        <p:txBody>
          <a:bodyPr wrap="square" lIns="0" tIns="0" rIns="0" bIns="0" rtlCol="0" anchor="t"/>
          <a:lstStyle/>
          <a:p>
            <a:pPr marL="165100" indent="-165100">
              <a:lnSpc>
                <a:spcPct val="102000"/>
              </a:lnSpc>
              <a:spcAft>
                <a:spcPts val="900"/>
              </a:spcAft>
              <a:buSzPct val="100000"/>
              <a:buChar char="•"/>
            </a:pPr>
            <a:r>
              <a:rPr lang="en-US" sz="1200" dirty="0">
                <a:solidFill>
                  <a:srgbClr val="3A3835"/>
                </a:solidFill>
                <a:latin typeface="Calibri" pitchFamily="34" charset="0"/>
                <a:ea typeface="Calibri" pitchFamily="34" charset="-122"/>
                <a:cs typeface="Calibri" pitchFamily="34" charset="-120"/>
              </a:rPr>
              <a:t>Three tabs: Chat, Cowork, and Code</a:t>
            </a:r>
            <a:endParaRPr lang="en-US" sz="1200" dirty="0"/>
          </a:p>
          <a:p>
            <a:pPr marL="165100" indent="-165100">
              <a:lnSpc>
                <a:spcPct val="102000"/>
              </a:lnSpc>
              <a:spcAft>
                <a:spcPts val="900"/>
              </a:spcAft>
              <a:buSzPct val="100000"/>
              <a:buChar char="•"/>
            </a:pPr>
            <a:r>
              <a:rPr lang="en-US" sz="1200" dirty="0">
                <a:solidFill>
                  <a:srgbClr val="3A3835"/>
                </a:solidFill>
                <a:latin typeface="Calibri" pitchFamily="34" charset="0"/>
                <a:ea typeface="Calibri" pitchFamily="34" charset="-122"/>
                <a:cs typeface="Calibri" pitchFamily="34" charset="-120"/>
              </a:rPr>
              <a:t>Cowork runs Dispatch and longer agentic work</a:t>
            </a:r>
            <a:endParaRPr lang="en-US" sz="1200" dirty="0"/>
          </a:p>
          <a:p>
            <a:pPr marL="165100" indent="-165100">
              <a:lnSpc>
                <a:spcPct val="102000"/>
              </a:lnSpc>
              <a:spcAft>
                <a:spcPts val="900"/>
              </a:spcAft>
              <a:buSzPct val="100000"/>
              <a:buChar char="•"/>
            </a:pPr>
            <a:r>
              <a:rPr lang="en-US" sz="1200" dirty="0">
                <a:solidFill>
                  <a:srgbClr val="3A3835"/>
                </a:solidFill>
                <a:latin typeface="Calibri" pitchFamily="34" charset="0"/>
                <a:ea typeface="Calibri" pitchFamily="34" charset="-122"/>
                <a:cs typeface="Calibri" pitchFamily="34" charset="-120"/>
              </a:rPr>
              <a:t>Parallel sessions, computer use, diff review</a:t>
            </a:r>
            <a:endParaRPr lang="en-US" sz="1200" dirty="0"/>
          </a:p>
        </p:txBody>
      </p:sp>
      <p:pic>
        <p:nvPicPr>
          <p:cNvPr id="28" name="Image 0" descr="/agent/turn1/workspace/assets/spark_coral.png"/>
          <p:cNvPicPr>
            <a:picLocks noChangeAspect="1"/>
          </p:cNvPicPr>
          <p:nvPr/>
        </p:nvPicPr>
        <p:blipFill>
          <a:blip r:embed="rId3"/>
          <a:stretch>
            <a:fillRect/>
          </a:stretch>
        </p:blipFill>
        <p:spPr>
          <a:xfrm>
            <a:off x="566928" y="6419088"/>
            <a:ext cx="201168" cy="201168"/>
          </a:xfrm>
          <a:prstGeom prst="rect">
            <a:avLst/>
          </a:prstGeom>
        </p:spPr>
      </p:pic>
      <p:sp>
        <p:nvSpPr>
          <p:cNvPr id="29" name="Text 26"/>
          <p:cNvSpPr/>
          <p:nvPr/>
        </p:nvSpPr>
        <p:spPr>
          <a:xfrm>
            <a:off x="841248" y="6364224"/>
            <a:ext cx="6400800" cy="310896"/>
          </a:xfrm>
          <a:prstGeom prst="rect">
            <a:avLst/>
          </a:prstGeom>
          <a:noFill/>
          <a:ln/>
        </p:spPr>
        <p:txBody>
          <a:bodyPr wrap="square" lIns="0" tIns="0" rIns="0" bIns="0" rtlCol="0" anchor="ctr"/>
          <a:lstStyle/>
          <a:p>
            <a:pPr marL="0" indent="0" algn="l">
              <a:buNone/>
            </a:pPr>
            <a:r>
              <a:rPr lang="en-US" sz="950" kern="0" spc="50" dirty="0">
                <a:solidFill>
                  <a:srgbClr val="73726C"/>
                </a:solidFill>
                <a:latin typeface="Calibri" pitchFamily="34" charset="0"/>
                <a:ea typeface="Calibri" pitchFamily="34" charset="-122"/>
                <a:cs typeface="Calibri" pitchFamily="34" charset="-120"/>
              </a:rPr>
              <a:t>Claude Cowork  ·  Developer Training</a:t>
            </a:r>
            <a:endParaRPr lang="en-US" sz="950" dirty="0"/>
          </a:p>
        </p:txBody>
      </p:sp>
      <p:sp>
        <p:nvSpPr>
          <p:cNvPr id="30" name="Text 27"/>
          <p:cNvSpPr/>
          <p:nvPr/>
        </p:nvSpPr>
        <p:spPr>
          <a:xfrm>
            <a:off x="10972800" y="6364224"/>
            <a:ext cx="685800" cy="310896"/>
          </a:xfrm>
          <a:prstGeom prst="rect">
            <a:avLst/>
          </a:prstGeom>
          <a:noFill/>
          <a:ln/>
        </p:spPr>
        <p:txBody>
          <a:bodyPr wrap="square" lIns="0" tIns="0" rIns="0" bIns="0" rtlCol="0" anchor="ctr"/>
          <a:lstStyle/>
          <a:p>
            <a:pPr marL="0" indent="0" algn="r">
              <a:buNone/>
            </a:pPr>
            <a:r>
              <a:rPr lang="en-US" sz="950" b="1" dirty="0">
                <a:solidFill>
                  <a:srgbClr val="73726C"/>
                </a:solidFill>
                <a:latin typeface="Calibri" pitchFamily="34" charset="0"/>
                <a:ea typeface="Calibri" pitchFamily="34" charset="-122"/>
                <a:cs typeface="Calibri" pitchFamily="34" charset="-120"/>
              </a:rPr>
              <a:t>06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EEE6"/>
        </a:solidFill>
        <a:effectLst/>
      </p:bgPr>
    </p:bg>
    <p:spTree>
      <p:nvGrpSpPr>
        <p:cNvPr id="1" name=""/>
        <p:cNvGrpSpPr/>
        <p:nvPr/>
      </p:nvGrpSpPr>
      <p:grpSpPr>
        <a:xfrm>
          <a:off x="0" y="0"/>
          <a:ext cx="0" cy="0"/>
          <a:chOff x="0" y="0"/>
          <a:chExt cx="0" cy="0"/>
        </a:xfrm>
      </p:grpSpPr>
      <p:sp>
        <p:nvSpPr>
          <p:cNvPr id="2" name="Text 0"/>
          <p:cNvSpPr/>
          <p:nvPr/>
        </p:nvSpPr>
        <p:spPr>
          <a:xfrm>
            <a:off x="566928" y="457200"/>
            <a:ext cx="10058400" cy="274320"/>
          </a:xfrm>
          <a:prstGeom prst="rect">
            <a:avLst/>
          </a:prstGeom>
          <a:noFill/>
          <a:ln/>
        </p:spPr>
        <p:txBody>
          <a:bodyPr wrap="square" lIns="0" tIns="0" rIns="0" bIns="0" rtlCol="0" anchor="ctr"/>
          <a:lstStyle/>
          <a:p>
            <a:pPr marL="0" indent="0" algn="l">
              <a:buNone/>
            </a:pPr>
            <a:r>
              <a:rPr lang="en-US" sz="1200" b="1" kern="0" spc="250" dirty="0">
                <a:solidFill>
                  <a:srgbClr val="D97757"/>
                </a:solidFill>
                <a:latin typeface="Calibri" pitchFamily="34" charset="0"/>
                <a:ea typeface="Calibri" pitchFamily="34" charset="-122"/>
                <a:cs typeface="Calibri" pitchFamily="34" charset="-120"/>
              </a:rPr>
              <a:t>ACCESS SURFACES</a:t>
            </a:r>
            <a:endParaRPr lang="en-US" sz="1200" dirty="0"/>
          </a:p>
        </p:txBody>
      </p:sp>
      <p:sp>
        <p:nvSpPr>
          <p:cNvPr id="3" name="Text 1"/>
          <p:cNvSpPr/>
          <p:nvPr/>
        </p:nvSpPr>
        <p:spPr>
          <a:xfrm>
            <a:off x="566928" y="749808"/>
            <a:ext cx="11064240" cy="777240"/>
          </a:xfrm>
          <a:prstGeom prst="rect">
            <a:avLst/>
          </a:prstGeom>
          <a:noFill/>
          <a:ln/>
        </p:spPr>
        <p:txBody>
          <a:bodyPr wrap="square" lIns="0" tIns="0" rIns="0" bIns="0" rtlCol="0" anchor="t"/>
          <a:lstStyle/>
          <a:p>
            <a:pPr marL="0" indent="0" algn="l">
              <a:lnSpc>
                <a:spcPct val="98000"/>
              </a:lnSpc>
              <a:buNone/>
            </a:pPr>
            <a:r>
              <a:rPr lang="en-US" sz="3000" b="1" dirty="0">
                <a:solidFill>
                  <a:srgbClr val="1F1E1D"/>
                </a:solidFill>
                <a:latin typeface="Georgia" pitchFamily="34" charset="0"/>
                <a:ea typeface="Georgia" pitchFamily="34" charset="-122"/>
                <a:cs typeface="Georgia" pitchFamily="34" charset="-120"/>
              </a:rPr>
              <a:t>Inside the desktop assistant &amp; Cowork</a:t>
            </a:r>
            <a:endParaRPr lang="en-US" sz="3000" dirty="0"/>
          </a:p>
        </p:txBody>
      </p:sp>
      <p:sp>
        <p:nvSpPr>
          <p:cNvPr id="4" name="Shape 2"/>
          <p:cNvSpPr/>
          <p:nvPr/>
        </p:nvSpPr>
        <p:spPr>
          <a:xfrm>
            <a:off x="431140" y="1783080"/>
            <a:ext cx="3611880" cy="1417320"/>
          </a:xfrm>
          <a:prstGeom prst="roundRect">
            <a:avLst>
              <a:gd name="adj" fmla="val 5806"/>
            </a:avLst>
          </a:prstGeom>
          <a:solidFill>
            <a:srgbClr val="FFFFFF"/>
          </a:solidFill>
          <a:ln w="12700">
            <a:solidFill>
              <a:srgbClr val="E3E0D6"/>
            </a:solidFill>
            <a:prstDash val="solid"/>
          </a:ln>
          <a:effectLst>
            <a:outerShdw blurRad="114300" dist="38100" dir="5400000" algn="bl" rotWithShape="0">
              <a:srgbClr val="1F1E1D">
                <a:alpha val="10000"/>
              </a:srgbClr>
            </a:outerShdw>
          </a:effectLst>
        </p:spPr>
        <p:txBody>
          <a:bodyPr/>
          <a:lstStyle/>
          <a:p>
            <a:endParaRPr lang="en-IN"/>
          </a:p>
        </p:txBody>
      </p:sp>
      <p:sp>
        <p:nvSpPr>
          <p:cNvPr id="5" name="Text 3"/>
          <p:cNvSpPr/>
          <p:nvPr/>
        </p:nvSpPr>
        <p:spPr>
          <a:xfrm>
            <a:off x="687172" y="1965960"/>
            <a:ext cx="3099816" cy="365760"/>
          </a:xfrm>
          <a:prstGeom prst="rect">
            <a:avLst/>
          </a:prstGeom>
          <a:noFill/>
          <a:ln/>
        </p:spPr>
        <p:txBody>
          <a:bodyPr wrap="square" lIns="0" tIns="0" rIns="0" bIns="0" rtlCol="0" anchor="ctr"/>
          <a:lstStyle/>
          <a:p>
            <a:pPr marL="0" indent="0">
              <a:buNone/>
            </a:pPr>
            <a:r>
              <a:rPr lang="en-US" sz="1900" b="1" dirty="0">
                <a:solidFill>
                  <a:srgbClr val="1F1E1D"/>
                </a:solidFill>
                <a:latin typeface="Georgia" pitchFamily="34" charset="0"/>
                <a:ea typeface="Georgia" pitchFamily="34" charset="-122"/>
                <a:cs typeface="Georgia" pitchFamily="34" charset="-120"/>
              </a:rPr>
              <a:t>Chat</a:t>
            </a:r>
            <a:endParaRPr lang="en-US" sz="1900" dirty="0"/>
          </a:p>
        </p:txBody>
      </p:sp>
      <p:sp>
        <p:nvSpPr>
          <p:cNvPr id="6" name="Text 4"/>
          <p:cNvSpPr/>
          <p:nvPr/>
        </p:nvSpPr>
        <p:spPr>
          <a:xfrm>
            <a:off x="687172" y="2386584"/>
            <a:ext cx="3099816" cy="731520"/>
          </a:xfrm>
          <a:prstGeom prst="rect">
            <a:avLst/>
          </a:prstGeom>
          <a:noFill/>
          <a:ln/>
        </p:spPr>
        <p:txBody>
          <a:bodyPr wrap="square" lIns="0" tIns="0" rIns="0" bIns="0" rtlCol="0" anchor="ctr"/>
          <a:lstStyle/>
          <a:p>
            <a:pPr marL="0" indent="0">
              <a:lnSpc>
                <a:spcPct val="105000"/>
              </a:lnSpc>
              <a:buNone/>
            </a:pPr>
            <a:r>
              <a:rPr lang="en-US" sz="1250" dirty="0">
                <a:solidFill>
                  <a:srgbClr val="3A3835"/>
                </a:solidFill>
                <a:latin typeface="Calibri" pitchFamily="34" charset="0"/>
                <a:ea typeface="Calibri" pitchFamily="34" charset="-122"/>
                <a:cs typeface="Calibri" pitchFamily="34" charset="-120"/>
              </a:rPr>
              <a:t>Conversations and quick questions, with the model picker at your fingertips.</a:t>
            </a:r>
            <a:endParaRPr lang="en-US" sz="1250" dirty="0"/>
          </a:p>
        </p:txBody>
      </p:sp>
      <p:sp>
        <p:nvSpPr>
          <p:cNvPr id="7" name="Shape 5"/>
          <p:cNvSpPr/>
          <p:nvPr/>
        </p:nvSpPr>
        <p:spPr>
          <a:xfrm>
            <a:off x="4289908" y="1783080"/>
            <a:ext cx="3611880" cy="1417320"/>
          </a:xfrm>
          <a:prstGeom prst="roundRect">
            <a:avLst>
              <a:gd name="adj" fmla="val 5806"/>
            </a:avLst>
          </a:prstGeom>
          <a:solidFill>
            <a:srgbClr val="1F1E1D"/>
          </a:solidFill>
          <a:ln w="12700">
            <a:solidFill>
              <a:srgbClr val="E3E0D6"/>
            </a:solidFill>
            <a:prstDash val="solid"/>
          </a:ln>
          <a:effectLst>
            <a:outerShdw blurRad="114300" dist="38100" dir="5400000" algn="bl" rotWithShape="0">
              <a:srgbClr val="1F1E1D">
                <a:alpha val="10000"/>
              </a:srgbClr>
            </a:outerShdw>
          </a:effectLst>
        </p:spPr>
        <p:txBody>
          <a:bodyPr/>
          <a:lstStyle/>
          <a:p>
            <a:endParaRPr lang="en-IN"/>
          </a:p>
        </p:txBody>
      </p:sp>
      <p:sp>
        <p:nvSpPr>
          <p:cNvPr id="8" name="Text 6"/>
          <p:cNvSpPr/>
          <p:nvPr/>
        </p:nvSpPr>
        <p:spPr>
          <a:xfrm>
            <a:off x="4545940" y="1965960"/>
            <a:ext cx="3099816" cy="365760"/>
          </a:xfrm>
          <a:prstGeom prst="rect">
            <a:avLst/>
          </a:prstGeom>
          <a:noFill/>
          <a:ln/>
        </p:spPr>
        <p:txBody>
          <a:bodyPr wrap="square" lIns="0" tIns="0" rIns="0" bIns="0" rtlCol="0" anchor="ctr"/>
          <a:lstStyle/>
          <a:p>
            <a:pPr marL="0" indent="0">
              <a:buNone/>
            </a:pPr>
            <a:r>
              <a:rPr lang="en-US" sz="1900" b="1" dirty="0">
                <a:solidFill>
                  <a:srgbClr val="D97757"/>
                </a:solidFill>
                <a:latin typeface="Georgia" pitchFamily="34" charset="0"/>
                <a:ea typeface="Georgia" pitchFamily="34" charset="-122"/>
                <a:cs typeface="Georgia" pitchFamily="34" charset="-120"/>
              </a:rPr>
              <a:t>Cowork</a:t>
            </a:r>
            <a:endParaRPr lang="en-US" sz="1900" dirty="0"/>
          </a:p>
        </p:txBody>
      </p:sp>
      <p:sp>
        <p:nvSpPr>
          <p:cNvPr id="9" name="Text 7"/>
          <p:cNvSpPr/>
          <p:nvPr/>
        </p:nvSpPr>
        <p:spPr>
          <a:xfrm>
            <a:off x="4545940" y="2386584"/>
            <a:ext cx="3099816" cy="731520"/>
          </a:xfrm>
          <a:prstGeom prst="rect">
            <a:avLst/>
          </a:prstGeom>
          <a:noFill/>
          <a:ln/>
        </p:spPr>
        <p:txBody>
          <a:bodyPr wrap="square" lIns="0" tIns="0" rIns="0" bIns="0" rtlCol="0" anchor="ctr"/>
          <a:lstStyle/>
          <a:p>
            <a:pPr marL="0" indent="0">
              <a:lnSpc>
                <a:spcPct val="105000"/>
              </a:lnSpc>
              <a:buNone/>
            </a:pPr>
            <a:r>
              <a:rPr lang="en-US" sz="1250" dirty="0">
                <a:solidFill>
                  <a:srgbClr val="D9D7CE"/>
                </a:solidFill>
                <a:latin typeface="Calibri" pitchFamily="34" charset="0"/>
                <a:ea typeface="Calibri" pitchFamily="34" charset="-122"/>
                <a:cs typeface="Calibri" pitchFamily="34" charset="-120"/>
              </a:rPr>
              <a:t>Dispatch and longer agentic work — describe an outcome and let Claude run with it.</a:t>
            </a:r>
            <a:endParaRPr lang="en-US" sz="1250" dirty="0"/>
          </a:p>
        </p:txBody>
      </p:sp>
      <p:sp>
        <p:nvSpPr>
          <p:cNvPr id="10" name="Shape 8"/>
          <p:cNvSpPr/>
          <p:nvPr/>
        </p:nvSpPr>
        <p:spPr>
          <a:xfrm>
            <a:off x="8148676" y="1783080"/>
            <a:ext cx="3611880" cy="1417320"/>
          </a:xfrm>
          <a:prstGeom prst="roundRect">
            <a:avLst>
              <a:gd name="adj" fmla="val 5806"/>
            </a:avLst>
          </a:prstGeom>
          <a:solidFill>
            <a:srgbClr val="FFFFFF"/>
          </a:solidFill>
          <a:ln w="12700">
            <a:solidFill>
              <a:srgbClr val="E3E0D6"/>
            </a:solidFill>
            <a:prstDash val="solid"/>
          </a:ln>
          <a:effectLst>
            <a:outerShdw blurRad="114300" dist="38100" dir="5400000" algn="bl" rotWithShape="0">
              <a:srgbClr val="1F1E1D">
                <a:alpha val="10000"/>
              </a:srgbClr>
            </a:outerShdw>
          </a:effectLst>
        </p:spPr>
        <p:txBody>
          <a:bodyPr/>
          <a:lstStyle/>
          <a:p>
            <a:endParaRPr lang="en-IN"/>
          </a:p>
        </p:txBody>
      </p:sp>
      <p:sp>
        <p:nvSpPr>
          <p:cNvPr id="11" name="Text 9"/>
          <p:cNvSpPr/>
          <p:nvPr/>
        </p:nvSpPr>
        <p:spPr>
          <a:xfrm>
            <a:off x="8404708" y="1965960"/>
            <a:ext cx="3099816" cy="365760"/>
          </a:xfrm>
          <a:prstGeom prst="rect">
            <a:avLst/>
          </a:prstGeom>
          <a:noFill/>
          <a:ln/>
        </p:spPr>
        <p:txBody>
          <a:bodyPr wrap="square" lIns="0" tIns="0" rIns="0" bIns="0" rtlCol="0" anchor="ctr"/>
          <a:lstStyle/>
          <a:p>
            <a:pPr marL="0" indent="0">
              <a:buNone/>
            </a:pPr>
            <a:r>
              <a:rPr lang="en-US" sz="1900" b="1" dirty="0">
                <a:solidFill>
                  <a:srgbClr val="1F1E1D"/>
                </a:solidFill>
                <a:latin typeface="Georgia" pitchFamily="34" charset="0"/>
                <a:ea typeface="Georgia" pitchFamily="34" charset="-122"/>
                <a:cs typeface="Georgia" pitchFamily="34" charset="-120"/>
              </a:rPr>
              <a:t>Code</a:t>
            </a:r>
            <a:endParaRPr lang="en-US" sz="1900" dirty="0"/>
          </a:p>
        </p:txBody>
      </p:sp>
      <p:sp>
        <p:nvSpPr>
          <p:cNvPr id="12" name="Text 10"/>
          <p:cNvSpPr/>
          <p:nvPr/>
        </p:nvSpPr>
        <p:spPr>
          <a:xfrm>
            <a:off x="8404708" y="2386584"/>
            <a:ext cx="3099816" cy="731520"/>
          </a:xfrm>
          <a:prstGeom prst="rect">
            <a:avLst/>
          </a:prstGeom>
          <a:noFill/>
          <a:ln/>
        </p:spPr>
        <p:txBody>
          <a:bodyPr wrap="square" lIns="0" tIns="0" rIns="0" bIns="0" rtlCol="0" anchor="ctr"/>
          <a:lstStyle/>
          <a:p>
            <a:pPr marL="0" indent="0">
              <a:lnSpc>
                <a:spcPct val="105000"/>
              </a:lnSpc>
              <a:buNone/>
            </a:pPr>
            <a:r>
              <a:rPr lang="en-US" sz="1250" dirty="0">
                <a:solidFill>
                  <a:srgbClr val="3A3835"/>
                </a:solidFill>
                <a:latin typeface="Calibri" pitchFamily="34" charset="0"/>
                <a:ea typeface="Calibri" pitchFamily="34" charset="-122"/>
                <a:cs typeface="Calibri" pitchFamily="34" charset="-120"/>
              </a:rPr>
              <a:t>Software development sessions, each with its own history, project folder, and changes.</a:t>
            </a:r>
            <a:endParaRPr lang="en-US" sz="1250" dirty="0"/>
          </a:p>
        </p:txBody>
      </p:sp>
      <p:sp>
        <p:nvSpPr>
          <p:cNvPr id="13" name="Text 11"/>
          <p:cNvSpPr/>
          <p:nvPr/>
        </p:nvSpPr>
        <p:spPr>
          <a:xfrm>
            <a:off x="566928" y="3456432"/>
            <a:ext cx="10972800" cy="329184"/>
          </a:xfrm>
          <a:prstGeom prst="rect">
            <a:avLst/>
          </a:prstGeom>
          <a:noFill/>
          <a:ln/>
        </p:spPr>
        <p:txBody>
          <a:bodyPr wrap="square" lIns="0" tIns="0" rIns="0" bIns="0" rtlCol="0" anchor="ctr"/>
          <a:lstStyle/>
          <a:p>
            <a:pPr marL="0" indent="0">
              <a:buNone/>
            </a:pPr>
            <a:r>
              <a:rPr lang="en-US" sz="1600" b="1" dirty="0">
                <a:solidFill>
                  <a:srgbClr val="1F1E1D"/>
                </a:solidFill>
                <a:latin typeface="Georgia" pitchFamily="34" charset="0"/>
                <a:ea typeface="Georgia" pitchFamily="34" charset="-122"/>
                <a:cs typeface="Georgia" pitchFamily="34" charset="-120"/>
              </a:rPr>
              <a:t>What the desktop app adds for developers</a:t>
            </a:r>
            <a:endParaRPr lang="en-US" sz="1600" dirty="0"/>
          </a:p>
        </p:txBody>
      </p:sp>
      <p:sp>
        <p:nvSpPr>
          <p:cNvPr id="14" name="Shape 12"/>
          <p:cNvSpPr/>
          <p:nvPr/>
        </p:nvSpPr>
        <p:spPr>
          <a:xfrm>
            <a:off x="566928" y="3913632"/>
            <a:ext cx="3593592" cy="841248"/>
          </a:xfrm>
          <a:prstGeom prst="roundRect">
            <a:avLst>
              <a:gd name="adj" fmla="val 9783"/>
            </a:avLst>
          </a:prstGeom>
          <a:solidFill>
            <a:srgbClr val="FAF9F5"/>
          </a:solidFill>
          <a:ln w="12700">
            <a:solidFill>
              <a:srgbClr val="E3E0D6"/>
            </a:solidFill>
            <a:prstDash val="solid"/>
          </a:ln>
          <a:effectLst>
            <a:outerShdw blurRad="114300" dist="38100" dir="5400000" algn="bl" rotWithShape="0">
              <a:srgbClr val="1F1E1D">
                <a:alpha val="10000"/>
              </a:srgbClr>
            </a:outerShdw>
          </a:effectLst>
        </p:spPr>
        <p:txBody>
          <a:bodyPr/>
          <a:lstStyle/>
          <a:p>
            <a:endParaRPr lang="en-IN"/>
          </a:p>
        </p:txBody>
      </p:sp>
      <p:sp>
        <p:nvSpPr>
          <p:cNvPr id="15" name="Text 13"/>
          <p:cNvSpPr/>
          <p:nvPr/>
        </p:nvSpPr>
        <p:spPr>
          <a:xfrm>
            <a:off x="768096" y="4023360"/>
            <a:ext cx="3227832" cy="274320"/>
          </a:xfrm>
          <a:prstGeom prst="rect">
            <a:avLst/>
          </a:prstGeom>
          <a:noFill/>
          <a:ln/>
        </p:spPr>
        <p:txBody>
          <a:bodyPr wrap="square" lIns="0" tIns="0" rIns="0" bIns="0" rtlCol="0" anchor="ctr"/>
          <a:lstStyle/>
          <a:p>
            <a:pPr marL="0" indent="0">
              <a:buNone/>
            </a:pPr>
            <a:r>
              <a:rPr lang="en-US" sz="1350" b="1" dirty="0">
                <a:solidFill>
                  <a:srgbClr val="C2613F"/>
                </a:solidFill>
                <a:latin typeface="Calibri" pitchFamily="34" charset="0"/>
                <a:ea typeface="Calibri" pitchFamily="34" charset="-122"/>
                <a:cs typeface="Calibri" pitchFamily="34" charset="-120"/>
              </a:rPr>
              <a:t>Parallel sessions</a:t>
            </a:r>
            <a:endParaRPr lang="en-US" sz="1350" dirty="0"/>
          </a:p>
        </p:txBody>
      </p:sp>
      <p:sp>
        <p:nvSpPr>
          <p:cNvPr id="16" name="Text 14"/>
          <p:cNvSpPr/>
          <p:nvPr/>
        </p:nvSpPr>
        <p:spPr>
          <a:xfrm>
            <a:off x="768096" y="4297680"/>
            <a:ext cx="3227832" cy="402336"/>
          </a:xfrm>
          <a:prstGeom prst="rect">
            <a:avLst/>
          </a:prstGeom>
          <a:noFill/>
          <a:ln/>
        </p:spPr>
        <p:txBody>
          <a:bodyPr wrap="square" lIns="0" tIns="0" rIns="0" bIns="0" rtlCol="0" anchor="ctr"/>
          <a:lstStyle/>
          <a:p>
            <a:pPr marL="0" indent="0">
              <a:lnSpc>
                <a:spcPct val="100000"/>
              </a:lnSpc>
              <a:buNone/>
            </a:pPr>
            <a:r>
              <a:rPr lang="en-US" sz="1150" dirty="0">
                <a:solidFill>
                  <a:srgbClr val="3A3835"/>
                </a:solidFill>
                <a:latin typeface="Calibri" pitchFamily="34" charset="0"/>
                <a:ea typeface="Calibri" pitchFamily="34" charset="-122"/>
                <a:cs typeface="Calibri" pitchFamily="34" charset="-120"/>
              </a:rPr>
              <a:t>Run several sessions at once, each isolated with its own Git state.</a:t>
            </a:r>
            <a:endParaRPr lang="en-US" sz="1150" dirty="0"/>
          </a:p>
        </p:txBody>
      </p:sp>
      <p:sp>
        <p:nvSpPr>
          <p:cNvPr id="17" name="Shape 15"/>
          <p:cNvSpPr/>
          <p:nvPr/>
        </p:nvSpPr>
        <p:spPr>
          <a:xfrm>
            <a:off x="4379976" y="3913632"/>
            <a:ext cx="3593592" cy="841248"/>
          </a:xfrm>
          <a:prstGeom prst="roundRect">
            <a:avLst>
              <a:gd name="adj" fmla="val 9783"/>
            </a:avLst>
          </a:prstGeom>
          <a:solidFill>
            <a:srgbClr val="FAF9F5"/>
          </a:solidFill>
          <a:ln w="12700">
            <a:solidFill>
              <a:srgbClr val="E3E0D6"/>
            </a:solidFill>
            <a:prstDash val="solid"/>
          </a:ln>
          <a:effectLst>
            <a:outerShdw blurRad="114300" dist="38100" dir="5400000" algn="bl" rotWithShape="0">
              <a:srgbClr val="1F1E1D">
                <a:alpha val="10000"/>
              </a:srgbClr>
            </a:outerShdw>
          </a:effectLst>
        </p:spPr>
        <p:txBody>
          <a:bodyPr/>
          <a:lstStyle/>
          <a:p>
            <a:endParaRPr lang="en-IN"/>
          </a:p>
        </p:txBody>
      </p:sp>
      <p:sp>
        <p:nvSpPr>
          <p:cNvPr id="18" name="Text 16"/>
          <p:cNvSpPr/>
          <p:nvPr/>
        </p:nvSpPr>
        <p:spPr>
          <a:xfrm>
            <a:off x="4581144" y="4023360"/>
            <a:ext cx="3227832" cy="274320"/>
          </a:xfrm>
          <a:prstGeom prst="rect">
            <a:avLst/>
          </a:prstGeom>
          <a:noFill/>
          <a:ln/>
        </p:spPr>
        <p:txBody>
          <a:bodyPr wrap="square" lIns="0" tIns="0" rIns="0" bIns="0" rtlCol="0" anchor="ctr"/>
          <a:lstStyle/>
          <a:p>
            <a:pPr marL="0" indent="0">
              <a:buNone/>
            </a:pPr>
            <a:r>
              <a:rPr lang="en-US" sz="1350" b="1" dirty="0">
                <a:solidFill>
                  <a:srgbClr val="C2613F"/>
                </a:solidFill>
                <a:latin typeface="Calibri" pitchFamily="34" charset="0"/>
                <a:ea typeface="Calibri" pitchFamily="34" charset="-122"/>
                <a:cs typeface="Calibri" pitchFamily="34" charset="-120"/>
              </a:rPr>
              <a:t>Integrated workspace</a:t>
            </a:r>
            <a:endParaRPr lang="en-US" sz="1350" dirty="0"/>
          </a:p>
        </p:txBody>
      </p:sp>
      <p:sp>
        <p:nvSpPr>
          <p:cNvPr id="19" name="Text 17"/>
          <p:cNvSpPr/>
          <p:nvPr/>
        </p:nvSpPr>
        <p:spPr>
          <a:xfrm>
            <a:off x="4581144" y="4297680"/>
            <a:ext cx="3227832" cy="402336"/>
          </a:xfrm>
          <a:prstGeom prst="rect">
            <a:avLst/>
          </a:prstGeom>
          <a:noFill/>
          <a:ln/>
        </p:spPr>
        <p:txBody>
          <a:bodyPr wrap="square" lIns="0" tIns="0" rIns="0" bIns="0" rtlCol="0" anchor="ctr"/>
          <a:lstStyle/>
          <a:p>
            <a:pPr marL="0" indent="0">
              <a:lnSpc>
                <a:spcPct val="100000"/>
              </a:lnSpc>
              <a:buNone/>
            </a:pPr>
            <a:r>
              <a:rPr lang="en-US" sz="1150" dirty="0">
                <a:solidFill>
                  <a:srgbClr val="3A3835"/>
                </a:solidFill>
                <a:latin typeface="Calibri" pitchFamily="34" charset="0"/>
                <a:ea typeface="Calibri" pitchFamily="34" charset="-122"/>
                <a:cs typeface="Calibri" pitchFamily="34" charset="-120"/>
              </a:rPr>
              <a:t>Terminal, file editor, diff review, and an embedded app preview side by side.</a:t>
            </a:r>
            <a:endParaRPr lang="en-US" sz="1150" dirty="0"/>
          </a:p>
        </p:txBody>
      </p:sp>
      <p:sp>
        <p:nvSpPr>
          <p:cNvPr id="20" name="Shape 18"/>
          <p:cNvSpPr/>
          <p:nvPr/>
        </p:nvSpPr>
        <p:spPr>
          <a:xfrm>
            <a:off x="8193024" y="3913632"/>
            <a:ext cx="3593592" cy="841248"/>
          </a:xfrm>
          <a:prstGeom prst="roundRect">
            <a:avLst>
              <a:gd name="adj" fmla="val 9783"/>
            </a:avLst>
          </a:prstGeom>
          <a:solidFill>
            <a:srgbClr val="FAF9F5"/>
          </a:solidFill>
          <a:ln w="12700">
            <a:solidFill>
              <a:srgbClr val="E3E0D6"/>
            </a:solidFill>
            <a:prstDash val="solid"/>
          </a:ln>
          <a:effectLst>
            <a:outerShdw blurRad="114300" dist="38100" dir="5400000" algn="bl" rotWithShape="0">
              <a:srgbClr val="1F1E1D">
                <a:alpha val="10000"/>
              </a:srgbClr>
            </a:outerShdw>
          </a:effectLst>
        </p:spPr>
        <p:txBody>
          <a:bodyPr/>
          <a:lstStyle/>
          <a:p>
            <a:endParaRPr lang="en-IN"/>
          </a:p>
        </p:txBody>
      </p:sp>
      <p:sp>
        <p:nvSpPr>
          <p:cNvPr id="21" name="Text 19"/>
          <p:cNvSpPr/>
          <p:nvPr/>
        </p:nvSpPr>
        <p:spPr>
          <a:xfrm>
            <a:off x="8394192" y="4023360"/>
            <a:ext cx="3227832" cy="274320"/>
          </a:xfrm>
          <a:prstGeom prst="rect">
            <a:avLst/>
          </a:prstGeom>
          <a:noFill/>
          <a:ln/>
        </p:spPr>
        <p:txBody>
          <a:bodyPr wrap="square" lIns="0" tIns="0" rIns="0" bIns="0" rtlCol="0" anchor="ctr"/>
          <a:lstStyle/>
          <a:p>
            <a:pPr marL="0" indent="0">
              <a:buNone/>
            </a:pPr>
            <a:r>
              <a:rPr lang="en-US" sz="1350" b="1" dirty="0">
                <a:solidFill>
                  <a:srgbClr val="C2613F"/>
                </a:solidFill>
                <a:latin typeface="Calibri" pitchFamily="34" charset="0"/>
                <a:ea typeface="Calibri" pitchFamily="34" charset="-122"/>
                <a:cs typeface="Calibri" pitchFamily="34" charset="-120"/>
              </a:rPr>
              <a:t>Computer use</a:t>
            </a:r>
            <a:endParaRPr lang="en-US" sz="1350" dirty="0"/>
          </a:p>
        </p:txBody>
      </p:sp>
      <p:sp>
        <p:nvSpPr>
          <p:cNvPr id="22" name="Text 20"/>
          <p:cNvSpPr/>
          <p:nvPr/>
        </p:nvSpPr>
        <p:spPr>
          <a:xfrm>
            <a:off x="8394192" y="4297680"/>
            <a:ext cx="3227832" cy="402336"/>
          </a:xfrm>
          <a:prstGeom prst="rect">
            <a:avLst/>
          </a:prstGeom>
          <a:noFill/>
          <a:ln/>
        </p:spPr>
        <p:txBody>
          <a:bodyPr wrap="square" lIns="0" tIns="0" rIns="0" bIns="0" rtlCol="0" anchor="ctr"/>
          <a:lstStyle/>
          <a:p>
            <a:pPr marL="0" indent="0">
              <a:lnSpc>
                <a:spcPct val="100000"/>
              </a:lnSpc>
              <a:buNone/>
            </a:pPr>
            <a:r>
              <a:rPr lang="en-US" sz="1150" dirty="0">
                <a:solidFill>
                  <a:srgbClr val="3A3835"/>
                </a:solidFill>
                <a:latin typeface="Calibri" pitchFamily="34" charset="0"/>
                <a:ea typeface="Calibri" pitchFamily="34" charset="-122"/>
                <a:cs typeface="Calibri" pitchFamily="34" charset="-120"/>
              </a:rPr>
              <a:t>Let Claude open apps and control the screen to complete real tasks.</a:t>
            </a:r>
            <a:endParaRPr lang="en-US" sz="1150" dirty="0"/>
          </a:p>
        </p:txBody>
      </p:sp>
      <p:sp>
        <p:nvSpPr>
          <p:cNvPr id="23" name="Shape 21"/>
          <p:cNvSpPr/>
          <p:nvPr/>
        </p:nvSpPr>
        <p:spPr>
          <a:xfrm>
            <a:off x="566928" y="4937760"/>
            <a:ext cx="3593592" cy="841248"/>
          </a:xfrm>
          <a:prstGeom prst="roundRect">
            <a:avLst>
              <a:gd name="adj" fmla="val 9783"/>
            </a:avLst>
          </a:prstGeom>
          <a:solidFill>
            <a:srgbClr val="FAF9F5"/>
          </a:solidFill>
          <a:ln w="12700">
            <a:solidFill>
              <a:srgbClr val="E3E0D6"/>
            </a:solidFill>
            <a:prstDash val="solid"/>
          </a:ln>
          <a:effectLst>
            <a:outerShdw blurRad="114300" dist="38100" dir="5400000" algn="bl" rotWithShape="0">
              <a:srgbClr val="1F1E1D">
                <a:alpha val="10000"/>
              </a:srgbClr>
            </a:outerShdw>
          </a:effectLst>
        </p:spPr>
        <p:txBody>
          <a:bodyPr/>
          <a:lstStyle/>
          <a:p>
            <a:endParaRPr lang="en-IN"/>
          </a:p>
        </p:txBody>
      </p:sp>
      <p:sp>
        <p:nvSpPr>
          <p:cNvPr id="24" name="Text 22"/>
          <p:cNvSpPr/>
          <p:nvPr/>
        </p:nvSpPr>
        <p:spPr>
          <a:xfrm>
            <a:off x="768096" y="5047488"/>
            <a:ext cx="3227832" cy="274320"/>
          </a:xfrm>
          <a:prstGeom prst="rect">
            <a:avLst/>
          </a:prstGeom>
          <a:noFill/>
          <a:ln/>
        </p:spPr>
        <p:txBody>
          <a:bodyPr wrap="square" lIns="0" tIns="0" rIns="0" bIns="0" rtlCol="0" anchor="ctr"/>
          <a:lstStyle/>
          <a:p>
            <a:pPr marL="0" indent="0">
              <a:buNone/>
            </a:pPr>
            <a:r>
              <a:rPr lang="en-US" sz="1350" b="1" dirty="0">
                <a:solidFill>
                  <a:srgbClr val="C2613F"/>
                </a:solidFill>
                <a:latin typeface="Calibri" pitchFamily="34" charset="0"/>
                <a:ea typeface="Calibri" pitchFamily="34" charset="-122"/>
                <a:cs typeface="Calibri" pitchFamily="34" charset="-120"/>
              </a:rPr>
              <a:t>Connectors</a:t>
            </a:r>
            <a:endParaRPr lang="en-US" sz="1350" dirty="0"/>
          </a:p>
        </p:txBody>
      </p:sp>
      <p:sp>
        <p:nvSpPr>
          <p:cNvPr id="25" name="Text 23"/>
          <p:cNvSpPr/>
          <p:nvPr/>
        </p:nvSpPr>
        <p:spPr>
          <a:xfrm>
            <a:off x="768096" y="5321808"/>
            <a:ext cx="3227832" cy="402336"/>
          </a:xfrm>
          <a:prstGeom prst="rect">
            <a:avLst/>
          </a:prstGeom>
          <a:noFill/>
          <a:ln/>
        </p:spPr>
        <p:txBody>
          <a:bodyPr wrap="square" lIns="0" tIns="0" rIns="0" bIns="0" rtlCol="0" anchor="ctr"/>
          <a:lstStyle/>
          <a:p>
            <a:pPr marL="0" indent="0">
              <a:lnSpc>
                <a:spcPct val="100000"/>
              </a:lnSpc>
              <a:buNone/>
            </a:pPr>
            <a:r>
              <a:rPr lang="en-US" sz="1150" dirty="0">
                <a:solidFill>
                  <a:srgbClr val="3A3835"/>
                </a:solidFill>
                <a:latin typeface="Calibri" pitchFamily="34" charset="0"/>
                <a:ea typeface="Calibri" pitchFamily="34" charset="-122"/>
                <a:cs typeface="Calibri" pitchFamily="34" charset="-120"/>
              </a:rPr>
              <a:t>Wire in GitHub, Slack, and Linear; monitor PRs through CI.</a:t>
            </a:r>
            <a:endParaRPr lang="en-US" sz="1150" dirty="0"/>
          </a:p>
        </p:txBody>
      </p:sp>
      <p:sp>
        <p:nvSpPr>
          <p:cNvPr id="26" name="Shape 24"/>
          <p:cNvSpPr/>
          <p:nvPr/>
        </p:nvSpPr>
        <p:spPr>
          <a:xfrm>
            <a:off x="4379976" y="4937760"/>
            <a:ext cx="3593592" cy="841248"/>
          </a:xfrm>
          <a:prstGeom prst="roundRect">
            <a:avLst>
              <a:gd name="adj" fmla="val 9783"/>
            </a:avLst>
          </a:prstGeom>
          <a:solidFill>
            <a:srgbClr val="FAF9F5"/>
          </a:solidFill>
          <a:ln w="12700">
            <a:solidFill>
              <a:srgbClr val="E3E0D6"/>
            </a:solidFill>
            <a:prstDash val="solid"/>
          </a:ln>
          <a:effectLst>
            <a:outerShdw blurRad="114300" dist="38100" dir="5400000" algn="bl" rotWithShape="0">
              <a:srgbClr val="1F1E1D">
                <a:alpha val="10000"/>
              </a:srgbClr>
            </a:outerShdw>
          </a:effectLst>
        </p:spPr>
        <p:txBody>
          <a:bodyPr/>
          <a:lstStyle/>
          <a:p>
            <a:endParaRPr lang="en-IN"/>
          </a:p>
        </p:txBody>
      </p:sp>
      <p:sp>
        <p:nvSpPr>
          <p:cNvPr id="27" name="Text 25"/>
          <p:cNvSpPr/>
          <p:nvPr/>
        </p:nvSpPr>
        <p:spPr>
          <a:xfrm>
            <a:off x="4581144" y="5047488"/>
            <a:ext cx="3227832" cy="274320"/>
          </a:xfrm>
          <a:prstGeom prst="rect">
            <a:avLst/>
          </a:prstGeom>
          <a:noFill/>
          <a:ln/>
        </p:spPr>
        <p:txBody>
          <a:bodyPr wrap="square" lIns="0" tIns="0" rIns="0" bIns="0" rtlCol="0" anchor="ctr"/>
          <a:lstStyle/>
          <a:p>
            <a:pPr marL="0" indent="0">
              <a:buNone/>
            </a:pPr>
            <a:r>
              <a:rPr lang="en-US" sz="1350" b="1" dirty="0">
                <a:solidFill>
                  <a:srgbClr val="C2613F"/>
                </a:solidFill>
                <a:latin typeface="Calibri" pitchFamily="34" charset="0"/>
                <a:ea typeface="Calibri" pitchFamily="34" charset="-122"/>
                <a:cs typeface="Calibri" pitchFamily="34" charset="-120"/>
              </a:rPr>
              <a:t>Flexible compute</a:t>
            </a:r>
            <a:endParaRPr lang="en-US" sz="1350" dirty="0"/>
          </a:p>
        </p:txBody>
      </p:sp>
      <p:sp>
        <p:nvSpPr>
          <p:cNvPr id="28" name="Text 26"/>
          <p:cNvSpPr/>
          <p:nvPr/>
        </p:nvSpPr>
        <p:spPr>
          <a:xfrm>
            <a:off x="4581144" y="5321808"/>
            <a:ext cx="3227832" cy="402336"/>
          </a:xfrm>
          <a:prstGeom prst="rect">
            <a:avLst/>
          </a:prstGeom>
          <a:noFill/>
          <a:ln/>
        </p:spPr>
        <p:txBody>
          <a:bodyPr wrap="square" lIns="0" tIns="0" rIns="0" bIns="0" rtlCol="0" anchor="ctr"/>
          <a:lstStyle/>
          <a:p>
            <a:pPr marL="0" indent="0">
              <a:lnSpc>
                <a:spcPct val="100000"/>
              </a:lnSpc>
              <a:buNone/>
            </a:pPr>
            <a:r>
              <a:rPr lang="en-US" sz="1150" dirty="0">
                <a:solidFill>
                  <a:srgbClr val="3A3835"/>
                </a:solidFill>
                <a:latin typeface="Calibri" pitchFamily="34" charset="0"/>
                <a:ea typeface="Calibri" pitchFamily="34" charset="-122"/>
                <a:cs typeface="Calibri" pitchFamily="34" charset="-120"/>
              </a:rPr>
              <a:t>Run locally, in Anthropic's cloud, or over SSH — switch per session.</a:t>
            </a:r>
            <a:endParaRPr lang="en-US" sz="1150" dirty="0"/>
          </a:p>
        </p:txBody>
      </p:sp>
      <p:sp>
        <p:nvSpPr>
          <p:cNvPr id="29" name="Shape 27"/>
          <p:cNvSpPr/>
          <p:nvPr/>
        </p:nvSpPr>
        <p:spPr>
          <a:xfrm>
            <a:off x="8193024" y="4937760"/>
            <a:ext cx="3593592" cy="841248"/>
          </a:xfrm>
          <a:prstGeom prst="roundRect">
            <a:avLst>
              <a:gd name="adj" fmla="val 9783"/>
            </a:avLst>
          </a:prstGeom>
          <a:solidFill>
            <a:srgbClr val="FAF9F5"/>
          </a:solidFill>
          <a:ln w="12700">
            <a:solidFill>
              <a:srgbClr val="E3E0D6"/>
            </a:solidFill>
            <a:prstDash val="solid"/>
          </a:ln>
          <a:effectLst>
            <a:outerShdw blurRad="114300" dist="38100" dir="5400000" algn="bl" rotWithShape="0">
              <a:srgbClr val="1F1E1D">
                <a:alpha val="10000"/>
              </a:srgbClr>
            </a:outerShdw>
          </a:effectLst>
        </p:spPr>
        <p:txBody>
          <a:bodyPr/>
          <a:lstStyle/>
          <a:p>
            <a:endParaRPr lang="en-IN"/>
          </a:p>
        </p:txBody>
      </p:sp>
      <p:sp>
        <p:nvSpPr>
          <p:cNvPr id="30" name="Text 28"/>
          <p:cNvSpPr/>
          <p:nvPr/>
        </p:nvSpPr>
        <p:spPr>
          <a:xfrm>
            <a:off x="8394192" y="5047488"/>
            <a:ext cx="3227832" cy="274320"/>
          </a:xfrm>
          <a:prstGeom prst="rect">
            <a:avLst/>
          </a:prstGeom>
          <a:noFill/>
          <a:ln/>
        </p:spPr>
        <p:txBody>
          <a:bodyPr wrap="square" lIns="0" tIns="0" rIns="0" bIns="0" rtlCol="0" anchor="ctr"/>
          <a:lstStyle/>
          <a:p>
            <a:pPr marL="0" indent="0">
              <a:buNone/>
            </a:pPr>
            <a:r>
              <a:rPr lang="en-US" sz="1350" b="1" dirty="0">
                <a:solidFill>
                  <a:srgbClr val="C2613F"/>
                </a:solidFill>
                <a:latin typeface="Calibri" pitchFamily="34" charset="0"/>
                <a:ea typeface="Calibri" pitchFamily="34" charset="-122"/>
                <a:cs typeface="Calibri" pitchFamily="34" charset="-120"/>
              </a:rPr>
              <a:t>Dispatch from phone</a:t>
            </a:r>
            <a:endParaRPr lang="en-US" sz="1350" dirty="0"/>
          </a:p>
        </p:txBody>
      </p:sp>
      <p:sp>
        <p:nvSpPr>
          <p:cNvPr id="31" name="Text 29"/>
          <p:cNvSpPr/>
          <p:nvPr/>
        </p:nvSpPr>
        <p:spPr>
          <a:xfrm>
            <a:off x="8394192" y="5321808"/>
            <a:ext cx="3227832" cy="402336"/>
          </a:xfrm>
          <a:prstGeom prst="rect">
            <a:avLst/>
          </a:prstGeom>
          <a:noFill/>
          <a:ln/>
        </p:spPr>
        <p:txBody>
          <a:bodyPr wrap="square" lIns="0" tIns="0" rIns="0" bIns="0" rtlCol="0" anchor="ctr"/>
          <a:lstStyle/>
          <a:p>
            <a:pPr marL="0" indent="0">
              <a:lnSpc>
                <a:spcPct val="100000"/>
              </a:lnSpc>
              <a:buNone/>
            </a:pPr>
            <a:r>
              <a:rPr lang="en-US" sz="1150" dirty="0">
                <a:solidFill>
                  <a:srgbClr val="3A3835"/>
                </a:solidFill>
                <a:latin typeface="Calibri" pitchFamily="34" charset="0"/>
                <a:ea typeface="Calibri" pitchFamily="34" charset="-122"/>
                <a:cs typeface="Calibri" pitchFamily="34" charset="-120"/>
              </a:rPr>
              <a:t>Kick off and check on longer Cowork runs remotely.</a:t>
            </a:r>
            <a:endParaRPr lang="en-US" sz="1150" dirty="0"/>
          </a:p>
        </p:txBody>
      </p:sp>
      <p:pic>
        <p:nvPicPr>
          <p:cNvPr id="32" name="Image 0" descr="/agent/turn1/workspace/assets/spark_coral.png"/>
          <p:cNvPicPr>
            <a:picLocks noChangeAspect="1"/>
          </p:cNvPicPr>
          <p:nvPr/>
        </p:nvPicPr>
        <p:blipFill>
          <a:blip r:embed="rId3"/>
          <a:stretch>
            <a:fillRect/>
          </a:stretch>
        </p:blipFill>
        <p:spPr>
          <a:xfrm>
            <a:off x="566928" y="6419088"/>
            <a:ext cx="201168" cy="201168"/>
          </a:xfrm>
          <a:prstGeom prst="rect">
            <a:avLst/>
          </a:prstGeom>
        </p:spPr>
      </p:pic>
      <p:sp>
        <p:nvSpPr>
          <p:cNvPr id="33" name="Text 30"/>
          <p:cNvSpPr/>
          <p:nvPr/>
        </p:nvSpPr>
        <p:spPr>
          <a:xfrm>
            <a:off x="841248" y="6364224"/>
            <a:ext cx="6400800" cy="310896"/>
          </a:xfrm>
          <a:prstGeom prst="rect">
            <a:avLst/>
          </a:prstGeom>
          <a:noFill/>
          <a:ln/>
        </p:spPr>
        <p:txBody>
          <a:bodyPr wrap="square" lIns="0" tIns="0" rIns="0" bIns="0" rtlCol="0" anchor="ctr"/>
          <a:lstStyle/>
          <a:p>
            <a:pPr marL="0" indent="0" algn="l">
              <a:buNone/>
            </a:pPr>
            <a:r>
              <a:rPr lang="en-US" sz="950" kern="0" spc="50" dirty="0">
                <a:solidFill>
                  <a:srgbClr val="73726C"/>
                </a:solidFill>
                <a:latin typeface="Calibri" pitchFamily="34" charset="0"/>
                <a:ea typeface="Calibri" pitchFamily="34" charset="-122"/>
                <a:cs typeface="Calibri" pitchFamily="34" charset="-120"/>
              </a:rPr>
              <a:t>Claude Cowork  ·  Developer Training</a:t>
            </a:r>
            <a:endParaRPr lang="en-US" sz="950" dirty="0"/>
          </a:p>
        </p:txBody>
      </p:sp>
      <p:sp>
        <p:nvSpPr>
          <p:cNvPr id="34" name="Text 31"/>
          <p:cNvSpPr/>
          <p:nvPr/>
        </p:nvSpPr>
        <p:spPr>
          <a:xfrm>
            <a:off x="10972800" y="6364224"/>
            <a:ext cx="685800" cy="310896"/>
          </a:xfrm>
          <a:prstGeom prst="rect">
            <a:avLst/>
          </a:prstGeom>
          <a:noFill/>
          <a:ln/>
        </p:spPr>
        <p:txBody>
          <a:bodyPr wrap="square" lIns="0" tIns="0" rIns="0" bIns="0" rtlCol="0" anchor="ctr"/>
          <a:lstStyle/>
          <a:p>
            <a:pPr marL="0" indent="0" algn="r">
              <a:buNone/>
            </a:pPr>
            <a:r>
              <a:rPr lang="en-US" sz="950" b="1" dirty="0">
                <a:solidFill>
                  <a:srgbClr val="73726C"/>
                </a:solidFill>
                <a:latin typeface="Calibri" pitchFamily="34" charset="0"/>
                <a:ea typeface="Calibri" pitchFamily="34" charset="-122"/>
                <a:cs typeface="Calibri" pitchFamily="34" charset="-120"/>
              </a:rPr>
              <a:t>07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EEE6"/>
        </a:solidFill>
        <a:effectLst/>
      </p:bgPr>
    </p:bg>
    <p:spTree>
      <p:nvGrpSpPr>
        <p:cNvPr id="1" name=""/>
        <p:cNvGrpSpPr/>
        <p:nvPr/>
      </p:nvGrpSpPr>
      <p:grpSpPr>
        <a:xfrm>
          <a:off x="0" y="0"/>
          <a:ext cx="0" cy="0"/>
          <a:chOff x="0" y="0"/>
          <a:chExt cx="0" cy="0"/>
        </a:xfrm>
      </p:grpSpPr>
      <p:sp>
        <p:nvSpPr>
          <p:cNvPr id="2" name="Text 0"/>
          <p:cNvSpPr/>
          <p:nvPr/>
        </p:nvSpPr>
        <p:spPr>
          <a:xfrm>
            <a:off x="566928" y="457200"/>
            <a:ext cx="10058400" cy="274320"/>
          </a:xfrm>
          <a:prstGeom prst="rect">
            <a:avLst/>
          </a:prstGeom>
          <a:noFill/>
          <a:ln/>
        </p:spPr>
        <p:txBody>
          <a:bodyPr wrap="square" lIns="0" tIns="0" rIns="0" bIns="0" rtlCol="0" anchor="ctr"/>
          <a:lstStyle/>
          <a:p>
            <a:pPr marL="0" indent="0" algn="l">
              <a:buNone/>
            </a:pPr>
            <a:r>
              <a:rPr lang="en-US" sz="1200" b="1" kern="0" spc="250" dirty="0">
                <a:solidFill>
                  <a:srgbClr val="D97757"/>
                </a:solidFill>
                <a:latin typeface="Calibri" pitchFamily="34" charset="0"/>
                <a:ea typeface="Calibri" pitchFamily="34" charset="-122"/>
                <a:cs typeface="Calibri" pitchFamily="34" charset="-120"/>
              </a:rPr>
              <a:t>THE LANDSCAPE</a:t>
            </a:r>
            <a:endParaRPr lang="en-US" sz="1200" dirty="0"/>
          </a:p>
        </p:txBody>
      </p:sp>
      <p:sp>
        <p:nvSpPr>
          <p:cNvPr id="3" name="Text 1"/>
          <p:cNvSpPr/>
          <p:nvPr/>
        </p:nvSpPr>
        <p:spPr>
          <a:xfrm>
            <a:off x="566928" y="749808"/>
            <a:ext cx="11064240" cy="777240"/>
          </a:xfrm>
          <a:prstGeom prst="rect">
            <a:avLst/>
          </a:prstGeom>
          <a:noFill/>
          <a:ln/>
        </p:spPr>
        <p:txBody>
          <a:bodyPr wrap="square" lIns="0" tIns="0" rIns="0" bIns="0" rtlCol="0" anchor="t"/>
          <a:lstStyle/>
          <a:p>
            <a:pPr marL="0" indent="0" algn="l">
              <a:lnSpc>
                <a:spcPct val="98000"/>
              </a:lnSpc>
              <a:buNone/>
            </a:pPr>
            <a:r>
              <a:rPr lang="en-US" sz="3000" b="1" dirty="0">
                <a:solidFill>
                  <a:srgbClr val="1F1E1D"/>
                </a:solidFill>
                <a:latin typeface="Georgia" pitchFamily="34" charset="0"/>
                <a:ea typeface="Georgia" pitchFamily="34" charset="-122"/>
                <a:cs typeface="Georgia" pitchFamily="34" charset="-120"/>
              </a:rPr>
              <a:t>Where Claude fits among the tools</a:t>
            </a:r>
            <a:endParaRPr lang="en-US" sz="3000" dirty="0"/>
          </a:p>
        </p:txBody>
      </p:sp>
      <p:sp>
        <p:nvSpPr>
          <p:cNvPr id="4" name="Text 2"/>
          <p:cNvSpPr/>
          <p:nvPr/>
        </p:nvSpPr>
        <p:spPr>
          <a:xfrm>
            <a:off x="566928" y="1554480"/>
            <a:ext cx="11064240" cy="502920"/>
          </a:xfrm>
          <a:prstGeom prst="rect">
            <a:avLst/>
          </a:prstGeom>
          <a:noFill/>
          <a:ln/>
        </p:spPr>
        <p:txBody>
          <a:bodyPr wrap="square" lIns="0" tIns="0" rIns="0" bIns="0" rtlCol="0" anchor="ctr"/>
          <a:lstStyle/>
          <a:p>
            <a:pPr marL="0" indent="0">
              <a:lnSpc>
                <a:spcPct val="105000"/>
              </a:lnSpc>
              <a:buNone/>
            </a:pPr>
            <a:r>
              <a:rPr lang="en-US" sz="1400" i="1" dirty="0">
                <a:solidFill>
                  <a:srgbClr val="3A3835"/>
                </a:solidFill>
                <a:latin typeface="Calibri" pitchFamily="34" charset="0"/>
                <a:ea typeface="Calibri" pitchFamily="34" charset="-122"/>
                <a:cs typeface="Calibri" pitchFamily="34" charset="-120"/>
              </a:rPr>
              <a:t>Most teams run several of these together. Claude is the deep-reasoning and agentic layer — the others optimize for a different slice of the workflow.</a:t>
            </a:r>
            <a:endParaRPr lang="en-US" sz="1400" dirty="0"/>
          </a:p>
        </p:txBody>
      </p:sp>
      <p:sp>
        <p:nvSpPr>
          <p:cNvPr id="5" name="Shape 3"/>
          <p:cNvSpPr/>
          <p:nvPr/>
        </p:nvSpPr>
        <p:spPr>
          <a:xfrm>
            <a:off x="298552" y="2331720"/>
            <a:ext cx="2761488" cy="3291840"/>
          </a:xfrm>
          <a:prstGeom prst="roundRect">
            <a:avLst>
              <a:gd name="adj" fmla="val 2980"/>
            </a:avLst>
          </a:prstGeom>
          <a:solidFill>
            <a:srgbClr val="FFFFFF"/>
          </a:solidFill>
          <a:ln w="12700">
            <a:solidFill>
              <a:srgbClr val="E3E0D6"/>
            </a:solidFill>
            <a:prstDash val="solid"/>
          </a:ln>
          <a:effectLst>
            <a:outerShdw blurRad="114300" dist="38100" dir="5400000" algn="bl" rotWithShape="0">
              <a:srgbClr val="1F1E1D">
                <a:alpha val="10000"/>
              </a:srgbClr>
            </a:outerShdw>
          </a:effectLst>
        </p:spPr>
        <p:txBody>
          <a:bodyPr/>
          <a:lstStyle/>
          <a:p>
            <a:endParaRPr lang="en-IN"/>
          </a:p>
        </p:txBody>
      </p:sp>
      <p:sp>
        <p:nvSpPr>
          <p:cNvPr id="6" name="Shape 4"/>
          <p:cNvSpPr/>
          <p:nvPr/>
        </p:nvSpPr>
        <p:spPr>
          <a:xfrm>
            <a:off x="298552" y="2331720"/>
            <a:ext cx="2761488" cy="914400"/>
          </a:xfrm>
          <a:prstGeom prst="roundRect">
            <a:avLst>
              <a:gd name="adj" fmla="val 9000"/>
            </a:avLst>
          </a:prstGeom>
          <a:solidFill>
            <a:srgbClr val="D97757"/>
          </a:solidFill>
          <a:ln/>
        </p:spPr>
        <p:txBody>
          <a:bodyPr/>
          <a:lstStyle/>
          <a:p>
            <a:endParaRPr lang="en-IN"/>
          </a:p>
        </p:txBody>
      </p:sp>
      <p:sp>
        <p:nvSpPr>
          <p:cNvPr id="7" name="Shape 5"/>
          <p:cNvSpPr/>
          <p:nvPr/>
        </p:nvSpPr>
        <p:spPr>
          <a:xfrm>
            <a:off x="298552" y="2788920"/>
            <a:ext cx="2761488" cy="457200"/>
          </a:xfrm>
          <a:prstGeom prst="rect">
            <a:avLst/>
          </a:prstGeom>
          <a:solidFill>
            <a:srgbClr val="D97757"/>
          </a:solidFill>
          <a:ln/>
        </p:spPr>
        <p:txBody>
          <a:bodyPr/>
          <a:lstStyle/>
          <a:p>
            <a:endParaRPr lang="en-IN"/>
          </a:p>
        </p:txBody>
      </p:sp>
      <p:sp>
        <p:nvSpPr>
          <p:cNvPr id="8" name="Text 6"/>
          <p:cNvSpPr/>
          <p:nvPr/>
        </p:nvSpPr>
        <p:spPr>
          <a:xfrm>
            <a:off x="518008" y="2459736"/>
            <a:ext cx="2322576" cy="402336"/>
          </a:xfrm>
          <a:prstGeom prst="rect">
            <a:avLst/>
          </a:prstGeom>
          <a:noFill/>
          <a:ln/>
        </p:spPr>
        <p:txBody>
          <a:bodyPr wrap="square" lIns="0" tIns="0" rIns="0" bIns="0" rtlCol="0" anchor="ctr"/>
          <a:lstStyle/>
          <a:p>
            <a:pPr marL="0" indent="0">
              <a:buNone/>
            </a:pPr>
            <a:r>
              <a:rPr lang="en-US" sz="1650" b="1" dirty="0">
                <a:solidFill>
                  <a:srgbClr val="FFFFFF"/>
                </a:solidFill>
                <a:latin typeface="Georgia" pitchFamily="34" charset="0"/>
                <a:ea typeface="Georgia" pitchFamily="34" charset="-122"/>
                <a:cs typeface="Georgia" pitchFamily="34" charset="-120"/>
              </a:rPr>
              <a:t>Claude</a:t>
            </a:r>
            <a:endParaRPr lang="en-US" sz="1650" dirty="0"/>
          </a:p>
        </p:txBody>
      </p:sp>
      <p:sp>
        <p:nvSpPr>
          <p:cNvPr id="9" name="Text 7"/>
          <p:cNvSpPr/>
          <p:nvPr/>
        </p:nvSpPr>
        <p:spPr>
          <a:xfrm>
            <a:off x="518008" y="2862072"/>
            <a:ext cx="2322576" cy="310896"/>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Reasoning &amp; agentic depth</a:t>
            </a:r>
            <a:endParaRPr lang="en-US" sz="1150" dirty="0"/>
          </a:p>
        </p:txBody>
      </p:sp>
      <p:sp>
        <p:nvSpPr>
          <p:cNvPr id="10" name="Text 8"/>
          <p:cNvSpPr/>
          <p:nvPr/>
        </p:nvSpPr>
        <p:spPr>
          <a:xfrm>
            <a:off x="518008" y="3429000"/>
            <a:ext cx="2340864" cy="2011680"/>
          </a:xfrm>
          <a:prstGeom prst="rect">
            <a:avLst/>
          </a:prstGeom>
          <a:noFill/>
          <a:ln/>
        </p:spPr>
        <p:txBody>
          <a:bodyPr wrap="square" lIns="0" tIns="0" rIns="0" bIns="0" rtlCol="0" anchor="t"/>
          <a:lstStyle/>
          <a:p>
            <a:pPr marL="0" indent="0">
              <a:lnSpc>
                <a:spcPct val="108000"/>
              </a:lnSpc>
              <a:buNone/>
            </a:pPr>
            <a:r>
              <a:rPr lang="en-US" sz="1250" dirty="0">
                <a:solidFill>
                  <a:srgbClr val="3A3835"/>
                </a:solidFill>
                <a:latin typeface="Calibri" pitchFamily="34" charset="0"/>
                <a:ea typeface="Calibri" pitchFamily="34" charset="-122"/>
                <a:cs typeface="Calibri" pitchFamily="34" charset="-120"/>
              </a:rPr>
              <a:t>Codebase-level understanding, multi-file autonomous work, and complex problem-solving via Claude Code and the API.</a:t>
            </a:r>
            <a:endParaRPr lang="en-US" sz="1250" dirty="0"/>
          </a:p>
        </p:txBody>
      </p:sp>
      <p:sp>
        <p:nvSpPr>
          <p:cNvPr id="11" name="Shape 9"/>
          <p:cNvSpPr/>
          <p:nvPr/>
        </p:nvSpPr>
        <p:spPr>
          <a:xfrm>
            <a:off x="3242920" y="2331720"/>
            <a:ext cx="2761488" cy="3291840"/>
          </a:xfrm>
          <a:prstGeom prst="roundRect">
            <a:avLst>
              <a:gd name="adj" fmla="val 2980"/>
            </a:avLst>
          </a:prstGeom>
          <a:solidFill>
            <a:srgbClr val="FFFFFF"/>
          </a:solidFill>
          <a:ln w="12700">
            <a:solidFill>
              <a:srgbClr val="E3E0D6"/>
            </a:solidFill>
            <a:prstDash val="solid"/>
          </a:ln>
          <a:effectLst>
            <a:outerShdw blurRad="114300" dist="38100" dir="5400000" algn="bl" rotWithShape="0">
              <a:srgbClr val="1F1E1D">
                <a:alpha val="10000"/>
              </a:srgbClr>
            </a:outerShdw>
          </a:effectLst>
        </p:spPr>
        <p:txBody>
          <a:bodyPr/>
          <a:lstStyle/>
          <a:p>
            <a:endParaRPr lang="en-IN"/>
          </a:p>
        </p:txBody>
      </p:sp>
      <p:sp>
        <p:nvSpPr>
          <p:cNvPr id="12" name="Shape 10"/>
          <p:cNvSpPr/>
          <p:nvPr/>
        </p:nvSpPr>
        <p:spPr>
          <a:xfrm>
            <a:off x="3242920" y="2331720"/>
            <a:ext cx="2761488" cy="914400"/>
          </a:xfrm>
          <a:prstGeom prst="roundRect">
            <a:avLst>
              <a:gd name="adj" fmla="val 9000"/>
            </a:avLst>
          </a:prstGeom>
          <a:solidFill>
            <a:srgbClr val="3A3835"/>
          </a:solidFill>
          <a:ln/>
        </p:spPr>
        <p:txBody>
          <a:bodyPr/>
          <a:lstStyle/>
          <a:p>
            <a:endParaRPr lang="en-IN"/>
          </a:p>
        </p:txBody>
      </p:sp>
      <p:sp>
        <p:nvSpPr>
          <p:cNvPr id="13" name="Shape 11"/>
          <p:cNvSpPr/>
          <p:nvPr/>
        </p:nvSpPr>
        <p:spPr>
          <a:xfrm>
            <a:off x="3242920" y="2788920"/>
            <a:ext cx="2761488" cy="457200"/>
          </a:xfrm>
          <a:prstGeom prst="rect">
            <a:avLst/>
          </a:prstGeom>
          <a:solidFill>
            <a:srgbClr val="3A3835"/>
          </a:solidFill>
          <a:ln/>
        </p:spPr>
        <p:txBody>
          <a:bodyPr/>
          <a:lstStyle/>
          <a:p>
            <a:endParaRPr lang="en-IN"/>
          </a:p>
        </p:txBody>
      </p:sp>
      <p:sp>
        <p:nvSpPr>
          <p:cNvPr id="14" name="Text 12"/>
          <p:cNvSpPr/>
          <p:nvPr/>
        </p:nvSpPr>
        <p:spPr>
          <a:xfrm>
            <a:off x="3462376" y="2459736"/>
            <a:ext cx="2322576" cy="402336"/>
          </a:xfrm>
          <a:prstGeom prst="rect">
            <a:avLst/>
          </a:prstGeom>
          <a:noFill/>
          <a:ln/>
        </p:spPr>
        <p:txBody>
          <a:bodyPr wrap="square" lIns="0" tIns="0" rIns="0" bIns="0" rtlCol="0" anchor="ctr"/>
          <a:lstStyle/>
          <a:p>
            <a:pPr marL="0" indent="0">
              <a:buNone/>
            </a:pPr>
            <a:r>
              <a:rPr lang="en-US" sz="1650" b="1" dirty="0">
                <a:solidFill>
                  <a:srgbClr val="FFFFFF"/>
                </a:solidFill>
                <a:latin typeface="Georgia" pitchFamily="34" charset="0"/>
                <a:ea typeface="Georgia" pitchFamily="34" charset="-122"/>
                <a:cs typeface="Georgia" pitchFamily="34" charset="-120"/>
              </a:rPr>
              <a:t>GitHub Copilot</a:t>
            </a:r>
            <a:endParaRPr lang="en-US" sz="1650" dirty="0"/>
          </a:p>
        </p:txBody>
      </p:sp>
      <p:sp>
        <p:nvSpPr>
          <p:cNvPr id="15" name="Text 13"/>
          <p:cNvSpPr/>
          <p:nvPr/>
        </p:nvSpPr>
        <p:spPr>
          <a:xfrm>
            <a:off x="3462376" y="2862072"/>
            <a:ext cx="2322576" cy="310896"/>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In-IDE completion</a:t>
            </a:r>
            <a:endParaRPr lang="en-US" sz="1150" dirty="0"/>
          </a:p>
        </p:txBody>
      </p:sp>
      <p:sp>
        <p:nvSpPr>
          <p:cNvPr id="16" name="Text 14"/>
          <p:cNvSpPr/>
          <p:nvPr/>
        </p:nvSpPr>
        <p:spPr>
          <a:xfrm>
            <a:off x="3462376" y="3429000"/>
            <a:ext cx="2340864" cy="2011680"/>
          </a:xfrm>
          <a:prstGeom prst="rect">
            <a:avLst/>
          </a:prstGeom>
          <a:noFill/>
          <a:ln/>
        </p:spPr>
        <p:txBody>
          <a:bodyPr wrap="square" lIns="0" tIns="0" rIns="0" bIns="0" rtlCol="0" anchor="t"/>
          <a:lstStyle/>
          <a:p>
            <a:pPr marL="0" indent="0">
              <a:lnSpc>
                <a:spcPct val="108000"/>
              </a:lnSpc>
              <a:buNone/>
            </a:pPr>
            <a:r>
              <a:rPr lang="en-US" sz="1250" dirty="0">
                <a:solidFill>
                  <a:srgbClr val="3A3835"/>
                </a:solidFill>
                <a:latin typeface="Calibri" pitchFamily="34" charset="0"/>
                <a:ea typeface="Calibri" pitchFamily="34" charset="-122"/>
                <a:cs typeface="Calibri" pitchFamily="34" charset="-120"/>
              </a:rPr>
              <a:t>The industry-standard inline assistant across many editors, with chat, agent mode, and enterprise governance. Can run Claude models.</a:t>
            </a:r>
            <a:endParaRPr lang="en-US" sz="1250" dirty="0"/>
          </a:p>
        </p:txBody>
      </p:sp>
      <p:sp>
        <p:nvSpPr>
          <p:cNvPr id="17" name="Shape 15"/>
          <p:cNvSpPr/>
          <p:nvPr/>
        </p:nvSpPr>
        <p:spPr>
          <a:xfrm>
            <a:off x="6187288" y="2331720"/>
            <a:ext cx="2761488" cy="3291840"/>
          </a:xfrm>
          <a:prstGeom prst="roundRect">
            <a:avLst>
              <a:gd name="adj" fmla="val 2980"/>
            </a:avLst>
          </a:prstGeom>
          <a:solidFill>
            <a:srgbClr val="FFFFFF"/>
          </a:solidFill>
          <a:ln w="12700">
            <a:solidFill>
              <a:srgbClr val="E3E0D6"/>
            </a:solidFill>
            <a:prstDash val="solid"/>
          </a:ln>
          <a:effectLst>
            <a:outerShdw blurRad="114300" dist="38100" dir="5400000" algn="bl" rotWithShape="0">
              <a:srgbClr val="1F1E1D">
                <a:alpha val="10000"/>
              </a:srgbClr>
            </a:outerShdw>
          </a:effectLst>
        </p:spPr>
        <p:txBody>
          <a:bodyPr/>
          <a:lstStyle/>
          <a:p>
            <a:endParaRPr lang="en-IN"/>
          </a:p>
        </p:txBody>
      </p:sp>
      <p:sp>
        <p:nvSpPr>
          <p:cNvPr id="18" name="Shape 16"/>
          <p:cNvSpPr/>
          <p:nvPr/>
        </p:nvSpPr>
        <p:spPr>
          <a:xfrm>
            <a:off x="6187288" y="2331720"/>
            <a:ext cx="2761488" cy="914400"/>
          </a:xfrm>
          <a:prstGeom prst="roundRect">
            <a:avLst>
              <a:gd name="adj" fmla="val 9000"/>
            </a:avLst>
          </a:prstGeom>
          <a:solidFill>
            <a:srgbClr val="C2613F"/>
          </a:solidFill>
          <a:ln/>
        </p:spPr>
        <p:txBody>
          <a:bodyPr/>
          <a:lstStyle/>
          <a:p>
            <a:endParaRPr lang="en-IN"/>
          </a:p>
        </p:txBody>
      </p:sp>
      <p:sp>
        <p:nvSpPr>
          <p:cNvPr id="19" name="Shape 17"/>
          <p:cNvSpPr/>
          <p:nvPr/>
        </p:nvSpPr>
        <p:spPr>
          <a:xfrm>
            <a:off x="6187288" y="2788920"/>
            <a:ext cx="2761488" cy="457200"/>
          </a:xfrm>
          <a:prstGeom prst="rect">
            <a:avLst/>
          </a:prstGeom>
          <a:solidFill>
            <a:srgbClr val="C2613F"/>
          </a:solidFill>
          <a:ln/>
        </p:spPr>
        <p:txBody>
          <a:bodyPr/>
          <a:lstStyle/>
          <a:p>
            <a:endParaRPr lang="en-IN"/>
          </a:p>
        </p:txBody>
      </p:sp>
      <p:sp>
        <p:nvSpPr>
          <p:cNvPr id="20" name="Text 18"/>
          <p:cNvSpPr/>
          <p:nvPr/>
        </p:nvSpPr>
        <p:spPr>
          <a:xfrm>
            <a:off x="6406744" y="2459736"/>
            <a:ext cx="2322576" cy="402336"/>
          </a:xfrm>
          <a:prstGeom prst="rect">
            <a:avLst/>
          </a:prstGeom>
          <a:noFill/>
          <a:ln/>
        </p:spPr>
        <p:txBody>
          <a:bodyPr wrap="square" lIns="0" tIns="0" rIns="0" bIns="0" rtlCol="0" anchor="ctr"/>
          <a:lstStyle/>
          <a:p>
            <a:pPr marL="0" indent="0">
              <a:buNone/>
            </a:pPr>
            <a:r>
              <a:rPr lang="en-US" sz="1650" b="1" dirty="0">
                <a:solidFill>
                  <a:srgbClr val="FFFFFF"/>
                </a:solidFill>
                <a:latin typeface="Georgia" pitchFamily="34" charset="0"/>
                <a:ea typeface="Georgia" pitchFamily="34" charset="-122"/>
                <a:cs typeface="Georgia" pitchFamily="34" charset="-120"/>
              </a:rPr>
              <a:t>Cloud-hosted models</a:t>
            </a:r>
            <a:endParaRPr lang="en-US" sz="1650" dirty="0"/>
          </a:p>
        </p:txBody>
      </p:sp>
      <p:sp>
        <p:nvSpPr>
          <p:cNvPr id="21" name="Text 19"/>
          <p:cNvSpPr/>
          <p:nvPr/>
        </p:nvSpPr>
        <p:spPr>
          <a:xfrm>
            <a:off x="6406744" y="2862072"/>
            <a:ext cx="2322576" cy="310896"/>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Deployment &amp; governance</a:t>
            </a:r>
            <a:endParaRPr lang="en-US" sz="1150" dirty="0"/>
          </a:p>
        </p:txBody>
      </p:sp>
      <p:sp>
        <p:nvSpPr>
          <p:cNvPr id="22" name="Text 20"/>
          <p:cNvSpPr/>
          <p:nvPr/>
        </p:nvSpPr>
        <p:spPr>
          <a:xfrm>
            <a:off x="6406744" y="3429000"/>
            <a:ext cx="2340864" cy="2011680"/>
          </a:xfrm>
          <a:prstGeom prst="rect">
            <a:avLst/>
          </a:prstGeom>
          <a:noFill/>
          <a:ln/>
        </p:spPr>
        <p:txBody>
          <a:bodyPr wrap="square" lIns="0" tIns="0" rIns="0" bIns="0" rtlCol="0" anchor="t"/>
          <a:lstStyle/>
          <a:p>
            <a:pPr marL="0" indent="0">
              <a:lnSpc>
                <a:spcPct val="108000"/>
              </a:lnSpc>
              <a:buNone/>
            </a:pPr>
            <a:r>
              <a:rPr lang="en-US" sz="1250" dirty="0">
                <a:solidFill>
                  <a:srgbClr val="3A3835"/>
                </a:solidFill>
                <a:latin typeface="Calibri" pitchFamily="34" charset="0"/>
                <a:ea typeface="Calibri" pitchFamily="34" charset="-122"/>
                <a:cs typeface="Calibri" pitchFamily="34" charset="-120"/>
              </a:rPr>
              <a:t>Claude on Amazon Bedrock and Google Vertex — same model, run inside your cloud's data boundary and billing.</a:t>
            </a:r>
            <a:endParaRPr lang="en-US" sz="1250" dirty="0"/>
          </a:p>
        </p:txBody>
      </p:sp>
      <p:sp>
        <p:nvSpPr>
          <p:cNvPr id="23" name="Shape 21"/>
          <p:cNvSpPr/>
          <p:nvPr/>
        </p:nvSpPr>
        <p:spPr>
          <a:xfrm>
            <a:off x="9131656" y="2331720"/>
            <a:ext cx="2761488" cy="3291840"/>
          </a:xfrm>
          <a:prstGeom prst="roundRect">
            <a:avLst>
              <a:gd name="adj" fmla="val 2980"/>
            </a:avLst>
          </a:prstGeom>
          <a:solidFill>
            <a:srgbClr val="FFFFFF"/>
          </a:solidFill>
          <a:ln w="12700">
            <a:solidFill>
              <a:srgbClr val="E3E0D6"/>
            </a:solidFill>
            <a:prstDash val="solid"/>
          </a:ln>
          <a:effectLst>
            <a:outerShdw blurRad="114300" dist="38100" dir="5400000" algn="bl" rotWithShape="0">
              <a:srgbClr val="1F1E1D">
                <a:alpha val="10000"/>
              </a:srgbClr>
            </a:outerShdw>
          </a:effectLst>
        </p:spPr>
        <p:txBody>
          <a:bodyPr/>
          <a:lstStyle/>
          <a:p>
            <a:endParaRPr lang="en-IN"/>
          </a:p>
        </p:txBody>
      </p:sp>
      <p:sp>
        <p:nvSpPr>
          <p:cNvPr id="24" name="Shape 22"/>
          <p:cNvSpPr/>
          <p:nvPr/>
        </p:nvSpPr>
        <p:spPr>
          <a:xfrm>
            <a:off x="9131656" y="2331720"/>
            <a:ext cx="2761488" cy="914400"/>
          </a:xfrm>
          <a:prstGeom prst="roundRect">
            <a:avLst>
              <a:gd name="adj" fmla="val 9000"/>
            </a:avLst>
          </a:prstGeom>
          <a:solidFill>
            <a:srgbClr val="D9A066"/>
          </a:solidFill>
          <a:ln/>
        </p:spPr>
        <p:txBody>
          <a:bodyPr/>
          <a:lstStyle/>
          <a:p>
            <a:endParaRPr lang="en-IN"/>
          </a:p>
        </p:txBody>
      </p:sp>
      <p:sp>
        <p:nvSpPr>
          <p:cNvPr id="25" name="Shape 23"/>
          <p:cNvSpPr/>
          <p:nvPr/>
        </p:nvSpPr>
        <p:spPr>
          <a:xfrm>
            <a:off x="9131656" y="2788920"/>
            <a:ext cx="2761488" cy="457200"/>
          </a:xfrm>
          <a:prstGeom prst="rect">
            <a:avLst/>
          </a:prstGeom>
          <a:solidFill>
            <a:srgbClr val="D9A066"/>
          </a:solidFill>
          <a:ln/>
        </p:spPr>
        <p:txBody>
          <a:bodyPr/>
          <a:lstStyle/>
          <a:p>
            <a:endParaRPr lang="en-IN"/>
          </a:p>
        </p:txBody>
      </p:sp>
      <p:sp>
        <p:nvSpPr>
          <p:cNvPr id="26" name="Text 24"/>
          <p:cNvSpPr/>
          <p:nvPr/>
        </p:nvSpPr>
        <p:spPr>
          <a:xfrm>
            <a:off x="9351112" y="2459736"/>
            <a:ext cx="2322576" cy="402336"/>
          </a:xfrm>
          <a:prstGeom prst="rect">
            <a:avLst/>
          </a:prstGeom>
          <a:noFill/>
          <a:ln/>
        </p:spPr>
        <p:txBody>
          <a:bodyPr wrap="square" lIns="0" tIns="0" rIns="0" bIns="0" rtlCol="0" anchor="ctr"/>
          <a:lstStyle/>
          <a:p>
            <a:pPr marL="0" indent="0">
              <a:buNone/>
            </a:pPr>
            <a:r>
              <a:rPr lang="en-US" sz="1650" b="1" dirty="0">
                <a:solidFill>
                  <a:srgbClr val="FFFFFF"/>
                </a:solidFill>
                <a:latin typeface="Georgia" pitchFamily="34" charset="0"/>
                <a:ea typeface="Georgia" pitchFamily="34" charset="-122"/>
                <a:cs typeface="Georgia" pitchFamily="34" charset="-120"/>
              </a:rPr>
              <a:t>Other AI tools</a:t>
            </a:r>
            <a:endParaRPr lang="en-US" sz="1650" dirty="0"/>
          </a:p>
        </p:txBody>
      </p:sp>
      <p:sp>
        <p:nvSpPr>
          <p:cNvPr id="27" name="Text 25"/>
          <p:cNvSpPr/>
          <p:nvPr/>
        </p:nvSpPr>
        <p:spPr>
          <a:xfrm>
            <a:off x="9351112" y="2862072"/>
            <a:ext cx="2322576" cy="310896"/>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Specialized workflows</a:t>
            </a:r>
            <a:endParaRPr lang="en-US" sz="1150" dirty="0"/>
          </a:p>
        </p:txBody>
      </p:sp>
      <p:sp>
        <p:nvSpPr>
          <p:cNvPr id="28" name="Text 26"/>
          <p:cNvSpPr/>
          <p:nvPr/>
        </p:nvSpPr>
        <p:spPr>
          <a:xfrm>
            <a:off x="9351112" y="3429000"/>
            <a:ext cx="2340864" cy="2011680"/>
          </a:xfrm>
          <a:prstGeom prst="rect">
            <a:avLst/>
          </a:prstGeom>
          <a:noFill/>
          <a:ln/>
        </p:spPr>
        <p:txBody>
          <a:bodyPr wrap="square" lIns="0" tIns="0" rIns="0" bIns="0" rtlCol="0" anchor="t"/>
          <a:lstStyle/>
          <a:p>
            <a:pPr marL="0" indent="0">
              <a:lnSpc>
                <a:spcPct val="108000"/>
              </a:lnSpc>
              <a:buNone/>
            </a:pPr>
            <a:r>
              <a:rPr lang="en-US" sz="1250" dirty="0">
                <a:solidFill>
                  <a:srgbClr val="3A3835"/>
                </a:solidFill>
                <a:latin typeface="Calibri" pitchFamily="34" charset="0"/>
                <a:ea typeface="Calibri" pitchFamily="34" charset="-122"/>
                <a:cs typeface="Calibri" pitchFamily="34" charset="-120"/>
              </a:rPr>
              <a:t>Codex, Cursor, Kiro, and Codeium each target a niche; Claude differentiates on reasoning and agentic autonomy.</a:t>
            </a:r>
            <a:endParaRPr lang="en-US" sz="1250" dirty="0"/>
          </a:p>
        </p:txBody>
      </p:sp>
      <p:pic>
        <p:nvPicPr>
          <p:cNvPr id="29" name="Image 0" descr="/agent/turn1/workspace/assets/spark_coral.png"/>
          <p:cNvPicPr>
            <a:picLocks noChangeAspect="1"/>
          </p:cNvPicPr>
          <p:nvPr/>
        </p:nvPicPr>
        <p:blipFill>
          <a:blip r:embed="rId3"/>
          <a:stretch>
            <a:fillRect/>
          </a:stretch>
        </p:blipFill>
        <p:spPr>
          <a:xfrm>
            <a:off x="566928" y="6419088"/>
            <a:ext cx="201168" cy="201168"/>
          </a:xfrm>
          <a:prstGeom prst="rect">
            <a:avLst/>
          </a:prstGeom>
        </p:spPr>
      </p:pic>
      <p:sp>
        <p:nvSpPr>
          <p:cNvPr id="30" name="Text 27"/>
          <p:cNvSpPr/>
          <p:nvPr/>
        </p:nvSpPr>
        <p:spPr>
          <a:xfrm>
            <a:off x="841248" y="6364224"/>
            <a:ext cx="6400800" cy="310896"/>
          </a:xfrm>
          <a:prstGeom prst="rect">
            <a:avLst/>
          </a:prstGeom>
          <a:noFill/>
          <a:ln/>
        </p:spPr>
        <p:txBody>
          <a:bodyPr wrap="square" lIns="0" tIns="0" rIns="0" bIns="0" rtlCol="0" anchor="ctr"/>
          <a:lstStyle/>
          <a:p>
            <a:pPr marL="0" indent="0" algn="l">
              <a:buNone/>
            </a:pPr>
            <a:r>
              <a:rPr lang="en-US" sz="950" kern="0" spc="50" dirty="0">
                <a:solidFill>
                  <a:srgbClr val="73726C"/>
                </a:solidFill>
                <a:latin typeface="Calibri" pitchFamily="34" charset="0"/>
                <a:ea typeface="Calibri" pitchFamily="34" charset="-122"/>
                <a:cs typeface="Calibri" pitchFamily="34" charset="-120"/>
              </a:rPr>
              <a:t>Claude Cowork  ·  Developer Training</a:t>
            </a:r>
            <a:endParaRPr lang="en-US" sz="950" dirty="0"/>
          </a:p>
        </p:txBody>
      </p:sp>
      <p:sp>
        <p:nvSpPr>
          <p:cNvPr id="31" name="Text 28"/>
          <p:cNvSpPr/>
          <p:nvPr/>
        </p:nvSpPr>
        <p:spPr>
          <a:xfrm>
            <a:off x="10972800" y="6364224"/>
            <a:ext cx="685800" cy="310896"/>
          </a:xfrm>
          <a:prstGeom prst="rect">
            <a:avLst/>
          </a:prstGeom>
          <a:noFill/>
          <a:ln/>
        </p:spPr>
        <p:txBody>
          <a:bodyPr wrap="square" lIns="0" tIns="0" rIns="0" bIns="0" rtlCol="0" anchor="ctr"/>
          <a:lstStyle/>
          <a:p>
            <a:pPr marL="0" indent="0" algn="r">
              <a:buNone/>
            </a:pPr>
            <a:r>
              <a:rPr lang="en-US" sz="950" b="1" dirty="0">
                <a:solidFill>
                  <a:srgbClr val="73726C"/>
                </a:solidFill>
                <a:latin typeface="Calibri" pitchFamily="34" charset="0"/>
                <a:ea typeface="Calibri" pitchFamily="34" charset="-122"/>
                <a:cs typeface="Calibri" pitchFamily="34" charset="-120"/>
              </a:rPr>
              <a:t>08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EEE6"/>
        </a:solidFill>
        <a:effectLst/>
      </p:bgPr>
    </p:bg>
    <p:spTree>
      <p:nvGrpSpPr>
        <p:cNvPr id="1" name=""/>
        <p:cNvGrpSpPr/>
        <p:nvPr/>
      </p:nvGrpSpPr>
      <p:grpSpPr>
        <a:xfrm>
          <a:off x="0" y="0"/>
          <a:ext cx="0" cy="0"/>
          <a:chOff x="0" y="0"/>
          <a:chExt cx="0" cy="0"/>
        </a:xfrm>
      </p:grpSpPr>
      <p:sp>
        <p:nvSpPr>
          <p:cNvPr id="2" name="Text 0"/>
          <p:cNvSpPr/>
          <p:nvPr/>
        </p:nvSpPr>
        <p:spPr>
          <a:xfrm>
            <a:off x="566928" y="457200"/>
            <a:ext cx="10058400" cy="274320"/>
          </a:xfrm>
          <a:prstGeom prst="rect">
            <a:avLst/>
          </a:prstGeom>
          <a:noFill/>
          <a:ln/>
        </p:spPr>
        <p:txBody>
          <a:bodyPr wrap="square" lIns="0" tIns="0" rIns="0" bIns="0" rtlCol="0" anchor="ctr"/>
          <a:lstStyle/>
          <a:p>
            <a:pPr marL="0" indent="0" algn="l">
              <a:buNone/>
            </a:pPr>
            <a:r>
              <a:rPr lang="en-US" sz="1200" b="1" kern="0" spc="250" dirty="0">
                <a:solidFill>
                  <a:srgbClr val="D97757"/>
                </a:solidFill>
                <a:latin typeface="Calibri" pitchFamily="34" charset="0"/>
                <a:ea typeface="Calibri" pitchFamily="34" charset="-122"/>
                <a:cs typeface="Calibri" pitchFamily="34" charset="-120"/>
              </a:rPr>
              <a:t>THE LANDSCAPE</a:t>
            </a:r>
            <a:endParaRPr lang="en-US" sz="1200" dirty="0"/>
          </a:p>
        </p:txBody>
      </p:sp>
      <p:sp>
        <p:nvSpPr>
          <p:cNvPr id="3" name="Text 1"/>
          <p:cNvSpPr/>
          <p:nvPr/>
        </p:nvSpPr>
        <p:spPr>
          <a:xfrm>
            <a:off x="566928" y="749808"/>
            <a:ext cx="11064240" cy="777240"/>
          </a:xfrm>
          <a:prstGeom prst="rect">
            <a:avLst/>
          </a:prstGeom>
          <a:noFill/>
          <a:ln/>
        </p:spPr>
        <p:txBody>
          <a:bodyPr wrap="square" lIns="0" tIns="0" rIns="0" bIns="0" rtlCol="0" anchor="t"/>
          <a:lstStyle/>
          <a:p>
            <a:pPr marL="0" indent="0" algn="l">
              <a:lnSpc>
                <a:spcPct val="98000"/>
              </a:lnSpc>
              <a:buNone/>
            </a:pPr>
            <a:r>
              <a:rPr lang="en-US" sz="3000" b="1" dirty="0">
                <a:solidFill>
                  <a:srgbClr val="1F1E1D"/>
                </a:solidFill>
                <a:latin typeface="Georgia" pitchFamily="34" charset="0"/>
                <a:ea typeface="Georgia" pitchFamily="34" charset="-122"/>
                <a:cs typeface="Georgia" pitchFamily="34" charset="-120"/>
              </a:rPr>
              <a:t>Claude Code vs. GitHub Copilot</a:t>
            </a:r>
            <a:endParaRPr lang="en-US" sz="3000" dirty="0"/>
          </a:p>
        </p:txBody>
      </p:sp>
      <p:sp>
        <p:nvSpPr>
          <p:cNvPr id="4" name="Shape 2"/>
          <p:cNvSpPr/>
          <p:nvPr/>
        </p:nvSpPr>
        <p:spPr>
          <a:xfrm>
            <a:off x="566928" y="1783080"/>
            <a:ext cx="5532120" cy="4160520"/>
          </a:xfrm>
          <a:prstGeom prst="roundRect">
            <a:avLst>
              <a:gd name="adj" fmla="val 1978"/>
            </a:avLst>
          </a:prstGeom>
          <a:solidFill>
            <a:srgbClr val="FFFFFF"/>
          </a:solidFill>
          <a:ln w="12700">
            <a:solidFill>
              <a:srgbClr val="E3E0D6"/>
            </a:solidFill>
            <a:prstDash val="solid"/>
          </a:ln>
          <a:effectLst>
            <a:outerShdw blurRad="114300" dist="38100" dir="5400000" algn="bl" rotWithShape="0">
              <a:srgbClr val="1F1E1D">
                <a:alpha val="10000"/>
              </a:srgbClr>
            </a:outerShdw>
          </a:effectLst>
        </p:spPr>
        <p:txBody>
          <a:bodyPr/>
          <a:lstStyle/>
          <a:p>
            <a:endParaRPr lang="en-IN"/>
          </a:p>
        </p:txBody>
      </p:sp>
      <p:sp>
        <p:nvSpPr>
          <p:cNvPr id="5" name="Shape 3"/>
          <p:cNvSpPr/>
          <p:nvPr/>
        </p:nvSpPr>
        <p:spPr>
          <a:xfrm>
            <a:off x="566928" y="1783080"/>
            <a:ext cx="5532120" cy="868680"/>
          </a:xfrm>
          <a:prstGeom prst="roundRect">
            <a:avLst>
              <a:gd name="adj" fmla="val 9474"/>
            </a:avLst>
          </a:prstGeom>
          <a:solidFill>
            <a:srgbClr val="D97757"/>
          </a:solidFill>
          <a:ln/>
        </p:spPr>
        <p:txBody>
          <a:bodyPr/>
          <a:lstStyle/>
          <a:p>
            <a:endParaRPr lang="en-IN"/>
          </a:p>
        </p:txBody>
      </p:sp>
      <p:sp>
        <p:nvSpPr>
          <p:cNvPr id="6" name="Shape 4"/>
          <p:cNvSpPr/>
          <p:nvPr/>
        </p:nvSpPr>
        <p:spPr>
          <a:xfrm>
            <a:off x="566928" y="2212848"/>
            <a:ext cx="5532120" cy="438912"/>
          </a:xfrm>
          <a:prstGeom prst="rect">
            <a:avLst/>
          </a:prstGeom>
          <a:solidFill>
            <a:srgbClr val="D97757"/>
          </a:solidFill>
          <a:ln/>
        </p:spPr>
        <p:txBody>
          <a:bodyPr/>
          <a:lstStyle/>
          <a:p>
            <a:endParaRPr lang="en-IN"/>
          </a:p>
        </p:txBody>
      </p:sp>
      <p:sp>
        <p:nvSpPr>
          <p:cNvPr id="7" name="Text 5"/>
          <p:cNvSpPr/>
          <p:nvPr/>
        </p:nvSpPr>
        <p:spPr>
          <a:xfrm>
            <a:off x="841248" y="1892808"/>
            <a:ext cx="4983480" cy="420624"/>
          </a:xfrm>
          <a:prstGeom prst="rect">
            <a:avLst/>
          </a:prstGeom>
          <a:noFill/>
          <a:ln/>
        </p:spPr>
        <p:txBody>
          <a:bodyPr wrap="square" lIns="0" tIns="0" rIns="0" bIns="0" rtlCol="0" anchor="ctr"/>
          <a:lstStyle/>
          <a:p>
            <a:pPr marL="0" indent="0">
              <a:buNone/>
            </a:pPr>
            <a:r>
              <a:rPr lang="en-US" sz="2100" b="1" dirty="0">
                <a:solidFill>
                  <a:srgbClr val="FFFFFF"/>
                </a:solidFill>
                <a:latin typeface="Georgia" pitchFamily="34" charset="0"/>
                <a:ea typeface="Georgia" pitchFamily="34" charset="-122"/>
                <a:cs typeface="Georgia" pitchFamily="34" charset="-120"/>
              </a:rPr>
              <a:t>Claude Code</a:t>
            </a:r>
            <a:endParaRPr lang="en-US" sz="2100" dirty="0"/>
          </a:p>
        </p:txBody>
      </p:sp>
      <p:sp>
        <p:nvSpPr>
          <p:cNvPr id="8" name="Text 6"/>
          <p:cNvSpPr/>
          <p:nvPr/>
        </p:nvSpPr>
        <p:spPr>
          <a:xfrm>
            <a:off x="841248" y="2295144"/>
            <a:ext cx="4983480" cy="292608"/>
          </a:xfrm>
          <a:prstGeom prst="rect">
            <a:avLst/>
          </a:prstGeom>
          <a:noFill/>
          <a:ln/>
        </p:spPr>
        <p:txBody>
          <a:bodyPr wrap="square" lIns="0" tIns="0" rIns="0" bIns="0" rtlCol="0" anchor="ctr"/>
          <a:lstStyle/>
          <a:p>
            <a:pPr marL="0" indent="0">
              <a:buNone/>
            </a:pPr>
            <a:r>
              <a:rPr lang="en-US" sz="1250" b="1" dirty="0">
                <a:solidFill>
                  <a:srgbClr val="F2E7E1"/>
                </a:solidFill>
                <a:latin typeface="Calibri" pitchFamily="34" charset="0"/>
                <a:ea typeface="Calibri" pitchFamily="34" charset="-122"/>
                <a:cs typeface="Calibri" pitchFamily="34" charset="-120"/>
              </a:rPr>
              <a:t>Deep-reasoning agent</a:t>
            </a:r>
            <a:endParaRPr lang="en-US" sz="1250" dirty="0"/>
          </a:p>
        </p:txBody>
      </p:sp>
      <p:sp>
        <p:nvSpPr>
          <p:cNvPr id="9" name="Text 7"/>
          <p:cNvSpPr/>
          <p:nvPr/>
        </p:nvSpPr>
        <p:spPr>
          <a:xfrm>
            <a:off x="841248" y="2862072"/>
            <a:ext cx="1417320" cy="548640"/>
          </a:xfrm>
          <a:prstGeom prst="rect">
            <a:avLst/>
          </a:prstGeom>
          <a:noFill/>
          <a:ln/>
        </p:spPr>
        <p:txBody>
          <a:bodyPr wrap="square" lIns="0" tIns="0" rIns="0" bIns="0" rtlCol="0" anchor="t"/>
          <a:lstStyle/>
          <a:p>
            <a:pPr marL="0" indent="0">
              <a:buNone/>
            </a:pPr>
            <a:r>
              <a:rPr lang="en-US" sz="1000" b="1" kern="0" spc="100" dirty="0">
                <a:solidFill>
                  <a:srgbClr val="D97757"/>
                </a:solidFill>
                <a:latin typeface="Calibri" pitchFamily="34" charset="0"/>
                <a:ea typeface="Calibri" pitchFamily="34" charset="-122"/>
                <a:cs typeface="Calibri" pitchFamily="34" charset="-120"/>
              </a:rPr>
              <a:t>MODEL</a:t>
            </a:r>
            <a:endParaRPr lang="en-US" sz="1000" dirty="0"/>
          </a:p>
        </p:txBody>
      </p:sp>
      <p:sp>
        <p:nvSpPr>
          <p:cNvPr id="10" name="Text 8"/>
          <p:cNvSpPr/>
          <p:nvPr/>
        </p:nvSpPr>
        <p:spPr>
          <a:xfrm>
            <a:off x="2258568" y="2843784"/>
            <a:ext cx="3566160" cy="566928"/>
          </a:xfrm>
          <a:prstGeom prst="rect">
            <a:avLst/>
          </a:prstGeom>
          <a:noFill/>
          <a:ln/>
        </p:spPr>
        <p:txBody>
          <a:bodyPr wrap="square" lIns="0" tIns="0" rIns="0" bIns="0" rtlCol="0" anchor="t"/>
          <a:lstStyle/>
          <a:p>
            <a:pPr marL="0" indent="0">
              <a:lnSpc>
                <a:spcPct val="100000"/>
              </a:lnSpc>
              <a:buNone/>
            </a:pPr>
            <a:r>
              <a:rPr lang="en-US" sz="1250" dirty="0">
                <a:solidFill>
                  <a:srgbClr val="3A3835"/>
                </a:solidFill>
                <a:latin typeface="Calibri" pitchFamily="34" charset="0"/>
                <a:ea typeface="Calibri" pitchFamily="34" charset="-122"/>
                <a:cs typeface="Calibri" pitchFamily="34" charset="-120"/>
              </a:rPr>
              <a:t>Terminal-first, agentic; thinks at the whole-codebase level</a:t>
            </a:r>
            <a:endParaRPr lang="en-US" sz="1250" dirty="0"/>
          </a:p>
        </p:txBody>
      </p:sp>
      <p:sp>
        <p:nvSpPr>
          <p:cNvPr id="11" name="Text 9"/>
          <p:cNvSpPr/>
          <p:nvPr/>
        </p:nvSpPr>
        <p:spPr>
          <a:xfrm>
            <a:off x="841248" y="3447288"/>
            <a:ext cx="1417320" cy="548640"/>
          </a:xfrm>
          <a:prstGeom prst="rect">
            <a:avLst/>
          </a:prstGeom>
          <a:noFill/>
          <a:ln/>
        </p:spPr>
        <p:txBody>
          <a:bodyPr wrap="square" lIns="0" tIns="0" rIns="0" bIns="0" rtlCol="0" anchor="t"/>
          <a:lstStyle/>
          <a:p>
            <a:pPr marL="0" indent="0">
              <a:buNone/>
            </a:pPr>
            <a:r>
              <a:rPr lang="en-US" sz="1000" b="1" kern="0" spc="100" dirty="0">
                <a:solidFill>
                  <a:srgbClr val="D97757"/>
                </a:solidFill>
                <a:latin typeface="Calibri" pitchFamily="34" charset="0"/>
                <a:ea typeface="Calibri" pitchFamily="34" charset="-122"/>
                <a:cs typeface="Calibri" pitchFamily="34" charset="-120"/>
              </a:rPr>
              <a:t>STRENGTH</a:t>
            </a:r>
            <a:endParaRPr lang="en-US" sz="1000" dirty="0"/>
          </a:p>
        </p:txBody>
      </p:sp>
      <p:sp>
        <p:nvSpPr>
          <p:cNvPr id="12" name="Text 10"/>
          <p:cNvSpPr/>
          <p:nvPr/>
        </p:nvSpPr>
        <p:spPr>
          <a:xfrm>
            <a:off x="2258568" y="3429000"/>
            <a:ext cx="3566160" cy="566928"/>
          </a:xfrm>
          <a:prstGeom prst="rect">
            <a:avLst/>
          </a:prstGeom>
          <a:noFill/>
          <a:ln/>
        </p:spPr>
        <p:txBody>
          <a:bodyPr wrap="square" lIns="0" tIns="0" rIns="0" bIns="0" rtlCol="0" anchor="t"/>
          <a:lstStyle/>
          <a:p>
            <a:pPr marL="0" indent="0">
              <a:lnSpc>
                <a:spcPct val="100000"/>
              </a:lnSpc>
              <a:buNone/>
            </a:pPr>
            <a:r>
              <a:rPr lang="en-US" sz="1250" dirty="0">
                <a:solidFill>
                  <a:srgbClr val="3A3835"/>
                </a:solidFill>
                <a:latin typeface="Calibri" pitchFamily="34" charset="0"/>
                <a:ea typeface="Calibri" pitchFamily="34" charset="-122"/>
                <a:cs typeface="Calibri" pitchFamily="34" charset="-120"/>
              </a:rPr>
              <a:t>Multi-file edits, runs tests, opens PRs autonomously</a:t>
            </a:r>
            <a:endParaRPr lang="en-US" sz="1250" dirty="0"/>
          </a:p>
        </p:txBody>
      </p:sp>
      <p:sp>
        <p:nvSpPr>
          <p:cNvPr id="13" name="Text 11"/>
          <p:cNvSpPr/>
          <p:nvPr/>
        </p:nvSpPr>
        <p:spPr>
          <a:xfrm>
            <a:off x="841248" y="4032504"/>
            <a:ext cx="1417320" cy="548640"/>
          </a:xfrm>
          <a:prstGeom prst="rect">
            <a:avLst/>
          </a:prstGeom>
          <a:noFill/>
          <a:ln/>
        </p:spPr>
        <p:txBody>
          <a:bodyPr wrap="square" lIns="0" tIns="0" rIns="0" bIns="0" rtlCol="0" anchor="t"/>
          <a:lstStyle/>
          <a:p>
            <a:pPr marL="0" indent="0">
              <a:buNone/>
            </a:pPr>
            <a:r>
              <a:rPr lang="en-US" sz="1000" b="1" kern="0" spc="100" dirty="0">
                <a:solidFill>
                  <a:srgbClr val="D97757"/>
                </a:solidFill>
                <a:latin typeface="Calibri" pitchFamily="34" charset="0"/>
                <a:ea typeface="Calibri" pitchFamily="34" charset="-122"/>
                <a:cs typeface="Calibri" pitchFamily="34" charset="-120"/>
              </a:rPr>
              <a:t>CONTEXT</a:t>
            </a:r>
            <a:endParaRPr lang="en-US" sz="1000" dirty="0"/>
          </a:p>
        </p:txBody>
      </p:sp>
      <p:sp>
        <p:nvSpPr>
          <p:cNvPr id="14" name="Text 12"/>
          <p:cNvSpPr/>
          <p:nvPr/>
        </p:nvSpPr>
        <p:spPr>
          <a:xfrm>
            <a:off x="2258568" y="4014216"/>
            <a:ext cx="3566160" cy="566928"/>
          </a:xfrm>
          <a:prstGeom prst="rect">
            <a:avLst/>
          </a:prstGeom>
          <a:noFill/>
          <a:ln/>
        </p:spPr>
        <p:txBody>
          <a:bodyPr wrap="square" lIns="0" tIns="0" rIns="0" bIns="0" rtlCol="0" anchor="t"/>
          <a:lstStyle/>
          <a:p>
            <a:pPr marL="0" indent="0">
              <a:lnSpc>
                <a:spcPct val="100000"/>
              </a:lnSpc>
              <a:buNone/>
            </a:pPr>
            <a:r>
              <a:rPr lang="en-US" sz="1250" dirty="0">
                <a:solidFill>
                  <a:srgbClr val="3A3835"/>
                </a:solidFill>
                <a:latin typeface="Calibri" pitchFamily="34" charset="0"/>
                <a:ea typeface="Calibri" pitchFamily="34" charset="-122"/>
                <a:cs typeface="Calibri" pitchFamily="34" charset="-120"/>
              </a:rPr>
              <a:t>Agentic search — no manual file selection</a:t>
            </a:r>
            <a:endParaRPr lang="en-US" sz="1250" dirty="0"/>
          </a:p>
        </p:txBody>
      </p:sp>
      <p:sp>
        <p:nvSpPr>
          <p:cNvPr id="15" name="Text 13"/>
          <p:cNvSpPr/>
          <p:nvPr/>
        </p:nvSpPr>
        <p:spPr>
          <a:xfrm>
            <a:off x="841248" y="4617720"/>
            <a:ext cx="1417320" cy="548640"/>
          </a:xfrm>
          <a:prstGeom prst="rect">
            <a:avLst/>
          </a:prstGeom>
          <a:noFill/>
          <a:ln/>
        </p:spPr>
        <p:txBody>
          <a:bodyPr wrap="square" lIns="0" tIns="0" rIns="0" bIns="0" rtlCol="0" anchor="t"/>
          <a:lstStyle/>
          <a:p>
            <a:pPr marL="0" indent="0">
              <a:buNone/>
            </a:pPr>
            <a:r>
              <a:rPr lang="en-US" sz="1000" b="1" kern="0" spc="100" dirty="0">
                <a:solidFill>
                  <a:srgbClr val="D97757"/>
                </a:solidFill>
                <a:latin typeface="Calibri" pitchFamily="34" charset="0"/>
                <a:ea typeface="Calibri" pitchFamily="34" charset="-122"/>
                <a:cs typeface="Calibri" pitchFamily="34" charset="-120"/>
              </a:rPr>
              <a:t>SURFACE</a:t>
            </a:r>
            <a:endParaRPr lang="en-US" sz="1000" dirty="0"/>
          </a:p>
        </p:txBody>
      </p:sp>
      <p:sp>
        <p:nvSpPr>
          <p:cNvPr id="16" name="Text 14"/>
          <p:cNvSpPr/>
          <p:nvPr/>
        </p:nvSpPr>
        <p:spPr>
          <a:xfrm>
            <a:off x="2258568" y="4599432"/>
            <a:ext cx="3566160" cy="566928"/>
          </a:xfrm>
          <a:prstGeom prst="rect">
            <a:avLst/>
          </a:prstGeom>
          <a:noFill/>
          <a:ln/>
        </p:spPr>
        <p:txBody>
          <a:bodyPr wrap="square" lIns="0" tIns="0" rIns="0" bIns="0" rtlCol="0" anchor="t"/>
          <a:lstStyle/>
          <a:p>
            <a:pPr marL="0" indent="0">
              <a:lnSpc>
                <a:spcPct val="100000"/>
              </a:lnSpc>
              <a:buNone/>
            </a:pPr>
            <a:r>
              <a:rPr lang="en-US" sz="1250" dirty="0">
                <a:solidFill>
                  <a:srgbClr val="3A3835"/>
                </a:solidFill>
                <a:latin typeface="Calibri" pitchFamily="34" charset="0"/>
                <a:ea typeface="Calibri" pitchFamily="34" charset="-122"/>
                <a:cs typeface="Calibri" pitchFamily="34" charset="-120"/>
              </a:rPr>
              <a:t>CLI + desktop; pairs with any IDE</a:t>
            </a:r>
            <a:endParaRPr lang="en-US" sz="1250" dirty="0"/>
          </a:p>
        </p:txBody>
      </p:sp>
      <p:sp>
        <p:nvSpPr>
          <p:cNvPr id="17" name="Text 15"/>
          <p:cNvSpPr/>
          <p:nvPr/>
        </p:nvSpPr>
        <p:spPr>
          <a:xfrm>
            <a:off x="841248" y="5202936"/>
            <a:ext cx="1417320" cy="548640"/>
          </a:xfrm>
          <a:prstGeom prst="rect">
            <a:avLst/>
          </a:prstGeom>
          <a:noFill/>
          <a:ln/>
        </p:spPr>
        <p:txBody>
          <a:bodyPr wrap="square" lIns="0" tIns="0" rIns="0" bIns="0" rtlCol="0" anchor="t"/>
          <a:lstStyle/>
          <a:p>
            <a:pPr marL="0" indent="0">
              <a:buNone/>
            </a:pPr>
            <a:r>
              <a:rPr lang="en-US" sz="1000" b="1" kern="0" spc="100" dirty="0">
                <a:solidFill>
                  <a:srgbClr val="D97757"/>
                </a:solidFill>
                <a:latin typeface="Calibri" pitchFamily="34" charset="0"/>
                <a:ea typeface="Calibri" pitchFamily="34" charset="-122"/>
                <a:cs typeface="Calibri" pitchFamily="34" charset="-120"/>
              </a:rPr>
              <a:t>BEST FOR</a:t>
            </a:r>
            <a:endParaRPr lang="en-US" sz="1000" dirty="0"/>
          </a:p>
        </p:txBody>
      </p:sp>
      <p:sp>
        <p:nvSpPr>
          <p:cNvPr id="18" name="Text 16"/>
          <p:cNvSpPr/>
          <p:nvPr/>
        </p:nvSpPr>
        <p:spPr>
          <a:xfrm>
            <a:off x="2258568" y="5184648"/>
            <a:ext cx="3566160" cy="566928"/>
          </a:xfrm>
          <a:prstGeom prst="rect">
            <a:avLst/>
          </a:prstGeom>
          <a:noFill/>
          <a:ln/>
        </p:spPr>
        <p:txBody>
          <a:bodyPr wrap="square" lIns="0" tIns="0" rIns="0" bIns="0" rtlCol="0" anchor="t"/>
          <a:lstStyle/>
          <a:p>
            <a:pPr marL="0" indent="0">
              <a:lnSpc>
                <a:spcPct val="100000"/>
              </a:lnSpc>
              <a:buNone/>
            </a:pPr>
            <a:r>
              <a:rPr lang="en-US" sz="1250" dirty="0">
                <a:solidFill>
                  <a:srgbClr val="3A3835"/>
                </a:solidFill>
                <a:latin typeface="Calibri" pitchFamily="34" charset="0"/>
                <a:ea typeface="Calibri" pitchFamily="34" charset="-122"/>
                <a:cs typeface="Calibri" pitchFamily="34" charset="-120"/>
              </a:rPr>
              <a:t>Complex, high-autonomy engineering tasks</a:t>
            </a:r>
            <a:endParaRPr lang="en-US" sz="1250" dirty="0"/>
          </a:p>
        </p:txBody>
      </p:sp>
      <p:sp>
        <p:nvSpPr>
          <p:cNvPr id="19" name="Shape 17"/>
          <p:cNvSpPr/>
          <p:nvPr/>
        </p:nvSpPr>
        <p:spPr>
          <a:xfrm>
            <a:off x="6281928" y="1783080"/>
            <a:ext cx="5532120" cy="4160520"/>
          </a:xfrm>
          <a:prstGeom prst="roundRect">
            <a:avLst>
              <a:gd name="adj" fmla="val 1978"/>
            </a:avLst>
          </a:prstGeom>
          <a:solidFill>
            <a:srgbClr val="FFFFFF"/>
          </a:solidFill>
          <a:ln w="12700">
            <a:solidFill>
              <a:srgbClr val="E3E0D6"/>
            </a:solidFill>
            <a:prstDash val="solid"/>
          </a:ln>
          <a:effectLst>
            <a:outerShdw blurRad="114300" dist="38100" dir="5400000" algn="bl" rotWithShape="0">
              <a:srgbClr val="1F1E1D">
                <a:alpha val="10000"/>
              </a:srgbClr>
            </a:outerShdw>
          </a:effectLst>
        </p:spPr>
        <p:txBody>
          <a:bodyPr/>
          <a:lstStyle/>
          <a:p>
            <a:endParaRPr lang="en-IN"/>
          </a:p>
        </p:txBody>
      </p:sp>
      <p:sp>
        <p:nvSpPr>
          <p:cNvPr id="20" name="Shape 18"/>
          <p:cNvSpPr/>
          <p:nvPr/>
        </p:nvSpPr>
        <p:spPr>
          <a:xfrm>
            <a:off x="6281928" y="1783080"/>
            <a:ext cx="5532120" cy="868680"/>
          </a:xfrm>
          <a:prstGeom prst="roundRect">
            <a:avLst>
              <a:gd name="adj" fmla="val 9474"/>
            </a:avLst>
          </a:prstGeom>
          <a:solidFill>
            <a:srgbClr val="3A3835"/>
          </a:solidFill>
          <a:ln/>
        </p:spPr>
        <p:txBody>
          <a:bodyPr/>
          <a:lstStyle/>
          <a:p>
            <a:endParaRPr lang="en-IN"/>
          </a:p>
        </p:txBody>
      </p:sp>
      <p:sp>
        <p:nvSpPr>
          <p:cNvPr id="21" name="Shape 19"/>
          <p:cNvSpPr/>
          <p:nvPr/>
        </p:nvSpPr>
        <p:spPr>
          <a:xfrm>
            <a:off x="6281928" y="2212848"/>
            <a:ext cx="5532120" cy="438912"/>
          </a:xfrm>
          <a:prstGeom prst="rect">
            <a:avLst/>
          </a:prstGeom>
          <a:solidFill>
            <a:srgbClr val="3A3835"/>
          </a:solidFill>
          <a:ln/>
        </p:spPr>
        <p:txBody>
          <a:bodyPr/>
          <a:lstStyle/>
          <a:p>
            <a:endParaRPr lang="en-IN"/>
          </a:p>
        </p:txBody>
      </p:sp>
      <p:sp>
        <p:nvSpPr>
          <p:cNvPr id="22" name="Text 20"/>
          <p:cNvSpPr/>
          <p:nvPr/>
        </p:nvSpPr>
        <p:spPr>
          <a:xfrm>
            <a:off x="6556248" y="1892808"/>
            <a:ext cx="4983480" cy="420624"/>
          </a:xfrm>
          <a:prstGeom prst="rect">
            <a:avLst/>
          </a:prstGeom>
          <a:noFill/>
          <a:ln/>
        </p:spPr>
        <p:txBody>
          <a:bodyPr wrap="square" lIns="0" tIns="0" rIns="0" bIns="0" rtlCol="0" anchor="ctr"/>
          <a:lstStyle/>
          <a:p>
            <a:pPr marL="0" indent="0">
              <a:buNone/>
            </a:pPr>
            <a:r>
              <a:rPr lang="en-US" sz="2100" b="1" dirty="0">
                <a:solidFill>
                  <a:srgbClr val="FFFFFF"/>
                </a:solidFill>
                <a:latin typeface="Georgia" pitchFamily="34" charset="0"/>
                <a:ea typeface="Georgia" pitchFamily="34" charset="-122"/>
                <a:cs typeface="Georgia" pitchFamily="34" charset="-120"/>
              </a:rPr>
              <a:t>GitHub Copilot</a:t>
            </a:r>
            <a:endParaRPr lang="en-US" sz="2100" dirty="0"/>
          </a:p>
        </p:txBody>
      </p:sp>
      <p:sp>
        <p:nvSpPr>
          <p:cNvPr id="23" name="Text 21"/>
          <p:cNvSpPr/>
          <p:nvPr/>
        </p:nvSpPr>
        <p:spPr>
          <a:xfrm>
            <a:off x="6556248" y="2295144"/>
            <a:ext cx="4983480" cy="292608"/>
          </a:xfrm>
          <a:prstGeom prst="rect">
            <a:avLst/>
          </a:prstGeom>
          <a:noFill/>
          <a:ln/>
        </p:spPr>
        <p:txBody>
          <a:bodyPr wrap="square" lIns="0" tIns="0" rIns="0" bIns="0" rtlCol="0" anchor="ctr"/>
          <a:lstStyle/>
          <a:p>
            <a:pPr marL="0" indent="0">
              <a:buNone/>
            </a:pPr>
            <a:r>
              <a:rPr lang="en-US" sz="1250" b="1" dirty="0">
                <a:solidFill>
                  <a:srgbClr val="F2E7E1"/>
                </a:solidFill>
                <a:latin typeface="Calibri" pitchFamily="34" charset="0"/>
                <a:ea typeface="Calibri" pitchFamily="34" charset="-122"/>
                <a:cs typeface="Calibri" pitchFamily="34" charset="-120"/>
              </a:rPr>
              <a:t>The industry standard</a:t>
            </a:r>
            <a:endParaRPr lang="en-US" sz="1250" dirty="0"/>
          </a:p>
        </p:txBody>
      </p:sp>
      <p:sp>
        <p:nvSpPr>
          <p:cNvPr id="24" name="Text 22"/>
          <p:cNvSpPr/>
          <p:nvPr/>
        </p:nvSpPr>
        <p:spPr>
          <a:xfrm>
            <a:off x="6556248" y="2862072"/>
            <a:ext cx="1417320" cy="548640"/>
          </a:xfrm>
          <a:prstGeom prst="rect">
            <a:avLst/>
          </a:prstGeom>
          <a:noFill/>
          <a:ln/>
        </p:spPr>
        <p:txBody>
          <a:bodyPr wrap="square" lIns="0" tIns="0" rIns="0" bIns="0" rtlCol="0" anchor="t"/>
          <a:lstStyle/>
          <a:p>
            <a:pPr marL="0" indent="0">
              <a:buNone/>
            </a:pPr>
            <a:r>
              <a:rPr lang="en-US" sz="1000" b="1" kern="0" spc="100" dirty="0">
                <a:solidFill>
                  <a:srgbClr val="3A3835"/>
                </a:solidFill>
                <a:latin typeface="Calibri" pitchFamily="34" charset="0"/>
                <a:ea typeface="Calibri" pitchFamily="34" charset="-122"/>
                <a:cs typeface="Calibri" pitchFamily="34" charset="-120"/>
              </a:rPr>
              <a:t>MODEL</a:t>
            </a:r>
            <a:endParaRPr lang="en-US" sz="1000" dirty="0"/>
          </a:p>
        </p:txBody>
      </p:sp>
      <p:sp>
        <p:nvSpPr>
          <p:cNvPr id="25" name="Text 23"/>
          <p:cNvSpPr/>
          <p:nvPr/>
        </p:nvSpPr>
        <p:spPr>
          <a:xfrm>
            <a:off x="7973568" y="2843784"/>
            <a:ext cx="3566160" cy="566928"/>
          </a:xfrm>
          <a:prstGeom prst="rect">
            <a:avLst/>
          </a:prstGeom>
          <a:noFill/>
          <a:ln/>
        </p:spPr>
        <p:txBody>
          <a:bodyPr wrap="square" lIns="0" tIns="0" rIns="0" bIns="0" rtlCol="0" anchor="t"/>
          <a:lstStyle/>
          <a:p>
            <a:pPr marL="0" indent="0">
              <a:lnSpc>
                <a:spcPct val="100000"/>
              </a:lnSpc>
              <a:buNone/>
            </a:pPr>
            <a:r>
              <a:rPr lang="en-US" sz="1250" dirty="0">
                <a:solidFill>
                  <a:srgbClr val="3A3835"/>
                </a:solidFill>
                <a:latin typeface="Calibri" pitchFamily="34" charset="0"/>
                <a:ea typeface="Calibri" pitchFamily="34" charset="-122"/>
                <a:cs typeface="Calibri" pitchFamily="34" charset="-120"/>
              </a:rPr>
              <a:t>Inline completions across VS Code, JetBrains, and more</a:t>
            </a:r>
            <a:endParaRPr lang="en-US" sz="1250" dirty="0"/>
          </a:p>
        </p:txBody>
      </p:sp>
      <p:sp>
        <p:nvSpPr>
          <p:cNvPr id="26" name="Text 24"/>
          <p:cNvSpPr/>
          <p:nvPr/>
        </p:nvSpPr>
        <p:spPr>
          <a:xfrm>
            <a:off x="6556248" y="3447288"/>
            <a:ext cx="1417320" cy="548640"/>
          </a:xfrm>
          <a:prstGeom prst="rect">
            <a:avLst/>
          </a:prstGeom>
          <a:noFill/>
          <a:ln/>
        </p:spPr>
        <p:txBody>
          <a:bodyPr wrap="square" lIns="0" tIns="0" rIns="0" bIns="0" rtlCol="0" anchor="t"/>
          <a:lstStyle/>
          <a:p>
            <a:pPr marL="0" indent="0">
              <a:buNone/>
            </a:pPr>
            <a:r>
              <a:rPr lang="en-US" sz="1000" b="1" kern="0" spc="100" dirty="0">
                <a:solidFill>
                  <a:srgbClr val="3A3835"/>
                </a:solidFill>
                <a:latin typeface="Calibri" pitchFamily="34" charset="0"/>
                <a:ea typeface="Calibri" pitchFamily="34" charset="-122"/>
                <a:cs typeface="Calibri" pitchFamily="34" charset="-120"/>
              </a:rPr>
              <a:t>STRENGTH</a:t>
            </a:r>
            <a:endParaRPr lang="en-US" sz="1000" dirty="0"/>
          </a:p>
        </p:txBody>
      </p:sp>
      <p:sp>
        <p:nvSpPr>
          <p:cNvPr id="27" name="Text 25"/>
          <p:cNvSpPr/>
          <p:nvPr/>
        </p:nvSpPr>
        <p:spPr>
          <a:xfrm>
            <a:off x="7973568" y="3429000"/>
            <a:ext cx="3566160" cy="566928"/>
          </a:xfrm>
          <a:prstGeom prst="rect">
            <a:avLst/>
          </a:prstGeom>
          <a:noFill/>
          <a:ln/>
        </p:spPr>
        <p:txBody>
          <a:bodyPr wrap="square" lIns="0" tIns="0" rIns="0" bIns="0" rtlCol="0" anchor="t"/>
          <a:lstStyle/>
          <a:p>
            <a:pPr marL="0" indent="0">
              <a:lnSpc>
                <a:spcPct val="100000"/>
              </a:lnSpc>
              <a:buNone/>
            </a:pPr>
            <a:r>
              <a:rPr lang="en-US" sz="1250" dirty="0">
                <a:solidFill>
                  <a:srgbClr val="3A3835"/>
                </a:solidFill>
                <a:latin typeface="Calibri" pitchFamily="34" charset="0"/>
                <a:ea typeface="Calibri" pitchFamily="34" charset="-122"/>
                <a:cs typeface="Calibri" pitchFamily="34" charset="-120"/>
              </a:rPr>
              <a:t>Real-time suggestions, chat, agent mode, PR summaries</a:t>
            </a:r>
            <a:endParaRPr lang="en-US" sz="1250" dirty="0"/>
          </a:p>
        </p:txBody>
      </p:sp>
      <p:sp>
        <p:nvSpPr>
          <p:cNvPr id="28" name="Text 26"/>
          <p:cNvSpPr/>
          <p:nvPr/>
        </p:nvSpPr>
        <p:spPr>
          <a:xfrm>
            <a:off x="6556248" y="4032504"/>
            <a:ext cx="1417320" cy="548640"/>
          </a:xfrm>
          <a:prstGeom prst="rect">
            <a:avLst/>
          </a:prstGeom>
          <a:noFill/>
          <a:ln/>
        </p:spPr>
        <p:txBody>
          <a:bodyPr wrap="square" lIns="0" tIns="0" rIns="0" bIns="0" rtlCol="0" anchor="t"/>
          <a:lstStyle/>
          <a:p>
            <a:pPr marL="0" indent="0">
              <a:buNone/>
            </a:pPr>
            <a:r>
              <a:rPr lang="en-US" sz="1000" b="1" kern="0" spc="100" dirty="0">
                <a:solidFill>
                  <a:srgbClr val="3A3835"/>
                </a:solidFill>
                <a:latin typeface="Calibri" pitchFamily="34" charset="0"/>
                <a:ea typeface="Calibri" pitchFamily="34" charset="-122"/>
                <a:cs typeface="Calibri" pitchFamily="34" charset="-120"/>
              </a:rPr>
              <a:t>CONTEXT</a:t>
            </a:r>
            <a:endParaRPr lang="en-US" sz="1000" dirty="0"/>
          </a:p>
        </p:txBody>
      </p:sp>
      <p:sp>
        <p:nvSpPr>
          <p:cNvPr id="29" name="Text 27"/>
          <p:cNvSpPr/>
          <p:nvPr/>
        </p:nvSpPr>
        <p:spPr>
          <a:xfrm>
            <a:off x="7973568" y="4014216"/>
            <a:ext cx="3566160" cy="566928"/>
          </a:xfrm>
          <a:prstGeom prst="rect">
            <a:avLst/>
          </a:prstGeom>
          <a:noFill/>
          <a:ln/>
        </p:spPr>
        <p:txBody>
          <a:bodyPr wrap="square" lIns="0" tIns="0" rIns="0" bIns="0" rtlCol="0" anchor="t"/>
          <a:lstStyle/>
          <a:p>
            <a:pPr marL="0" indent="0">
              <a:lnSpc>
                <a:spcPct val="100000"/>
              </a:lnSpc>
              <a:buNone/>
            </a:pPr>
            <a:r>
              <a:rPr lang="en-US" sz="1250" dirty="0">
                <a:solidFill>
                  <a:srgbClr val="3A3835"/>
                </a:solidFill>
                <a:latin typeface="Calibri" pitchFamily="34" charset="0"/>
                <a:ea typeface="Calibri" pitchFamily="34" charset="-122"/>
                <a:cs typeface="Calibri" pitchFamily="34" charset="-120"/>
              </a:rPr>
              <a:t>Editor-centric; you steer the active files</a:t>
            </a:r>
            <a:endParaRPr lang="en-US" sz="1250" dirty="0"/>
          </a:p>
        </p:txBody>
      </p:sp>
      <p:sp>
        <p:nvSpPr>
          <p:cNvPr id="30" name="Text 28"/>
          <p:cNvSpPr/>
          <p:nvPr/>
        </p:nvSpPr>
        <p:spPr>
          <a:xfrm>
            <a:off x="6556248" y="4617720"/>
            <a:ext cx="1417320" cy="548640"/>
          </a:xfrm>
          <a:prstGeom prst="rect">
            <a:avLst/>
          </a:prstGeom>
          <a:noFill/>
          <a:ln/>
        </p:spPr>
        <p:txBody>
          <a:bodyPr wrap="square" lIns="0" tIns="0" rIns="0" bIns="0" rtlCol="0" anchor="t"/>
          <a:lstStyle/>
          <a:p>
            <a:pPr marL="0" indent="0">
              <a:buNone/>
            </a:pPr>
            <a:r>
              <a:rPr lang="en-US" sz="1000" b="1" kern="0" spc="100" dirty="0">
                <a:solidFill>
                  <a:srgbClr val="3A3835"/>
                </a:solidFill>
                <a:latin typeface="Calibri" pitchFamily="34" charset="0"/>
                <a:ea typeface="Calibri" pitchFamily="34" charset="-122"/>
                <a:cs typeface="Calibri" pitchFamily="34" charset="-120"/>
              </a:rPr>
              <a:t>SURFACE</a:t>
            </a:r>
            <a:endParaRPr lang="en-US" sz="1000" dirty="0"/>
          </a:p>
        </p:txBody>
      </p:sp>
      <p:sp>
        <p:nvSpPr>
          <p:cNvPr id="31" name="Text 29"/>
          <p:cNvSpPr/>
          <p:nvPr/>
        </p:nvSpPr>
        <p:spPr>
          <a:xfrm>
            <a:off x="7973568" y="4599432"/>
            <a:ext cx="3566160" cy="566928"/>
          </a:xfrm>
          <a:prstGeom prst="rect">
            <a:avLst/>
          </a:prstGeom>
          <a:noFill/>
          <a:ln/>
        </p:spPr>
        <p:txBody>
          <a:bodyPr wrap="square" lIns="0" tIns="0" rIns="0" bIns="0" rtlCol="0" anchor="t"/>
          <a:lstStyle/>
          <a:p>
            <a:pPr marL="0" indent="0">
              <a:lnSpc>
                <a:spcPct val="100000"/>
              </a:lnSpc>
              <a:buNone/>
            </a:pPr>
            <a:r>
              <a:rPr lang="en-US" sz="1250" dirty="0">
                <a:solidFill>
                  <a:srgbClr val="3A3835"/>
                </a:solidFill>
                <a:latin typeface="Calibri" pitchFamily="34" charset="0"/>
                <a:ea typeface="Calibri" pitchFamily="34" charset="-122"/>
                <a:cs typeface="Calibri" pitchFamily="34" charset="-120"/>
              </a:rPr>
              <a:t>Native in the IDE and GitHub workflow</a:t>
            </a:r>
            <a:endParaRPr lang="en-US" sz="1250" dirty="0"/>
          </a:p>
        </p:txBody>
      </p:sp>
      <p:sp>
        <p:nvSpPr>
          <p:cNvPr id="32" name="Text 30"/>
          <p:cNvSpPr/>
          <p:nvPr/>
        </p:nvSpPr>
        <p:spPr>
          <a:xfrm>
            <a:off x="6556248" y="5202936"/>
            <a:ext cx="1417320" cy="548640"/>
          </a:xfrm>
          <a:prstGeom prst="rect">
            <a:avLst/>
          </a:prstGeom>
          <a:noFill/>
          <a:ln/>
        </p:spPr>
        <p:txBody>
          <a:bodyPr wrap="square" lIns="0" tIns="0" rIns="0" bIns="0" rtlCol="0" anchor="t"/>
          <a:lstStyle/>
          <a:p>
            <a:pPr marL="0" indent="0">
              <a:buNone/>
            </a:pPr>
            <a:r>
              <a:rPr lang="en-US" sz="1000" b="1" kern="0" spc="100" dirty="0">
                <a:solidFill>
                  <a:srgbClr val="3A3835"/>
                </a:solidFill>
                <a:latin typeface="Calibri" pitchFamily="34" charset="0"/>
                <a:ea typeface="Calibri" pitchFamily="34" charset="-122"/>
                <a:cs typeface="Calibri" pitchFamily="34" charset="-120"/>
              </a:rPr>
              <a:t>BEST FOR</a:t>
            </a:r>
            <a:endParaRPr lang="en-US" sz="1000" dirty="0"/>
          </a:p>
        </p:txBody>
      </p:sp>
      <p:sp>
        <p:nvSpPr>
          <p:cNvPr id="33" name="Text 31"/>
          <p:cNvSpPr/>
          <p:nvPr/>
        </p:nvSpPr>
        <p:spPr>
          <a:xfrm>
            <a:off x="7973568" y="5184648"/>
            <a:ext cx="3566160" cy="566928"/>
          </a:xfrm>
          <a:prstGeom prst="rect">
            <a:avLst/>
          </a:prstGeom>
          <a:noFill/>
          <a:ln/>
        </p:spPr>
        <p:txBody>
          <a:bodyPr wrap="square" lIns="0" tIns="0" rIns="0" bIns="0" rtlCol="0" anchor="t"/>
          <a:lstStyle/>
          <a:p>
            <a:pPr marL="0" indent="0">
              <a:lnSpc>
                <a:spcPct val="100000"/>
              </a:lnSpc>
              <a:buNone/>
            </a:pPr>
            <a:r>
              <a:rPr lang="en-US" sz="1250" dirty="0">
                <a:solidFill>
                  <a:srgbClr val="3A3835"/>
                </a:solidFill>
                <a:latin typeface="Calibri" pitchFamily="34" charset="0"/>
                <a:ea typeface="Calibri" pitchFamily="34" charset="-122"/>
                <a:cs typeface="Calibri" pitchFamily="34" charset="-120"/>
              </a:rPr>
              <a:t>Fast in-flow coding and broad team governance</a:t>
            </a:r>
            <a:endParaRPr lang="en-US" sz="1250" dirty="0"/>
          </a:p>
        </p:txBody>
      </p:sp>
      <p:pic>
        <p:nvPicPr>
          <p:cNvPr id="34" name="Image 0" descr="/agent/turn1/workspace/assets/spark_coral.png"/>
          <p:cNvPicPr>
            <a:picLocks noChangeAspect="1"/>
          </p:cNvPicPr>
          <p:nvPr/>
        </p:nvPicPr>
        <p:blipFill>
          <a:blip r:embed="rId3"/>
          <a:stretch>
            <a:fillRect/>
          </a:stretch>
        </p:blipFill>
        <p:spPr>
          <a:xfrm>
            <a:off x="566928" y="6419088"/>
            <a:ext cx="201168" cy="201168"/>
          </a:xfrm>
          <a:prstGeom prst="rect">
            <a:avLst/>
          </a:prstGeom>
        </p:spPr>
      </p:pic>
      <p:sp>
        <p:nvSpPr>
          <p:cNvPr id="35" name="Text 32"/>
          <p:cNvSpPr/>
          <p:nvPr/>
        </p:nvSpPr>
        <p:spPr>
          <a:xfrm>
            <a:off x="841248" y="6364224"/>
            <a:ext cx="6400800" cy="310896"/>
          </a:xfrm>
          <a:prstGeom prst="rect">
            <a:avLst/>
          </a:prstGeom>
          <a:noFill/>
          <a:ln/>
        </p:spPr>
        <p:txBody>
          <a:bodyPr wrap="square" lIns="0" tIns="0" rIns="0" bIns="0" rtlCol="0" anchor="ctr"/>
          <a:lstStyle/>
          <a:p>
            <a:pPr marL="0" indent="0" algn="l">
              <a:buNone/>
            </a:pPr>
            <a:r>
              <a:rPr lang="en-US" sz="950" kern="0" spc="50" dirty="0">
                <a:solidFill>
                  <a:srgbClr val="73726C"/>
                </a:solidFill>
                <a:latin typeface="Calibri" pitchFamily="34" charset="0"/>
                <a:ea typeface="Calibri" pitchFamily="34" charset="-122"/>
                <a:cs typeface="Calibri" pitchFamily="34" charset="-120"/>
              </a:rPr>
              <a:t>Claude Cowork  ·  Developer Training</a:t>
            </a:r>
            <a:endParaRPr lang="en-US" sz="950" dirty="0"/>
          </a:p>
        </p:txBody>
      </p:sp>
      <p:sp>
        <p:nvSpPr>
          <p:cNvPr id="36" name="Text 33"/>
          <p:cNvSpPr/>
          <p:nvPr/>
        </p:nvSpPr>
        <p:spPr>
          <a:xfrm>
            <a:off x="10972800" y="6364224"/>
            <a:ext cx="685800" cy="310896"/>
          </a:xfrm>
          <a:prstGeom prst="rect">
            <a:avLst/>
          </a:prstGeom>
          <a:noFill/>
          <a:ln/>
        </p:spPr>
        <p:txBody>
          <a:bodyPr wrap="square" lIns="0" tIns="0" rIns="0" bIns="0" rtlCol="0" anchor="ctr"/>
          <a:lstStyle/>
          <a:p>
            <a:pPr marL="0" indent="0" algn="r">
              <a:buNone/>
            </a:pPr>
            <a:r>
              <a:rPr lang="en-US" sz="950" b="1" dirty="0">
                <a:solidFill>
                  <a:srgbClr val="73726C"/>
                </a:solidFill>
                <a:latin typeface="Calibri" pitchFamily="34" charset="0"/>
                <a:ea typeface="Calibri" pitchFamily="34" charset="-122"/>
                <a:cs typeface="Calibri" pitchFamily="34" charset="-120"/>
              </a:rPr>
              <a:t>09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EEE6"/>
        </a:solidFill>
        <a:effectLst/>
      </p:bgPr>
    </p:bg>
    <p:spTree>
      <p:nvGrpSpPr>
        <p:cNvPr id="1" name=""/>
        <p:cNvGrpSpPr/>
        <p:nvPr/>
      </p:nvGrpSpPr>
      <p:grpSpPr>
        <a:xfrm>
          <a:off x="0" y="0"/>
          <a:ext cx="0" cy="0"/>
          <a:chOff x="0" y="0"/>
          <a:chExt cx="0" cy="0"/>
        </a:xfrm>
      </p:grpSpPr>
      <p:sp>
        <p:nvSpPr>
          <p:cNvPr id="2" name="Text 0"/>
          <p:cNvSpPr/>
          <p:nvPr/>
        </p:nvSpPr>
        <p:spPr>
          <a:xfrm>
            <a:off x="566928" y="457200"/>
            <a:ext cx="10058400" cy="274320"/>
          </a:xfrm>
          <a:prstGeom prst="rect">
            <a:avLst/>
          </a:prstGeom>
          <a:noFill/>
          <a:ln/>
        </p:spPr>
        <p:txBody>
          <a:bodyPr wrap="square" lIns="0" tIns="0" rIns="0" bIns="0" rtlCol="0" anchor="ctr"/>
          <a:lstStyle/>
          <a:p>
            <a:pPr marL="0" indent="0" algn="l">
              <a:buNone/>
            </a:pPr>
            <a:r>
              <a:rPr lang="en-US" sz="1200" b="1" kern="0" spc="250" dirty="0">
                <a:solidFill>
                  <a:srgbClr val="D97757"/>
                </a:solidFill>
                <a:latin typeface="Calibri" pitchFamily="34" charset="0"/>
                <a:ea typeface="Calibri" pitchFamily="34" charset="-122"/>
                <a:cs typeface="Calibri" pitchFamily="34" charset="-120"/>
              </a:rPr>
              <a:t>THE LANDSCAPE</a:t>
            </a:r>
            <a:endParaRPr lang="en-US" sz="1200" dirty="0"/>
          </a:p>
        </p:txBody>
      </p:sp>
      <p:sp>
        <p:nvSpPr>
          <p:cNvPr id="3" name="Text 1"/>
          <p:cNvSpPr/>
          <p:nvPr/>
        </p:nvSpPr>
        <p:spPr>
          <a:xfrm>
            <a:off x="566928" y="749808"/>
            <a:ext cx="11064240" cy="777240"/>
          </a:xfrm>
          <a:prstGeom prst="rect">
            <a:avLst/>
          </a:prstGeom>
          <a:noFill/>
          <a:ln/>
        </p:spPr>
        <p:txBody>
          <a:bodyPr wrap="square" lIns="0" tIns="0" rIns="0" bIns="0" rtlCol="0" anchor="t"/>
          <a:lstStyle/>
          <a:p>
            <a:pPr marL="0" indent="0" algn="l">
              <a:lnSpc>
                <a:spcPct val="98000"/>
              </a:lnSpc>
              <a:buNone/>
            </a:pPr>
            <a:r>
              <a:rPr lang="en-US" sz="3000" b="1" dirty="0">
                <a:solidFill>
                  <a:srgbClr val="1F1E1D"/>
                </a:solidFill>
                <a:latin typeface="Georgia" pitchFamily="34" charset="0"/>
                <a:ea typeface="Georgia" pitchFamily="34" charset="-122"/>
                <a:cs typeface="Georgia" pitchFamily="34" charset="-120"/>
              </a:rPr>
              <a:t>Cloud-hosted Claude: choosing a path</a:t>
            </a:r>
            <a:endParaRPr lang="en-US" sz="3000" dirty="0"/>
          </a:p>
        </p:txBody>
      </p:sp>
      <p:sp>
        <p:nvSpPr>
          <p:cNvPr id="4" name="Text 2"/>
          <p:cNvSpPr/>
          <p:nvPr/>
        </p:nvSpPr>
        <p:spPr>
          <a:xfrm>
            <a:off x="566928" y="1572768"/>
            <a:ext cx="11064240" cy="457200"/>
          </a:xfrm>
          <a:prstGeom prst="rect">
            <a:avLst/>
          </a:prstGeom>
          <a:noFill/>
          <a:ln/>
        </p:spPr>
        <p:txBody>
          <a:bodyPr wrap="square" lIns="0" tIns="0" rIns="0" bIns="0" rtlCol="0" anchor="ctr"/>
          <a:lstStyle/>
          <a:p>
            <a:pPr marL="0" indent="0">
              <a:lnSpc>
                <a:spcPct val="105000"/>
              </a:lnSpc>
              <a:buNone/>
            </a:pPr>
            <a:r>
              <a:rPr lang="en-US" sz="1350" i="1" dirty="0">
                <a:solidFill>
                  <a:srgbClr val="3A3835"/>
                </a:solidFill>
                <a:latin typeface="Calibri" pitchFamily="34" charset="0"/>
                <a:ea typeface="Calibri" pitchFamily="34" charset="-122"/>
                <a:cs typeface="Calibri" pitchFamily="34" charset="-120"/>
              </a:rPr>
              <a:t>Per-token rates are identical across these paths. You're choosing operator, data boundary, billing, and how soon you get new features — not price.</a:t>
            </a:r>
            <a:endParaRPr lang="en-US" sz="13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2194560"/>
          <a:ext cx="11082528" cy="3246120"/>
        </p:xfrm>
        <a:graphic>
          <a:graphicData uri="http://schemas.openxmlformats.org/drawingml/2006/table">
            <a:tbl>
              <a:tblPr/>
              <a:tblGrid>
                <a:gridCol w="2377440">
                  <a:extLst>
                    <a:ext uri="{9D8B030D-6E8A-4147-A177-3AD203B41FA5}">
                      <a16:colId xmlns:a16="http://schemas.microsoft.com/office/drawing/2014/main" val="20000"/>
                    </a:ext>
                  </a:extLst>
                </a:gridCol>
                <a:gridCol w="2807208">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788920">
                  <a:extLst>
                    <a:ext uri="{9D8B030D-6E8A-4147-A177-3AD203B41FA5}">
                      <a16:colId xmlns:a16="http://schemas.microsoft.com/office/drawing/2014/main" val="20003"/>
                    </a:ext>
                  </a:extLst>
                </a:gridCol>
              </a:tblGrid>
              <a:tr h="502920">
                <a:tc>
                  <a:txBody>
                    <a:bodyPr/>
                    <a:lstStyle/>
                    <a:p>
                      <a:pPr marL="0" indent="0" algn="l">
                        <a:buNone/>
                      </a:pPr>
                      <a:endParaRPr lang="en-US" sz="1350" dirty="0">
                        <a:latin typeface="Georgia" charset="0"/>
                        <a:ea typeface="Georgia" charset="0"/>
                        <a:cs typeface="Georgia" charset="0"/>
                      </a:endParaRPr>
                    </a:p>
                  </a:txBody>
                  <a:tcPr marL="88900" marR="63500" marT="25400" marB="254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0EEE6"/>
                    </a:solidFill>
                  </a:tcPr>
                </a:tc>
                <a:tc>
                  <a:txBody>
                    <a:bodyPr/>
                    <a:lstStyle/>
                    <a:p>
                      <a:pPr marL="0" indent="0" algn="ctr">
                        <a:buNone/>
                      </a:pPr>
                      <a:r>
                        <a:rPr lang="en-US" sz="1350" b="1" dirty="0">
                          <a:solidFill>
                            <a:srgbClr val="FFFFFF"/>
                          </a:solidFill>
                          <a:latin typeface="Georgia" pitchFamily="34" charset="0"/>
                          <a:ea typeface="Georgia" pitchFamily="34" charset="-122"/>
                          <a:cs typeface="Georgia" pitchFamily="34" charset="-120"/>
                        </a:rPr>
                        <a:t>Amazon Bedrock</a:t>
                      </a:r>
                      <a:endParaRPr lang="en-US" sz="1350" dirty="0">
                        <a:latin typeface="Georgia" charset="0"/>
                        <a:ea typeface="Georgia" charset="0"/>
                        <a:cs typeface="Georgia" charset="0"/>
                      </a:endParaRPr>
                    </a:p>
                  </a:txBody>
                  <a:tcPr marL="88900" marR="63500" marT="25400" marB="254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3A3835"/>
                    </a:solidFill>
                  </a:tcPr>
                </a:tc>
                <a:tc>
                  <a:txBody>
                    <a:bodyPr/>
                    <a:lstStyle/>
                    <a:p>
                      <a:pPr marL="0" indent="0" algn="ctr">
                        <a:buNone/>
                      </a:pPr>
                      <a:r>
                        <a:rPr lang="en-US" sz="1350" b="1" dirty="0">
                          <a:solidFill>
                            <a:srgbClr val="FFFFFF"/>
                          </a:solidFill>
                          <a:latin typeface="Georgia" pitchFamily="34" charset="0"/>
                          <a:ea typeface="Georgia" pitchFamily="34" charset="-122"/>
                          <a:cs typeface="Georgia" pitchFamily="34" charset="-120"/>
                        </a:rPr>
                        <a:t>Claude Platform on AWS</a:t>
                      </a:r>
                      <a:endParaRPr lang="en-US" sz="1350" dirty="0">
                        <a:latin typeface="Georgia" charset="0"/>
                        <a:ea typeface="Georgia" charset="0"/>
                        <a:cs typeface="Georgia" charset="0"/>
                      </a:endParaRPr>
                    </a:p>
                  </a:txBody>
                  <a:tcPr marL="88900" marR="63500" marT="25400" marB="254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D97757"/>
                    </a:solidFill>
                  </a:tcPr>
                </a:tc>
                <a:tc>
                  <a:txBody>
                    <a:bodyPr/>
                    <a:lstStyle/>
                    <a:p>
                      <a:pPr marL="0" indent="0" algn="ctr">
                        <a:buNone/>
                      </a:pPr>
                      <a:r>
                        <a:rPr lang="en-US" sz="1350" b="1" dirty="0">
                          <a:solidFill>
                            <a:srgbClr val="FFFFFF"/>
                          </a:solidFill>
                          <a:latin typeface="Georgia" pitchFamily="34" charset="0"/>
                          <a:ea typeface="Georgia" pitchFamily="34" charset="-122"/>
                          <a:cs typeface="Georgia" pitchFamily="34" charset="-120"/>
                        </a:rPr>
                        <a:t>Direct Anthropic API</a:t>
                      </a:r>
                      <a:endParaRPr lang="en-US" sz="1350" dirty="0">
                        <a:latin typeface="Georgia" charset="0"/>
                        <a:ea typeface="Georgia" charset="0"/>
                        <a:cs typeface="Georgia" charset="0"/>
                      </a:endParaRPr>
                    </a:p>
                  </a:txBody>
                  <a:tcPr marL="88900" marR="63500" marT="25400" marB="254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C2613F"/>
                    </a:solidFill>
                  </a:tcPr>
                </a:tc>
                <a:extLst>
                  <a:ext uri="{0D108BD9-81ED-4DB2-BD59-A6C34878D82A}">
                    <a16:rowId xmlns:a16="http://schemas.microsoft.com/office/drawing/2014/main" val="10000"/>
                  </a:ext>
                </a:extLst>
              </a:tr>
              <a:tr h="457200">
                <a:tc>
                  <a:txBody>
                    <a:bodyPr/>
                    <a:lstStyle/>
                    <a:p>
                      <a:pPr marL="0" indent="0" algn="l">
                        <a:buNone/>
                      </a:pPr>
                      <a:r>
                        <a:rPr lang="en-US" sz="1250" b="1" dirty="0">
                          <a:solidFill>
                            <a:srgbClr val="1F1E1D"/>
                          </a:solidFill>
                          <a:latin typeface="Calibri" pitchFamily="34" charset="0"/>
                          <a:ea typeface="Calibri" pitchFamily="34" charset="-122"/>
                          <a:cs typeface="Calibri" pitchFamily="34" charset="-120"/>
                        </a:rPr>
                        <a:t>Operator</a:t>
                      </a:r>
                      <a:endParaRPr lang="en-US" sz="1250" dirty="0">
                        <a:latin typeface="Calibri" charset="0"/>
                        <a:ea typeface="Calibri" charset="0"/>
                        <a:cs typeface="Calibri" charset="0"/>
                      </a:endParaRPr>
                    </a:p>
                  </a:txBody>
                  <a:tcPr marL="88900" marR="63500" marT="25400" marB="254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0EEE6"/>
                    </a:solidFill>
                  </a:tcPr>
                </a:tc>
                <a:tc>
                  <a:txBody>
                    <a:bodyPr/>
                    <a:lstStyle/>
                    <a:p>
                      <a:pPr marL="0" indent="0" algn="ctr">
                        <a:buNone/>
                      </a:pPr>
                      <a:r>
                        <a:rPr lang="en-US" sz="1250" dirty="0">
                          <a:solidFill>
                            <a:srgbClr val="3A3835"/>
                          </a:solidFill>
                          <a:latin typeface="Calibri" pitchFamily="34" charset="0"/>
                          <a:ea typeface="Calibri" pitchFamily="34" charset="-122"/>
                          <a:cs typeface="Calibri" pitchFamily="34" charset="-120"/>
                        </a:rPr>
                        <a:t>AWS</a:t>
                      </a:r>
                      <a:endParaRPr lang="en-US" sz="1250" dirty="0">
                        <a:latin typeface="Calibri" charset="0"/>
                        <a:ea typeface="Calibri" charset="0"/>
                        <a:cs typeface="Calibri" charset="0"/>
                      </a:endParaRPr>
                    </a:p>
                  </a:txBody>
                  <a:tcPr marL="88900" marR="63500" marT="25400" marB="254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A3835"/>
                          </a:solidFill>
                          <a:latin typeface="Calibri" pitchFamily="34" charset="0"/>
                          <a:ea typeface="Calibri" pitchFamily="34" charset="-122"/>
                          <a:cs typeface="Calibri" pitchFamily="34" charset="-120"/>
                        </a:rPr>
                        <a:t>Anthropic</a:t>
                      </a:r>
                      <a:endParaRPr lang="en-US" sz="1250" dirty="0">
                        <a:latin typeface="Calibri" charset="0"/>
                        <a:ea typeface="Calibri" charset="0"/>
                        <a:cs typeface="Calibri" charset="0"/>
                      </a:endParaRPr>
                    </a:p>
                  </a:txBody>
                  <a:tcPr marL="88900" marR="63500" marT="25400" marB="254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A3835"/>
                          </a:solidFill>
                          <a:latin typeface="Calibri" pitchFamily="34" charset="0"/>
                          <a:ea typeface="Calibri" pitchFamily="34" charset="-122"/>
                          <a:cs typeface="Calibri" pitchFamily="34" charset="-120"/>
                        </a:rPr>
                        <a:t>Anthropic</a:t>
                      </a:r>
                      <a:endParaRPr lang="en-US" sz="1250" dirty="0">
                        <a:latin typeface="Calibri" charset="0"/>
                        <a:ea typeface="Calibri" charset="0"/>
                        <a:cs typeface="Calibri" charset="0"/>
                      </a:endParaRPr>
                    </a:p>
                  </a:txBody>
                  <a:tcPr marL="88900" marR="63500" marT="25400" marB="254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250" b="1" dirty="0">
                          <a:solidFill>
                            <a:srgbClr val="1F1E1D"/>
                          </a:solidFill>
                          <a:latin typeface="Calibri" pitchFamily="34" charset="0"/>
                          <a:ea typeface="Calibri" pitchFamily="34" charset="-122"/>
                          <a:cs typeface="Calibri" pitchFamily="34" charset="-120"/>
                        </a:rPr>
                        <a:t>Data boundary</a:t>
                      </a:r>
                      <a:endParaRPr lang="en-US" sz="1250" dirty="0">
                        <a:latin typeface="Calibri" charset="0"/>
                        <a:ea typeface="Calibri" charset="0"/>
                        <a:cs typeface="Calibri" charset="0"/>
                      </a:endParaRPr>
                    </a:p>
                  </a:txBody>
                  <a:tcPr marL="88900" marR="63500" marT="25400" marB="254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0EEE6"/>
                    </a:solidFill>
                  </a:tcPr>
                </a:tc>
                <a:tc>
                  <a:txBody>
                    <a:bodyPr/>
                    <a:lstStyle/>
                    <a:p>
                      <a:pPr marL="0" indent="0" algn="ctr">
                        <a:buNone/>
                      </a:pPr>
                      <a:r>
                        <a:rPr lang="en-US" sz="1250" dirty="0">
                          <a:solidFill>
                            <a:srgbClr val="3A3835"/>
                          </a:solidFill>
                          <a:latin typeface="Calibri" pitchFamily="34" charset="0"/>
                          <a:ea typeface="Calibri" pitchFamily="34" charset="-122"/>
                          <a:cs typeface="Calibri" pitchFamily="34" charset="-120"/>
                        </a:rPr>
                        <a:t>Inside AWS</a:t>
                      </a:r>
                      <a:endParaRPr lang="en-US" sz="1250" dirty="0">
                        <a:latin typeface="Calibri" charset="0"/>
                        <a:ea typeface="Calibri" charset="0"/>
                        <a:cs typeface="Calibri" charset="0"/>
                      </a:endParaRPr>
                    </a:p>
                  </a:txBody>
                  <a:tcPr marL="88900" marR="63500" marT="25400" marB="254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AF9F5"/>
                    </a:solidFill>
                  </a:tcPr>
                </a:tc>
                <a:tc>
                  <a:txBody>
                    <a:bodyPr/>
                    <a:lstStyle/>
                    <a:p>
                      <a:pPr marL="0" indent="0" algn="ctr">
                        <a:buNone/>
                      </a:pPr>
                      <a:r>
                        <a:rPr lang="en-US" sz="1250" dirty="0">
                          <a:solidFill>
                            <a:srgbClr val="3A3835"/>
                          </a:solidFill>
                          <a:latin typeface="Calibri" pitchFamily="34" charset="0"/>
                          <a:ea typeface="Calibri" pitchFamily="34" charset="-122"/>
                          <a:cs typeface="Calibri" pitchFamily="34" charset="-120"/>
                        </a:rPr>
                        <a:t>Anthropic</a:t>
                      </a:r>
                      <a:endParaRPr lang="en-US" sz="1250" dirty="0">
                        <a:latin typeface="Calibri" charset="0"/>
                        <a:ea typeface="Calibri" charset="0"/>
                        <a:cs typeface="Calibri" charset="0"/>
                      </a:endParaRPr>
                    </a:p>
                  </a:txBody>
                  <a:tcPr marL="88900" marR="63500" marT="25400" marB="254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AF9F5"/>
                    </a:solidFill>
                  </a:tcPr>
                </a:tc>
                <a:tc>
                  <a:txBody>
                    <a:bodyPr/>
                    <a:lstStyle/>
                    <a:p>
                      <a:pPr marL="0" indent="0" algn="ctr">
                        <a:buNone/>
                      </a:pPr>
                      <a:r>
                        <a:rPr lang="en-US" sz="1250" dirty="0">
                          <a:solidFill>
                            <a:srgbClr val="3A3835"/>
                          </a:solidFill>
                          <a:latin typeface="Calibri" pitchFamily="34" charset="0"/>
                          <a:ea typeface="Calibri" pitchFamily="34" charset="-122"/>
                          <a:cs typeface="Calibri" pitchFamily="34" charset="-120"/>
                        </a:rPr>
                        <a:t>Anthropic</a:t>
                      </a:r>
                      <a:endParaRPr lang="en-US" sz="1250" dirty="0">
                        <a:latin typeface="Calibri" charset="0"/>
                        <a:ea typeface="Calibri" charset="0"/>
                        <a:cs typeface="Calibri" charset="0"/>
                      </a:endParaRPr>
                    </a:p>
                  </a:txBody>
                  <a:tcPr marL="88900" marR="63500" marT="25400" marB="254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AF9F5"/>
                    </a:solidFill>
                  </a:tcPr>
                </a:tc>
                <a:extLst>
                  <a:ext uri="{0D108BD9-81ED-4DB2-BD59-A6C34878D82A}">
                    <a16:rowId xmlns:a16="http://schemas.microsoft.com/office/drawing/2014/main" val="10002"/>
                  </a:ext>
                </a:extLst>
              </a:tr>
              <a:tr h="457200">
                <a:tc>
                  <a:txBody>
                    <a:bodyPr/>
                    <a:lstStyle/>
                    <a:p>
                      <a:pPr marL="0" indent="0" algn="l">
                        <a:buNone/>
                      </a:pPr>
                      <a:r>
                        <a:rPr lang="en-US" sz="1250" b="1" dirty="0">
                          <a:solidFill>
                            <a:srgbClr val="1F1E1D"/>
                          </a:solidFill>
                          <a:latin typeface="Calibri" pitchFamily="34" charset="0"/>
                          <a:ea typeface="Calibri" pitchFamily="34" charset="-122"/>
                          <a:cs typeface="Calibri" pitchFamily="34" charset="-120"/>
                        </a:rPr>
                        <a:t>Billing</a:t>
                      </a:r>
                      <a:endParaRPr lang="en-US" sz="1250" dirty="0">
                        <a:latin typeface="Calibri" charset="0"/>
                        <a:ea typeface="Calibri" charset="0"/>
                        <a:cs typeface="Calibri" charset="0"/>
                      </a:endParaRPr>
                    </a:p>
                  </a:txBody>
                  <a:tcPr marL="88900" marR="63500" marT="25400" marB="254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0EEE6"/>
                    </a:solidFill>
                  </a:tcPr>
                </a:tc>
                <a:tc>
                  <a:txBody>
                    <a:bodyPr/>
                    <a:lstStyle/>
                    <a:p>
                      <a:pPr marL="0" indent="0" algn="ctr">
                        <a:buNone/>
                      </a:pPr>
                      <a:r>
                        <a:rPr lang="en-US" sz="1250" dirty="0">
                          <a:solidFill>
                            <a:srgbClr val="3A3835"/>
                          </a:solidFill>
                          <a:latin typeface="Calibri" pitchFamily="34" charset="0"/>
                          <a:ea typeface="Calibri" pitchFamily="34" charset="-122"/>
                          <a:cs typeface="Calibri" pitchFamily="34" charset="-120"/>
                        </a:rPr>
                        <a:t>AWS per-token</a:t>
                      </a:r>
                      <a:endParaRPr lang="en-US" sz="1250" dirty="0">
                        <a:latin typeface="Calibri" charset="0"/>
                        <a:ea typeface="Calibri" charset="0"/>
                        <a:cs typeface="Calibri" charset="0"/>
                      </a:endParaRPr>
                    </a:p>
                  </a:txBody>
                  <a:tcPr marL="88900" marR="63500" marT="25400" marB="254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A3835"/>
                          </a:solidFill>
                          <a:latin typeface="Calibri" pitchFamily="34" charset="0"/>
                          <a:ea typeface="Calibri" pitchFamily="34" charset="-122"/>
                          <a:cs typeface="Calibri" pitchFamily="34" charset="-120"/>
                        </a:rPr>
                        <a:t>AWS Marketplace (CCUs)</a:t>
                      </a:r>
                      <a:endParaRPr lang="en-US" sz="1250" dirty="0">
                        <a:latin typeface="Calibri" charset="0"/>
                        <a:ea typeface="Calibri" charset="0"/>
                        <a:cs typeface="Calibri" charset="0"/>
                      </a:endParaRPr>
                    </a:p>
                  </a:txBody>
                  <a:tcPr marL="88900" marR="63500" marT="25400" marB="254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A3835"/>
                          </a:solidFill>
                          <a:latin typeface="Calibri" pitchFamily="34" charset="0"/>
                          <a:ea typeface="Calibri" pitchFamily="34" charset="-122"/>
                          <a:cs typeface="Calibri" pitchFamily="34" charset="-120"/>
                        </a:rPr>
                        <a:t>Anthropic per-token</a:t>
                      </a:r>
                      <a:endParaRPr lang="en-US" sz="1250" dirty="0">
                        <a:latin typeface="Calibri" charset="0"/>
                        <a:ea typeface="Calibri" charset="0"/>
                        <a:cs typeface="Calibri" charset="0"/>
                      </a:endParaRPr>
                    </a:p>
                  </a:txBody>
                  <a:tcPr marL="88900" marR="63500" marT="25400" marB="254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250" b="1" dirty="0">
                          <a:solidFill>
                            <a:srgbClr val="1F1E1D"/>
                          </a:solidFill>
                          <a:latin typeface="Calibri" pitchFamily="34" charset="0"/>
                          <a:ea typeface="Calibri" pitchFamily="34" charset="-122"/>
                          <a:cs typeface="Calibri" pitchFamily="34" charset="-120"/>
                        </a:rPr>
                        <a:t>Auth</a:t>
                      </a:r>
                      <a:endParaRPr lang="en-US" sz="1250" dirty="0">
                        <a:latin typeface="Calibri" charset="0"/>
                        <a:ea typeface="Calibri" charset="0"/>
                        <a:cs typeface="Calibri" charset="0"/>
                      </a:endParaRPr>
                    </a:p>
                  </a:txBody>
                  <a:tcPr marL="88900" marR="63500" marT="25400" marB="254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0EEE6"/>
                    </a:solidFill>
                  </a:tcPr>
                </a:tc>
                <a:tc>
                  <a:txBody>
                    <a:bodyPr/>
                    <a:lstStyle/>
                    <a:p>
                      <a:pPr marL="0" indent="0" algn="ctr">
                        <a:buNone/>
                      </a:pPr>
                      <a:r>
                        <a:rPr lang="en-US" sz="1250" dirty="0">
                          <a:solidFill>
                            <a:srgbClr val="3A3835"/>
                          </a:solidFill>
                          <a:latin typeface="Calibri" pitchFamily="34" charset="0"/>
                          <a:ea typeface="Calibri" pitchFamily="34" charset="-122"/>
                          <a:cs typeface="Calibri" pitchFamily="34" charset="-120"/>
                        </a:rPr>
                        <a:t>AWS IAM + SigV4</a:t>
                      </a:r>
                      <a:endParaRPr lang="en-US" sz="1250" dirty="0">
                        <a:latin typeface="Calibri" charset="0"/>
                        <a:ea typeface="Calibri" charset="0"/>
                        <a:cs typeface="Calibri" charset="0"/>
                      </a:endParaRPr>
                    </a:p>
                  </a:txBody>
                  <a:tcPr marL="88900" marR="63500" marT="25400" marB="254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AF9F5"/>
                    </a:solidFill>
                  </a:tcPr>
                </a:tc>
                <a:tc>
                  <a:txBody>
                    <a:bodyPr/>
                    <a:lstStyle/>
                    <a:p>
                      <a:pPr marL="0" indent="0" algn="ctr">
                        <a:buNone/>
                      </a:pPr>
                      <a:r>
                        <a:rPr lang="en-US" sz="1250" dirty="0">
                          <a:solidFill>
                            <a:srgbClr val="3A3835"/>
                          </a:solidFill>
                          <a:latin typeface="Calibri" pitchFamily="34" charset="0"/>
                          <a:ea typeface="Calibri" pitchFamily="34" charset="-122"/>
                          <a:cs typeface="Calibri" pitchFamily="34" charset="-120"/>
                        </a:rPr>
                        <a:t>AWS IAM + SigV4</a:t>
                      </a:r>
                      <a:endParaRPr lang="en-US" sz="1250" dirty="0">
                        <a:latin typeface="Calibri" charset="0"/>
                        <a:ea typeface="Calibri" charset="0"/>
                        <a:cs typeface="Calibri" charset="0"/>
                      </a:endParaRPr>
                    </a:p>
                  </a:txBody>
                  <a:tcPr marL="88900" marR="63500" marT="25400" marB="254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AF9F5"/>
                    </a:solidFill>
                  </a:tcPr>
                </a:tc>
                <a:tc>
                  <a:txBody>
                    <a:bodyPr/>
                    <a:lstStyle/>
                    <a:p>
                      <a:pPr marL="0" indent="0" algn="ctr">
                        <a:buNone/>
                      </a:pPr>
                      <a:r>
                        <a:rPr lang="en-US" sz="1250" dirty="0">
                          <a:solidFill>
                            <a:srgbClr val="3A3835"/>
                          </a:solidFill>
                          <a:latin typeface="Calibri" pitchFamily="34" charset="0"/>
                          <a:ea typeface="Calibri" pitchFamily="34" charset="-122"/>
                          <a:cs typeface="Calibri" pitchFamily="34" charset="-120"/>
                        </a:rPr>
                        <a:t>Anthropic API key</a:t>
                      </a:r>
                      <a:endParaRPr lang="en-US" sz="1250" dirty="0">
                        <a:latin typeface="Calibri" charset="0"/>
                        <a:ea typeface="Calibri" charset="0"/>
                        <a:cs typeface="Calibri" charset="0"/>
                      </a:endParaRPr>
                    </a:p>
                  </a:txBody>
                  <a:tcPr marL="88900" marR="63500" marT="25400" marB="254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AF9F5"/>
                    </a:solidFill>
                  </a:tcPr>
                </a:tc>
                <a:extLst>
                  <a:ext uri="{0D108BD9-81ED-4DB2-BD59-A6C34878D82A}">
                    <a16:rowId xmlns:a16="http://schemas.microsoft.com/office/drawing/2014/main" val="10004"/>
                  </a:ext>
                </a:extLst>
              </a:tr>
              <a:tr h="457200">
                <a:tc>
                  <a:txBody>
                    <a:bodyPr/>
                    <a:lstStyle/>
                    <a:p>
                      <a:pPr marL="0" indent="0" algn="l">
                        <a:buNone/>
                      </a:pPr>
                      <a:r>
                        <a:rPr lang="en-US" sz="1250" b="1" dirty="0">
                          <a:solidFill>
                            <a:srgbClr val="1F1E1D"/>
                          </a:solidFill>
                          <a:latin typeface="Calibri" pitchFamily="34" charset="0"/>
                          <a:ea typeface="Calibri" pitchFamily="34" charset="-122"/>
                          <a:cs typeface="Calibri" pitchFamily="34" charset="-120"/>
                        </a:rPr>
                        <a:t>New features</a:t>
                      </a:r>
                      <a:endParaRPr lang="en-US" sz="1250" dirty="0">
                        <a:latin typeface="Calibri" charset="0"/>
                        <a:ea typeface="Calibri" charset="0"/>
                        <a:cs typeface="Calibri" charset="0"/>
                      </a:endParaRPr>
                    </a:p>
                  </a:txBody>
                  <a:tcPr marL="88900" marR="63500" marT="25400" marB="254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0EEE6"/>
                    </a:solidFill>
                  </a:tcPr>
                </a:tc>
                <a:tc>
                  <a:txBody>
                    <a:bodyPr/>
                    <a:lstStyle/>
                    <a:p>
                      <a:pPr marL="0" indent="0" algn="ctr">
                        <a:buNone/>
                      </a:pPr>
                      <a:r>
                        <a:rPr lang="en-US" sz="1250" dirty="0">
                          <a:solidFill>
                            <a:srgbClr val="3A3835"/>
                          </a:solidFill>
                          <a:latin typeface="Calibri" pitchFamily="34" charset="0"/>
                          <a:ea typeface="Calibri" pitchFamily="34" charset="-122"/>
                          <a:cs typeface="Calibri" pitchFamily="34" charset="-120"/>
                        </a:rPr>
                        <a:t>Days to weeks later</a:t>
                      </a:r>
                      <a:endParaRPr lang="en-US" sz="1250" dirty="0">
                        <a:latin typeface="Calibri" charset="0"/>
                        <a:ea typeface="Calibri" charset="0"/>
                        <a:cs typeface="Calibri" charset="0"/>
                      </a:endParaRPr>
                    </a:p>
                  </a:txBody>
                  <a:tcPr marL="88900" marR="63500" marT="25400" marB="254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A3835"/>
                          </a:solidFill>
                          <a:latin typeface="Calibri" pitchFamily="34" charset="0"/>
                          <a:ea typeface="Calibri" pitchFamily="34" charset="-122"/>
                          <a:cs typeface="Calibri" pitchFamily="34" charset="-120"/>
                        </a:rPr>
                        <a:t>Same day</a:t>
                      </a:r>
                      <a:endParaRPr lang="en-US" sz="1250" dirty="0">
                        <a:latin typeface="Calibri" charset="0"/>
                        <a:ea typeface="Calibri" charset="0"/>
                        <a:cs typeface="Calibri" charset="0"/>
                      </a:endParaRPr>
                    </a:p>
                  </a:txBody>
                  <a:tcPr marL="88900" marR="63500" marT="25400" marB="254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A3835"/>
                          </a:solidFill>
                          <a:latin typeface="Calibri" pitchFamily="34" charset="0"/>
                          <a:ea typeface="Calibri" pitchFamily="34" charset="-122"/>
                          <a:cs typeface="Calibri" pitchFamily="34" charset="-120"/>
                        </a:rPr>
                        <a:t>Same day</a:t>
                      </a:r>
                      <a:endParaRPr lang="en-US" sz="1250" dirty="0">
                        <a:latin typeface="Calibri" charset="0"/>
                        <a:ea typeface="Calibri" charset="0"/>
                        <a:cs typeface="Calibri" charset="0"/>
                      </a:endParaRPr>
                    </a:p>
                  </a:txBody>
                  <a:tcPr marL="88900" marR="63500" marT="25400" marB="254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250" b="1" dirty="0">
                          <a:solidFill>
                            <a:srgbClr val="1F1E1D"/>
                          </a:solidFill>
                          <a:latin typeface="Calibri" pitchFamily="34" charset="0"/>
                          <a:ea typeface="Calibri" pitchFamily="34" charset="-122"/>
                          <a:cs typeface="Calibri" pitchFamily="34" charset="-120"/>
                        </a:rPr>
                        <a:t>Managed Agents / MCP</a:t>
                      </a:r>
                      <a:endParaRPr lang="en-US" sz="1250" dirty="0">
                        <a:latin typeface="Calibri" charset="0"/>
                        <a:ea typeface="Calibri" charset="0"/>
                        <a:cs typeface="Calibri" charset="0"/>
                      </a:endParaRPr>
                    </a:p>
                  </a:txBody>
                  <a:tcPr marL="88900" marR="63500" marT="25400" marB="254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0EEE6"/>
                    </a:solidFill>
                  </a:tcPr>
                </a:tc>
                <a:tc>
                  <a:txBody>
                    <a:bodyPr/>
                    <a:lstStyle/>
                    <a:p>
                      <a:pPr marL="0" indent="0" algn="ctr">
                        <a:buNone/>
                      </a:pPr>
                      <a:r>
                        <a:rPr lang="en-US" sz="1250" dirty="0">
                          <a:solidFill>
                            <a:srgbClr val="3A3835"/>
                          </a:solidFill>
                          <a:latin typeface="Calibri" pitchFamily="34" charset="0"/>
                          <a:ea typeface="Calibri" pitchFamily="34" charset="-122"/>
                          <a:cs typeface="Calibri" pitchFamily="34" charset="-120"/>
                        </a:rPr>
                        <a:t>Bedrock has its own</a:t>
                      </a:r>
                      <a:endParaRPr lang="en-US" sz="1250" dirty="0">
                        <a:latin typeface="Calibri" charset="0"/>
                        <a:ea typeface="Calibri" charset="0"/>
                        <a:cs typeface="Calibri" charset="0"/>
                      </a:endParaRPr>
                    </a:p>
                  </a:txBody>
                  <a:tcPr marL="88900" marR="63500" marT="25400" marB="254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AF9F5"/>
                    </a:solidFill>
                  </a:tcPr>
                </a:tc>
                <a:tc>
                  <a:txBody>
                    <a:bodyPr/>
                    <a:lstStyle/>
                    <a:p>
                      <a:pPr marL="0" indent="0" algn="ctr">
                        <a:buNone/>
                      </a:pPr>
                      <a:r>
                        <a:rPr lang="en-US" sz="1250" dirty="0">
                          <a:solidFill>
                            <a:srgbClr val="3A3835"/>
                          </a:solidFill>
                          <a:latin typeface="Calibri" pitchFamily="34" charset="0"/>
                          <a:ea typeface="Calibri" pitchFamily="34" charset="-122"/>
                          <a:cs typeface="Calibri" pitchFamily="34" charset="-120"/>
                        </a:rPr>
                        <a:t>Yes (beta)</a:t>
                      </a:r>
                      <a:endParaRPr lang="en-US" sz="1250" dirty="0">
                        <a:latin typeface="Calibri" charset="0"/>
                        <a:ea typeface="Calibri" charset="0"/>
                        <a:cs typeface="Calibri" charset="0"/>
                      </a:endParaRPr>
                    </a:p>
                  </a:txBody>
                  <a:tcPr marL="88900" marR="63500" marT="25400" marB="254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AF9F5"/>
                    </a:solidFill>
                  </a:tcPr>
                </a:tc>
                <a:tc>
                  <a:txBody>
                    <a:bodyPr/>
                    <a:lstStyle/>
                    <a:p>
                      <a:pPr marL="0" indent="0" algn="ctr">
                        <a:buNone/>
                      </a:pPr>
                      <a:r>
                        <a:rPr lang="en-US" sz="1250" dirty="0">
                          <a:solidFill>
                            <a:srgbClr val="3A3835"/>
                          </a:solidFill>
                          <a:latin typeface="Calibri" pitchFamily="34" charset="0"/>
                          <a:ea typeface="Calibri" pitchFamily="34" charset="-122"/>
                          <a:cs typeface="Calibri" pitchFamily="34" charset="-120"/>
                        </a:rPr>
                        <a:t>Yes (beta)</a:t>
                      </a:r>
                      <a:endParaRPr lang="en-US" sz="1250" dirty="0">
                        <a:latin typeface="Calibri" charset="0"/>
                        <a:ea typeface="Calibri" charset="0"/>
                        <a:cs typeface="Calibri" charset="0"/>
                      </a:endParaRPr>
                    </a:p>
                  </a:txBody>
                  <a:tcPr marL="88900" marR="63500" marT="25400" marB="254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AF9F5"/>
                    </a:solidFill>
                  </a:tcPr>
                </a:tc>
                <a:extLst>
                  <a:ext uri="{0D108BD9-81ED-4DB2-BD59-A6C34878D82A}">
                    <a16:rowId xmlns:a16="http://schemas.microsoft.com/office/drawing/2014/main" val="10006"/>
                  </a:ext>
                </a:extLst>
              </a:tr>
            </a:tbl>
          </a:graphicData>
        </a:graphic>
      </p:graphicFrame>
      <p:sp>
        <p:nvSpPr>
          <p:cNvPr id="6" name="Text 3"/>
          <p:cNvSpPr/>
          <p:nvPr/>
        </p:nvSpPr>
        <p:spPr>
          <a:xfrm>
            <a:off x="566928" y="5852160"/>
            <a:ext cx="11064240" cy="365760"/>
          </a:xfrm>
          <a:prstGeom prst="rect">
            <a:avLst/>
          </a:prstGeom>
          <a:noFill/>
          <a:ln/>
        </p:spPr>
        <p:txBody>
          <a:bodyPr wrap="square" lIns="0" tIns="0" rIns="0" bIns="0" rtlCol="0" anchor="ctr"/>
          <a:lstStyle/>
          <a:p>
            <a:pPr marL="0" indent="0">
              <a:buNone/>
            </a:pPr>
            <a:r>
              <a:rPr lang="en-US" sz="1150" i="1" dirty="0">
                <a:solidFill>
                  <a:srgbClr val="73726C"/>
                </a:solidFill>
                <a:latin typeface="Calibri" pitchFamily="34" charset="0"/>
                <a:ea typeface="Calibri" pitchFamily="34" charset="-122"/>
                <a:cs typeface="Calibri" pitchFamily="34" charset="-120"/>
              </a:rPr>
              <a:t>Google Vertex AI offers Claude on the same principle for GCP-first teams. Pick the path that matches the cloud you already live in.</a:t>
            </a:r>
            <a:endParaRPr lang="en-US" sz="1150" dirty="0"/>
          </a:p>
        </p:txBody>
      </p:sp>
      <p:pic>
        <p:nvPicPr>
          <p:cNvPr id="7" name="Image 0" descr="/agent/turn1/workspace/assets/spark_coral.png"/>
          <p:cNvPicPr>
            <a:picLocks noChangeAspect="1"/>
          </p:cNvPicPr>
          <p:nvPr/>
        </p:nvPicPr>
        <p:blipFill>
          <a:blip r:embed="rId3"/>
          <a:stretch>
            <a:fillRect/>
          </a:stretch>
        </p:blipFill>
        <p:spPr>
          <a:xfrm>
            <a:off x="566928" y="6419088"/>
            <a:ext cx="201168" cy="201168"/>
          </a:xfrm>
          <a:prstGeom prst="rect">
            <a:avLst/>
          </a:prstGeom>
        </p:spPr>
      </p:pic>
      <p:sp>
        <p:nvSpPr>
          <p:cNvPr id="8" name="Text 4"/>
          <p:cNvSpPr/>
          <p:nvPr/>
        </p:nvSpPr>
        <p:spPr>
          <a:xfrm>
            <a:off x="841248" y="6364224"/>
            <a:ext cx="6400800" cy="310896"/>
          </a:xfrm>
          <a:prstGeom prst="rect">
            <a:avLst/>
          </a:prstGeom>
          <a:noFill/>
          <a:ln/>
        </p:spPr>
        <p:txBody>
          <a:bodyPr wrap="square" lIns="0" tIns="0" rIns="0" bIns="0" rtlCol="0" anchor="ctr"/>
          <a:lstStyle/>
          <a:p>
            <a:pPr marL="0" indent="0" algn="l">
              <a:buNone/>
            </a:pPr>
            <a:r>
              <a:rPr lang="en-US" sz="950" kern="0" spc="50" dirty="0">
                <a:solidFill>
                  <a:srgbClr val="73726C"/>
                </a:solidFill>
                <a:latin typeface="Calibri" pitchFamily="34" charset="0"/>
                <a:ea typeface="Calibri" pitchFamily="34" charset="-122"/>
                <a:cs typeface="Calibri" pitchFamily="34" charset="-120"/>
              </a:rPr>
              <a:t>Claude Cowork  ·  Developer Training</a:t>
            </a:r>
            <a:endParaRPr lang="en-US" sz="950" dirty="0"/>
          </a:p>
        </p:txBody>
      </p:sp>
      <p:sp>
        <p:nvSpPr>
          <p:cNvPr id="9" name="Text 5"/>
          <p:cNvSpPr/>
          <p:nvPr/>
        </p:nvSpPr>
        <p:spPr>
          <a:xfrm>
            <a:off x="10972800" y="6364224"/>
            <a:ext cx="685800" cy="310896"/>
          </a:xfrm>
          <a:prstGeom prst="rect">
            <a:avLst/>
          </a:prstGeom>
          <a:noFill/>
          <a:ln/>
        </p:spPr>
        <p:txBody>
          <a:bodyPr wrap="square" lIns="0" tIns="0" rIns="0" bIns="0" rtlCol="0" anchor="ctr"/>
          <a:lstStyle/>
          <a:p>
            <a:pPr marL="0" indent="0" algn="r">
              <a:buNone/>
            </a:pPr>
            <a:r>
              <a:rPr lang="en-US" sz="950" b="1" dirty="0">
                <a:solidFill>
                  <a:srgbClr val="73726C"/>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EEE6"/>
        </a:solidFill>
        <a:effectLst/>
      </p:bgPr>
    </p:bg>
    <p:spTree>
      <p:nvGrpSpPr>
        <p:cNvPr id="1" name=""/>
        <p:cNvGrpSpPr/>
        <p:nvPr/>
      </p:nvGrpSpPr>
      <p:grpSpPr>
        <a:xfrm>
          <a:off x="0" y="0"/>
          <a:ext cx="0" cy="0"/>
          <a:chOff x="0" y="0"/>
          <a:chExt cx="0" cy="0"/>
        </a:xfrm>
      </p:grpSpPr>
      <p:sp>
        <p:nvSpPr>
          <p:cNvPr id="2" name="Text 0"/>
          <p:cNvSpPr/>
          <p:nvPr/>
        </p:nvSpPr>
        <p:spPr>
          <a:xfrm>
            <a:off x="566928" y="457200"/>
            <a:ext cx="10058400" cy="274320"/>
          </a:xfrm>
          <a:prstGeom prst="rect">
            <a:avLst/>
          </a:prstGeom>
          <a:noFill/>
          <a:ln/>
        </p:spPr>
        <p:txBody>
          <a:bodyPr wrap="square" lIns="0" tIns="0" rIns="0" bIns="0" rtlCol="0" anchor="ctr"/>
          <a:lstStyle/>
          <a:p>
            <a:pPr marL="0" indent="0" algn="l">
              <a:buNone/>
            </a:pPr>
            <a:r>
              <a:rPr lang="en-US" sz="1200" b="1" kern="0" spc="250" dirty="0">
                <a:solidFill>
                  <a:srgbClr val="D97757"/>
                </a:solidFill>
                <a:latin typeface="Calibri" pitchFamily="34" charset="0"/>
                <a:ea typeface="Calibri" pitchFamily="34" charset="-122"/>
                <a:cs typeface="Calibri" pitchFamily="34" charset="-120"/>
              </a:rPr>
              <a:t>TOOL-FOR-TASK SELECTION</a:t>
            </a:r>
            <a:endParaRPr lang="en-US" sz="1200" dirty="0"/>
          </a:p>
        </p:txBody>
      </p:sp>
      <p:sp>
        <p:nvSpPr>
          <p:cNvPr id="3" name="Text 1"/>
          <p:cNvSpPr/>
          <p:nvPr/>
        </p:nvSpPr>
        <p:spPr>
          <a:xfrm>
            <a:off x="566928" y="749808"/>
            <a:ext cx="11064240" cy="777240"/>
          </a:xfrm>
          <a:prstGeom prst="rect">
            <a:avLst/>
          </a:prstGeom>
          <a:noFill/>
          <a:ln/>
        </p:spPr>
        <p:txBody>
          <a:bodyPr wrap="square" lIns="0" tIns="0" rIns="0" bIns="0" rtlCol="0" anchor="t"/>
          <a:lstStyle/>
          <a:p>
            <a:pPr marL="0" indent="0" algn="l">
              <a:lnSpc>
                <a:spcPct val="98000"/>
              </a:lnSpc>
              <a:buNone/>
            </a:pPr>
            <a:r>
              <a:rPr lang="en-US" sz="3000" b="1" dirty="0">
                <a:solidFill>
                  <a:srgbClr val="1F1E1D"/>
                </a:solidFill>
                <a:latin typeface="Georgia" pitchFamily="34" charset="0"/>
                <a:ea typeface="Georgia" pitchFamily="34" charset="-122"/>
                <a:cs typeface="Georgia" pitchFamily="34" charset="-120"/>
              </a:rPr>
              <a:t>Four levers to weigh on every task</a:t>
            </a:r>
            <a:endParaRPr lang="en-US" sz="3000" dirty="0"/>
          </a:p>
        </p:txBody>
      </p:sp>
      <p:sp>
        <p:nvSpPr>
          <p:cNvPr id="4" name="Shape 2"/>
          <p:cNvSpPr/>
          <p:nvPr/>
        </p:nvSpPr>
        <p:spPr>
          <a:xfrm>
            <a:off x="566928" y="1783080"/>
            <a:ext cx="5532120" cy="1993392"/>
          </a:xfrm>
          <a:prstGeom prst="roundRect">
            <a:avLst>
              <a:gd name="adj" fmla="val 4128"/>
            </a:avLst>
          </a:prstGeom>
          <a:solidFill>
            <a:srgbClr val="FFFFFF"/>
          </a:solidFill>
          <a:ln w="12700">
            <a:solidFill>
              <a:srgbClr val="E3E0D6"/>
            </a:solidFill>
            <a:prstDash val="solid"/>
          </a:ln>
          <a:effectLst>
            <a:outerShdw blurRad="114300" dist="38100" dir="5400000" algn="bl" rotWithShape="0">
              <a:srgbClr val="1F1E1D">
                <a:alpha val="10000"/>
              </a:srgbClr>
            </a:outerShdw>
          </a:effectLst>
        </p:spPr>
        <p:txBody>
          <a:bodyPr/>
          <a:lstStyle/>
          <a:p>
            <a:endParaRPr lang="en-IN"/>
          </a:p>
        </p:txBody>
      </p:sp>
      <p:sp>
        <p:nvSpPr>
          <p:cNvPr id="5" name="Shape 3"/>
          <p:cNvSpPr/>
          <p:nvPr/>
        </p:nvSpPr>
        <p:spPr>
          <a:xfrm>
            <a:off x="841248" y="2057400"/>
            <a:ext cx="566928" cy="566928"/>
          </a:xfrm>
          <a:prstGeom prst="ellipse">
            <a:avLst/>
          </a:prstGeom>
          <a:solidFill>
            <a:srgbClr val="C2613F"/>
          </a:solidFill>
          <a:ln/>
        </p:spPr>
        <p:txBody>
          <a:bodyPr/>
          <a:lstStyle/>
          <a:p>
            <a:endParaRPr lang="en-IN"/>
          </a:p>
        </p:txBody>
      </p:sp>
      <p:sp>
        <p:nvSpPr>
          <p:cNvPr id="6" name="Text 4"/>
          <p:cNvSpPr/>
          <p:nvPr/>
        </p:nvSpPr>
        <p:spPr>
          <a:xfrm>
            <a:off x="841248" y="2057400"/>
            <a:ext cx="566928" cy="566928"/>
          </a:xfrm>
          <a:prstGeom prst="rect">
            <a:avLst/>
          </a:prstGeom>
          <a:noFill/>
          <a:ln/>
        </p:spPr>
        <p:txBody>
          <a:bodyPr wrap="square" lIns="0" tIns="0" rIns="0" bIns="0"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1</a:t>
            </a:r>
            <a:endParaRPr lang="en-US" sz="2400" dirty="0"/>
          </a:p>
        </p:txBody>
      </p:sp>
      <p:sp>
        <p:nvSpPr>
          <p:cNvPr id="7" name="Text 5"/>
          <p:cNvSpPr/>
          <p:nvPr/>
        </p:nvSpPr>
        <p:spPr>
          <a:xfrm>
            <a:off x="1554480" y="2039112"/>
            <a:ext cx="4343400" cy="329184"/>
          </a:xfrm>
          <a:prstGeom prst="rect">
            <a:avLst/>
          </a:prstGeom>
          <a:noFill/>
          <a:ln/>
        </p:spPr>
        <p:txBody>
          <a:bodyPr wrap="square" lIns="0" tIns="0" rIns="0" bIns="0" rtlCol="0" anchor="ctr"/>
          <a:lstStyle/>
          <a:p>
            <a:pPr marL="0" indent="0">
              <a:buNone/>
            </a:pPr>
            <a:r>
              <a:rPr lang="en-US" sz="1800" b="1" dirty="0">
                <a:solidFill>
                  <a:srgbClr val="1F1E1D"/>
                </a:solidFill>
                <a:latin typeface="Georgia" pitchFamily="34" charset="0"/>
                <a:ea typeface="Georgia" pitchFamily="34" charset="-122"/>
                <a:cs typeface="Georgia" pitchFamily="34" charset="-120"/>
              </a:rPr>
              <a:t>Capability</a:t>
            </a:r>
            <a:endParaRPr lang="en-US" sz="1800" dirty="0"/>
          </a:p>
        </p:txBody>
      </p:sp>
      <p:sp>
        <p:nvSpPr>
          <p:cNvPr id="8" name="Text 6"/>
          <p:cNvSpPr/>
          <p:nvPr/>
        </p:nvSpPr>
        <p:spPr>
          <a:xfrm>
            <a:off x="1554480" y="2386584"/>
            <a:ext cx="4343400" cy="274320"/>
          </a:xfrm>
          <a:prstGeom prst="rect">
            <a:avLst/>
          </a:prstGeom>
          <a:noFill/>
          <a:ln/>
        </p:spPr>
        <p:txBody>
          <a:bodyPr wrap="square" lIns="0" tIns="0" rIns="0" bIns="0" rtlCol="0" anchor="ctr"/>
          <a:lstStyle/>
          <a:p>
            <a:pPr marL="0" indent="0">
              <a:buNone/>
            </a:pPr>
            <a:r>
              <a:rPr lang="en-US" sz="1200" b="1" dirty="0">
                <a:solidFill>
                  <a:srgbClr val="C2613F"/>
                </a:solidFill>
                <a:latin typeface="Calibri" pitchFamily="34" charset="0"/>
                <a:ea typeface="Calibri" pitchFamily="34" charset="-122"/>
                <a:cs typeface="Calibri" pitchFamily="34" charset="-120"/>
              </a:rPr>
              <a:t>Match intelligence to task hardness</a:t>
            </a:r>
            <a:endParaRPr lang="en-US" sz="1200" dirty="0"/>
          </a:p>
        </p:txBody>
      </p:sp>
      <p:sp>
        <p:nvSpPr>
          <p:cNvPr id="9" name="Text 7"/>
          <p:cNvSpPr/>
          <p:nvPr/>
        </p:nvSpPr>
        <p:spPr>
          <a:xfrm>
            <a:off x="877824" y="2807208"/>
            <a:ext cx="4928616" cy="850392"/>
          </a:xfrm>
          <a:prstGeom prst="rect">
            <a:avLst/>
          </a:prstGeom>
          <a:noFill/>
          <a:ln/>
        </p:spPr>
        <p:txBody>
          <a:bodyPr wrap="square" lIns="0" tIns="0" rIns="0" bIns="0" rtlCol="0" anchor="t"/>
          <a:lstStyle/>
          <a:p>
            <a:pPr marL="152400" indent="-152400">
              <a:lnSpc>
                <a:spcPct val="100000"/>
              </a:lnSpc>
              <a:spcAft>
                <a:spcPts val="500"/>
              </a:spcAft>
              <a:buSzPct val="100000"/>
              <a:buChar char="•"/>
            </a:pPr>
            <a:r>
              <a:rPr lang="en-US" sz="1200" dirty="0">
                <a:solidFill>
                  <a:srgbClr val="3A3835"/>
                </a:solidFill>
                <a:latin typeface="Calibri" pitchFamily="34" charset="0"/>
                <a:ea typeface="Calibri" pitchFamily="34" charset="-122"/>
                <a:cs typeface="Calibri" pitchFamily="34" charset="-120"/>
              </a:rPr>
              <a:t>Start on Haiku and upgrade only if it falls short</a:t>
            </a:r>
            <a:endParaRPr lang="en-US" sz="1200" dirty="0"/>
          </a:p>
          <a:p>
            <a:pPr marL="152400" indent="-152400">
              <a:lnSpc>
                <a:spcPct val="100000"/>
              </a:lnSpc>
              <a:spcAft>
                <a:spcPts val="500"/>
              </a:spcAft>
              <a:buSzPct val="100000"/>
              <a:buChar char="•"/>
            </a:pPr>
            <a:r>
              <a:rPr lang="en-US" sz="1200" dirty="0">
                <a:solidFill>
                  <a:srgbClr val="3A3835"/>
                </a:solidFill>
                <a:latin typeface="Calibri" pitchFamily="34" charset="0"/>
                <a:ea typeface="Calibri" pitchFamily="34" charset="-122"/>
                <a:cs typeface="Calibri" pitchFamily="34" charset="-120"/>
              </a:rPr>
              <a:t>Or start on Opus, then optimize down</a:t>
            </a:r>
            <a:endParaRPr lang="en-US" sz="1200" dirty="0"/>
          </a:p>
          <a:p>
            <a:pPr marL="152400" indent="-152400">
              <a:lnSpc>
                <a:spcPct val="100000"/>
              </a:lnSpc>
              <a:spcAft>
                <a:spcPts val="500"/>
              </a:spcAft>
              <a:buSzPct val="100000"/>
              <a:buChar char="•"/>
            </a:pPr>
            <a:r>
              <a:rPr lang="en-US" sz="1200" dirty="0">
                <a:solidFill>
                  <a:srgbClr val="3A3835"/>
                </a:solidFill>
                <a:latin typeface="Calibri" pitchFamily="34" charset="0"/>
                <a:ea typeface="Calibri" pitchFamily="34" charset="-122"/>
                <a:cs typeface="Calibri" pitchFamily="34" charset="-120"/>
              </a:rPr>
              <a:t>Tune effort before you switch tiers</a:t>
            </a:r>
            <a:endParaRPr lang="en-US" sz="1200" dirty="0"/>
          </a:p>
        </p:txBody>
      </p:sp>
      <p:sp>
        <p:nvSpPr>
          <p:cNvPr id="10" name="Shape 8"/>
          <p:cNvSpPr/>
          <p:nvPr/>
        </p:nvSpPr>
        <p:spPr>
          <a:xfrm>
            <a:off x="6281928" y="1783080"/>
            <a:ext cx="5532120" cy="1993392"/>
          </a:xfrm>
          <a:prstGeom prst="roundRect">
            <a:avLst>
              <a:gd name="adj" fmla="val 4128"/>
            </a:avLst>
          </a:prstGeom>
          <a:solidFill>
            <a:srgbClr val="FFFFFF"/>
          </a:solidFill>
          <a:ln w="12700">
            <a:solidFill>
              <a:srgbClr val="E3E0D6"/>
            </a:solidFill>
            <a:prstDash val="solid"/>
          </a:ln>
          <a:effectLst>
            <a:outerShdw blurRad="114300" dist="38100" dir="5400000" algn="bl" rotWithShape="0">
              <a:srgbClr val="1F1E1D">
                <a:alpha val="10000"/>
              </a:srgbClr>
            </a:outerShdw>
          </a:effectLst>
        </p:spPr>
        <p:txBody>
          <a:bodyPr/>
          <a:lstStyle/>
          <a:p>
            <a:endParaRPr lang="en-IN"/>
          </a:p>
        </p:txBody>
      </p:sp>
      <p:sp>
        <p:nvSpPr>
          <p:cNvPr id="11" name="Shape 9"/>
          <p:cNvSpPr/>
          <p:nvPr/>
        </p:nvSpPr>
        <p:spPr>
          <a:xfrm>
            <a:off x="6556248" y="2057400"/>
            <a:ext cx="566928" cy="566928"/>
          </a:xfrm>
          <a:prstGeom prst="ellipse">
            <a:avLst/>
          </a:prstGeom>
          <a:solidFill>
            <a:srgbClr val="D97757"/>
          </a:solidFill>
          <a:ln/>
        </p:spPr>
        <p:txBody>
          <a:bodyPr/>
          <a:lstStyle/>
          <a:p>
            <a:endParaRPr lang="en-IN"/>
          </a:p>
        </p:txBody>
      </p:sp>
      <p:sp>
        <p:nvSpPr>
          <p:cNvPr id="12" name="Text 10"/>
          <p:cNvSpPr/>
          <p:nvPr/>
        </p:nvSpPr>
        <p:spPr>
          <a:xfrm>
            <a:off x="6556248" y="2057400"/>
            <a:ext cx="566928" cy="566928"/>
          </a:xfrm>
          <a:prstGeom prst="rect">
            <a:avLst/>
          </a:prstGeom>
          <a:noFill/>
          <a:ln/>
        </p:spPr>
        <p:txBody>
          <a:bodyPr wrap="square" lIns="0" tIns="0" rIns="0" bIns="0"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2</a:t>
            </a:r>
            <a:endParaRPr lang="en-US" sz="2400" dirty="0"/>
          </a:p>
        </p:txBody>
      </p:sp>
      <p:sp>
        <p:nvSpPr>
          <p:cNvPr id="13" name="Text 11"/>
          <p:cNvSpPr/>
          <p:nvPr/>
        </p:nvSpPr>
        <p:spPr>
          <a:xfrm>
            <a:off x="7269480" y="2039112"/>
            <a:ext cx="4343400" cy="329184"/>
          </a:xfrm>
          <a:prstGeom prst="rect">
            <a:avLst/>
          </a:prstGeom>
          <a:noFill/>
          <a:ln/>
        </p:spPr>
        <p:txBody>
          <a:bodyPr wrap="square" lIns="0" tIns="0" rIns="0" bIns="0" rtlCol="0" anchor="ctr"/>
          <a:lstStyle/>
          <a:p>
            <a:pPr marL="0" indent="0">
              <a:buNone/>
            </a:pPr>
            <a:r>
              <a:rPr lang="en-US" sz="1800" b="1" dirty="0">
                <a:solidFill>
                  <a:srgbClr val="1F1E1D"/>
                </a:solidFill>
                <a:latin typeface="Georgia" pitchFamily="34" charset="0"/>
                <a:ea typeface="Georgia" pitchFamily="34" charset="-122"/>
                <a:cs typeface="Georgia" pitchFamily="34" charset="-120"/>
              </a:rPr>
              <a:t>Context length</a:t>
            </a:r>
            <a:endParaRPr lang="en-US" sz="1800" dirty="0"/>
          </a:p>
        </p:txBody>
      </p:sp>
      <p:sp>
        <p:nvSpPr>
          <p:cNvPr id="14" name="Text 12"/>
          <p:cNvSpPr/>
          <p:nvPr/>
        </p:nvSpPr>
        <p:spPr>
          <a:xfrm>
            <a:off x="7269480" y="2386584"/>
            <a:ext cx="4343400" cy="274320"/>
          </a:xfrm>
          <a:prstGeom prst="rect">
            <a:avLst/>
          </a:prstGeom>
          <a:noFill/>
          <a:ln/>
        </p:spPr>
        <p:txBody>
          <a:bodyPr wrap="square" lIns="0" tIns="0" rIns="0" bIns="0" rtlCol="0" anchor="ctr"/>
          <a:lstStyle/>
          <a:p>
            <a:pPr marL="0" indent="0">
              <a:buNone/>
            </a:pPr>
            <a:r>
              <a:rPr lang="en-US" sz="1200" b="1" dirty="0">
                <a:solidFill>
                  <a:srgbClr val="D97757"/>
                </a:solidFill>
                <a:latin typeface="Calibri" pitchFamily="34" charset="0"/>
                <a:ea typeface="Calibri" pitchFamily="34" charset="-122"/>
                <a:cs typeface="Calibri" pitchFamily="34" charset="-120"/>
              </a:rPr>
              <a:t>Right-size the working memory</a:t>
            </a:r>
            <a:endParaRPr lang="en-US" sz="1200" dirty="0"/>
          </a:p>
        </p:txBody>
      </p:sp>
      <p:sp>
        <p:nvSpPr>
          <p:cNvPr id="15" name="Text 13"/>
          <p:cNvSpPr/>
          <p:nvPr/>
        </p:nvSpPr>
        <p:spPr>
          <a:xfrm>
            <a:off x="6592824" y="2807208"/>
            <a:ext cx="4928616" cy="850392"/>
          </a:xfrm>
          <a:prstGeom prst="rect">
            <a:avLst/>
          </a:prstGeom>
          <a:noFill/>
          <a:ln/>
        </p:spPr>
        <p:txBody>
          <a:bodyPr wrap="square" lIns="0" tIns="0" rIns="0" bIns="0" rtlCol="0" anchor="t"/>
          <a:lstStyle/>
          <a:p>
            <a:pPr marL="152400" indent="-152400">
              <a:lnSpc>
                <a:spcPct val="100000"/>
              </a:lnSpc>
              <a:spcAft>
                <a:spcPts val="500"/>
              </a:spcAft>
              <a:buSzPct val="100000"/>
              <a:buChar char="•"/>
            </a:pPr>
            <a:r>
              <a:rPr lang="en-US" sz="1200" dirty="0">
                <a:solidFill>
                  <a:srgbClr val="3A3835"/>
                </a:solidFill>
                <a:latin typeface="Calibri" pitchFamily="34" charset="0"/>
                <a:ea typeface="Calibri" pitchFamily="34" charset="-122"/>
                <a:cs typeface="Calibri" pitchFamily="34" charset="-120"/>
              </a:rPr>
              <a:t>200K covers most prompts and files</a:t>
            </a:r>
            <a:endParaRPr lang="en-US" sz="1200" dirty="0"/>
          </a:p>
          <a:p>
            <a:pPr marL="152400" indent="-152400">
              <a:lnSpc>
                <a:spcPct val="100000"/>
              </a:lnSpc>
              <a:spcAft>
                <a:spcPts val="500"/>
              </a:spcAft>
              <a:buSzPct val="100000"/>
              <a:buChar char="•"/>
            </a:pPr>
            <a:r>
              <a:rPr lang="en-US" sz="1200" dirty="0">
                <a:solidFill>
                  <a:srgbClr val="3A3835"/>
                </a:solidFill>
                <a:latin typeface="Calibri" pitchFamily="34" charset="0"/>
                <a:ea typeface="Calibri" pitchFamily="34" charset="-122"/>
                <a:cs typeface="Calibri" pitchFamily="34" charset="-120"/>
              </a:rPr>
              <a:t>1M beta on Sonnet &amp; Opus for big codebases</a:t>
            </a:r>
            <a:endParaRPr lang="en-US" sz="1200" dirty="0"/>
          </a:p>
          <a:p>
            <a:pPr marL="152400" indent="-152400">
              <a:lnSpc>
                <a:spcPct val="100000"/>
              </a:lnSpc>
              <a:spcAft>
                <a:spcPts val="500"/>
              </a:spcAft>
              <a:buSzPct val="100000"/>
              <a:buChar char="•"/>
            </a:pPr>
            <a:r>
              <a:rPr lang="en-US" sz="1200" dirty="0">
                <a:solidFill>
                  <a:srgbClr val="3A3835"/>
                </a:solidFill>
                <a:latin typeface="Calibri" pitchFamily="34" charset="0"/>
                <a:ea typeface="Calibri" pitchFamily="34" charset="-122"/>
                <a:cs typeface="Calibri" pitchFamily="34" charset="-120"/>
              </a:rPr>
              <a:t>Cache repeated context to cut cost up to 90%</a:t>
            </a:r>
            <a:endParaRPr lang="en-US" sz="1200" dirty="0"/>
          </a:p>
        </p:txBody>
      </p:sp>
      <p:sp>
        <p:nvSpPr>
          <p:cNvPr id="16" name="Shape 14"/>
          <p:cNvSpPr/>
          <p:nvPr/>
        </p:nvSpPr>
        <p:spPr>
          <a:xfrm>
            <a:off x="566928" y="3941064"/>
            <a:ext cx="5532120" cy="1993392"/>
          </a:xfrm>
          <a:prstGeom prst="roundRect">
            <a:avLst>
              <a:gd name="adj" fmla="val 4128"/>
            </a:avLst>
          </a:prstGeom>
          <a:solidFill>
            <a:srgbClr val="FFFFFF"/>
          </a:solidFill>
          <a:ln w="12700">
            <a:solidFill>
              <a:srgbClr val="E3E0D6"/>
            </a:solidFill>
            <a:prstDash val="solid"/>
          </a:ln>
          <a:effectLst>
            <a:outerShdw blurRad="114300" dist="38100" dir="5400000" algn="bl" rotWithShape="0">
              <a:srgbClr val="1F1E1D">
                <a:alpha val="10000"/>
              </a:srgbClr>
            </a:outerShdw>
          </a:effectLst>
        </p:spPr>
        <p:txBody>
          <a:bodyPr/>
          <a:lstStyle/>
          <a:p>
            <a:endParaRPr lang="en-IN"/>
          </a:p>
        </p:txBody>
      </p:sp>
      <p:sp>
        <p:nvSpPr>
          <p:cNvPr id="17" name="Shape 15"/>
          <p:cNvSpPr/>
          <p:nvPr/>
        </p:nvSpPr>
        <p:spPr>
          <a:xfrm>
            <a:off x="841248" y="4215384"/>
            <a:ext cx="566928" cy="566928"/>
          </a:xfrm>
          <a:prstGeom prst="ellipse">
            <a:avLst/>
          </a:prstGeom>
          <a:solidFill>
            <a:srgbClr val="D9A066"/>
          </a:solidFill>
          <a:ln/>
        </p:spPr>
        <p:txBody>
          <a:bodyPr/>
          <a:lstStyle/>
          <a:p>
            <a:endParaRPr lang="en-IN"/>
          </a:p>
        </p:txBody>
      </p:sp>
      <p:sp>
        <p:nvSpPr>
          <p:cNvPr id="18" name="Text 16"/>
          <p:cNvSpPr/>
          <p:nvPr/>
        </p:nvSpPr>
        <p:spPr>
          <a:xfrm>
            <a:off x="841248" y="4215384"/>
            <a:ext cx="566928" cy="566928"/>
          </a:xfrm>
          <a:prstGeom prst="rect">
            <a:avLst/>
          </a:prstGeom>
          <a:noFill/>
          <a:ln/>
        </p:spPr>
        <p:txBody>
          <a:bodyPr wrap="square" lIns="0" tIns="0" rIns="0" bIns="0"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3</a:t>
            </a:r>
            <a:endParaRPr lang="en-US" sz="2400" dirty="0"/>
          </a:p>
        </p:txBody>
      </p:sp>
      <p:sp>
        <p:nvSpPr>
          <p:cNvPr id="19" name="Text 17"/>
          <p:cNvSpPr/>
          <p:nvPr/>
        </p:nvSpPr>
        <p:spPr>
          <a:xfrm>
            <a:off x="1554480" y="4197096"/>
            <a:ext cx="4343400" cy="329184"/>
          </a:xfrm>
          <a:prstGeom prst="rect">
            <a:avLst/>
          </a:prstGeom>
          <a:noFill/>
          <a:ln/>
        </p:spPr>
        <p:txBody>
          <a:bodyPr wrap="square" lIns="0" tIns="0" rIns="0" bIns="0" rtlCol="0" anchor="ctr"/>
          <a:lstStyle/>
          <a:p>
            <a:pPr marL="0" indent="0">
              <a:buNone/>
            </a:pPr>
            <a:r>
              <a:rPr lang="en-US" sz="1800" b="1" dirty="0">
                <a:solidFill>
                  <a:srgbClr val="1F1E1D"/>
                </a:solidFill>
                <a:latin typeface="Georgia" pitchFamily="34" charset="0"/>
                <a:ea typeface="Georgia" pitchFamily="34" charset="-122"/>
                <a:cs typeface="Georgia" pitchFamily="34" charset="-120"/>
              </a:rPr>
              <a:t>Latency</a:t>
            </a:r>
            <a:endParaRPr lang="en-US" sz="1800" dirty="0"/>
          </a:p>
        </p:txBody>
      </p:sp>
      <p:sp>
        <p:nvSpPr>
          <p:cNvPr id="20" name="Text 18"/>
          <p:cNvSpPr/>
          <p:nvPr/>
        </p:nvSpPr>
        <p:spPr>
          <a:xfrm>
            <a:off x="1554480" y="4544568"/>
            <a:ext cx="4343400" cy="274320"/>
          </a:xfrm>
          <a:prstGeom prst="rect">
            <a:avLst/>
          </a:prstGeom>
          <a:noFill/>
          <a:ln/>
        </p:spPr>
        <p:txBody>
          <a:bodyPr wrap="square" lIns="0" tIns="0" rIns="0" bIns="0" rtlCol="0" anchor="ctr"/>
          <a:lstStyle/>
          <a:p>
            <a:pPr marL="0" indent="0">
              <a:buNone/>
            </a:pPr>
            <a:r>
              <a:rPr lang="en-US" sz="1200" b="1" dirty="0">
                <a:solidFill>
                  <a:srgbClr val="D9A066"/>
                </a:solidFill>
                <a:latin typeface="Calibri" pitchFamily="34" charset="0"/>
                <a:ea typeface="Calibri" pitchFamily="34" charset="-122"/>
                <a:cs typeface="Calibri" pitchFamily="34" charset="-120"/>
              </a:rPr>
              <a:t>How fast must it respond?</a:t>
            </a:r>
            <a:endParaRPr lang="en-US" sz="1200" dirty="0"/>
          </a:p>
        </p:txBody>
      </p:sp>
      <p:sp>
        <p:nvSpPr>
          <p:cNvPr id="21" name="Text 19"/>
          <p:cNvSpPr/>
          <p:nvPr/>
        </p:nvSpPr>
        <p:spPr>
          <a:xfrm>
            <a:off x="877824" y="4965192"/>
            <a:ext cx="4928616" cy="850392"/>
          </a:xfrm>
          <a:prstGeom prst="rect">
            <a:avLst/>
          </a:prstGeom>
          <a:noFill/>
          <a:ln/>
        </p:spPr>
        <p:txBody>
          <a:bodyPr wrap="square" lIns="0" tIns="0" rIns="0" bIns="0" rtlCol="0" anchor="t"/>
          <a:lstStyle/>
          <a:p>
            <a:pPr marL="152400" indent="-152400">
              <a:lnSpc>
                <a:spcPct val="100000"/>
              </a:lnSpc>
              <a:spcAft>
                <a:spcPts val="500"/>
              </a:spcAft>
              <a:buSzPct val="100000"/>
              <a:buChar char="•"/>
            </a:pPr>
            <a:r>
              <a:rPr lang="en-US" sz="1200" dirty="0">
                <a:solidFill>
                  <a:srgbClr val="3A3835"/>
                </a:solidFill>
                <a:latin typeface="Calibri" pitchFamily="34" charset="0"/>
                <a:ea typeface="Calibri" pitchFamily="34" charset="-122"/>
                <a:cs typeface="Calibri" pitchFamily="34" charset="-120"/>
              </a:rPr>
              <a:t>Haiku for real-time and high-volume paths</a:t>
            </a:r>
            <a:endParaRPr lang="en-US" sz="1200" dirty="0"/>
          </a:p>
          <a:p>
            <a:pPr marL="152400" indent="-152400">
              <a:lnSpc>
                <a:spcPct val="100000"/>
              </a:lnSpc>
              <a:spcAft>
                <a:spcPts val="500"/>
              </a:spcAft>
              <a:buSzPct val="100000"/>
              <a:buChar char="•"/>
            </a:pPr>
            <a:r>
              <a:rPr lang="en-US" sz="1200" dirty="0">
                <a:solidFill>
                  <a:srgbClr val="3A3835"/>
                </a:solidFill>
                <a:latin typeface="Calibri" pitchFamily="34" charset="0"/>
                <a:ea typeface="Calibri" pitchFamily="34" charset="-122"/>
                <a:cs typeface="Calibri" pitchFamily="34" charset="-120"/>
              </a:rPr>
              <a:t>Fast mode on Opus for up to 2.5x speed</a:t>
            </a:r>
            <a:endParaRPr lang="en-US" sz="1200" dirty="0"/>
          </a:p>
          <a:p>
            <a:pPr marL="152400" indent="-152400">
              <a:lnSpc>
                <a:spcPct val="100000"/>
              </a:lnSpc>
              <a:spcAft>
                <a:spcPts val="500"/>
              </a:spcAft>
              <a:buSzPct val="100000"/>
              <a:buChar char="•"/>
            </a:pPr>
            <a:r>
              <a:rPr lang="en-US" sz="1200" dirty="0">
                <a:solidFill>
                  <a:srgbClr val="3A3835"/>
                </a:solidFill>
                <a:latin typeface="Calibri" pitchFamily="34" charset="0"/>
                <a:ea typeface="Calibri" pitchFamily="34" charset="-122"/>
                <a:cs typeface="Calibri" pitchFamily="34" charset="-120"/>
              </a:rPr>
              <a:t>Lower effort for snappier responses</a:t>
            </a:r>
            <a:endParaRPr lang="en-US" sz="1200" dirty="0"/>
          </a:p>
        </p:txBody>
      </p:sp>
      <p:sp>
        <p:nvSpPr>
          <p:cNvPr id="22" name="Shape 20"/>
          <p:cNvSpPr/>
          <p:nvPr/>
        </p:nvSpPr>
        <p:spPr>
          <a:xfrm>
            <a:off x="6281928" y="3941064"/>
            <a:ext cx="5532120" cy="1993392"/>
          </a:xfrm>
          <a:prstGeom prst="roundRect">
            <a:avLst>
              <a:gd name="adj" fmla="val 4128"/>
            </a:avLst>
          </a:prstGeom>
          <a:solidFill>
            <a:srgbClr val="FFFFFF"/>
          </a:solidFill>
          <a:ln w="12700">
            <a:solidFill>
              <a:srgbClr val="E3E0D6"/>
            </a:solidFill>
            <a:prstDash val="solid"/>
          </a:ln>
          <a:effectLst>
            <a:outerShdw blurRad="114300" dist="38100" dir="5400000" algn="bl" rotWithShape="0">
              <a:srgbClr val="1F1E1D">
                <a:alpha val="10000"/>
              </a:srgbClr>
            </a:outerShdw>
          </a:effectLst>
        </p:spPr>
        <p:txBody>
          <a:bodyPr/>
          <a:lstStyle/>
          <a:p>
            <a:endParaRPr lang="en-IN"/>
          </a:p>
        </p:txBody>
      </p:sp>
      <p:sp>
        <p:nvSpPr>
          <p:cNvPr id="23" name="Shape 21"/>
          <p:cNvSpPr/>
          <p:nvPr/>
        </p:nvSpPr>
        <p:spPr>
          <a:xfrm>
            <a:off x="6556248" y="4215384"/>
            <a:ext cx="566928" cy="566928"/>
          </a:xfrm>
          <a:prstGeom prst="ellipse">
            <a:avLst/>
          </a:prstGeom>
          <a:solidFill>
            <a:srgbClr val="3A3835"/>
          </a:solidFill>
          <a:ln/>
        </p:spPr>
        <p:txBody>
          <a:bodyPr/>
          <a:lstStyle/>
          <a:p>
            <a:endParaRPr lang="en-IN"/>
          </a:p>
        </p:txBody>
      </p:sp>
      <p:sp>
        <p:nvSpPr>
          <p:cNvPr id="24" name="Text 22"/>
          <p:cNvSpPr/>
          <p:nvPr/>
        </p:nvSpPr>
        <p:spPr>
          <a:xfrm>
            <a:off x="6556248" y="4215384"/>
            <a:ext cx="566928" cy="566928"/>
          </a:xfrm>
          <a:prstGeom prst="rect">
            <a:avLst/>
          </a:prstGeom>
          <a:noFill/>
          <a:ln/>
        </p:spPr>
        <p:txBody>
          <a:bodyPr wrap="square" lIns="0" tIns="0" rIns="0" bIns="0"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4</a:t>
            </a:r>
            <a:endParaRPr lang="en-US" sz="2400" dirty="0"/>
          </a:p>
        </p:txBody>
      </p:sp>
      <p:sp>
        <p:nvSpPr>
          <p:cNvPr id="25" name="Text 23"/>
          <p:cNvSpPr/>
          <p:nvPr/>
        </p:nvSpPr>
        <p:spPr>
          <a:xfrm>
            <a:off x="7269480" y="4197096"/>
            <a:ext cx="4343400" cy="329184"/>
          </a:xfrm>
          <a:prstGeom prst="rect">
            <a:avLst/>
          </a:prstGeom>
          <a:noFill/>
          <a:ln/>
        </p:spPr>
        <p:txBody>
          <a:bodyPr wrap="square" lIns="0" tIns="0" rIns="0" bIns="0" rtlCol="0" anchor="ctr"/>
          <a:lstStyle/>
          <a:p>
            <a:pPr marL="0" indent="0">
              <a:buNone/>
            </a:pPr>
            <a:r>
              <a:rPr lang="en-US" sz="1800" b="1" dirty="0">
                <a:solidFill>
                  <a:srgbClr val="1F1E1D"/>
                </a:solidFill>
                <a:latin typeface="Georgia" pitchFamily="34" charset="0"/>
                <a:ea typeface="Georgia" pitchFamily="34" charset="-122"/>
                <a:cs typeface="Georgia" pitchFamily="34" charset="-120"/>
              </a:rPr>
              <a:t>Cost</a:t>
            </a:r>
            <a:endParaRPr lang="en-US" sz="1800" dirty="0"/>
          </a:p>
        </p:txBody>
      </p:sp>
      <p:sp>
        <p:nvSpPr>
          <p:cNvPr id="26" name="Text 24"/>
          <p:cNvSpPr/>
          <p:nvPr/>
        </p:nvSpPr>
        <p:spPr>
          <a:xfrm>
            <a:off x="7269480" y="4544568"/>
            <a:ext cx="4343400" cy="274320"/>
          </a:xfrm>
          <a:prstGeom prst="rect">
            <a:avLst/>
          </a:prstGeom>
          <a:noFill/>
          <a:ln/>
        </p:spPr>
        <p:txBody>
          <a:bodyPr wrap="square" lIns="0" tIns="0" rIns="0" bIns="0" rtlCol="0" anchor="ctr"/>
          <a:lstStyle/>
          <a:p>
            <a:pPr marL="0" indent="0">
              <a:buNone/>
            </a:pPr>
            <a:r>
              <a:rPr lang="en-US" sz="1200" b="1" dirty="0">
                <a:solidFill>
                  <a:srgbClr val="3A3835"/>
                </a:solidFill>
                <a:latin typeface="Calibri" pitchFamily="34" charset="0"/>
                <a:ea typeface="Calibri" pitchFamily="34" charset="-122"/>
                <a:cs typeface="Calibri" pitchFamily="34" charset="-120"/>
              </a:rPr>
              <a:t>Pay for capability you actually use</a:t>
            </a:r>
            <a:endParaRPr lang="en-US" sz="1200" dirty="0"/>
          </a:p>
        </p:txBody>
      </p:sp>
      <p:sp>
        <p:nvSpPr>
          <p:cNvPr id="27" name="Text 25"/>
          <p:cNvSpPr/>
          <p:nvPr/>
        </p:nvSpPr>
        <p:spPr>
          <a:xfrm>
            <a:off x="6592824" y="4965192"/>
            <a:ext cx="4928616" cy="850392"/>
          </a:xfrm>
          <a:prstGeom prst="rect">
            <a:avLst/>
          </a:prstGeom>
          <a:noFill/>
          <a:ln/>
        </p:spPr>
        <p:txBody>
          <a:bodyPr wrap="square" lIns="0" tIns="0" rIns="0" bIns="0" rtlCol="0" anchor="t"/>
          <a:lstStyle/>
          <a:p>
            <a:pPr marL="152400" indent="-152400">
              <a:lnSpc>
                <a:spcPct val="100000"/>
              </a:lnSpc>
              <a:spcAft>
                <a:spcPts val="500"/>
              </a:spcAft>
              <a:buSzPct val="100000"/>
              <a:buChar char="•"/>
            </a:pPr>
            <a:r>
              <a:rPr lang="en-US" sz="1200" dirty="0">
                <a:solidFill>
                  <a:srgbClr val="3A3835"/>
                </a:solidFill>
                <a:latin typeface="Calibri" pitchFamily="34" charset="0"/>
                <a:ea typeface="Calibri" pitchFamily="34" charset="-122"/>
                <a:cs typeface="Calibri" pitchFamily="34" charset="-120"/>
              </a:rPr>
              <a:t>Output spread: $5 to $25 per MTok</a:t>
            </a:r>
            <a:endParaRPr lang="en-US" sz="1200" dirty="0"/>
          </a:p>
          <a:p>
            <a:pPr marL="152400" indent="-152400">
              <a:lnSpc>
                <a:spcPct val="100000"/>
              </a:lnSpc>
              <a:spcAft>
                <a:spcPts val="500"/>
              </a:spcAft>
              <a:buSzPct val="100000"/>
              <a:buChar char="•"/>
            </a:pPr>
            <a:r>
              <a:rPr lang="en-US" sz="1200" dirty="0">
                <a:solidFill>
                  <a:srgbClr val="3A3835"/>
                </a:solidFill>
                <a:latin typeface="Calibri" pitchFamily="34" charset="0"/>
                <a:ea typeface="Calibri" pitchFamily="34" charset="-122"/>
                <a:cs typeface="Calibri" pitchFamily="34" charset="-120"/>
              </a:rPr>
              <a:t>Batch API saves 50% on async work</a:t>
            </a:r>
            <a:endParaRPr lang="en-US" sz="1200" dirty="0"/>
          </a:p>
          <a:p>
            <a:pPr marL="152400" indent="-152400">
              <a:lnSpc>
                <a:spcPct val="100000"/>
              </a:lnSpc>
              <a:spcAft>
                <a:spcPts val="500"/>
              </a:spcAft>
              <a:buSzPct val="100000"/>
              <a:buChar char="•"/>
            </a:pPr>
            <a:r>
              <a:rPr lang="en-US" sz="1200" dirty="0">
                <a:solidFill>
                  <a:srgbClr val="3A3835"/>
                </a:solidFill>
                <a:latin typeface="Calibri" pitchFamily="34" charset="0"/>
                <a:ea typeface="Calibri" pitchFamily="34" charset="-122"/>
                <a:cs typeface="Calibri" pitchFamily="34" charset="-120"/>
              </a:rPr>
              <a:t>Prompt caching saves up to 90%</a:t>
            </a:r>
            <a:endParaRPr lang="en-US" sz="1200" dirty="0"/>
          </a:p>
        </p:txBody>
      </p:sp>
      <p:pic>
        <p:nvPicPr>
          <p:cNvPr id="28" name="Image 0" descr="/agent/turn1/workspace/assets/spark_coral.png"/>
          <p:cNvPicPr>
            <a:picLocks noChangeAspect="1"/>
          </p:cNvPicPr>
          <p:nvPr/>
        </p:nvPicPr>
        <p:blipFill>
          <a:blip r:embed="rId3"/>
          <a:stretch>
            <a:fillRect/>
          </a:stretch>
        </p:blipFill>
        <p:spPr>
          <a:xfrm>
            <a:off x="566928" y="6419088"/>
            <a:ext cx="201168" cy="201168"/>
          </a:xfrm>
          <a:prstGeom prst="rect">
            <a:avLst/>
          </a:prstGeom>
        </p:spPr>
      </p:pic>
      <p:sp>
        <p:nvSpPr>
          <p:cNvPr id="29" name="Text 26"/>
          <p:cNvSpPr/>
          <p:nvPr/>
        </p:nvSpPr>
        <p:spPr>
          <a:xfrm>
            <a:off x="841248" y="6364224"/>
            <a:ext cx="6400800" cy="310896"/>
          </a:xfrm>
          <a:prstGeom prst="rect">
            <a:avLst/>
          </a:prstGeom>
          <a:noFill/>
          <a:ln/>
        </p:spPr>
        <p:txBody>
          <a:bodyPr wrap="square" lIns="0" tIns="0" rIns="0" bIns="0" rtlCol="0" anchor="ctr"/>
          <a:lstStyle/>
          <a:p>
            <a:pPr marL="0" indent="0" algn="l">
              <a:buNone/>
            </a:pPr>
            <a:r>
              <a:rPr lang="en-US" sz="950" kern="0" spc="50" dirty="0">
                <a:solidFill>
                  <a:srgbClr val="73726C"/>
                </a:solidFill>
                <a:latin typeface="Calibri" pitchFamily="34" charset="0"/>
                <a:ea typeface="Calibri" pitchFamily="34" charset="-122"/>
                <a:cs typeface="Calibri" pitchFamily="34" charset="-120"/>
              </a:rPr>
              <a:t>Claude Cowork  ·  Developer Training</a:t>
            </a:r>
            <a:endParaRPr lang="en-US" sz="950" dirty="0"/>
          </a:p>
        </p:txBody>
      </p:sp>
      <p:sp>
        <p:nvSpPr>
          <p:cNvPr id="30" name="Text 27"/>
          <p:cNvSpPr/>
          <p:nvPr/>
        </p:nvSpPr>
        <p:spPr>
          <a:xfrm>
            <a:off x="10972800" y="6364224"/>
            <a:ext cx="685800" cy="310896"/>
          </a:xfrm>
          <a:prstGeom prst="rect">
            <a:avLst/>
          </a:prstGeom>
          <a:noFill/>
          <a:ln/>
        </p:spPr>
        <p:txBody>
          <a:bodyPr wrap="square" lIns="0" tIns="0" rIns="0" bIns="0" rtlCol="0" anchor="ctr"/>
          <a:lstStyle/>
          <a:p>
            <a:pPr marL="0" indent="0" algn="r">
              <a:buNone/>
            </a:pPr>
            <a:r>
              <a:rPr lang="en-US" sz="950" b="1" dirty="0">
                <a:solidFill>
                  <a:srgbClr val="73726C"/>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EEE6"/>
        </a:solidFill>
        <a:effectLst/>
      </p:bgPr>
    </p:bg>
    <p:spTree>
      <p:nvGrpSpPr>
        <p:cNvPr id="1" name=""/>
        <p:cNvGrpSpPr/>
        <p:nvPr/>
      </p:nvGrpSpPr>
      <p:grpSpPr>
        <a:xfrm>
          <a:off x="0" y="0"/>
          <a:ext cx="0" cy="0"/>
          <a:chOff x="0" y="0"/>
          <a:chExt cx="0" cy="0"/>
        </a:xfrm>
      </p:grpSpPr>
      <p:sp>
        <p:nvSpPr>
          <p:cNvPr id="2" name="Text 0"/>
          <p:cNvSpPr/>
          <p:nvPr/>
        </p:nvSpPr>
        <p:spPr>
          <a:xfrm>
            <a:off x="566928" y="457200"/>
            <a:ext cx="10058400" cy="274320"/>
          </a:xfrm>
          <a:prstGeom prst="rect">
            <a:avLst/>
          </a:prstGeom>
          <a:noFill/>
          <a:ln/>
        </p:spPr>
        <p:txBody>
          <a:bodyPr wrap="square" lIns="0" tIns="0" rIns="0" bIns="0" rtlCol="0" anchor="ctr"/>
          <a:lstStyle/>
          <a:p>
            <a:pPr marL="0" indent="0" algn="l">
              <a:buNone/>
            </a:pPr>
            <a:r>
              <a:rPr lang="en-US" sz="1200" b="1" kern="0" spc="250" dirty="0">
                <a:solidFill>
                  <a:srgbClr val="D97757"/>
                </a:solidFill>
                <a:latin typeface="Calibri" pitchFamily="34" charset="0"/>
                <a:ea typeface="Calibri" pitchFamily="34" charset="-122"/>
                <a:cs typeface="Calibri" pitchFamily="34" charset="-120"/>
              </a:rPr>
              <a:t>TOOL-FOR-TASK SELECTION</a:t>
            </a:r>
            <a:endParaRPr lang="en-US" sz="1200" dirty="0"/>
          </a:p>
        </p:txBody>
      </p:sp>
      <p:sp>
        <p:nvSpPr>
          <p:cNvPr id="3" name="Text 1"/>
          <p:cNvSpPr/>
          <p:nvPr/>
        </p:nvSpPr>
        <p:spPr>
          <a:xfrm>
            <a:off x="566928" y="749808"/>
            <a:ext cx="11064240" cy="777240"/>
          </a:xfrm>
          <a:prstGeom prst="rect">
            <a:avLst/>
          </a:prstGeom>
          <a:noFill/>
          <a:ln/>
        </p:spPr>
        <p:txBody>
          <a:bodyPr wrap="square" lIns="0" tIns="0" rIns="0" bIns="0" rtlCol="0" anchor="t"/>
          <a:lstStyle/>
          <a:p>
            <a:pPr marL="0" indent="0" algn="l">
              <a:lnSpc>
                <a:spcPct val="98000"/>
              </a:lnSpc>
              <a:buNone/>
            </a:pPr>
            <a:r>
              <a:rPr lang="en-US" sz="3000" b="1" dirty="0">
                <a:solidFill>
                  <a:srgbClr val="1F1E1D"/>
                </a:solidFill>
                <a:latin typeface="Georgia" pitchFamily="34" charset="0"/>
                <a:ea typeface="Georgia" pitchFamily="34" charset="-122"/>
                <a:cs typeface="Georgia" pitchFamily="34" charset="-120"/>
              </a:rPr>
              <a:t>A quick decision cheat-sheet</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73384" cy="4251960"/>
        </p:xfrm>
        <a:graphic>
          <a:graphicData uri="http://schemas.openxmlformats.org/drawingml/2006/table">
            <a:tbl>
              <a:tblPr/>
              <a:tblGrid>
                <a:gridCol w="52120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118104">
                  <a:extLst>
                    <a:ext uri="{9D8B030D-6E8A-4147-A177-3AD203B41FA5}">
                      <a16:colId xmlns:a16="http://schemas.microsoft.com/office/drawing/2014/main" val="20002"/>
                    </a:ext>
                  </a:extLst>
                </a:gridCol>
              </a:tblGrid>
              <a:tr h="502920">
                <a:tc>
                  <a:txBody>
                    <a:bodyPr/>
                    <a:lstStyle/>
                    <a:p>
                      <a:pPr marL="0" indent="0" algn="l">
                        <a:buNone/>
                      </a:pPr>
                      <a:r>
                        <a:rPr lang="en-US" sz="1450" b="1" dirty="0">
                          <a:solidFill>
                            <a:srgbClr val="F0EEE6"/>
                          </a:solidFill>
                          <a:latin typeface="Georgia" pitchFamily="34" charset="0"/>
                          <a:ea typeface="Georgia" pitchFamily="34" charset="-122"/>
                          <a:cs typeface="Georgia" pitchFamily="34" charset="-120"/>
                        </a:rPr>
                        <a:t>If the task is…</a:t>
                      </a:r>
                      <a:endParaRPr lang="en-US" sz="1450" dirty="0">
                        <a:latin typeface="Georgia" charset="0"/>
                        <a:ea typeface="Georgia" charset="0"/>
                        <a:cs typeface="Georgia" charset="0"/>
                      </a:endParaRPr>
                    </a:p>
                  </a:txBody>
                  <a:tcPr marL="101600" marR="101600" marT="25400" marB="254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1F1E1D"/>
                    </a:solidFill>
                  </a:tcPr>
                </a:tc>
                <a:tc>
                  <a:txBody>
                    <a:bodyPr/>
                    <a:lstStyle/>
                    <a:p>
                      <a:pPr marL="0" indent="0" algn="ctr">
                        <a:buNone/>
                      </a:pPr>
                      <a:r>
                        <a:rPr lang="en-US" sz="1450" b="1" dirty="0">
                          <a:solidFill>
                            <a:srgbClr val="D97757"/>
                          </a:solidFill>
                          <a:latin typeface="Georgia" pitchFamily="34" charset="0"/>
                          <a:ea typeface="Georgia" pitchFamily="34" charset="-122"/>
                          <a:cs typeface="Georgia" pitchFamily="34" charset="-120"/>
                        </a:rPr>
                        <a:t>Reach for</a:t>
                      </a:r>
                      <a:endParaRPr lang="en-US" sz="1450" dirty="0">
                        <a:latin typeface="Georgia" charset="0"/>
                        <a:ea typeface="Georgia" charset="0"/>
                        <a:cs typeface="Georgia" charset="0"/>
                      </a:endParaRPr>
                    </a:p>
                  </a:txBody>
                  <a:tcPr marL="101600" marR="101600" marT="25400" marB="254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1F1E1D"/>
                    </a:solidFill>
                  </a:tcPr>
                </a:tc>
                <a:tc>
                  <a:txBody>
                    <a:bodyPr/>
                    <a:lstStyle/>
                    <a:p>
                      <a:pPr marL="0" indent="0" algn="l">
                        <a:buNone/>
                      </a:pPr>
                      <a:r>
                        <a:rPr lang="en-US" sz="1450" b="1" dirty="0">
                          <a:solidFill>
                            <a:srgbClr val="F0EEE6"/>
                          </a:solidFill>
                          <a:latin typeface="Georgia" pitchFamily="34" charset="0"/>
                          <a:ea typeface="Georgia" pitchFamily="34" charset="-122"/>
                          <a:cs typeface="Georgia" pitchFamily="34" charset="-120"/>
                        </a:rPr>
                        <a:t>Why</a:t>
                      </a:r>
                      <a:endParaRPr lang="en-US" sz="1450" dirty="0">
                        <a:latin typeface="Georgia" charset="0"/>
                        <a:ea typeface="Georgia" charset="0"/>
                        <a:cs typeface="Georgia" charset="0"/>
                      </a:endParaRPr>
                    </a:p>
                  </a:txBody>
                  <a:tcPr marL="101600" marR="101600" marT="25400" marB="254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1F1E1D"/>
                    </a:solidFill>
                  </a:tcPr>
                </a:tc>
                <a:extLst>
                  <a:ext uri="{0D108BD9-81ED-4DB2-BD59-A6C34878D82A}">
                    <a16:rowId xmlns:a16="http://schemas.microsoft.com/office/drawing/2014/main" val="10000"/>
                  </a:ext>
                </a:extLst>
              </a:tr>
              <a:tr h="548640">
                <a:tc>
                  <a:txBody>
                    <a:bodyPr/>
                    <a:lstStyle/>
                    <a:p>
                      <a:pPr marL="0" indent="0" algn="l">
                        <a:buNone/>
                      </a:pPr>
                      <a:r>
                        <a:rPr lang="en-US" sz="1300" dirty="0">
                          <a:solidFill>
                            <a:srgbClr val="3A3835"/>
                          </a:solidFill>
                          <a:latin typeface="Calibri" pitchFamily="34" charset="0"/>
                          <a:ea typeface="Calibri" pitchFamily="34" charset="-122"/>
                          <a:cs typeface="Calibri" pitchFamily="34" charset="-120"/>
                        </a:rPr>
                        <a:t>Quick answers, summaries, extraction at volume</a:t>
                      </a:r>
                      <a:endParaRPr lang="en-US" sz="1300" dirty="0">
                        <a:latin typeface="Calibri" charset="0"/>
                        <a:ea typeface="Calibri" charset="0"/>
                        <a:cs typeface="Calibri" charset="0"/>
                      </a:endParaRPr>
                    </a:p>
                  </a:txBody>
                  <a:tcPr marL="127000" marR="101600" marT="38100" marB="381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C2613F"/>
                          </a:solidFill>
                          <a:latin typeface="Calibri" pitchFamily="34" charset="0"/>
                          <a:ea typeface="Calibri" pitchFamily="34" charset="-122"/>
                          <a:cs typeface="Calibri" pitchFamily="34" charset="-120"/>
                        </a:rPr>
                        <a:t>Haiku 4.5</a:t>
                      </a:r>
                      <a:endParaRPr lang="en-US" sz="1350" dirty="0">
                        <a:latin typeface="Calibri" charset="0"/>
                        <a:ea typeface="Calibri" charset="0"/>
                        <a:cs typeface="Calibri" charset="0"/>
                      </a:endParaRPr>
                    </a:p>
                  </a:txBody>
                  <a:tcPr marL="76200" marR="76200" marT="38100" marB="381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A3835"/>
                          </a:solidFill>
                          <a:latin typeface="Calibri" pitchFamily="34" charset="0"/>
                          <a:ea typeface="Calibri" pitchFamily="34" charset="-122"/>
                          <a:cs typeface="Calibri" pitchFamily="34" charset="-120"/>
                        </a:rPr>
                        <a:t>Lowest latency and cost; ample reasoning</a:t>
                      </a:r>
                      <a:endParaRPr lang="en-US" sz="1200" dirty="0">
                        <a:latin typeface="Calibri" charset="0"/>
                        <a:ea typeface="Calibri" charset="0"/>
                        <a:cs typeface="Calibri" charset="0"/>
                      </a:endParaRPr>
                    </a:p>
                  </a:txBody>
                  <a:tcPr marL="101600" marR="101600" marT="38100" marB="381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300" dirty="0">
                          <a:solidFill>
                            <a:srgbClr val="3A3835"/>
                          </a:solidFill>
                          <a:latin typeface="Calibri" pitchFamily="34" charset="0"/>
                          <a:ea typeface="Calibri" pitchFamily="34" charset="-122"/>
                          <a:cs typeface="Calibri" pitchFamily="34" charset="-120"/>
                        </a:rPr>
                        <a:t>Everyday coding, writing, analysis, agentic work</a:t>
                      </a:r>
                      <a:endParaRPr lang="en-US" sz="1300" dirty="0">
                        <a:latin typeface="Calibri" charset="0"/>
                        <a:ea typeface="Calibri" charset="0"/>
                        <a:cs typeface="Calibri" charset="0"/>
                      </a:endParaRPr>
                    </a:p>
                  </a:txBody>
                  <a:tcPr marL="127000" marR="101600" marT="38100" marB="381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AF9F5"/>
                    </a:solidFill>
                  </a:tcPr>
                </a:tc>
                <a:tc>
                  <a:txBody>
                    <a:bodyPr/>
                    <a:lstStyle/>
                    <a:p>
                      <a:pPr marL="0" indent="0" algn="ctr">
                        <a:buNone/>
                      </a:pPr>
                      <a:r>
                        <a:rPr lang="en-US" sz="1350" b="1" dirty="0">
                          <a:solidFill>
                            <a:srgbClr val="C2613F"/>
                          </a:solidFill>
                          <a:latin typeface="Calibri" pitchFamily="34" charset="0"/>
                          <a:ea typeface="Calibri" pitchFamily="34" charset="-122"/>
                          <a:cs typeface="Calibri" pitchFamily="34" charset="-120"/>
                        </a:rPr>
                        <a:t>Sonnet 4.6</a:t>
                      </a:r>
                      <a:endParaRPr lang="en-US" sz="1350" dirty="0">
                        <a:latin typeface="Calibri" charset="0"/>
                        <a:ea typeface="Calibri" charset="0"/>
                        <a:cs typeface="Calibri" charset="0"/>
                      </a:endParaRPr>
                    </a:p>
                  </a:txBody>
                  <a:tcPr marL="76200" marR="76200" marT="38100" marB="381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AF9F5"/>
                    </a:solidFill>
                  </a:tcPr>
                </a:tc>
                <a:tc>
                  <a:txBody>
                    <a:bodyPr/>
                    <a:lstStyle/>
                    <a:p>
                      <a:pPr marL="0" indent="0" algn="l">
                        <a:buNone/>
                      </a:pPr>
                      <a:r>
                        <a:rPr lang="en-US" sz="1200" dirty="0">
                          <a:solidFill>
                            <a:srgbClr val="3A3835"/>
                          </a:solidFill>
                          <a:latin typeface="Calibri" pitchFamily="34" charset="0"/>
                          <a:ea typeface="Calibri" pitchFamily="34" charset="-122"/>
                          <a:cs typeface="Calibri" pitchFamily="34" charset="-120"/>
                        </a:rPr>
                        <a:t>The versatile default for ~80% of work</a:t>
                      </a:r>
                      <a:endParaRPr lang="en-US" sz="1200" dirty="0">
                        <a:latin typeface="Calibri" charset="0"/>
                        <a:ea typeface="Calibri" charset="0"/>
                        <a:cs typeface="Calibri" charset="0"/>
                      </a:endParaRPr>
                    </a:p>
                  </a:txBody>
                  <a:tcPr marL="101600" marR="101600" marT="38100" marB="381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AF9F5"/>
                    </a:solidFill>
                  </a:tcPr>
                </a:tc>
                <a:extLst>
                  <a:ext uri="{0D108BD9-81ED-4DB2-BD59-A6C34878D82A}">
                    <a16:rowId xmlns:a16="http://schemas.microsoft.com/office/drawing/2014/main" val="10002"/>
                  </a:ext>
                </a:extLst>
              </a:tr>
              <a:tr h="548640">
                <a:tc>
                  <a:txBody>
                    <a:bodyPr/>
                    <a:lstStyle/>
                    <a:p>
                      <a:pPr marL="0" indent="0" algn="l">
                        <a:buNone/>
                      </a:pPr>
                      <a:r>
                        <a:rPr lang="en-US" sz="1300" dirty="0">
                          <a:solidFill>
                            <a:srgbClr val="3A3835"/>
                          </a:solidFill>
                          <a:latin typeface="Calibri" pitchFamily="34" charset="0"/>
                          <a:ea typeface="Calibri" pitchFamily="34" charset="-122"/>
                          <a:cs typeface="Calibri" pitchFamily="34" charset="-120"/>
                        </a:rPr>
                        <a:t>Genuinely hard reasoning, science, high autonomy</a:t>
                      </a:r>
                      <a:endParaRPr lang="en-US" sz="1300" dirty="0">
                        <a:latin typeface="Calibri" charset="0"/>
                        <a:ea typeface="Calibri" charset="0"/>
                        <a:cs typeface="Calibri" charset="0"/>
                      </a:endParaRPr>
                    </a:p>
                  </a:txBody>
                  <a:tcPr marL="127000" marR="101600" marT="38100" marB="381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C2613F"/>
                          </a:solidFill>
                          <a:latin typeface="Calibri" pitchFamily="34" charset="0"/>
                          <a:ea typeface="Calibri" pitchFamily="34" charset="-122"/>
                          <a:cs typeface="Calibri" pitchFamily="34" charset="-120"/>
                        </a:rPr>
                        <a:t>Opus 4.8</a:t>
                      </a:r>
                      <a:endParaRPr lang="en-US" sz="1350" dirty="0">
                        <a:latin typeface="Calibri" charset="0"/>
                        <a:ea typeface="Calibri" charset="0"/>
                        <a:cs typeface="Calibri" charset="0"/>
                      </a:endParaRPr>
                    </a:p>
                  </a:txBody>
                  <a:tcPr marL="76200" marR="76200" marT="38100" marB="381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A3835"/>
                          </a:solidFill>
                          <a:latin typeface="Calibri" pitchFamily="34" charset="0"/>
                          <a:ea typeface="Calibri" pitchFamily="34" charset="-122"/>
                          <a:cs typeface="Calibri" pitchFamily="34" charset="-120"/>
                        </a:rPr>
                        <a:t>Deepest reasoning; effort + fast mode</a:t>
                      </a:r>
                      <a:endParaRPr lang="en-US" sz="1200" dirty="0">
                        <a:latin typeface="Calibri" charset="0"/>
                        <a:ea typeface="Calibri" charset="0"/>
                        <a:cs typeface="Calibri" charset="0"/>
                      </a:endParaRPr>
                    </a:p>
                  </a:txBody>
                  <a:tcPr marL="101600" marR="101600" marT="38100" marB="381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300" dirty="0">
                          <a:solidFill>
                            <a:srgbClr val="3A3835"/>
                          </a:solidFill>
                          <a:latin typeface="Calibri" pitchFamily="34" charset="0"/>
                          <a:ea typeface="Calibri" pitchFamily="34" charset="-122"/>
                          <a:cs typeface="Calibri" pitchFamily="34" charset="-120"/>
                        </a:rPr>
                        <a:t>Large, long-running autonomous projects</a:t>
                      </a:r>
                      <a:endParaRPr lang="en-US" sz="1300" dirty="0">
                        <a:latin typeface="Calibri" charset="0"/>
                        <a:ea typeface="Calibri" charset="0"/>
                        <a:cs typeface="Calibri" charset="0"/>
                      </a:endParaRPr>
                    </a:p>
                  </a:txBody>
                  <a:tcPr marL="127000" marR="101600" marT="38100" marB="381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AF9F5"/>
                    </a:solidFill>
                  </a:tcPr>
                </a:tc>
                <a:tc>
                  <a:txBody>
                    <a:bodyPr/>
                    <a:lstStyle/>
                    <a:p>
                      <a:pPr marL="0" indent="0" algn="ctr">
                        <a:buNone/>
                      </a:pPr>
                      <a:r>
                        <a:rPr lang="en-US" sz="1350" b="1" dirty="0">
                          <a:solidFill>
                            <a:srgbClr val="C2613F"/>
                          </a:solidFill>
                          <a:latin typeface="Calibri" pitchFamily="34" charset="0"/>
                          <a:ea typeface="Calibri" pitchFamily="34" charset="-122"/>
                          <a:cs typeface="Calibri" pitchFamily="34" charset="-120"/>
                        </a:rPr>
                        <a:t>Fable</a:t>
                      </a:r>
                      <a:endParaRPr lang="en-US" sz="1350" dirty="0">
                        <a:latin typeface="Calibri" charset="0"/>
                        <a:ea typeface="Calibri" charset="0"/>
                        <a:cs typeface="Calibri" charset="0"/>
                      </a:endParaRPr>
                    </a:p>
                  </a:txBody>
                  <a:tcPr marL="76200" marR="76200" marT="38100" marB="381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AF9F5"/>
                    </a:solidFill>
                  </a:tcPr>
                </a:tc>
                <a:tc>
                  <a:txBody>
                    <a:bodyPr/>
                    <a:lstStyle/>
                    <a:p>
                      <a:pPr marL="0" indent="0" algn="l">
                        <a:buNone/>
                      </a:pPr>
                      <a:r>
                        <a:rPr lang="en-US" sz="1200" dirty="0">
                          <a:solidFill>
                            <a:srgbClr val="3A3835"/>
                          </a:solidFill>
                          <a:latin typeface="Calibri" pitchFamily="34" charset="0"/>
                          <a:ea typeface="Calibri" pitchFamily="34" charset="-122"/>
                          <a:cs typeface="Calibri" pitchFamily="34" charset="-120"/>
                        </a:rPr>
                        <a:t>Runs further with fewer check-ins</a:t>
                      </a:r>
                      <a:endParaRPr lang="en-US" sz="1200" dirty="0">
                        <a:latin typeface="Calibri" charset="0"/>
                        <a:ea typeface="Calibri" charset="0"/>
                        <a:cs typeface="Calibri" charset="0"/>
                      </a:endParaRPr>
                    </a:p>
                  </a:txBody>
                  <a:tcPr marL="101600" marR="101600" marT="38100" marB="381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AF9F5"/>
                    </a:solidFill>
                  </a:tcPr>
                </a:tc>
                <a:extLst>
                  <a:ext uri="{0D108BD9-81ED-4DB2-BD59-A6C34878D82A}">
                    <a16:rowId xmlns:a16="http://schemas.microsoft.com/office/drawing/2014/main" val="10004"/>
                  </a:ext>
                </a:extLst>
              </a:tr>
              <a:tr h="502920">
                <a:tc>
                  <a:txBody>
                    <a:bodyPr/>
                    <a:lstStyle/>
                    <a:p>
                      <a:pPr marL="0" indent="0" algn="l">
                        <a:buNone/>
                      </a:pPr>
                      <a:r>
                        <a:rPr lang="en-US" sz="1300" dirty="0">
                          <a:solidFill>
                            <a:srgbClr val="3A3835"/>
                          </a:solidFill>
                          <a:latin typeface="Calibri" pitchFamily="34" charset="0"/>
                          <a:ea typeface="Calibri" pitchFamily="34" charset="-122"/>
                          <a:cs typeface="Calibri" pitchFamily="34" charset="-120"/>
                        </a:rPr>
                        <a:t>Inline completion inside your editor</a:t>
                      </a:r>
                      <a:endParaRPr lang="en-US" sz="1300" dirty="0">
                        <a:latin typeface="Calibri" charset="0"/>
                        <a:ea typeface="Calibri" charset="0"/>
                        <a:cs typeface="Calibri" charset="0"/>
                      </a:endParaRPr>
                    </a:p>
                  </a:txBody>
                  <a:tcPr marL="127000" marR="101600" marT="38100" marB="381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C2613F"/>
                          </a:solidFill>
                          <a:latin typeface="Calibri" pitchFamily="34" charset="0"/>
                          <a:ea typeface="Calibri" pitchFamily="34" charset="-122"/>
                          <a:cs typeface="Calibri" pitchFamily="34" charset="-120"/>
                        </a:rPr>
                        <a:t>GitHub Copilot</a:t>
                      </a:r>
                      <a:endParaRPr lang="en-US" sz="1350" dirty="0">
                        <a:latin typeface="Calibri" charset="0"/>
                        <a:ea typeface="Calibri" charset="0"/>
                        <a:cs typeface="Calibri" charset="0"/>
                      </a:endParaRPr>
                    </a:p>
                  </a:txBody>
                  <a:tcPr marL="76200" marR="76200" marT="38100" marB="381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A3835"/>
                          </a:solidFill>
                          <a:latin typeface="Calibri" pitchFamily="34" charset="0"/>
                          <a:ea typeface="Calibri" pitchFamily="34" charset="-122"/>
                          <a:cs typeface="Calibri" pitchFamily="34" charset="-120"/>
                        </a:rPr>
                        <a:t>Real-time in-IDE suggestions</a:t>
                      </a:r>
                      <a:endParaRPr lang="en-US" sz="1200" dirty="0">
                        <a:latin typeface="Calibri" charset="0"/>
                        <a:ea typeface="Calibri" charset="0"/>
                        <a:cs typeface="Calibri" charset="0"/>
                      </a:endParaRPr>
                    </a:p>
                  </a:txBody>
                  <a:tcPr marL="101600" marR="101600" marT="38100" marB="381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l">
                        <a:buNone/>
                      </a:pPr>
                      <a:r>
                        <a:rPr lang="en-US" sz="1300" dirty="0">
                          <a:solidFill>
                            <a:srgbClr val="3A3835"/>
                          </a:solidFill>
                          <a:latin typeface="Calibri" pitchFamily="34" charset="0"/>
                          <a:ea typeface="Calibri" pitchFamily="34" charset="-122"/>
                          <a:cs typeface="Calibri" pitchFamily="34" charset="-120"/>
                        </a:rPr>
                        <a:t>Whole-task, multi-file engineering with PRs</a:t>
                      </a:r>
                      <a:endParaRPr lang="en-US" sz="1300" dirty="0">
                        <a:latin typeface="Calibri" charset="0"/>
                        <a:ea typeface="Calibri" charset="0"/>
                        <a:cs typeface="Calibri" charset="0"/>
                      </a:endParaRPr>
                    </a:p>
                  </a:txBody>
                  <a:tcPr marL="127000" marR="101600" marT="38100" marB="381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AF9F5"/>
                    </a:solidFill>
                  </a:tcPr>
                </a:tc>
                <a:tc>
                  <a:txBody>
                    <a:bodyPr/>
                    <a:lstStyle/>
                    <a:p>
                      <a:pPr marL="0" indent="0" algn="ctr">
                        <a:buNone/>
                      </a:pPr>
                      <a:r>
                        <a:rPr lang="en-US" sz="1350" b="1" dirty="0">
                          <a:solidFill>
                            <a:srgbClr val="C2613F"/>
                          </a:solidFill>
                          <a:latin typeface="Calibri" pitchFamily="34" charset="0"/>
                          <a:ea typeface="Calibri" pitchFamily="34" charset="-122"/>
                          <a:cs typeface="Calibri" pitchFamily="34" charset="-120"/>
                        </a:rPr>
                        <a:t>Claude Code / Cowork</a:t>
                      </a:r>
                      <a:endParaRPr lang="en-US" sz="1350" dirty="0">
                        <a:latin typeface="Calibri" charset="0"/>
                        <a:ea typeface="Calibri" charset="0"/>
                        <a:cs typeface="Calibri" charset="0"/>
                      </a:endParaRPr>
                    </a:p>
                  </a:txBody>
                  <a:tcPr marL="76200" marR="76200" marT="38100" marB="381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AF9F5"/>
                    </a:solidFill>
                  </a:tcPr>
                </a:tc>
                <a:tc>
                  <a:txBody>
                    <a:bodyPr/>
                    <a:lstStyle/>
                    <a:p>
                      <a:pPr marL="0" indent="0" algn="l">
                        <a:buNone/>
                      </a:pPr>
                      <a:r>
                        <a:rPr lang="en-US" sz="1200" dirty="0">
                          <a:solidFill>
                            <a:srgbClr val="3A3835"/>
                          </a:solidFill>
                          <a:latin typeface="Calibri" pitchFamily="34" charset="0"/>
                          <a:ea typeface="Calibri" pitchFamily="34" charset="-122"/>
                          <a:cs typeface="Calibri" pitchFamily="34" charset="-120"/>
                        </a:rPr>
                        <a:t>Codebase-level agentic execution</a:t>
                      </a:r>
                      <a:endParaRPr lang="en-US" sz="1200" dirty="0">
                        <a:latin typeface="Calibri" charset="0"/>
                        <a:ea typeface="Calibri" charset="0"/>
                        <a:cs typeface="Calibri" charset="0"/>
                      </a:endParaRPr>
                    </a:p>
                  </a:txBody>
                  <a:tcPr marL="101600" marR="101600" marT="38100" marB="381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AF9F5"/>
                    </a:solidFill>
                  </a:tcPr>
                </a:tc>
                <a:extLst>
                  <a:ext uri="{0D108BD9-81ED-4DB2-BD59-A6C34878D82A}">
                    <a16:rowId xmlns:a16="http://schemas.microsoft.com/office/drawing/2014/main" val="10006"/>
                  </a:ext>
                </a:extLst>
              </a:tr>
              <a:tr h="548640">
                <a:tc>
                  <a:txBody>
                    <a:bodyPr/>
                    <a:lstStyle/>
                    <a:p>
                      <a:pPr marL="0" indent="0" algn="l">
                        <a:buNone/>
                      </a:pPr>
                      <a:r>
                        <a:rPr lang="en-US" sz="1300" dirty="0">
                          <a:solidFill>
                            <a:srgbClr val="3A3835"/>
                          </a:solidFill>
                          <a:latin typeface="Calibri" pitchFamily="34" charset="0"/>
                          <a:ea typeface="Calibri" pitchFamily="34" charset="-122"/>
                          <a:cs typeface="Calibri" pitchFamily="34" charset="-120"/>
                        </a:rPr>
                        <a:t>Strict data boundary or cloud governance</a:t>
                      </a:r>
                      <a:endParaRPr lang="en-US" sz="1300" dirty="0">
                        <a:latin typeface="Calibri" charset="0"/>
                        <a:ea typeface="Calibri" charset="0"/>
                        <a:cs typeface="Calibri" charset="0"/>
                      </a:endParaRPr>
                    </a:p>
                  </a:txBody>
                  <a:tcPr marL="127000" marR="101600" marT="38100" marB="381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C2613F"/>
                          </a:solidFill>
                          <a:latin typeface="Calibri" pitchFamily="34" charset="0"/>
                          <a:ea typeface="Calibri" pitchFamily="34" charset="-122"/>
                          <a:cs typeface="Calibri" pitchFamily="34" charset="-120"/>
                        </a:rPr>
                        <a:t>Bedrock / Vertex</a:t>
                      </a:r>
                      <a:endParaRPr lang="en-US" sz="1350" dirty="0">
                        <a:latin typeface="Calibri" charset="0"/>
                        <a:ea typeface="Calibri" charset="0"/>
                        <a:cs typeface="Calibri" charset="0"/>
                      </a:endParaRPr>
                    </a:p>
                  </a:txBody>
                  <a:tcPr marL="76200" marR="76200" marT="38100" marB="381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A3835"/>
                          </a:solidFill>
                          <a:latin typeface="Calibri" pitchFamily="34" charset="0"/>
                          <a:ea typeface="Calibri" pitchFamily="34" charset="-122"/>
                          <a:cs typeface="Calibri" pitchFamily="34" charset="-120"/>
                        </a:rPr>
                        <a:t>Same model inside your cloud</a:t>
                      </a:r>
                      <a:endParaRPr lang="en-US" sz="1200" dirty="0">
                        <a:latin typeface="Calibri" charset="0"/>
                        <a:ea typeface="Calibri" charset="0"/>
                        <a:cs typeface="Calibri" charset="0"/>
                      </a:endParaRPr>
                    </a:p>
                  </a:txBody>
                  <a:tcPr marL="101600" marR="101600" marT="38100" marB="38100" anchor="ctr">
                    <a:lnL w="12700" cap="flat" cmpd="sng" algn="ctr">
                      <a:solidFill>
                        <a:srgbClr val="E3E0D6"/>
                      </a:solidFill>
                      <a:prstDash val="solid"/>
                      <a:round/>
                      <a:headEnd type="none" w="med" len="med"/>
                      <a:tailEnd type="none" w="med" len="med"/>
                    </a:lnL>
                    <a:lnR w="12700" cap="flat" cmpd="sng" algn="ctr">
                      <a:solidFill>
                        <a:srgbClr val="E3E0D6"/>
                      </a:solidFill>
                      <a:prstDash val="solid"/>
                      <a:round/>
                      <a:headEnd type="none" w="med" len="med"/>
                      <a:tailEnd type="none" w="med" len="med"/>
                    </a:lnR>
                    <a:lnT w="12700" cap="flat" cmpd="sng" algn="ctr">
                      <a:solidFill>
                        <a:srgbClr val="E3E0D6"/>
                      </a:solidFill>
                      <a:prstDash val="solid"/>
                      <a:round/>
                      <a:headEnd type="none" w="med" len="med"/>
                      <a:tailEnd type="none" w="med" len="med"/>
                    </a:lnT>
                    <a:lnB w="12700" cap="flat" cmpd="sng" algn="ctr">
                      <a:solidFill>
                        <a:srgbClr val="E3E0D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pic>
        <p:nvPicPr>
          <p:cNvPr id="5" name="Image 0" descr="/agent/turn1/workspace/assets/spark_coral.png"/>
          <p:cNvPicPr>
            <a:picLocks noChangeAspect="1"/>
          </p:cNvPicPr>
          <p:nvPr/>
        </p:nvPicPr>
        <p:blipFill>
          <a:blip r:embed="rId3"/>
          <a:stretch>
            <a:fillRect/>
          </a:stretch>
        </p:blipFill>
        <p:spPr>
          <a:xfrm>
            <a:off x="566928" y="6419088"/>
            <a:ext cx="201168" cy="201168"/>
          </a:xfrm>
          <a:prstGeom prst="rect">
            <a:avLst/>
          </a:prstGeom>
        </p:spPr>
      </p:pic>
      <p:sp>
        <p:nvSpPr>
          <p:cNvPr id="6" name="Text 2"/>
          <p:cNvSpPr/>
          <p:nvPr/>
        </p:nvSpPr>
        <p:spPr>
          <a:xfrm>
            <a:off x="841248" y="6364224"/>
            <a:ext cx="6400800" cy="310896"/>
          </a:xfrm>
          <a:prstGeom prst="rect">
            <a:avLst/>
          </a:prstGeom>
          <a:noFill/>
          <a:ln/>
        </p:spPr>
        <p:txBody>
          <a:bodyPr wrap="square" lIns="0" tIns="0" rIns="0" bIns="0" rtlCol="0" anchor="ctr"/>
          <a:lstStyle/>
          <a:p>
            <a:pPr marL="0" indent="0" algn="l">
              <a:buNone/>
            </a:pPr>
            <a:r>
              <a:rPr lang="en-US" sz="950" kern="0" spc="50" dirty="0">
                <a:solidFill>
                  <a:srgbClr val="73726C"/>
                </a:solidFill>
                <a:latin typeface="Calibri" pitchFamily="34" charset="0"/>
                <a:ea typeface="Calibri" pitchFamily="34" charset="-122"/>
                <a:cs typeface="Calibri" pitchFamily="34" charset="-120"/>
              </a:rPr>
              <a:t>Claude Cowork  ·  Developer Training</a:t>
            </a:r>
            <a:endParaRPr lang="en-US" sz="950" dirty="0"/>
          </a:p>
        </p:txBody>
      </p:sp>
      <p:sp>
        <p:nvSpPr>
          <p:cNvPr id="7" name="Text 3"/>
          <p:cNvSpPr/>
          <p:nvPr/>
        </p:nvSpPr>
        <p:spPr>
          <a:xfrm>
            <a:off x="10972800" y="6364224"/>
            <a:ext cx="685800" cy="310896"/>
          </a:xfrm>
          <a:prstGeom prst="rect">
            <a:avLst/>
          </a:prstGeom>
          <a:noFill/>
          <a:ln/>
        </p:spPr>
        <p:txBody>
          <a:bodyPr wrap="square" lIns="0" tIns="0" rIns="0" bIns="0" rtlCol="0" anchor="ctr"/>
          <a:lstStyle/>
          <a:p>
            <a:pPr marL="0" indent="0" algn="r">
              <a:buNone/>
            </a:pPr>
            <a:r>
              <a:rPr lang="en-US" sz="950" b="1" dirty="0">
                <a:solidFill>
                  <a:srgbClr val="73726C"/>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1E1D"/>
        </a:solidFill>
        <a:effectLst/>
      </p:bgPr>
    </p:bg>
    <p:spTree>
      <p:nvGrpSpPr>
        <p:cNvPr id="1" name=""/>
        <p:cNvGrpSpPr/>
        <p:nvPr/>
      </p:nvGrpSpPr>
      <p:grpSpPr>
        <a:xfrm>
          <a:off x="0" y="0"/>
          <a:ext cx="0" cy="0"/>
          <a:chOff x="0" y="0"/>
          <a:chExt cx="0" cy="0"/>
        </a:xfrm>
      </p:grpSpPr>
      <p:pic>
        <p:nvPicPr>
          <p:cNvPr id="2" name="Image 0" descr="/agent/turn1/workspace/assets/spark_coral.png"/>
          <p:cNvPicPr>
            <a:picLocks noChangeAspect="1"/>
          </p:cNvPicPr>
          <p:nvPr/>
        </p:nvPicPr>
        <p:blipFill>
          <a:blip r:embed="rId3"/>
          <a:stretch>
            <a:fillRect/>
          </a:stretch>
        </p:blipFill>
        <p:spPr>
          <a:xfrm>
            <a:off x="566928" y="566928"/>
            <a:ext cx="457200" cy="457200"/>
          </a:xfrm>
          <a:prstGeom prst="rect">
            <a:avLst/>
          </a:prstGeom>
        </p:spPr>
      </p:pic>
      <p:sp>
        <p:nvSpPr>
          <p:cNvPr id="3" name="Text 0"/>
          <p:cNvSpPr/>
          <p:nvPr/>
        </p:nvSpPr>
        <p:spPr>
          <a:xfrm>
            <a:off x="1133856" y="603504"/>
            <a:ext cx="5486400" cy="365760"/>
          </a:xfrm>
          <a:prstGeom prst="rect">
            <a:avLst/>
          </a:prstGeom>
          <a:noFill/>
          <a:ln/>
        </p:spPr>
        <p:txBody>
          <a:bodyPr wrap="square" lIns="0" tIns="0" rIns="0" bIns="0" rtlCol="0" anchor="ctr"/>
          <a:lstStyle/>
          <a:p>
            <a:pPr marL="0" indent="0">
              <a:buNone/>
            </a:pPr>
            <a:r>
              <a:rPr lang="en-US" sz="1200" b="1" kern="0" spc="300" dirty="0">
                <a:solidFill>
                  <a:srgbClr val="D97757"/>
                </a:solidFill>
                <a:latin typeface="Calibri" pitchFamily="34" charset="0"/>
                <a:ea typeface="Calibri" pitchFamily="34" charset="-122"/>
                <a:cs typeface="Calibri" pitchFamily="34" charset="-120"/>
              </a:rPr>
              <a:t>WRAP-UP</a:t>
            </a:r>
            <a:endParaRPr lang="en-US" sz="1200" dirty="0"/>
          </a:p>
        </p:txBody>
      </p:sp>
      <p:sp>
        <p:nvSpPr>
          <p:cNvPr id="4" name="Text 1"/>
          <p:cNvSpPr/>
          <p:nvPr/>
        </p:nvSpPr>
        <p:spPr>
          <a:xfrm>
            <a:off x="566928" y="1097280"/>
            <a:ext cx="10058400" cy="822960"/>
          </a:xfrm>
          <a:prstGeom prst="rect">
            <a:avLst/>
          </a:prstGeom>
          <a:noFill/>
          <a:ln/>
        </p:spPr>
        <p:txBody>
          <a:bodyPr wrap="square" lIns="0" tIns="0" rIns="0" bIns="0" rtlCol="0" anchor="ctr"/>
          <a:lstStyle/>
          <a:p>
            <a:pPr marL="0" indent="0">
              <a:buNone/>
            </a:pPr>
            <a:r>
              <a:rPr lang="en-US" sz="3800" b="1" dirty="0">
                <a:solidFill>
                  <a:srgbClr val="F0EEE6"/>
                </a:solidFill>
                <a:latin typeface="Georgia" pitchFamily="34" charset="0"/>
                <a:ea typeface="Georgia" pitchFamily="34" charset="-122"/>
                <a:cs typeface="Georgia" pitchFamily="34" charset="-120"/>
              </a:rPr>
              <a:t>Key takeaways</a:t>
            </a:r>
            <a:endParaRPr lang="en-US" sz="3800" dirty="0"/>
          </a:p>
        </p:txBody>
      </p:sp>
      <p:pic>
        <p:nvPicPr>
          <p:cNvPr id="5" name="Image 1" descr="/agent/turn1/workspace/assets/spark_coral.png"/>
          <p:cNvPicPr>
            <a:picLocks noChangeAspect="1"/>
          </p:cNvPicPr>
          <p:nvPr/>
        </p:nvPicPr>
        <p:blipFill>
          <a:blip r:embed="rId3"/>
          <a:stretch>
            <a:fillRect/>
          </a:stretch>
        </p:blipFill>
        <p:spPr>
          <a:xfrm>
            <a:off x="603504" y="2185416"/>
            <a:ext cx="237744" cy="237744"/>
          </a:xfrm>
          <a:prstGeom prst="rect">
            <a:avLst/>
          </a:prstGeom>
        </p:spPr>
      </p:pic>
      <p:sp>
        <p:nvSpPr>
          <p:cNvPr id="6" name="Text 2"/>
          <p:cNvSpPr/>
          <p:nvPr/>
        </p:nvSpPr>
        <p:spPr>
          <a:xfrm>
            <a:off x="1024128" y="2075688"/>
            <a:ext cx="3657600" cy="365760"/>
          </a:xfrm>
          <a:prstGeom prst="rect">
            <a:avLst/>
          </a:prstGeom>
          <a:noFill/>
          <a:ln/>
        </p:spPr>
        <p:txBody>
          <a:bodyPr wrap="square" lIns="0" tIns="0" rIns="0" bIns="0" rtlCol="0" anchor="ctr"/>
          <a:lstStyle/>
          <a:p>
            <a:pPr marL="0" indent="0">
              <a:buNone/>
            </a:pPr>
            <a:r>
              <a:rPr lang="en-US" sz="1650" b="1" dirty="0">
                <a:solidFill>
                  <a:srgbClr val="D97757"/>
                </a:solidFill>
                <a:latin typeface="Georgia" pitchFamily="34" charset="0"/>
                <a:ea typeface="Georgia" pitchFamily="34" charset="-122"/>
                <a:cs typeface="Georgia" pitchFamily="34" charset="-120"/>
              </a:rPr>
              <a:t>Default to Sonnet</a:t>
            </a:r>
            <a:endParaRPr lang="en-US" sz="1650" dirty="0"/>
          </a:p>
        </p:txBody>
      </p:sp>
      <p:sp>
        <p:nvSpPr>
          <p:cNvPr id="7" name="Text 3"/>
          <p:cNvSpPr/>
          <p:nvPr/>
        </p:nvSpPr>
        <p:spPr>
          <a:xfrm>
            <a:off x="4754880" y="2057400"/>
            <a:ext cx="6858000" cy="640080"/>
          </a:xfrm>
          <a:prstGeom prst="rect">
            <a:avLst/>
          </a:prstGeom>
          <a:noFill/>
          <a:ln/>
        </p:spPr>
        <p:txBody>
          <a:bodyPr wrap="square" lIns="0" tIns="0" rIns="0" bIns="0" rtlCol="0" anchor="ctr"/>
          <a:lstStyle/>
          <a:p>
            <a:pPr marL="0" indent="0">
              <a:lnSpc>
                <a:spcPct val="104000"/>
              </a:lnSpc>
              <a:buNone/>
            </a:pPr>
            <a:r>
              <a:rPr lang="en-US" sz="1300" dirty="0">
                <a:solidFill>
                  <a:srgbClr val="D9D7CE"/>
                </a:solidFill>
                <a:latin typeface="Calibri" pitchFamily="34" charset="0"/>
                <a:ea typeface="Calibri" pitchFamily="34" charset="-122"/>
                <a:cs typeface="Calibri" pitchFamily="34" charset="-120"/>
              </a:rPr>
              <a:t>It handles most production work; drop to Haiku for speed and volume, reach for Opus only when the task is truly hard.</a:t>
            </a:r>
            <a:endParaRPr lang="en-US" sz="1300" dirty="0"/>
          </a:p>
        </p:txBody>
      </p:sp>
      <p:pic>
        <p:nvPicPr>
          <p:cNvPr id="8" name="Image 2" descr="/agent/turn1/workspace/assets/spark_coral.png"/>
          <p:cNvPicPr>
            <a:picLocks noChangeAspect="1"/>
          </p:cNvPicPr>
          <p:nvPr/>
        </p:nvPicPr>
        <p:blipFill>
          <a:blip r:embed="rId3"/>
          <a:stretch>
            <a:fillRect/>
          </a:stretch>
        </p:blipFill>
        <p:spPr>
          <a:xfrm>
            <a:off x="603504" y="2971800"/>
            <a:ext cx="237744" cy="237744"/>
          </a:xfrm>
          <a:prstGeom prst="rect">
            <a:avLst/>
          </a:prstGeom>
        </p:spPr>
      </p:pic>
      <p:sp>
        <p:nvSpPr>
          <p:cNvPr id="9" name="Text 4"/>
          <p:cNvSpPr/>
          <p:nvPr/>
        </p:nvSpPr>
        <p:spPr>
          <a:xfrm>
            <a:off x="1024128" y="2862072"/>
            <a:ext cx="3657600" cy="365760"/>
          </a:xfrm>
          <a:prstGeom prst="rect">
            <a:avLst/>
          </a:prstGeom>
          <a:noFill/>
          <a:ln/>
        </p:spPr>
        <p:txBody>
          <a:bodyPr wrap="square" lIns="0" tIns="0" rIns="0" bIns="0" rtlCol="0" anchor="ctr"/>
          <a:lstStyle/>
          <a:p>
            <a:pPr marL="0" indent="0">
              <a:buNone/>
            </a:pPr>
            <a:r>
              <a:rPr lang="en-US" sz="1650" b="1" dirty="0">
                <a:solidFill>
                  <a:srgbClr val="D97757"/>
                </a:solidFill>
                <a:latin typeface="Georgia" pitchFamily="34" charset="0"/>
                <a:ea typeface="Georgia" pitchFamily="34" charset="-122"/>
                <a:cs typeface="Georgia" pitchFamily="34" charset="-120"/>
              </a:rPr>
              <a:t>Tune before you switch</a:t>
            </a:r>
            <a:endParaRPr lang="en-US" sz="1650" dirty="0"/>
          </a:p>
        </p:txBody>
      </p:sp>
      <p:sp>
        <p:nvSpPr>
          <p:cNvPr id="10" name="Text 5"/>
          <p:cNvSpPr/>
          <p:nvPr/>
        </p:nvSpPr>
        <p:spPr>
          <a:xfrm>
            <a:off x="4754880" y="2843784"/>
            <a:ext cx="6858000" cy="640080"/>
          </a:xfrm>
          <a:prstGeom prst="rect">
            <a:avLst/>
          </a:prstGeom>
          <a:noFill/>
          <a:ln/>
        </p:spPr>
        <p:txBody>
          <a:bodyPr wrap="square" lIns="0" tIns="0" rIns="0" bIns="0" rtlCol="0" anchor="ctr"/>
          <a:lstStyle/>
          <a:p>
            <a:pPr marL="0" indent="0">
              <a:lnSpc>
                <a:spcPct val="104000"/>
              </a:lnSpc>
              <a:buNone/>
            </a:pPr>
            <a:r>
              <a:rPr lang="en-US" sz="1300" dirty="0">
                <a:solidFill>
                  <a:srgbClr val="D9D7CE"/>
                </a:solidFill>
                <a:latin typeface="Calibri" pitchFamily="34" charset="0"/>
                <a:ea typeface="Calibri" pitchFamily="34" charset="-122"/>
                <a:cs typeface="Calibri" pitchFamily="34" charset="-120"/>
              </a:rPr>
              <a:t>The effort parameter, fast mode, caching, and batch often beat changing models — and cut cost up to 90%.</a:t>
            </a:r>
            <a:endParaRPr lang="en-US" sz="1300" dirty="0"/>
          </a:p>
        </p:txBody>
      </p:sp>
      <p:pic>
        <p:nvPicPr>
          <p:cNvPr id="11" name="Image 3" descr="/agent/turn1/workspace/assets/spark_coral.png"/>
          <p:cNvPicPr>
            <a:picLocks noChangeAspect="1"/>
          </p:cNvPicPr>
          <p:nvPr/>
        </p:nvPicPr>
        <p:blipFill>
          <a:blip r:embed="rId3"/>
          <a:stretch>
            <a:fillRect/>
          </a:stretch>
        </p:blipFill>
        <p:spPr>
          <a:xfrm>
            <a:off x="603504" y="3758184"/>
            <a:ext cx="237744" cy="237744"/>
          </a:xfrm>
          <a:prstGeom prst="rect">
            <a:avLst/>
          </a:prstGeom>
        </p:spPr>
      </p:pic>
      <p:sp>
        <p:nvSpPr>
          <p:cNvPr id="12" name="Text 6"/>
          <p:cNvSpPr/>
          <p:nvPr/>
        </p:nvSpPr>
        <p:spPr>
          <a:xfrm>
            <a:off x="1024128" y="3648456"/>
            <a:ext cx="3657600" cy="365760"/>
          </a:xfrm>
          <a:prstGeom prst="rect">
            <a:avLst/>
          </a:prstGeom>
          <a:noFill/>
          <a:ln/>
        </p:spPr>
        <p:txBody>
          <a:bodyPr wrap="square" lIns="0" tIns="0" rIns="0" bIns="0" rtlCol="0" anchor="ctr"/>
          <a:lstStyle/>
          <a:p>
            <a:pPr marL="0" indent="0">
              <a:buNone/>
            </a:pPr>
            <a:r>
              <a:rPr lang="en-US" sz="1650" b="1" dirty="0">
                <a:solidFill>
                  <a:srgbClr val="D97757"/>
                </a:solidFill>
                <a:latin typeface="Georgia" pitchFamily="34" charset="0"/>
                <a:ea typeface="Georgia" pitchFamily="34" charset="-122"/>
                <a:cs typeface="Georgia" pitchFamily="34" charset="-120"/>
              </a:rPr>
              <a:t>Pick the surface for the job</a:t>
            </a:r>
            <a:endParaRPr lang="en-US" sz="1650" dirty="0"/>
          </a:p>
        </p:txBody>
      </p:sp>
      <p:sp>
        <p:nvSpPr>
          <p:cNvPr id="13" name="Text 7"/>
          <p:cNvSpPr/>
          <p:nvPr/>
        </p:nvSpPr>
        <p:spPr>
          <a:xfrm>
            <a:off x="4754880" y="3630168"/>
            <a:ext cx="6858000" cy="640080"/>
          </a:xfrm>
          <a:prstGeom prst="rect">
            <a:avLst/>
          </a:prstGeom>
          <a:noFill/>
          <a:ln/>
        </p:spPr>
        <p:txBody>
          <a:bodyPr wrap="square" lIns="0" tIns="0" rIns="0" bIns="0" rtlCol="0" anchor="ctr"/>
          <a:lstStyle/>
          <a:p>
            <a:pPr marL="0" indent="0">
              <a:lnSpc>
                <a:spcPct val="104000"/>
              </a:lnSpc>
              <a:buNone/>
            </a:pPr>
            <a:r>
              <a:rPr lang="en-US" sz="1300" dirty="0">
                <a:solidFill>
                  <a:srgbClr val="D9D7CE"/>
                </a:solidFill>
                <a:latin typeface="Calibri" pitchFamily="34" charset="0"/>
                <a:ea typeface="Calibri" pitchFamily="34" charset="-122"/>
                <a:cs typeface="Calibri" pitchFamily="34" charset="-120"/>
              </a:rPr>
              <a:t>Chat to explore, the API to build, Claude Code and Cowork to hand off whole tasks autonomously.</a:t>
            </a:r>
            <a:endParaRPr lang="en-US" sz="1300" dirty="0"/>
          </a:p>
        </p:txBody>
      </p:sp>
      <p:pic>
        <p:nvPicPr>
          <p:cNvPr id="14" name="Image 4" descr="/agent/turn1/workspace/assets/spark_coral.png"/>
          <p:cNvPicPr>
            <a:picLocks noChangeAspect="1"/>
          </p:cNvPicPr>
          <p:nvPr/>
        </p:nvPicPr>
        <p:blipFill>
          <a:blip r:embed="rId3"/>
          <a:stretch>
            <a:fillRect/>
          </a:stretch>
        </p:blipFill>
        <p:spPr>
          <a:xfrm>
            <a:off x="603504" y="4544568"/>
            <a:ext cx="237744" cy="237744"/>
          </a:xfrm>
          <a:prstGeom prst="rect">
            <a:avLst/>
          </a:prstGeom>
        </p:spPr>
      </p:pic>
      <p:sp>
        <p:nvSpPr>
          <p:cNvPr id="15" name="Text 8"/>
          <p:cNvSpPr/>
          <p:nvPr/>
        </p:nvSpPr>
        <p:spPr>
          <a:xfrm>
            <a:off x="1024128" y="4434840"/>
            <a:ext cx="3657600" cy="365760"/>
          </a:xfrm>
          <a:prstGeom prst="rect">
            <a:avLst/>
          </a:prstGeom>
          <a:noFill/>
          <a:ln/>
        </p:spPr>
        <p:txBody>
          <a:bodyPr wrap="square" lIns="0" tIns="0" rIns="0" bIns="0" rtlCol="0" anchor="ctr"/>
          <a:lstStyle/>
          <a:p>
            <a:pPr marL="0" indent="0">
              <a:buNone/>
            </a:pPr>
            <a:r>
              <a:rPr lang="en-US" sz="1650" b="1" dirty="0">
                <a:solidFill>
                  <a:srgbClr val="D97757"/>
                </a:solidFill>
                <a:latin typeface="Georgia" pitchFamily="34" charset="0"/>
                <a:ea typeface="Georgia" pitchFamily="34" charset="-122"/>
                <a:cs typeface="Georgia" pitchFamily="34" charset="-120"/>
              </a:rPr>
              <a:t>Claude is the reasoning layer</a:t>
            </a:r>
            <a:endParaRPr lang="en-US" sz="1650" dirty="0"/>
          </a:p>
        </p:txBody>
      </p:sp>
      <p:sp>
        <p:nvSpPr>
          <p:cNvPr id="16" name="Text 9"/>
          <p:cNvSpPr/>
          <p:nvPr/>
        </p:nvSpPr>
        <p:spPr>
          <a:xfrm>
            <a:off x="4754880" y="4416552"/>
            <a:ext cx="6858000" cy="640080"/>
          </a:xfrm>
          <a:prstGeom prst="rect">
            <a:avLst/>
          </a:prstGeom>
          <a:noFill/>
          <a:ln/>
        </p:spPr>
        <p:txBody>
          <a:bodyPr wrap="square" lIns="0" tIns="0" rIns="0" bIns="0" rtlCol="0" anchor="ctr"/>
          <a:lstStyle/>
          <a:p>
            <a:pPr marL="0" indent="0">
              <a:lnSpc>
                <a:spcPct val="104000"/>
              </a:lnSpc>
              <a:buNone/>
            </a:pPr>
            <a:r>
              <a:rPr lang="en-US" sz="1300" dirty="0">
                <a:solidFill>
                  <a:srgbClr val="D9D7CE"/>
                </a:solidFill>
                <a:latin typeface="Calibri" pitchFamily="34" charset="0"/>
                <a:ea typeface="Calibri" pitchFamily="34" charset="-122"/>
                <a:cs typeface="Calibri" pitchFamily="34" charset="-120"/>
              </a:rPr>
              <a:t>Copilot accelerates in-IDE coding; Bedrock and Vertex are deployment paths — same model, your data boundary.</a:t>
            </a:r>
            <a:endParaRPr lang="en-US" sz="1300" dirty="0"/>
          </a:p>
        </p:txBody>
      </p:sp>
      <p:pic>
        <p:nvPicPr>
          <p:cNvPr id="17" name="Image 5" descr="/agent/turn1/workspace/assets/spark_coral.png"/>
          <p:cNvPicPr>
            <a:picLocks noChangeAspect="1"/>
          </p:cNvPicPr>
          <p:nvPr/>
        </p:nvPicPr>
        <p:blipFill>
          <a:blip r:embed="rId3"/>
          <a:stretch>
            <a:fillRect/>
          </a:stretch>
        </p:blipFill>
        <p:spPr>
          <a:xfrm>
            <a:off x="603504" y="5330952"/>
            <a:ext cx="237744" cy="237744"/>
          </a:xfrm>
          <a:prstGeom prst="rect">
            <a:avLst/>
          </a:prstGeom>
        </p:spPr>
      </p:pic>
      <p:sp>
        <p:nvSpPr>
          <p:cNvPr id="18" name="Text 10"/>
          <p:cNvSpPr/>
          <p:nvPr/>
        </p:nvSpPr>
        <p:spPr>
          <a:xfrm>
            <a:off x="1024128" y="5221224"/>
            <a:ext cx="3657600" cy="365760"/>
          </a:xfrm>
          <a:prstGeom prst="rect">
            <a:avLst/>
          </a:prstGeom>
          <a:noFill/>
          <a:ln/>
        </p:spPr>
        <p:txBody>
          <a:bodyPr wrap="square" lIns="0" tIns="0" rIns="0" bIns="0" rtlCol="0" anchor="ctr"/>
          <a:lstStyle/>
          <a:p>
            <a:pPr marL="0" indent="0">
              <a:buNone/>
            </a:pPr>
            <a:r>
              <a:rPr lang="en-US" sz="1650" b="1" dirty="0">
                <a:solidFill>
                  <a:srgbClr val="D97757"/>
                </a:solidFill>
                <a:latin typeface="Georgia" pitchFamily="34" charset="0"/>
                <a:ea typeface="Georgia" pitchFamily="34" charset="-122"/>
                <a:cs typeface="Georgia" pitchFamily="34" charset="-120"/>
              </a:rPr>
              <a:t>Balance the four levers</a:t>
            </a:r>
            <a:endParaRPr lang="en-US" sz="1650" dirty="0"/>
          </a:p>
        </p:txBody>
      </p:sp>
      <p:sp>
        <p:nvSpPr>
          <p:cNvPr id="19" name="Text 11"/>
          <p:cNvSpPr/>
          <p:nvPr/>
        </p:nvSpPr>
        <p:spPr>
          <a:xfrm>
            <a:off x="4754880" y="5202936"/>
            <a:ext cx="6858000" cy="640080"/>
          </a:xfrm>
          <a:prstGeom prst="rect">
            <a:avLst/>
          </a:prstGeom>
          <a:noFill/>
          <a:ln/>
        </p:spPr>
        <p:txBody>
          <a:bodyPr wrap="square" lIns="0" tIns="0" rIns="0" bIns="0" rtlCol="0" anchor="ctr"/>
          <a:lstStyle/>
          <a:p>
            <a:pPr marL="0" indent="0">
              <a:lnSpc>
                <a:spcPct val="104000"/>
              </a:lnSpc>
              <a:buNone/>
            </a:pPr>
            <a:r>
              <a:rPr lang="en-US" sz="1300" dirty="0">
                <a:solidFill>
                  <a:srgbClr val="D9D7CE"/>
                </a:solidFill>
                <a:latin typeface="Calibri" pitchFamily="34" charset="0"/>
                <a:ea typeface="Calibri" pitchFamily="34" charset="-122"/>
                <a:cs typeface="Calibri" pitchFamily="34" charset="-120"/>
              </a:rPr>
              <a:t>Capability, context length, latency, and cost rarely agree — weigh them per task and start cheap.</a:t>
            </a:r>
            <a:endParaRPr lang="en-US" sz="1300" dirty="0"/>
          </a:p>
        </p:txBody>
      </p:sp>
      <p:sp>
        <p:nvSpPr>
          <p:cNvPr id="20" name="Text 12"/>
          <p:cNvSpPr/>
          <p:nvPr/>
        </p:nvSpPr>
        <p:spPr>
          <a:xfrm>
            <a:off x="566928" y="6199632"/>
            <a:ext cx="11064240" cy="365760"/>
          </a:xfrm>
          <a:prstGeom prst="rect">
            <a:avLst/>
          </a:prstGeom>
          <a:noFill/>
          <a:ln/>
        </p:spPr>
        <p:txBody>
          <a:bodyPr wrap="square" lIns="0" tIns="0" rIns="0" bIns="0" rtlCol="0" anchor="ctr"/>
          <a:lstStyle/>
          <a:p>
            <a:pPr marL="0" indent="0" algn="ctr">
              <a:buNone/>
            </a:pPr>
            <a:r>
              <a:rPr lang="en-US" sz="1400" i="1" dirty="0">
                <a:solidFill>
                  <a:srgbClr val="9B9A92"/>
                </a:solidFill>
                <a:latin typeface="Georgia" pitchFamily="34" charset="0"/>
                <a:ea typeface="Georgia" pitchFamily="34" charset="-122"/>
                <a:cs typeface="Georgia" pitchFamily="34" charset="-120"/>
              </a:rPr>
              <a:t>Start cheap, measure, and escalate only when the task demands it.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495</TotalTime>
  <Words>3323</Words>
  <Application>Microsoft Office PowerPoint</Application>
  <PresentationFormat>Widescreen</PresentationFormat>
  <Paragraphs>316</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Nikhil Shah</dc:creator>
  <cp:lastModifiedBy>Nikhil Shah</cp:lastModifiedBy>
  <cp:revision>4</cp:revision>
  <dcterms:created xsi:type="dcterms:W3CDTF">2026-06-28T06:15:43Z</dcterms:created>
  <dcterms:modified xsi:type="dcterms:W3CDTF">2026-07-01T10:56:58Z</dcterms:modified>
</cp:coreProperties>
</file>