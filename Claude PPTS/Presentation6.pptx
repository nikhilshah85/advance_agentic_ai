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68" d="100"/>
          <a:sy n="68" d="100"/>
        </p:scale>
        <p:origin x="62" y="4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Frame the goal for architects: by the end, leads should be able to DECIDE when to split work across agents, SELECT an orchestration pattern as a system design choice, SET model-tier routing policy, and DEFINE cost guardrails the team can be held to. Emphasize that multi-agent capability buys a cost multiplier — owning that trade-off, and the governance around it, is the through-line of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blocks quickly. Emphasize the arc: capability (1-3) then economics (4-6). Tell the architects the two halves are inseparable — every orchestration choice is also a cost and operability choice they will own at the system level. Invite them to flag which sections map to decisions on their current roadmaps.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multi-agent is an architecture decision, not a smarter model. Both numbers are real and from Anthropic — ~15x token cost AND ~90% performance lift on research. The architect's lesson is selectivity as policy: sanction the 15x only where the task is genuinely parallel or exceeds a single context window, and make that boundary explicit in your design guidance. Ask the room for examples of single-agent breakdowns and where they'd draw the 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defining property: context isolation. A subagent cannot see its siblings and is thrown away after returning a summary — that's a feature, it keeps the parent's working memory clean. Practical framing: subagents are for fan-out of bounded, read-heavy work (search, analysis, file reads). Mention that this is the lowest-friction multi-agent primitive in the Agent SDK / Claude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subagents: teams are heavier — multiple real sessions, peer-to-peer messaging, a shared task list, and a coordinating lead. The big behavioral difference: you can interact with a teammate directly, whereas a subagent only reports back to its parent. Flag that teams are experimental and off by default, with rough edges around resume/shutdown — fine for exploration, not yet for fragile production paths.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decision slide. Cheapest correct answer first: most needs are met by subagents. Teams earn their complexity only when teammates must share state and coordinate continuously. Common mistake noted in the field: reaching for a 'team' when fan-out subagents would do — that just multiplies token cost and coordination overhead.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a spectrum of control. Subagents = you stay in the driver's seat in one session. Agent view = hand off and glance at a dashboard. Agent teams = Claude coordinates a crew. Dynamic workflows = a re-runnable script orchestrating subagents at scale for jobs too big for one turn (audits, 500-file migrations, cross-checked research). Pick by how much you want to delegate vs. supervise.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from Anthropic's 'Building Effective Agents'. Most production systems are compositions of them, not exotic architectures. Encourage starting simple: prompt chaining and routing solve a surprising amount. Reserve orchestrator-workers and evaluator-optimizer for genuinely open-ended or quality-critical work. Tee up the next slide as a deep dive on orchestrator-workers.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left-to-right: orchestrator decides the plan dynamically, workers each take one scoped subtask in isolated context, synthesis merges. The 'dynamic' part is the value — the orchestrator picks subtasks for THIS task rather than a fixed fan-out. Tie back to cost: workers multiply tokens, so tight subtask scoping and a worker cap are the levers that keep this economical.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cost message: tiered routing is the highest-leverage architectural choice. Output tokens dominate the bill (note the 5x in/out gap), so push generation-heavy steps to cheaper tiers when quality allows. Sonnet handles most production work; reserve Opus for the genuinely hard reasoning; use Haiku for high-volume triage/classification. Numbers are 2026 Anthropic platform pricing and may change — always confirm on the pricing page.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caching is the single biggest input-cost lever — 70–90% off reused tokens. Trade-off to teach: a cache WRITE costs a bit more than normal input (1.25x for 5-min, 2x for 1-hour), so caching only pays off when the prefix is reused before it expires. The 2026 default TTL is short (5 min) — for bursty workloads use the 1-hour tier. Architectural rule: stable content first, volatile user input last.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message. (1) Quality: context rot is real — Claude is strong on long-context benchmarks, but accuracy still degrades with bloat, so curation protects answer quality. (2) Cost: every token in the window is paid on every call, so a lean window is also a cheaper window. The traffic-light budget is a practical heuristic, not a hard limit. Compaction + context editing are the automated tools; tight scoping and prompt compression are the manual habits.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operations: measure, then optimize — and instrument before you scale. Show where the numbers live — /usage and /cost for the live session, the Console Usage page for authoritative billing, and response.usage for per-call telemetry (especially cache-hit token counts to confirm caching works). Architects should wire usage into dashboards and per-team budgets so cost is a tracked SLO, not a surprise. The $13/day, $150–250/month figures are Anthropic's enterprise averages; use them only to sanity-check a pilot, not as a target.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architects should encode as defaults and review gates, not just advice. The combination compounds: tiered routing + caching + context trimming together routinely cut bills more than half. Guardrails (spend limits, budget alerts) are the organizational safety net for agent loops that can otherwise burn tokens unattended. Batch API is the easy 50% win for anything that doesn't need to be real-time. The next slide is the one-page cheat-sheet to hand teams.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cost as an owned SLO, not a surprise. The left table is a starting policy architects can adapt: each workload gets a monthly budget, an alert threshold, and a pre-agreed breach action so nobody improvises during an incident. The right ladder turns thresholds into graduated responses — watch at 50%, intervene at 80%, hard-stop at 100%. Stress that this only works if usage is instrumented: response.usage per call plus the Console Usage page feeding a dashboard, with alerts driven off the billing API.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as the single-page takeaway. It compresses the whole economics half of the deck — tier prices, the routing decision rule, caching math, the context traffic-light, and the daily guardrail checklist — onto one printable page architects can pin near the team or attach to a design review. Stress it's a snapshot: confirm live pricing and TTLs before committing numbers to a budget.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lookup that fuses the two halves of the session — capability (pattern) and economics (tier) — into one decision. Read it top-to-bottom as escalating complexity: a single Haiku call at the top, an Opus-led orchestrator–workers run at the bottom. Architects should treat it as a default policy table their teams can extend, not a law: the right-hand 'why' column is the rationale to localize per system. Tie back to the 15× rule — only descend the table when the task genuinely demands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doubles as the trainer's crib sheet. Recap the four habits — measure, right-size, cache, cap — and connect them back to the capability/cost tension from slide 3. Run the mapping exercise if time allows; it cememts pattern + tier selection. Remind the room that every number here is a 2026 snapshot and to verify live pricing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117063"/>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624"/>
        </a:solidFill>
        <a:effectLst/>
      </p:bgPr>
    </p:bg>
    <p:spTree>
      <p:nvGrpSpPr>
        <p:cNvPr id="1" name=""/>
        <p:cNvGrpSpPr/>
        <p:nvPr/>
      </p:nvGrpSpPr>
      <p:grpSpPr>
        <a:xfrm>
          <a:off x="0" y="0"/>
          <a:ext cx="0" cy="0"/>
          <a:chOff x="0" y="0"/>
          <a:chExt cx="0" cy="0"/>
        </a:xfrm>
      </p:grpSpPr>
      <p:pic>
        <p:nvPicPr>
          <p:cNvPr id="2" name="Image 0" descr="assets/burst_clay.png"/>
          <p:cNvPicPr>
            <a:picLocks noChangeAspect="1"/>
          </p:cNvPicPr>
          <p:nvPr/>
        </p:nvPicPr>
        <p:blipFill>
          <a:blip r:embed="rId3">
            <a:alphaModFix amt="22000"/>
          </a:blip>
          <a:stretch>
            <a:fillRect/>
          </a:stretch>
        </p:blipFill>
        <p:spPr>
          <a:xfrm>
            <a:off x="7955280" y="914400"/>
            <a:ext cx="4236415" cy="4846320"/>
          </a:xfrm>
          <a:prstGeom prst="rect">
            <a:avLst/>
          </a:prstGeom>
        </p:spPr>
      </p:pic>
      <p:pic>
        <p:nvPicPr>
          <p:cNvPr id="3" name="Image 1" descr="assets/burst_clay.png"/>
          <p:cNvPicPr>
            <a:picLocks noChangeAspect="1"/>
          </p:cNvPicPr>
          <p:nvPr/>
        </p:nvPicPr>
        <p:blipFill>
          <a:blip r:embed="rId3"/>
          <a:stretch>
            <a:fillRect/>
          </a:stretch>
        </p:blipFill>
        <p:spPr>
          <a:xfrm>
            <a:off x="777240" y="566928"/>
            <a:ext cx="868680" cy="868680"/>
          </a:xfrm>
          <a:prstGeom prst="rect">
            <a:avLst/>
          </a:prstGeom>
        </p:spPr>
      </p:pic>
      <p:sp>
        <p:nvSpPr>
          <p:cNvPr id="4" name="Text 0"/>
          <p:cNvSpPr/>
          <p:nvPr/>
        </p:nvSpPr>
        <p:spPr>
          <a:xfrm>
            <a:off x="1783080" y="676656"/>
            <a:ext cx="7315200" cy="457200"/>
          </a:xfrm>
          <a:prstGeom prst="rect">
            <a:avLst/>
          </a:prstGeom>
          <a:noFill/>
          <a:ln/>
        </p:spPr>
        <p:txBody>
          <a:bodyPr wrap="square" lIns="0" tIns="0" rIns="0" bIns="0" rtlCol="0" anchor="ctr"/>
          <a:lstStyle/>
          <a:p>
            <a:pPr marL="0" indent="0">
              <a:buNone/>
            </a:pPr>
            <a:r>
              <a:rPr lang="en-US" sz="1300" b="1" kern="0" spc="250" dirty="0">
                <a:solidFill>
                  <a:srgbClr val="C9B8A8"/>
                </a:solidFill>
                <a:latin typeface="Calibri" pitchFamily="34" charset="0"/>
                <a:ea typeface="Calibri" pitchFamily="34" charset="-122"/>
                <a:cs typeface="Calibri" pitchFamily="34" charset="-120"/>
              </a:rPr>
              <a:t>CLAUDE  ·  ENGINEERING TRAINING</a:t>
            </a:r>
            <a:endParaRPr lang="en-US" sz="1300" dirty="0"/>
          </a:p>
        </p:txBody>
      </p:sp>
      <p:sp>
        <p:nvSpPr>
          <p:cNvPr id="5" name="Text 1"/>
          <p:cNvSpPr/>
          <p:nvPr/>
        </p:nvSpPr>
        <p:spPr>
          <a:xfrm>
            <a:off x="777240" y="2148840"/>
            <a:ext cx="8778240" cy="1920240"/>
          </a:xfrm>
          <a:prstGeom prst="rect">
            <a:avLst/>
          </a:prstGeom>
          <a:noFill/>
          <a:ln/>
        </p:spPr>
        <p:txBody>
          <a:bodyPr wrap="square" lIns="0" tIns="0" rIns="0" bIns="0" rtlCol="0" anchor="t"/>
          <a:lstStyle/>
          <a:p>
            <a:pPr marL="0" indent="0" algn="l">
              <a:lnSpc>
                <a:spcPts val="5200"/>
              </a:lnSpc>
              <a:buNone/>
            </a:pPr>
            <a:r>
              <a:rPr lang="en-US" sz="4700" b="1" dirty="0">
                <a:solidFill>
                  <a:srgbClr val="FBF8F2"/>
                </a:solidFill>
                <a:latin typeface="Georgia" pitchFamily="34" charset="0"/>
                <a:ea typeface="Georgia" pitchFamily="34" charset="-122"/>
                <a:cs typeface="Georgia" pitchFamily="34" charset="-120"/>
              </a:rPr>
              <a:t>Multi-Agent Orchestration</a:t>
            </a:r>
            <a:endParaRPr lang="en-US" sz="4700" dirty="0"/>
          </a:p>
          <a:p>
            <a:pPr marL="0" indent="0" algn="l">
              <a:lnSpc>
                <a:spcPts val="5200"/>
              </a:lnSpc>
              <a:buNone/>
            </a:pPr>
            <a:r>
              <a:rPr lang="en-US" sz="4700" b="1" dirty="0">
                <a:solidFill>
                  <a:srgbClr val="FBF8F2"/>
                </a:solidFill>
                <a:latin typeface="Georgia" pitchFamily="34" charset="0"/>
                <a:ea typeface="Georgia" pitchFamily="34" charset="-122"/>
                <a:cs typeface="Georgia" pitchFamily="34" charset="-120"/>
              </a:rPr>
              <a:t>&amp; Cost-Optimization Practices</a:t>
            </a:r>
            <a:endParaRPr lang="en-US" sz="4700" dirty="0"/>
          </a:p>
        </p:txBody>
      </p:sp>
      <p:sp>
        <p:nvSpPr>
          <p:cNvPr id="6" name="Shape 2"/>
          <p:cNvSpPr/>
          <p:nvPr/>
        </p:nvSpPr>
        <p:spPr>
          <a:xfrm>
            <a:off x="841248" y="4160520"/>
            <a:ext cx="1554480" cy="82296"/>
          </a:xfrm>
          <a:prstGeom prst="rect">
            <a:avLst/>
          </a:prstGeom>
          <a:solidFill>
            <a:srgbClr val="D97757"/>
          </a:solidFill>
          <a:ln/>
        </p:spPr>
        <p:txBody>
          <a:bodyPr/>
          <a:lstStyle/>
          <a:p>
            <a:endParaRPr lang="en-IN"/>
          </a:p>
        </p:txBody>
      </p:sp>
      <p:sp>
        <p:nvSpPr>
          <p:cNvPr id="7" name="Text 3"/>
          <p:cNvSpPr/>
          <p:nvPr/>
        </p:nvSpPr>
        <p:spPr>
          <a:xfrm>
            <a:off x="822960" y="4434840"/>
            <a:ext cx="7863840" cy="1005840"/>
          </a:xfrm>
          <a:prstGeom prst="rect">
            <a:avLst/>
          </a:prstGeom>
          <a:noFill/>
          <a:ln/>
        </p:spPr>
        <p:txBody>
          <a:bodyPr wrap="square" lIns="0" tIns="0" rIns="0" bIns="0" rtlCol="0" anchor="t"/>
          <a:lstStyle/>
          <a:p>
            <a:pPr marL="0" indent="0" algn="l">
              <a:lnSpc>
                <a:spcPts val="2300"/>
              </a:lnSpc>
              <a:buNone/>
            </a:pPr>
            <a:r>
              <a:rPr lang="en-US" sz="1650" dirty="0">
                <a:solidFill>
                  <a:srgbClr val="D8CDBF"/>
                </a:solidFill>
                <a:latin typeface="Calibri" pitchFamily="34" charset="0"/>
                <a:ea typeface="Calibri" pitchFamily="34" charset="-122"/>
                <a:cs typeface="Calibri" pitchFamily="34" charset="-120"/>
              </a:rPr>
              <a:t>Building, coordinating, and paying for agent systems that scale — subagents, orchestration patterns, model-tier strategy, and cost guardrails.</a:t>
            </a:r>
            <a:endParaRPr lang="en-US" sz="1650" dirty="0"/>
          </a:p>
        </p:txBody>
      </p:sp>
      <p:sp>
        <p:nvSpPr>
          <p:cNvPr id="8" name="Text 4"/>
          <p:cNvSpPr/>
          <p:nvPr/>
        </p:nvSpPr>
        <p:spPr>
          <a:xfrm>
            <a:off x="822960" y="5989320"/>
            <a:ext cx="8686800" cy="365760"/>
          </a:xfrm>
          <a:prstGeom prst="rect">
            <a:avLst/>
          </a:prstGeom>
          <a:noFill/>
          <a:ln/>
        </p:spPr>
        <p:txBody>
          <a:bodyPr wrap="square" lIns="0" tIns="0" rIns="0" bIns="0" rtlCol="0" anchor="ctr"/>
          <a:lstStyle/>
          <a:p>
            <a:pPr marL="0" indent="0">
              <a:buNone/>
            </a:pPr>
            <a:r>
              <a:rPr lang="en-US" sz="1300" i="1" dirty="0">
                <a:solidFill>
                  <a:srgbClr val="D97757"/>
                </a:solidFill>
                <a:latin typeface="Calibri" pitchFamily="34" charset="0"/>
                <a:ea typeface="Calibri" pitchFamily="34" charset="-122"/>
                <a:cs typeface="Calibri" pitchFamily="34" charset="-120"/>
              </a:rPr>
              <a:t>An architecture-level session for technical leads and solution architects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WHAT WE'LL COVER</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Session roadmap</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Shape 2"/>
          <p:cNvSpPr/>
          <p:nvPr/>
        </p:nvSpPr>
        <p:spPr>
          <a:xfrm>
            <a:off x="548640" y="1828800"/>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6" name="Text 3"/>
          <p:cNvSpPr/>
          <p:nvPr/>
        </p:nvSpPr>
        <p:spPr>
          <a:xfrm>
            <a:off x="749808" y="1993392"/>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01</a:t>
            </a:r>
            <a:endParaRPr lang="en-US" sz="3300" dirty="0"/>
          </a:p>
        </p:txBody>
      </p:sp>
      <p:sp>
        <p:nvSpPr>
          <p:cNvPr id="7" name="Text 4"/>
          <p:cNvSpPr/>
          <p:nvPr/>
        </p:nvSpPr>
        <p:spPr>
          <a:xfrm>
            <a:off x="1691640" y="2011680"/>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Why multi-agent</a:t>
            </a:r>
            <a:endParaRPr lang="en-US" sz="1700" dirty="0"/>
          </a:p>
        </p:txBody>
      </p:sp>
      <p:sp>
        <p:nvSpPr>
          <p:cNvPr id="8" name="Text 5"/>
          <p:cNvSpPr/>
          <p:nvPr/>
        </p:nvSpPr>
        <p:spPr>
          <a:xfrm>
            <a:off x="1691640" y="2395728"/>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Where single agents break — and the cost they trade for capability</a:t>
            </a:r>
            <a:endParaRPr lang="en-US" sz="1250" dirty="0"/>
          </a:p>
        </p:txBody>
      </p:sp>
      <p:sp>
        <p:nvSpPr>
          <p:cNvPr id="9" name="Shape 6"/>
          <p:cNvSpPr/>
          <p:nvPr/>
        </p:nvSpPr>
        <p:spPr>
          <a:xfrm>
            <a:off x="6217920" y="1828800"/>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0" name="Text 7"/>
          <p:cNvSpPr/>
          <p:nvPr/>
        </p:nvSpPr>
        <p:spPr>
          <a:xfrm>
            <a:off x="6419088" y="1993392"/>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02</a:t>
            </a:r>
            <a:endParaRPr lang="en-US" sz="3300" dirty="0"/>
          </a:p>
        </p:txBody>
      </p:sp>
      <p:sp>
        <p:nvSpPr>
          <p:cNvPr id="11" name="Text 8"/>
          <p:cNvSpPr/>
          <p:nvPr/>
        </p:nvSpPr>
        <p:spPr>
          <a:xfrm>
            <a:off x="7360920" y="2011680"/>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Subagents &amp; agent teams</a:t>
            </a:r>
            <a:endParaRPr lang="en-US" sz="1700" dirty="0"/>
          </a:p>
        </p:txBody>
      </p:sp>
      <p:sp>
        <p:nvSpPr>
          <p:cNvPr id="12" name="Text 9"/>
          <p:cNvSpPr/>
          <p:nvPr/>
        </p:nvSpPr>
        <p:spPr>
          <a:xfrm>
            <a:off x="7360920" y="2395728"/>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Isolated context, parallel work, and coordinated sessions</a:t>
            </a:r>
            <a:endParaRPr lang="en-US" sz="1250" dirty="0"/>
          </a:p>
        </p:txBody>
      </p:sp>
      <p:sp>
        <p:nvSpPr>
          <p:cNvPr id="13" name="Shape 10"/>
          <p:cNvSpPr/>
          <p:nvPr/>
        </p:nvSpPr>
        <p:spPr>
          <a:xfrm>
            <a:off x="548640" y="3328416"/>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4" name="Text 11"/>
          <p:cNvSpPr/>
          <p:nvPr/>
        </p:nvSpPr>
        <p:spPr>
          <a:xfrm>
            <a:off x="749808" y="3493008"/>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03</a:t>
            </a:r>
            <a:endParaRPr lang="en-US" sz="3300" dirty="0"/>
          </a:p>
        </p:txBody>
      </p:sp>
      <p:sp>
        <p:nvSpPr>
          <p:cNvPr id="15" name="Text 12"/>
          <p:cNvSpPr/>
          <p:nvPr/>
        </p:nvSpPr>
        <p:spPr>
          <a:xfrm>
            <a:off x="1691640" y="3511296"/>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Orchestration patterns</a:t>
            </a:r>
            <a:endParaRPr lang="en-US" sz="1700" dirty="0"/>
          </a:p>
        </p:txBody>
      </p:sp>
      <p:sp>
        <p:nvSpPr>
          <p:cNvPr id="16" name="Text 13"/>
          <p:cNvSpPr/>
          <p:nvPr/>
        </p:nvSpPr>
        <p:spPr>
          <a:xfrm>
            <a:off x="1691640" y="3895344"/>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Composing reliable, multi-step workflows</a:t>
            </a:r>
            <a:endParaRPr lang="en-US" sz="1250" dirty="0"/>
          </a:p>
        </p:txBody>
      </p:sp>
      <p:sp>
        <p:nvSpPr>
          <p:cNvPr id="17" name="Shape 14"/>
          <p:cNvSpPr/>
          <p:nvPr/>
        </p:nvSpPr>
        <p:spPr>
          <a:xfrm>
            <a:off x="6217920" y="3328416"/>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8" name="Text 15"/>
          <p:cNvSpPr/>
          <p:nvPr/>
        </p:nvSpPr>
        <p:spPr>
          <a:xfrm>
            <a:off x="6419088" y="3493008"/>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04</a:t>
            </a:r>
            <a:endParaRPr lang="en-US" sz="3300" dirty="0"/>
          </a:p>
        </p:txBody>
      </p:sp>
      <p:sp>
        <p:nvSpPr>
          <p:cNvPr id="19" name="Text 16"/>
          <p:cNvSpPr/>
          <p:nvPr/>
        </p:nvSpPr>
        <p:spPr>
          <a:xfrm>
            <a:off x="7360920" y="3511296"/>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Model-tier selection</a:t>
            </a:r>
            <a:endParaRPr lang="en-US" sz="1700" dirty="0"/>
          </a:p>
        </p:txBody>
      </p:sp>
      <p:sp>
        <p:nvSpPr>
          <p:cNvPr id="20" name="Text 17"/>
          <p:cNvSpPr/>
          <p:nvPr/>
        </p:nvSpPr>
        <p:spPr>
          <a:xfrm>
            <a:off x="7360920" y="3895344"/>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Choosing Haiku, Sonnet, or Opus per task</a:t>
            </a:r>
            <a:endParaRPr lang="en-US" sz="1250" dirty="0"/>
          </a:p>
        </p:txBody>
      </p:sp>
      <p:sp>
        <p:nvSpPr>
          <p:cNvPr id="21" name="Shape 18"/>
          <p:cNvSpPr/>
          <p:nvPr/>
        </p:nvSpPr>
        <p:spPr>
          <a:xfrm>
            <a:off x="548640" y="4828032"/>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2" name="Text 19"/>
          <p:cNvSpPr/>
          <p:nvPr/>
        </p:nvSpPr>
        <p:spPr>
          <a:xfrm>
            <a:off x="749808" y="4992624"/>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05</a:t>
            </a:r>
            <a:endParaRPr lang="en-US" sz="3300" dirty="0"/>
          </a:p>
        </p:txBody>
      </p:sp>
      <p:sp>
        <p:nvSpPr>
          <p:cNvPr id="23" name="Text 20"/>
          <p:cNvSpPr/>
          <p:nvPr/>
        </p:nvSpPr>
        <p:spPr>
          <a:xfrm>
            <a:off x="1691640" y="5010912"/>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Caching &amp; context hygiene</a:t>
            </a:r>
            <a:endParaRPr lang="en-US" sz="1700" dirty="0"/>
          </a:p>
        </p:txBody>
      </p:sp>
      <p:sp>
        <p:nvSpPr>
          <p:cNvPr id="24" name="Text 21"/>
          <p:cNvSpPr/>
          <p:nvPr/>
        </p:nvSpPr>
        <p:spPr>
          <a:xfrm>
            <a:off x="1691640" y="5394960"/>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Cutting input cost and fighting context rot</a:t>
            </a:r>
            <a:endParaRPr lang="en-US" sz="1250" dirty="0"/>
          </a:p>
        </p:txBody>
      </p:sp>
      <p:sp>
        <p:nvSpPr>
          <p:cNvPr id="25" name="Shape 22"/>
          <p:cNvSpPr/>
          <p:nvPr/>
        </p:nvSpPr>
        <p:spPr>
          <a:xfrm>
            <a:off x="6217920" y="4828032"/>
            <a:ext cx="5257800" cy="1207008"/>
          </a:xfrm>
          <a:prstGeom prst="roundRect">
            <a:avLst>
              <a:gd name="adj" fmla="val 7576"/>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6" name="Text 23"/>
          <p:cNvSpPr/>
          <p:nvPr/>
        </p:nvSpPr>
        <p:spPr>
          <a:xfrm>
            <a:off x="6419088" y="4992624"/>
            <a:ext cx="914400" cy="822960"/>
          </a:xfrm>
          <a:prstGeom prst="rect">
            <a:avLst/>
          </a:prstGeom>
          <a:noFill/>
          <a:ln/>
        </p:spPr>
        <p:txBody>
          <a:bodyPr wrap="square" lIns="0" tIns="0" rIns="0" bIns="0" rtlCol="0" anchor="t"/>
          <a:lstStyle/>
          <a:p>
            <a:pPr marL="0" indent="0">
              <a:buNone/>
            </a:pPr>
            <a:r>
              <a:rPr lang="en-US" sz="3300" b="1" dirty="0">
                <a:solidFill>
                  <a:srgbClr val="D97757"/>
                </a:solidFill>
                <a:latin typeface="Georgia" pitchFamily="34" charset="0"/>
                <a:ea typeface="Georgia" pitchFamily="34" charset="-122"/>
                <a:cs typeface="Georgia" pitchFamily="34" charset="-120"/>
              </a:rPr>
              <a:t>06</a:t>
            </a:r>
            <a:endParaRPr lang="en-US" sz="3300" dirty="0"/>
          </a:p>
        </p:txBody>
      </p:sp>
      <p:sp>
        <p:nvSpPr>
          <p:cNvPr id="27" name="Text 24"/>
          <p:cNvSpPr/>
          <p:nvPr/>
        </p:nvSpPr>
        <p:spPr>
          <a:xfrm>
            <a:off x="7360920" y="5010912"/>
            <a:ext cx="3931920" cy="384048"/>
          </a:xfrm>
          <a:prstGeom prst="rect">
            <a:avLst/>
          </a:prstGeom>
          <a:noFill/>
          <a:ln/>
        </p:spPr>
        <p:txBody>
          <a:bodyPr wrap="square" lIns="0" tIns="0" rIns="0" bIns="0" rtlCol="0" anchor="ctr"/>
          <a:lstStyle/>
          <a:p>
            <a:pPr marL="0" indent="0">
              <a:buNone/>
            </a:pPr>
            <a:r>
              <a:rPr lang="en-US" sz="1700" b="1" dirty="0">
                <a:solidFill>
                  <a:srgbClr val="1F1E1D"/>
                </a:solidFill>
                <a:latin typeface="Calibri" pitchFamily="34" charset="0"/>
                <a:ea typeface="Calibri" pitchFamily="34" charset="-122"/>
                <a:cs typeface="Calibri" pitchFamily="34" charset="-120"/>
              </a:rPr>
              <a:t>Tracking &amp; guardrails</a:t>
            </a:r>
            <a:endParaRPr lang="en-US" sz="1700" dirty="0"/>
          </a:p>
        </p:txBody>
      </p:sp>
      <p:sp>
        <p:nvSpPr>
          <p:cNvPr id="28" name="Text 25"/>
          <p:cNvSpPr/>
          <p:nvPr/>
        </p:nvSpPr>
        <p:spPr>
          <a:xfrm>
            <a:off x="7360920" y="5394960"/>
            <a:ext cx="3931920" cy="548640"/>
          </a:xfrm>
          <a:prstGeom prst="rect">
            <a:avLst/>
          </a:prstGeom>
          <a:noFill/>
          <a:ln/>
        </p:spPr>
        <p:txBody>
          <a:bodyPr wrap="square" lIns="0" tIns="0" rIns="0" bIns="0" rtlCol="0" anchor="t"/>
          <a:lstStyle/>
          <a:p>
            <a:pPr marL="0" indent="0">
              <a:lnSpc>
                <a:spcPts val="1500"/>
              </a:lnSpc>
              <a:buNone/>
            </a:pPr>
            <a:r>
              <a:rPr lang="en-US" sz="1250" dirty="0">
                <a:solidFill>
                  <a:srgbClr val="3D3A35"/>
                </a:solidFill>
                <a:latin typeface="Calibri" pitchFamily="34" charset="0"/>
                <a:ea typeface="Calibri" pitchFamily="34" charset="-122"/>
                <a:cs typeface="Calibri" pitchFamily="34" charset="-120"/>
              </a:rPr>
              <a:t>Measuring tokens and capping spend in practice</a:t>
            </a:r>
            <a:endParaRPr lang="en-US" sz="1250" dirty="0"/>
          </a:p>
        </p:txBody>
      </p:sp>
      <p:sp>
        <p:nvSpPr>
          <p:cNvPr id="29" name="Text 26"/>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0" name="Text 2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THE CASE FOR MANY AGENTS</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Why one agent isn't always enough</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783080"/>
            <a:ext cx="6126480" cy="365760"/>
          </a:xfrm>
          <a:prstGeom prst="rect">
            <a:avLst/>
          </a:prstGeom>
          <a:noFill/>
          <a:ln/>
        </p:spPr>
        <p:txBody>
          <a:bodyPr wrap="square" lIns="0" tIns="0" rIns="0" bIns="0" rtlCol="0" anchor="ctr"/>
          <a:lstStyle/>
          <a:p>
            <a:pPr marL="0" indent="0">
              <a:buNone/>
            </a:pPr>
            <a:r>
              <a:rPr lang="en-US" sz="1600" b="1" dirty="0">
                <a:solidFill>
                  <a:srgbClr val="BF5E3C"/>
                </a:solidFill>
                <a:latin typeface="Calibri" pitchFamily="34" charset="0"/>
                <a:ea typeface="Calibri" pitchFamily="34" charset="-122"/>
                <a:cs typeface="Calibri" pitchFamily="34" charset="-120"/>
              </a:rPr>
              <a:t>Where a single agent breaks</a:t>
            </a:r>
            <a:endParaRPr lang="en-US" sz="1600" dirty="0"/>
          </a:p>
        </p:txBody>
      </p:sp>
      <p:sp>
        <p:nvSpPr>
          <p:cNvPr id="6" name="Shape 3"/>
          <p:cNvSpPr/>
          <p:nvPr/>
        </p:nvSpPr>
        <p:spPr>
          <a:xfrm>
            <a:off x="566928" y="2304288"/>
            <a:ext cx="146304" cy="146304"/>
          </a:xfrm>
          <a:prstGeom prst="ellipse">
            <a:avLst/>
          </a:prstGeom>
          <a:solidFill>
            <a:srgbClr val="D97757"/>
          </a:solidFill>
          <a:ln/>
        </p:spPr>
        <p:txBody>
          <a:bodyPr/>
          <a:lstStyle/>
          <a:p>
            <a:endParaRPr lang="en-IN"/>
          </a:p>
        </p:txBody>
      </p:sp>
      <p:sp>
        <p:nvSpPr>
          <p:cNvPr id="7" name="Text 4"/>
          <p:cNvSpPr/>
          <p:nvPr/>
        </p:nvSpPr>
        <p:spPr>
          <a:xfrm>
            <a:off x="859536" y="2185416"/>
            <a:ext cx="5815584" cy="640080"/>
          </a:xfrm>
          <a:prstGeom prst="rect">
            <a:avLst/>
          </a:prstGeom>
          <a:noFill/>
          <a:ln/>
        </p:spPr>
        <p:txBody>
          <a:bodyPr wrap="square" lIns="0" tIns="0" rIns="0" bIns="0" rtlCol="0" anchor="t"/>
          <a:lstStyle/>
          <a:p>
            <a:pPr marL="0" indent="0">
              <a:lnSpc>
                <a:spcPts val="1600"/>
              </a:lnSpc>
              <a:buNone/>
            </a:pPr>
            <a:r>
              <a:rPr lang="en-US" sz="1350" b="1" dirty="0">
                <a:solidFill>
                  <a:srgbClr val="1F1E1D"/>
                </a:solidFill>
                <a:latin typeface="Calibri" pitchFamily="34" charset="0"/>
                <a:ea typeface="Calibri" pitchFamily="34" charset="-122"/>
                <a:cs typeface="Calibri" pitchFamily="34" charset="-120"/>
              </a:rPr>
              <a:t>Memory bloat  </a:t>
            </a:r>
            <a:r>
              <a:rPr lang="en-US" sz="1350" dirty="0">
                <a:solidFill>
                  <a:srgbClr val="3D3A35"/>
                </a:solidFill>
                <a:latin typeface="Calibri" pitchFamily="34" charset="0"/>
                <a:ea typeface="Calibri" pitchFamily="34" charset="-122"/>
                <a:cs typeface="Calibri" pitchFamily="34" charset="-120"/>
              </a:rPr>
              <a:t>Every step piles onto one context window until it saturates.</a:t>
            </a:r>
            <a:endParaRPr lang="en-US" sz="1350" dirty="0"/>
          </a:p>
        </p:txBody>
      </p:sp>
      <p:sp>
        <p:nvSpPr>
          <p:cNvPr id="8" name="Shape 5"/>
          <p:cNvSpPr/>
          <p:nvPr/>
        </p:nvSpPr>
        <p:spPr>
          <a:xfrm>
            <a:off x="566928" y="3054096"/>
            <a:ext cx="146304" cy="146304"/>
          </a:xfrm>
          <a:prstGeom prst="ellipse">
            <a:avLst/>
          </a:prstGeom>
          <a:solidFill>
            <a:srgbClr val="D97757"/>
          </a:solidFill>
          <a:ln/>
        </p:spPr>
        <p:txBody>
          <a:bodyPr/>
          <a:lstStyle/>
          <a:p>
            <a:endParaRPr lang="en-IN"/>
          </a:p>
        </p:txBody>
      </p:sp>
      <p:sp>
        <p:nvSpPr>
          <p:cNvPr id="9" name="Text 6"/>
          <p:cNvSpPr/>
          <p:nvPr/>
        </p:nvSpPr>
        <p:spPr>
          <a:xfrm>
            <a:off x="859536" y="2935224"/>
            <a:ext cx="5815584" cy="640080"/>
          </a:xfrm>
          <a:prstGeom prst="rect">
            <a:avLst/>
          </a:prstGeom>
          <a:noFill/>
          <a:ln/>
        </p:spPr>
        <p:txBody>
          <a:bodyPr wrap="square" lIns="0" tIns="0" rIns="0" bIns="0" rtlCol="0" anchor="t"/>
          <a:lstStyle/>
          <a:p>
            <a:pPr marL="0" indent="0">
              <a:lnSpc>
                <a:spcPts val="1600"/>
              </a:lnSpc>
              <a:buNone/>
            </a:pPr>
            <a:r>
              <a:rPr lang="en-US" sz="1350" b="1" dirty="0">
                <a:solidFill>
                  <a:srgbClr val="1F1E1D"/>
                </a:solidFill>
                <a:latin typeface="Calibri" pitchFamily="34" charset="0"/>
                <a:ea typeface="Calibri" pitchFamily="34" charset="-122"/>
                <a:cs typeface="Calibri" pitchFamily="34" charset="-120"/>
              </a:rPr>
              <a:t>Context rot  </a:t>
            </a:r>
            <a:r>
              <a:rPr lang="en-US" sz="1350" dirty="0">
                <a:solidFill>
                  <a:srgbClr val="3D3A35"/>
                </a:solidFill>
                <a:latin typeface="Calibri" pitchFamily="34" charset="0"/>
                <a:ea typeface="Calibri" pitchFamily="34" charset="-122"/>
                <a:cs typeface="Calibri" pitchFamily="34" charset="-120"/>
              </a:rPr>
              <a:t>Accuracy and recall degrade as the token count climbs.</a:t>
            </a:r>
            <a:endParaRPr lang="en-US" sz="1350" dirty="0"/>
          </a:p>
        </p:txBody>
      </p:sp>
      <p:sp>
        <p:nvSpPr>
          <p:cNvPr id="10" name="Shape 7"/>
          <p:cNvSpPr/>
          <p:nvPr/>
        </p:nvSpPr>
        <p:spPr>
          <a:xfrm>
            <a:off x="566928" y="3803904"/>
            <a:ext cx="146304" cy="146304"/>
          </a:xfrm>
          <a:prstGeom prst="ellipse">
            <a:avLst/>
          </a:prstGeom>
          <a:solidFill>
            <a:srgbClr val="D97757"/>
          </a:solidFill>
          <a:ln/>
        </p:spPr>
        <p:txBody>
          <a:bodyPr/>
          <a:lstStyle/>
          <a:p>
            <a:endParaRPr lang="en-IN"/>
          </a:p>
        </p:txBody>
      </p:sp>
      <p:sp>
        <p:nvSpPr>
          <p:cNvPr id="11" name="Text 8"/>
          <p:cNvSpPr/>
          <p:nvPr/>
        </p:nvSpPr>
        <p:spPr>
          <a:xfrm>
            <a:off x="859536" y="3685032"/>
            <a:ext cx="5815584" cy="640080"/>
          </a:xfrm>
          <a:prstGeom prst="rect">
            <a:avLst/>
          </a:prstGeom>
          <a:noFill/>
          <a:ln/>
        </p:spPr>
        <p:txBody>
          <a:bodyPr wrap="square" lIns="0" tIns="0" rIns="0" bIns="0" rtlCol="0" anchor="t"/>
          <a:lstStyle/>
          <a:p>
            <a:pPr marL="0" indent="0">
              <a:lnSpc>
                <a:spcPts val="1600"/>
              </a:lnSpc>
              <a:buNone/>
            </a:pPr>
            <a:r>
              <a:rPr lang="en-US" sz="1350" b="1" dirty="0">
                <a:solidFill>
                  <a:srgbClr val="1F1E1D"/>
                </a:solidFill>
                <a:latin typeface="Calibri" pitchFamily="34" charset="0"/>
                <a:ea typeface="Calibri" pitchFamily="34" charset="-122"/>
                <a:cs typeface="Calibri" pitchFamily="34" charset="-120"/>
              </a:rPr>
              <a:t>Focus drift  </a:t>
            </a:r>
            <a:r>
              <a:rPr lang="en-US" sz="1350" dirty="0">
                <a:solidFill>
                  <a:srgbClr val="3D3A35"/>
                </a:solidFill>
                <a:latin typeface="Calibri" pitchFamily="34" charset="0"/>
                <a:ea typeface="Calibri" pitchFamily="34" charset="-122"/>
                <a:cs typeface="Calibri" pitchFamily="34" charset="-120"/>
              </a:rPr>
              <a:t>Mixing refactor + test + docs in one thread dilutes reasoning.</a:t>
            </a:r>
            <a:endParaRPr lang="en-US" sz="1350" dirty="0"/>
          </a:p>
        </p:txBody>
      </p:sp>
      <p:sp>
        <p:nvSpPr>
          <p:cNvPr id="12" name="Shape 9"/>
          <p:cNvSpPr/>
          <p:nvPr/>
        </p:nvSpPr>
        <p:spPr>
          <a:xfrm>
            <a:off x="566928" y="4553712"/>
            <a:ext cx="146304" cy="146304"/>
          </a:xfrm>
          <a:prstGeom prst="ellipse">
            <a:avLst/>
          </a:prstGeom>
          <a:solidFill>
            <a:srgbClr val="D97757"/>
          </a:solidFill>
          <a:ln/>
        </p:spPr>
        <p:txBody>
          <a:bodyPr/>
          <a:lstStyle/>
          <a:p>
            <a:endParaRPr lang="en-IN"/>
          </a:p>
        </p:txBody>
      </p:sp>
      <p:sp>
        <p:nvSpPr>
          <p:cNvPr id="13" name="Text 10"/>
          <p:cNvSpPr/>
          <p:nvPr/>
        </p:nvSpPr>
        <p:spPr>
          <a:xfrm>
            <a:off x="859536" y="4434840"/>
            <a:ext cx="5815584" cy="640080"/>
          </a:xfrm>
          <a:prstGeom prst="rect">
            <a:avLst/>
          </a:prstGeom>
          <a:noFill/>
          <a:ln/>
        </p:spPr>
        <p:txBody>
          <a:bodyPr wrap="square" lIns="0" tIns="0" rIns="0" bIns="0" rtlCol="0" anchor="t"/>
          <a:lstStyle/>
          <a:p>
            <a:pPr marL="0" indent="0">
              <a:lnSpc>
                <a:spcPts val="1600"/>
              </a:lnSpc>
              <a:buNone/>
            </a:pPr>
            <a:r>
              <a:rPr lang="en-US" sz="1350" b="1" dirty="0">
                <a:solidFill>
                  <a:srgbClr val="1F1E1D"/>
                </a:solidFill>
                <a:latin typeface="Calibri" pitchFamily="34" charset="0"/>
                <a:ea typeface="Calibri" pitchFamily="34" charset="-122"/>
                <a:cs typeface="Calibri" pitchFamily="34" charset="-120"/>
              </a:rPr>
              <a:t>No parallelism  </a:t>
            </a:r>
            <a:r>
              <a:rPr lang="en-US" sz="1350" dirty="0">
                <a:solidFill>
                  <a:srgbClr val="3D3A35"/>
                </a:solidFill>
                <a:latin typeface="Calibri" pitchFamily="34" charset="0"/>
                <a:ea typeface="Calibri" pitchFamily="34" charset="-122"/>
                <a:cs typeface="Calibri" pitchFamily="34" charset="-120"/>
              </a:rPr>
              <a:t>Independent subtasks run one-after-another, not at once.</a:t>
            </a:r>
            <a:endParaRPr lang="en-US" sz="1350" dirty="0"/>
          </a:p>
        </p:txBody>
      </p:sp>
      <p:sp>
        <p:nvSpPr>
          <p:cNvPr id="14" name="Shape 11"/>
          <p:cNvSpPr/>
          <p:nvPr/>
        </p:nvSpPr>
        <p:spPr>
          <a:xfrm>
            <a:off x="7040880" y="1783080"/>
            <a:ext cx="4617720" cy="4069080"/>
          </a:xfrm>
          <a:prstGeom prst="roundRect">
            <a:avLst>
              <a:gd name="adj" fmla="val 2247"/>
            </a:avLst>
          </a:prstGeom>
          <a:solidFill>
            <a:srgbClr val="262624"/>
          </a:solidFill>
          <a:ln/>
          <a:effectLst>
            <a:outerShdw blurRad="114300" dist="38100" dir="5400000" algn="bl" rotWithShape="0">
              <a:srgbClr val="8C8579">
                <a:alpha val="22000"/>
              </a:srgbClr>
            </a:outerShdw>
          </a:effectLst>
        </p:spPr>
        <p:txBody>
          <a:bodyPr/>
          <a:lstStyle/>
          <a:p>
            <a:endParaRPr lang="en-IN"/>
          </a:p>
        </p:txBody>
      </p:sp>
      <p:sp>
        <p:nvSpPr>
          <p:cNvPr id="15" name="Text 12"/>
          <p:cNvSpPr/>
          <p:nvPr/>
        </p:nvSpPr>
        <p:spPr>
          <a:xfrm>
            <a:off x="7406640" y="2011680"/>
            <a:ext cx="3886200" cy="320040"/>
          </a:xfrm>
          <a:prstGeom prst="rect">
            <a:avLst/>
          </a:prstGeom>
          <a:noFill/>
          <a:ln/>
        </p:spPr>
        <p:txBody>
          <a:bodyPr wrap="square" lIns="0" tIns="0" rIns="0" bIns="0" rtlCol="0" anchor="ctr"/>
          <a:lstStyle/>
          <a:p>
            <a:pPr marL="0" indent="0">
              <a:buNone/>
            </a:pPr>
            <a:r>
              <a:rPr lang="en-US" sz="1200" b="1" kern="0" spc="200" dirty="0">
                <a:solidFill>
                  <a:srgbClr val="D97757"/>
                </a:solidFill>
                <a:latin typeface="Calibri" pitchFamily="34" charset="0"/>
                <a:ea typeface="Calibri" pitchFamily="34" charset="-122"/>
                <a:cs typeface="Calibri" pitchFamily="34" charset="-120"/>
              </a:rPr>
              <a:t>THE TRADE-OFF</a:t>
            </a:r>
            <a:endParaRPr lang="en-US" sz="1200" dirty="0"/>
          </a:p>
        </p:txBody>
      </p:sp>
      <p:sp>
        <p:nvSpPr>
          <p:cNvPr id="16" name="Text 13"/>
          <p:cNvSpPr/>
          <p:nvPr/>
        </p:nvSpPr>
        <p:spPr>
          <a:xfrm>
            <a:off x="7406640" y="2331720"/>
            <a:ext cx="3886200" cy="868680"/>
          </a:xfrm>
          <a:prstGeom prst="rect">
            <a:avLst/>
          </a:prstGeom>
          <a:noFill/>
          <a:ln/>
        </p:spPr>
        <p:txBody>
          <a:bodyPr wrap="square" lIns="0" tIns="0" rIns="0" bIns="0" rtlCol="0" anchor="ctr"/>
          <a:lstStyle/>
          <a:p>
            <a:pPr marL="0" indent="0">
              <a:buNone/>
            </a:pPr>
            <a:r>
              <a:rPr lang="en-US" sz="5800" b="1" dirty="0">
                <a:solidFill>
                  <a:srgbClr val="FBF8F2"/>
                </a:solidFill>
                <a:latin typeface="Georgia" pitchFamily="34" charset="0"/>
                <a:ea typeface="Georgia" pitchFamily="34" charset="-122"/>
                <a:cs typeface="Georgia" pitchFamily="34" charset="-120"/>
              </a:rPr>
              <a:t>~15×</a:t>
            </a:r>
            <a:endParaRPr lang="en-US" sz="5800" dirty="0"/>
          </a:p>
        </p:txBody>
      </p:sp>
      <p:sp>
        <p:nvSpPr>
          <p:cNvPr id="17" name="Text 14"/>
          <p:cNvSpPr/>
          <p:nvPr/>
        </p:nvSpPr>
        <p:spPr>
          <a:xfrm>
            <a:off x="7406640" y="3246120"/>
            <a:ext cx="3886200" cy="731520"/>
          </a:xfrm>
          <a:prstGeom prst="rect">
            <a:avLst/>
          </a:prstGeom>
          <a:noFill/>
          <a:ln/>
        </p:spPr>
        <p:txBody>
          <a:bodyPr wrap="square" lIns="0" tIns="0" rIns="0" bIns="0" rtlCol="0" anchor="ctr"/>
          <a:lstStyle/>
          <a:p>
            <a:pPr marL="0" indent="0">
              <a:lnSpc>
                <a:spcPts val="1600"/>
              </a:lnSpc>
              <a:buNone/>
            </a:pPr>
            <a:r>
              <a:rPr lang="en-US" sz="1300" dirty="0">
                <a:solidFill>
                  <a:srgbClr val="D8CDBF"/>
                </a:solidFill>
                <a:latin typeface="Calibri" pitchFamily="34" charset="0"/>
                <a:ea typeface="Calibri" pitchFamily="34" charset="-122"/>
                <a:cs typeface="Calibri" pitchFamily="34" charset="-120"/>
              </a:rPr>
              <a:t>more tokens than a single chat — multi-agent capability is bought with consumption.</a:t>
            </a:r>
            <a:endParaRPr lang="en-US" sz="1300" dirty="0"/>
          </a:p>
        </p:txBody>
      </p:sp>
      <p:sp>
        <p:nvSpPr>
          <p:cNvPr id="18" name="Shape 15"/>
          <p:cNvSpPr/>
          <p:nvPr/>
        </p:nvSpPr>
        <p:spPr>
          <a:xfrm>
            <a:off x="7406640" y="4160520"/>
            <a:ext cx="3886200" cy="0"/>
          </a:xfrm>
          <a:prstGeom prst="line">
            <a:avLst/>
          </a:prstGeom>
          <a:noFill/>
          <a:ln w="12700">
            <a:solidFill>
              <a:srgbClr val="4A4641"/>
            </a:solidFill>
            <a:prstDash val="solid"/>
          </a:ln>
        </p:spPr>
        <p:txBody>
          <a:bodyPr/>
          <a:lstStyle/>
          <a:p>
            <a:endParaRPr lang="en-IN"/>
          </a:p>
        </p:txBody>
      </p:sp>
      <p:sp>
        <p:nvSpPr>
          <p:cNvPr id="19" name="Text 16"/>
          <p:cNvSpPr/>
          <p:nvPr/>
        </p:nvSpPr>
        <p:spPr>
          <a:xfrm>
            <a:off x="7406640" y="4297680"/>
            <a:ext cx="3886200" cy="640080"/>
          </a:xfrm>
          <a:prstGeom prst="rect">
            <a:avLst/>
          </a:prstGeom>
          <a:noFill/>
          <a:ln/>
        </p:spPr>
        <p:txBody>
          <a:bodyPr wrap="square" lIns="0" tIns="0" rIns="0" bIns="0" rtlCol="0" anchor="ctr"/>
          <a:lstStyle/>
          <a:p>
            <a:pPr marL="0" indent="0">
              <a:buNone/>
            </a:pPr>
            <a:r>
              <a:rPr lang="en-US" sz="3800" b="1" dirty="0">
                <a:solidFill>
                  <a:srgbClr val="D97757"/>
                </a:solidFill>
                <a:latin typeface="Georgia" pitchFamily="34" charset="0"/>
                <a:ea typeface="Georgia" pitchFamily="34" charset="-122"/>
                <a:cs typeface="Georgia" pitchFamily="34" charset="-120"/>
              </a:rPr>
              <a:t>+90.2%</a:t>
            </a:r>
            <a:endParaRPr lang="en-US" sz="3800" dirty="0"/>
          </a:p>
        </p:txBody>
      </p:sp>
      <p:sp>
        <p:nvSpPr>
          <p:cNvPr id="20" name="Text 17"/>
          <p:cNvSpPr/>
          <p:nvPr/>
        </p:nvSpPr>
        <p:spPr>
          <a:xfrm>
            <a:off x="7406640" y="4956048"/>
            <a:ext cx="3886200" cy="777240"/>
          </a:xfrm>
          <a:prstGeom prst="rect">
            <a:avLst/>
          </a:prstGeom>
          <a:noFill/>
          <a:ln/>
        </p:spPr>
        <p:txBody>
          <a:bodyPr wrap="square" lIns="0" tIns="0" rIns="0" bIns="0" rtlCol="0" anchor="ctr"/>
          <a:lstStyle/>
          <a:p>
            <a:pPr marL="0" indent="0">
              <a:lnSpc>
                <a:spcPts val="1600"/>
              </a:lnSpc>
              <a:buNone/>
            </a:pPr>
            <a:r>
              <a:rPr lang="en-US" sz="1300" dirty="0">
                <a:solidFill>
                  <a:srgbClr val="D8CDBF"/>
                </a:solidFill>
                <a:latin typeface="Calibri" pitchFamily="34" charset="0"/>
                <a:ea typeface="Calibri" pitchFamily="34" charset="-122"/>
                <a:cs typeface="Calibri" pitchFamily="34" charset="-120"/>
              </a:rPr>
              <a:t>performance gain on hard research tasks (Anthropic's published multi-agent results).</a:t>
            </a:r>
            <a:endParaRPr lang="en-US" sz="1300" dirty="0"/>
          </a:p>
        </p:txBody>
      </p:sp>
      <p:sp>
        <p:nvSpPr>
          <p:cNvPr id="21" name="Text 18"/>
          <p:cNvSpPr/>
          <p:nvPr/>
        </p:nvSpPr>
        <p:spPr>
          <a:xfrm>
            <a:off x="548640" y="5532120"/>
            <a:ext cx="6126480" cy="640080"/>
          </a:xfrm>
          <a:prstGeom prst="rect">
            <a:avLst/>
          </a:prstGeom>
          <a:noFill/>
          <a:ln/>
        </p:spPr>
        <p:txBody>
          <a:bodyPr wrap="square" lIns="0" tIns="0" rIns="0" bIns="0" rtlCol="0" anchor="ctr"/>
          <a:lstStyle/>
          <a:p>
            <a:pPr marL="0" indent="0">
              <a:lnSpc>
                <a:spcPts val="1600"/>
              </a:lnSpc>
              <a:buNone/>
            </a:pPr>
            <a:r>
              <a:rPr lang="en-US" sz="1300" i="1" dirty="0">
                <a:solidFill>
                  <a:srgbClr val="BF5E3C"/>
                </a:solidFill>
                <a:latin typeface="Calibri" pitchFamily="34" charset="0"/>
                <a:ea typeface="Calibri" pitchFamily="34" charset="-122"/>
                <a:cs typeface="Calibri" pitchFamily="34" charset="-120"/>
              </a:rPr>
              <a:t>Reach for multi-agent when the task is genuinely parallel or too big for one context — not by default.</a:t>
            </a:r>
            <a:endParaRPr lang="en-US" sz="1300" dirty="0"/>
          </a:p>
        </p:txBody>
      </p:sp>
      <p:sp>
        <p:nvSpPr>
          <p:cNvPr id="22" name="Text 19"/>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3" name="Text 20"/>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PRIMITIVE 1</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Subagents: isolated context, parallel work</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91640"/>
            <a:ext cx="11064240" cy="640080"/>
          </a:xfrm>
          <a:prstGeom prst="rect">
            <a:avLst/>
          </a:prstGeom>
          <a:noFill/>
          <a:ln/>
        </p:spPr>
        <p:txBody>
          <a:bodyPr wrap="square" lIns="0" tIns="0" rIns="0" bIns="0" rtlCol="0" anchor="ctr"/>
          <a:lstStyle/>
          <a:p>
            <a:pPr marL="0" indent="0">
              <a:lnSpc>
                <a:spcPts val="1900"/>
              </a:lnSpc>
              <a:buNone/>
            </a:pPr>
            <a:r>
              <a:rPr lang="en-US" sz="1500" dirty="0">
                <a:solidFill>
                  <a:srgbClr val="3D3A35"/>
                </a:solidFill>
                <a:latin typeface="Calibri" pitchFamily="34" charset="0"/>
                <a:ea typeface="Calibri" pitchFamily="34" charset="-122"/>
                <a:cs typeface="Calibri" pitchFamily="34" charset="-120"/>
              </a:rPr>
              <a:t>A subagent is a delegated worker launched by a parent. It runs in its own fresh context window, does one bounded job, returns a summary — then is discarded.</a:t>
            </a:r>
            <a:endParaRPr lang="en-US" sz="1500" dirty="0"/>
          </a:p>
        </p:txBody>
      </p:sp>
      <p:sp>
        <p:nvSpPr>
          <p:cNvPr id="6" name="Shape 3"/>
          <p:cNvSpPr/>
          <p:nvPr/>
        </p:nvSpPr>
        <p:spPr>
          <a:xfrm>
            <a:off x="548640" y="2514600"/>
            <a:ext cx="3611880" cy="2651760"/>
          </a:xfrm>
          <a:prstGeom prst="roundRect">
            <a:avLst>
              <a:gd name="adj" fmla="val 344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Shape 4"/>
          <p:cNvSpPr/>
          <p:nvPr/>
        </p:nvSpPr>
        <p:spPr>
          <a:xfrm>
            <a:off x="548640" y="2514600"/>
            <a:ext cx="3611880" cy="118872"/>
          </a:xfrm>
          <a:prstGeom prst="rect">
            <a:avLst/>
          </a:prstGeom>
          <a:solidFill>
            <a:srgbClr val="D97757"/>
          </a:solidFill>
          <a:ln/>
        </p:spPr>
        <p:txBody>
          <a:bodyPr/>
          <a:lstStyle/>
          <a:p>
            <a:endParaRPr lang="en-IN"/>
          </a:p>
        </p:txBody>
      </p:sp>
      <p:sp>
        <p:nvSpPr>
          <p:cNvPr id="8" name="Text 5"/>
          <p:cNvSpPr/>
          <p:nvPr/>
        </p:nvSpPr>
        <p:spPr>
          <a:xfrm>
            <a:off x="822960" y="2834640"/>
            <a:ext cx="731520" cy="640080"/>
          </a:xfrm>
          <a:prstGeom prst="rect">
            <a:avLst/>
          </a:prstGeom>
          <a:noFill/>
          <a:ln/>
        </p:spPr>
        <p:txBody>
          <a:bodyPr wrap="square" lIns="0" tIns="0" rIns="0" bIns="0" rtlCol="0" anchor="ctr"/>
          <a:lstStyle/>
          <a:p>
            <a:pPr marL="0" indent="0">
              <a:buNone/>
            </a:pPr>
            <a:r>
              <a:rPr lang="en-US" sz="3000" b="1" dirty="0">
                <a:solidFill>
                  <a:srgbClr val="D97757"/>
                </a:solidFill>
                <a:latin typeface="Georgia" pitchFamily="34" charset="0"/>
                <a:ea typeface="Georgia" pitchFamily="34" charset="-122"/>
                <a:cs typeface="Georgia" pitchFamily="34" charset="-120"/>
              </a:rPr>
              <a:t>1</a:t>
            </a:r>
            <a:endParaRPr lang="en-US" sz="3000" dirty="0"/>
          </a:p>
        </p:txBody>
      </p:sp>
      <p:sp>
        <p:nvSpPr>
          <p:cNvPr id="9" name="Text 6"/>
          <p:cNvSpPr/>
          <p:nvPr/>
        </p:nvSpPr>
        <p:spPr>
          <a:xfrm>
            <a:off x="822960" y="3474720"/>
            <a:ext cx="3063240" cy="502920"/>
          </a:xfrm>
          <a:prstGeom prst="rect">
            <a:avLst/>
          </a:prstGeom>
          <a:noFill/>
          <a:ln/>
        </p:spPr>
        <p:txBody>
          <a:bodyPr wrap="square" lIns="0" tIns="0" rIns="0" bIns="0" rtlCol="0" anchor="t"/>
          <a:lstStyle/>
          <a:p>
            <a:pPr marL="0" indent="0">
              <a:lnSpc>
                <a:spcPts val="1900"/>
              </a:lnSpc>
              <a:buNone/>
            </a:pPr>
            <a:r>
              <a:rPr lang="en-US" sz="1700" b="1" dirty="0">
                <a:solidFill>
                  <a:srgbClr val="1F1E1D"/>
                </a:solidFill>
                <a:latin typeface="Calibri" pitchFamily="34" charset="0"/>
                <a:ea typeface="Calibri" pitchFamily="34" charset="-122"/>
                <a:cs typeface="Calibri" pitchFamily="34" charset="-120"/>
              </a:rPr>
              <a:t>Isolated context</a:t>
            </a:r>
            <a:endParaRPr lang="en-US" sz="1700" dirty="0"/>
          </a:p>
        </p:txBody>
      </p:sp>
      <p:sp>
        <p:nvSpPr>
          <p:cNvPr id="10" name="Text 7"/>
          <p:cNvSpPr/>
          <p:nvPr/>
        </p:nvSpPr>
        <p:spPr>
          <a:xfrm>
            <a:off x="822960" y="3977640"/>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Each subagent starts blank — no shared memory, no awareness of siblings. Search results and logs never pollute the main thread.</a:t>
            </a:r>
            <a:endParaRPr lang="en-US" sz="1250" dirty="0"/>
          </a:p>
        </p:txBody>
      </p:sp>
      <p:sp>
        <p:nvSpPr>
          <p:cNvPr id="11" name="Shape 8"/>
          <p:cNvSpPr/>
          <p:nvPr/>
        </p:nvSpPr>
        <p:spPr>
          <a:xfrm>
            <a:off x="4434840" y="2514600"/>
            <a:ext cx="3611880" cy="2651760"/>
          </a:xfrm>
          <a:prstGeom prst="roundRect">
            <a:avLst>
              <a:gd name="adj" fmla="val 344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2" name="Shape 9"/>
          <p:cNvSpPr/>
          <p:nvPr/>
        </p:nvSpPr>
        <p:spPr>
          <a:xfrm>
            <a:off x="4434840" y="2514600"/>
            <a:ext cx="3611880" cy="118872"/>
          </a:xfrm>
          <a:prstGeom prst="rect">
            <a:avLst/>
          </a:prstGeom>
          <a:solidFill>
            <a:srgbClr val="D97757"/>
          </a:solidFill>
          <a:ln/>
        </p:spPr>
        <p:txBody>
          <a:bodyPr/>
          <a:lstStyle/>
          <a:p>
            <a:endParaRPr lang="en-IN"/>
          </a:p>
        </p:txBody>
      </p:sp>
      <p:sp>
        <p:nvSpPr>
          <p:cNvPr id="13" name="Text 10"/>
          <p:cNvSpPr/>
          <p:nvPr/>
        </p:nvSpPr>
        <p:spPr>
          <a:xfrm>
            <a:off x="4709160" y="2834640"/>
            <a:ext cx="731520" cy="640080"/>
          </a:xfrm>
          <a:prstGeom prst="rect">
            <a:avLst/>
          </a:prstGeom>
          <a:noFill/>
          <a:ln/>
        </p:spPr>
        <p:txBody>
          <a:bodyPr wrap="square" lIns="0" tIns="0" rIns="0" bIns="0" rtlCol="0" anchor="ctr"/>
          <a:lstStyle/>
          <a:p>
            <a:pPr marL="0" indent="0">
              <a:buNone/>
            </a:pPr>
            <a:r>
              <a:rPr lang="en-US" sz="3000" b="1" dirty="0">
                <a:solidFill>
                  <a:srgbClr val="D97757"/>
                </a:solidFill>
                <a:latin typeface="Georgia" pitchFamily="34" charset="0"/>
                <a:ea typeface="Georgia" pitchFamily="34" charset="-122"/>
                <a:cs typeface="Georgia" pitchFamily="34" charset="-120"/>
              </a:rPr>
              <a:t>2</a:t>
            </a:r>
            <a:endParaRPr lang="en-US" sz="3000" dirty="0"/>
          </a:p>
        </p:txBody>
      </p:sp>
      <p:sp>
        <p:nvSpPr>
          <p:cNvPr id="14" name="Text 11"/>
          <p:cNvSpPr/>
          <p:nvPr/>
        </p:nvSpPr>
        <p:spPr>
          <a:xfrm>
            <a:off x="4709160" y="3474720"/>
            <a:ext cx="3063240" cy="502920"/>
          </a:xfrm>
          <a:prstGeom prst="rect">
            <a:avLst/>
          </a:prstGeom>
          <a:noFill/>
          <a:ln/>
        </p:spPr>
        <p:txBody>
          <a:bodyPr wrap="square" lIns="0" tIns="0" rIns="0" bIns="0" rtlCol="0" anchor="t"/>
          <a:lstStyle/>
          <a:p>
            <a:pPr marL="0" indent="0">
              <a:lnSpc>
                <a:spcPts val="1900"/>
              </a:lnSpc>
              <a:buNone/>
            </a:pPr>
            <a:r>
              <a:rPr lang="en-US" sz="1700" b="1" dirty="0">
                <a:solidFill>
                  <a:srgbClr val="1F1E1D"/>
                </a:solidFill>
                <a:latin typeface="Calibri" pitchFamily="34" charset="0"/>
                <a:ea typeface="Calibri" pitchFamily="34" charset="-122"/>
                <a:cs typeface="Calibri" pitchFamily="34" charset="-120"/>
              </a:rPr>
              <a:t>Parallel by default</a:t>
            </a:r>
            <a:endParaRPr lang="en-US" sz="1700" dirty="0"/>
          </a:p>
        </p:txBody>
      </p:sp>
      <p:sp>
        <p:nvSpPr>
          <p:cNvPr id="15" name="Text 12"/>
          <p:cNvSpPr/>
          <p:nvPr/>
        </p:nvSpPr>
        <p:spPr>
          <a:xfrm>
            <a:off x="4709160" y="3977640"/>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Dispatch several at once; independent subtasks run simultaneously instead of in sequence.</a:t>
            </a:r>
            <a:endParaRPr lang="en-US" sz="1250" dirty="0"/>
          </a:p>
        </p:txBody>
      </p:sp>
      <p:sp>
        <p:nvSpPr>
          <p:cNvPr id="16" name="Shape 13"/>
          <p:cNvSpPr/>
          <p:nvPr/>
        </p:nvSpPr>
        <p:spPr>
          <a:xfrm>
            <a:off x="8321040" y="2514600"/>
            <a:ext cx="3611880" cy="2651760"/>
          </a:xfrm>
          <a:prstGeom prst="roundRect">
            <a:avLst>
              <a:gd name="adj" fmla="val 344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7" name="Shape 14"/>
          <p:cNvSpPr/>
          <p:nvPr/>
        </p:nvSpPr>
        <p:spPr>
          <a:xfrm>
            <a:off x="8321040" y="2514600"/>
            <a:ext cx="3611880" cy="118872"/>
          </a:xfrm>
          <a:prstGeom prst="rect">
            <a:avLst/>
          </a:prstGeom>
          <a:solidFill>
            <a:srgbClr val="D97757"/>
          </a:solidFill>
          <a:ln/>
        </p:spPr>
        <p:txBody>
          <a:bodyPr/>
          <a:lstStyle/>
          <a:p>
            <a:endParaRPr lang="en-IN"/>
          </a:p>
        </p:txBody>
      </p:sp>
      <p:sp>
        <p:nvSpPr>
          <p:cNvPr id="18" name="Text 15"/>
          <p:cNvSpPr/>
          <p:nvPr/>
        </p:nvSpPr>
        <p:spPr>
          <a:xfrm>
            <a:off x="8595360" y="2834640"/>
            <a:ext cx="731520" cy="640080"/>
          </a:xfrm>
          <a:prstGeom prst="rect">
            <a:avLst/>
          </a:prstGeom>
          <a:noFill/>
          <a:ln/>
        </p:spPr>
        <p:txBody>
          <a:bodyPr wrap="square" lIns="0" tIns="0" rIns="0" bIns="0" rtlCol="0" anchor="ctr"/>
          <a:lstStyle/>
          <a:p>
            <a:pPr marL="0" indent="0">
              <a:buNone/>
            </a:pPr>
            <a:r>
              <a:rPr lang="en-US" sz="3000" b="1" dirty="0">
                <a:solidFill>
                  <a:srgbClr val="D97757"/>
                </a:solidFill>
                <a:latin typeface="Georgia" pitchFamily="34" charset="0"/>
                <a:ea typeface="Georgia" pitchFamily="34" charset="-122"/>
                <a:cs typeface="Georgia" pitchFamily="34" charset="-120"/>
              </a:rPr>
              <a:t>3</a:t>
            </a:r>
            <a:endParaRPr lang="en-US" sz="3000" dirty="0"/>
          </a:p>
        </p:txBody>
      </p:sp>
      <p:sp>
        <p:nvSpPr>
          <p:cNvPr id="19" name="Text 16"/>
          <p:cNvSpPr/>
          <p:nvPr/>
        </p:nvSpPr>
        <p:spPr>
          <a:xfrm>
            <a:off x="8595360" y="3474720"/>
            <a:ext cx="3063240" cy="502920"/>
          </a:xfrm>
          <a:prstGeom prst="rect">
            <a:avLst/>
          </a:prstGeom>
          <a:noFill/>
          <a:ln/>
        </p:spPr>
        <p:txBody>
          <a:bodyPr wrap="square" lIns="0" tIns="0" rIns="0" bIns="0" rtlCol="0" anchor="t"/>
          <a:lstStyle/>
          <a:p>
            <a:pPr marL="0" indent="0">
              <a:lnSpc>
                <a:spcPts val="1900"/>
              </a:lnSpc>
              <a:buNone/>
            </a:pPr>
            <a:r>
              <a:rPr lang="en-US" sz="1700" b="1" dirty="0">
                <a:solidFill>
                  <a:srgbClr val="1F1E1D"/>
                </a:solidFill>
                <a:latin typeface="Calibri" pitchFamily="34" charset="0"/>
                <a:ea typeface="Calibri" pitchFamily="34" charset="-122"/>
                <a:cs typeface="Calibri" pitchFamily="34" charset="-120"/>
              </a:rPr>
              <a:t>Summary back to parent</a:t>
            </a:r>
            <a:endParaRPr lang="en-US" sz="1700" dirty="0"/>
          </a:p>
        </p:txBody>
      </p:sp>
      <p:sp>
        <p:nvSpPr>
          <p:cNvPr id="20" name="Text 17"/>
          <p:cNvSpPr/>
          <p:nvPr/>
        </p:nvSpPr>
        <p:spPr>
          <a:xfrm>
            <a:off x="8595360" y="3977640"/>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Only the distilled result returns. The parent stays lean and keeps the big picture.</a:t>
            </a:r>
            <a:endParaRPr lang="en-US" sz="1250" dirty="0"/>
          </a:p>
        </p:txBody>
      </p:sp>
      <p:sp>
        <p:nvSpPr>
          <p:cNvPr id="21" name="Shape 18"/>
          <p:cNvSpPr/>
          <p:nvPr/>
        </p:nvSpPr>
        <p:spPr>
          <a:xfrm>
            <a:off x="548640" y="5440680"/>
            <a:ext cx="11091672" cy="749808"/>
          </a:xfrm>
          <a:prstGeom prst="roundRect">
            <a:avLst>
              <a:gd name="adj" fmla="val 7317"/>
            </a:avLst>
          </a:prstGeom>
          <a:solidFill>
            <a:srgbClr val="E5DDCE"/>
          </a:solidFill>
          <a:ln/>
        </p:spPr>
        <p:txBody>
          <a:bodyPr/>
          <a:lstStyle/>
          <a:p>
            <a:endParaRPr lang="en-IN"/>
          </a:p>
        </p:txBody>
      </p:sp>
      <p:sp>
        <p:nvSpPr>
          <p:cNvPr id="22" name="Text 19"/>
          <p:cNvSpPr/>
          <p:nvPr/>
        </p:nvSpPr>
        <p:spPr>
          <a:xfrm>
            <a:off x="868680" y="5440680"/>
            <a:ext cx="10424160" cy="749808"/>
          </a:xfrm>
          <a:prstGeom prst="rect">
            <a:avLst/>
          </a:prstGeom>
          <a:noFill/>
          <a:ln/>
        </p:spPr>
        <p:txBody>
          <a:bodyPr wrap="square" lIns="0" tIns="0" rIns="0" bIns="0" rtlCol="0" anchor="ctr"/>
          <a:lstStyle/>
          <a:p>
            <a:pPr marL="0" indent="0">
              <a:lnSpc>
                <a:spcPts val="1600"/>
              </a:lnSpc>
              <a:buNone/>
            </a:pPr>
            <a:r>
              <a:rPr lang="en-US" sz="1350" b="1" dirty="0">
                <a:solidFill>
                  <a:srgbClr val="BF5E3C"/>
                </a:solidFill>
                <a:latin typeface="Calibri" pitchFamily="34" charset="0"/>
                <a:ea typeface="Calibri" pitchFamily="34" charset="-122"/>
                <a:cs typeface="Calibri" pitchFamily="34" charset="-120"/>
              </a:rPr>
              <a:t>Use when:  </a:t>
            </a:r>
            <a:r>
              <a:rPr lang="en-US" sz="1350" dirty="0">
                <a:solidFill>
                  <a:srgbClr val="1F1E1D"/>
                </a:solidFill>
                <a:latin typeface="Calibri" pitchFamily="34" charset="0"/>
                <a:ea typeface="Calibri" pitchFamily="34" charset="-122"/>
                <a:cs typeface="Calibri" pitchFamily="34" charset="-120"/>
              </a:rPr>
              <a:t>a side task would flood your main conversation with file contents, logs, or searches you'll never reference again.</a:t>
            </a:r>
            <a:endParaRPr lang="en-US" sz="1350" dirty="0"/>
          </a:p>
        </p:txBody>
      </p:sp>
      <p:sp>
        <p:nvSpPr>
          <p:cNvPr id="23" name="Text 20"/>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4" name="Text 21"/>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PRIMITIVE 2</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Agent teams: coordinated, peer sessions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91640"/>
            <a:ext cx="11064240" cy="640080"/>
          </a:xfrm>
          <a:prstGeom prst="rect">
            <a:avLst/>
          </a:prstGeom>
          <a:noFill/>
          <a:ln/>
        </p:spPr>
        <p:txBody>
          <a:bodyPr wrap="square" lIns="0" tIns="0" rIns="0" bIns="0" rtlCol="0" anchor="ctr"/>
          <a:lstStyle/>
          <a:p>
            <a:pPr marL="0" indent="0">
              <a:lnSpc>
                <a:spcPts val="1900"/>
              </a:lnSpc>
              <a:buNone/>
            </a:pPr>
            <a:r>
              <a:rPr lang="en-US" sz="1500" dirty="0">
                <a:solidFill>
                  <a:srgbClr val="3D3A35"/>
                </a:solidFill>
                <a:latin typeface="Calibri" pitchFamily="34" charset="0"/>
                <a:ea typeface="Calibri" pitchFamily="34" charset="-122"/>
                <a:cs typeface="Calibri" pitchFamily="34" charset="-120"/>
              </a:rPr>
              <a:t>Agent teams coordinate multiple full Claude sessions. A lead assigns work and synthesizes; teammates each run in their own context and message one another directly.</a:t>
            </a:r>
            <a:endParaRPr lang="en-US" sz="1500" dirty="0"/>
          </a:p>
        </p:txBody>
      </p:sp>
      <p:sp>
        <p:nvSpPr>
          <p:cNvPr id="6" name="Shape 3"/>
          <p:cNvSpPr/>
          <p:nvPr/>
        </p:nvSpPr>
        <p:spPr>
          <a:xfrm>
            <a:off x="548640" y="2468880"/>
            <a:ext cx="6400800" cy="841248"/>
          </a:xfrm>
          <a:prstGeom prst="roundRect">
            <a:avLst>
              <a:gd name="adj" fmla="val 7609"/>
            </a:avLst>
          </a:prstGeom>
          <a:solidFill>
            <a:srgbClr val="FFFFFF"/>
          </a:solidFill>
          <a:ln w="12700">
            <a:solidFill>
              <a:srgbClr val="E5DDCE"/>
            </a:solidFill>
            <a:prstDash val="solid"/>
          </a:ln>
        </p:spPr>
        <p:txBody>
          <a:bodyPr/>
          <a:lstStyle/>
          <a:p>
            <a:endParaRPr lang="en-IN"/>
          </a:p>
        </p:txBody>
      </p:sp>
      <p:sp>
        <p:nvSpPr>
          <p:cNvPr id="7" name="Shape 4"/>
          <p:cNvSpPr/>
          <p:nvPr/>
        </p:nvSpPr>
        <p:spPr>
          <a:xfrm>
            <a:off x="548640" y="2468880"/>
            <a:ext cx="100584" cy="841248"/>
          </a:xfrm>
          <a:prstGeom prst="rect">
            <a:avLst/>
          </a:prstGeom>
          <a:solidFill>
            <a:srgbClr val="7E8A6E"/>
          </a:solidFill>
          <a:ln/>
        </p:spPr>
        <p:txBody>
          <a:bodyPr/>
          <a:lstStyle/>
          <a:p>
            <a:endParaRPr lang="en-IN"/>
          </a:p>
        </p:txBody>
      </p:sp>
      <p:sp>
        <p:nvSpPr>
          <p:cNvPr id="8" name="Text 5"/>
          <p:cNvSpPr/>
          <p:nvPr/>
        </p:nvSpPr>
        <p:spPr>
          <a:xfrm>
            <a:off x="841248" y="2532888"/>
            <a:ext cx="5943600" cy="320040"/>
          </a:xfrm>
          <a:prstGeom prst="rect">
            <a:avLst/>
          </a:prstGeom>
          <a:noFill/>
          <a:ln/>
        </p:spPr>
        <p:txBody>
          <a:bodyPr wrap="square" lIns="0" tIns="0" rIns="0" bIns="0" rtlCol="0" anchor="ctr"/>
          <a:lstStyle/>
          <a:p>
            <a:pPr marL="0" indent="0">
              <a:buNone/>
            </a:pPr>
            <a:r>
              <a:rPr lang="en-US" sz="1450" b="1" dirty="0">
                <a:solidFill>
                  <a:srgbClr val="1F1E1D"/>
                </a:solidFill>
                <a:latin typeface="Calibri" pitchFamily="34" charset="0"/>
                <a:ea typeface="Calibri" pitchFamily="34" charset="-122"/>
                <a:cs typeface="Calibri" pitchFamily="34" charset="-120"/>
              </a:rPr>
              <a:t>Team lead</a:t>
            </a:r>
            <a:endParaRPr lang="en-US" sz="1450" dirty="0"/>
          </a:p>
        </p:txBody>
      </p:sp>
      <p:sp>
        <p:nvSpPr>
          <p:cNvPr id="9" name="Text 6"/>
          <p:cNvSpPr/>
          <p:nvPr/>
        </p:nvSpPr>
        <p:spPr>
          <a:xfrm>
            <a:off x="841248" y="2834640"/>
            <a:ext cx="5897880" cy="438912"/>
          </a:xfrm>
          <a:prstGeom prst="rect">
            <a:avLst/>
          </a:prstGeom>
          <a:noFill/>
          <a:ln/>
        </p:spPr>
        <p:txBody>
          <a:bodyPr wrap="square" lIns="0" tIns="0" rIns="0" bIns="0" rtlCol="0" anchor="t"/>
          <a:lstStyle/>
          <a:p>
            <a:pPr marL="0" indent="0">
              <a:lnSpc>
                <a:spcPts val="1450"/>
              </a:lnSpc>
              <a:buNone/>
            </a:pPr>
            <a:r>
              <a:rPr lang="en-US" sz="1200" dirty="0">
                <a:solidFill>
                  <a:srgbClr val="3D3A35"/>
                </a:solidFill>
                <a:latin typeface="Calibri" pitchFamily="34" charset="0"/>
                <a:ea typeface="Calibri" pitchFamily="34" charset="-122"/>
                <a:cs typeface="Calibri" pitchFamily="34" charset="-120"/>
              </a:rPr>
              <a:t>Coordinates the plan, assigns tasks, and synthesizes results into one outcome.</a:t>
            </a:r>
            <a:endParaRPr lang="en-US" sz="1200" dirty="0"/>
          </a:p>
        </p:txBody>
      </p:sp>
      <p:sp>
        <p:nvSpPr>
          <p:cNvPr id="10" name="Shape 7"/>
          <p:cNvSpPr/>
          <p:nvPr/>
        </p:nvSpPr>
        <p:spPr>
          <a:xfrm>
            <a:off x="548640" y="3401568"/>
            <a:ext cx="6400800" cy="841248"/>
          </a:xfrm>
          <a:prstGeom prst="roundRect">
            <a:avLst>
              <a:gd name="adj" fmla="val 7609"/>
            </a:avLst>
          </a:prstGeom>
          <a:solidFill>
            <a:srgbClr val="FFFFFF"/>
          </a:solidFill>
          <a:ln w="12700">
            <a:solidFill>
              <a:srgbClr val="E5DDCE"/>
            </a:solidFill>
            <a:prstDash val="solid"/>
          </a:ln>
        </p:spPr>
        <p:txBody>
          <a:bodyPr/>
          <a:lstStyle/>
          <a:p>
            <a:endParaRPr lang="en-IN"/>
          </a:p>
        </p:txBody>
      </p:sp>
      <p:sp>
        <p:nvSpPr>
          <p:cNvPr id="11" name="Shape 8"/>
          <p:cNvSpPr/>
          <p:nvPr/>
        </p:nvSpPr>
        <p:spPr>
          <a:xfrm>
            <a:off x="548640" y="3401568"/>
            <a:ext cx="100584" cy="841248"/>
          </a:xfrm>
          <a:prstGeom prst="rect">
            <a:avLst/>
          </a:prstGeom>
          <a:solidFill>
            <a:srgbClr val="7E8A6E"/>
          </a:solidFill>
          <a:ln/>
        </p:spPr>
        <p:txBody>
          <a:bodyPr/>
          <a:lstStyle/>
          <a:p>
            <a:endParaRPr lang="en-IN"/>
          </a:p>
        </p:txBody>
      </p:sp>
      <p:sp>
        <p:nvSpPr>
          <p:cNvPr id="12" name="Text 9"/>
          <p:cNvSpPr/>
          <p:nvPr/>
        </p:nvSpPr>
        <p:spPr>
          <a:xfrm>
            <a:off x="841248" y="3465576"/>
            <a:ext cx="5943600" cy="320040"/>
          </a:xfrm>
          <a:prstGeom prst="rect">
            <a:avLst/>
          </a:prstGeom>
          <a:noFill/>
          <a:ln/>
        </p:spPr>
        <p:txBody>
          <a:bodyPr wrap="square" lIns="0" tIns="0" rIns="0" bIns="0" rtlCol="0" anchor="ctr"/>
          <a:lstStyle/>
          <a:p>
            <a:pPr marL="0" indent="0">
              <a:buNone/>
            </a:pPr>
            <a:r>
              <a:rPr lang="en-US" sz="1450" b="1" dirty="0">
                <a:solidFill>
                  <a:srgbClr val="1F1E1D"/>
                </a:solidFill>
                <a:latin typeface="Calibri" pitchFamily="34" charset="0"/>
                <a:ea typeface="Calibri" pitchFamily="34" charset="-122"/>
                <a:cs typeface="Calibri" pitchFamily="34" charset="-120"/>
              </a:rPr>
              <a:t>Independent teammates</a:t>
            </a:r>
            <a:endParaRPr lang="en-US" sz="1450" dirty="0"/>
          </a:p>
        </p:txBody>
      </p:sp>
      <p:sp>
        <p:nvSpPr>
          <p:cNvPr id="13" name="Text 10"/>
          <p:cNvSpPr/>
          <p:nvPr/>
        </p:nvSpPr>
        <p:spPr>
          <a:xfrm>
            <a:off x="841248" y="3767328"/>
            <a:ext cx="5897880" cy="438912"/>
          </a:xfrm>
          <a:prstGeom prst="rect">
            <a:avLst/>
          </a:prstGeom>
          <a:noFill/>
          <a:ln/>
        </p:spPr>
        <p:txBody>
          <a:bodyPr wrap="square" lIns="0" tIns="0" rIns="0" bIns="0" rtlCol="0" anchor="t"/>
          <a:lstStyle/>
          <a:p>
            <a:pPr marL="0" indent="0">
              <a:lnSpc>
                <a:spcPts val="1450"/>
              </a:lnSpc>
              <a:buNone/>
            </a:pPr>
            <a:r>
              <a:rPr lang="en-US" sz="1200" dirty="0">
                <a:solidFill>
                  <a:srgbClr val="3D3A35"/>
                </a:solidFill>
                <a:latin typeface="Calibri" pitchFamily="34" charset="0"/>
                <a:ea typeface="Calibri" pitchFamily="34" charset="-122"/>
                <a:cs typeface="Calibri" pitchFamily="34" charset="-120"/>
              </a:rPr>
              <a:t>Each works in its own context window — you can talk to a teammate directly, not only via the lead.</a:t>
            </a:r>
            <a:endParaRPr lang="en-US" sz="1200" dirty="0"/>
          </a:p>
        </p:txBody>
      </p:sp>
      <p:sp>
        <p:nvSpPr>
          <p:cNvPr id="14" name="Shape 11"/>
          <p:cNvSpPr/>
          <p:nvPr/>
        </p:nvSpPr>
        <p:spPr>
          <a:xfrm>
            <a:off x="548640" y="4334256"/>
            <a:ext cx="6400800" cy="841248"/>
          </a:xfrm>
          <a:prstGeom prst="roundRect">
            <a:avLst>
              <a:gd name="adj" fmla="val 7609"/>
            </a:avLst>
          </a:prstGeom>
          <a:solidFill>
            <a:srgbClr val="FFFFFF"/>
          </a:solidFill>
          <a:ln w="12700">
            <a:solidFill>
              <a:srgbClr val="E5DDCE"/>
            </a:solidFill>
            <a:prstDash val="solid"/>
          </a:ln>
        </p:spPr>
        <p:txBody>
          <a:bodyPr/>
          <a:lstStyle/>
          <a:p>
            <a:endParaRPr lang="en-IN"/>
          </a:p>
        </p:txBody>
      </p:sp>
      <p:sp>
        <p:nvSpPr>
          <p:cNvPr id="15" name="Shape 12"/>
          <p:cNvSpPr/>
          <p:nvPr/>
        </p:nvSpPr>
        <p:spPr>
          <a:xfrm>
            <a:off x="548640" y="4334256"/>
            <a:ext cx="100584" cy="841248"/>
          </a:xfrm>
          <a:prstGeom prst="rect">
            <a:avLst/>
          </a:prstGeom>
          <a:solidFill>
            <a:srgbClr val="7E8A6E"/>
          </a:solidFill>
          <a:ln/>
        </p:spPr>
        <p:txBody>
          <a:bodyPr/>
          <a:lstStyle/>
          <a:p>
            <a:endParaRPr lang="en-IN"/>
          </a:p>
        </p:txBody>
      </p:sp>
      <p:sp>
        <p:nvSpPr>
          <p:cNvPr id="16" name="Text 13"/>
          <p:cNvSpPr/>
          <p:nvPr/>
        </p:nvSpPr>
        <p:spPr>
          <a:xfrm>
            <a:off x="841248" y="4398264"/>
            <a:ext cx="5943600" cy="320040"/>
          </a:xfrm>
          <a:prstGeom prst="rect">
            <a:avLst/>
          </a:prstGeom>
          <a:noFill/>
          <a:ln/>
        </p:spPr>
        <p:txBody>
          <a:bodyPr wrap="square" lIns="0" tIns="0" rIns="0" bIns="0" rtlCol="0" anchor="ctr"/>
          <a:lstStyle/>
          <a:p>
            <a:pPr marL="0" indent="0">
              <a:buNone/>
            </a:pPr>
            <a:r>
              <a:rPr lang="en-US" sz="1450" b="1" dirty="0">
                <a:solidFill>
                  <a:srgbClr val="1F1E1D"/>
                </a:solidFill>
                <a:latin typeface="Calibri" pitchFamily="34" charset="0"/>
                <a:ea typeface="Calibri" pitchFamily="34" charset="-122"/>
                <a:cs typeface="Calibri" pitchFamily="34" charset="-120"/>
              </a:rPr>
              <a:t>Shared task list</a:t>
            </a:r>
            <a:endParaRPr lang="en-US" sz="1450" dirty="0"/>
          </a:p>
        </p:txBody>
      </p:sp>
      <p:sp>
        <p:nvSpPr>
          <p:cNvPr id="17" name="Text 14"/>
          <p:cNvSpPr/>
          <p:nvPr/>
        </p:nvSpPr>
        <p:spPr>
          <a:xfrm>
            <a:off x="841248" y="4700016"/>
            <a:ext cx="5897880" cy="438912"/>
          </a:xfrm>
          <a:prstGeom prst="rect">
            <a:avLst/>
          </a:prstGeom>
          <a:noFill/>
          <a:ln/>
        </p:spPr>
        <p:txBody>
          <a:bodyPr wrap="square" lIns="0" tIns="0" rIns="0" bIns="0" rtlCol="0" anchor="t"/>
          <a:lstStyle/>
          <a:p>
            <a:pPr marL="0" indent="0">
              <a:lnSpc>
                <a:spcPts val="1450"/>
              </a:lnSpc>
              <a:buNone/>
            </a:pPr>
            <a:r>
              <a:rPr lang="en-US" sz="1200" dirty="0">
                <a:solidFill>
                  <a:srgbClr val="3D3A35"/>
                </a:solidFill>
                <a:latin typeface="Calibri" pitchFamily="34" charset="0"/>
                <a:ea typeface="Calibri" pitchFamily="34" charset="-122"/>
                <a:cs typeface="Calibri" pitchFamily="34" charset="-120"/>
              </a:rPr>
              <a:t>A common backlog keeps everyone in sync on what's done and what's next.</a:t>
            </a:r>
            <a:endParaRPr lang="en-US" sz="1200" dirty="0"/>
          </a:p>
        </p:txBody>
      </p:sp>
      <p:sp>
        <p:nvSpPr>
          <p:cNvPr id="18" name="Shape 15"/>
          <p:cNvSpPr/>
          <p:nvPr/>
        </p:nvSpPr>
        <p:spPr>
          <a:xfrm>
            <a:off x="548640" y="5266944"/>
            <a:ext cx="6400800" cy="841248"/>
          </a:xfrm>
          <a:prstGeom prst="roundRect">
            <a:avLst>
              <a:gd name="adj" fmla="val 7609"/>
            </a:avLst>
          </a:prstGeom>
          <a:solidFill>
            <a:srgbClr val="FFFFFF"/>
          </a:solidFill>
          <a:ln w="12700">
            <a:solidFill>
              <a:srgbClr val="E5DDCE"/>
            </a:solidFill>
            <a:prstDash val="solid"/>
          </a:ln>
        </p:spPr>
        <p:txBody>
          <a:bodyPr/>
          <a:lstStyle/>
          <a:p>
            <a:endParaRPr lang="en-IN"/>
          </a:p>
        </p:txBody>
      </p:sp>
      <p:sp>
        <p:nvSpPr>
          <p:cNvPr id="19" name="Shape 16"/>
          <p:cNvSpPr/>
          <p:nvPr/>
        </p:nvSpPr>
        <p:spPr>
          <a:xfrm>
            <a:off x="548640" y="5266944"/>
            <a:ext cx="100584" cy="841248"/>
          </a:xfrm>
          <a:prstGeom prst="rect">
            <a:avLst/>
          </a:prstGeom>
          <a:solidFill>
            <a:srgbClr val="7E8A6E"/>
          </a:solidFill>
          <a:ln/>
        </p:spPr>
        <p:txBody>
          <a:bodyPr/>
          <a:lstStyle/>
          <a:p>
            <a:endParaRPr lang="en-IN"/>
          </a:p>
        </p:txBody>
      </p:sp>
      <p:sp>
        <p:nvSpPr>
          <p:cNvPr id="20" name="Text 17"/>
          <p:cNvSpPr/>
          <p:nvPr/>
        </p:nvSpPr>
        <p:spPr>
          <a:xfrm>
            <a:off x="841248" y="5330952"/>
            <a:ext cx="5943600" cy="320040"/>
          </a:xfrm>
          <a:prstGeom prst="rect">
            <a:avLst/>
          </a:prstGeom>
          <a:noFill/>
          <a:ln/>
        </p:spPr>
        <p:txBody>
          <a:bodyPr wrap="square" lIns="0" tIns="0" rIns="0" bIns="0" rtlCol="0" anchor="ctr"/>
          <a:lstStyle/>
          <a:p>
            <a:pPr marL="0" indent="0">
              <a:buNone/>
            </a:pPr>
            <a:r>
              <a:rPr lang="en-US" sz="1450" b="1" dirty="0">
                <a:solidFill>
                  <a:srgbClr val="1F1E1D"/>
                </a:solidFill>
                <a:latin typeface="Calibri" pitchFamily="34" charset="0"/>
                <a:ea typeface="Calibri" pitchFamily="34" charset="-122"/>
                <a:cs typeface="Calibri" pitchFamily="34" charset="-120"/>
              </a:rPr>
              <a:t>Peer messaging</a:t>
            </a:r>
            <a:endParaRPr lang="en-US" sz="1450" dirty="0"/>
          </a:p>
        </p:txBody>
      </p:sp>
      <p:sp>
        <p:nvSpPr>
          <p:cNvPr id="21" name="Text 18"/>
          <p:cNvSpPr/>
          <p:nvPr/>
        </p:nvSpPr>
        <p:spPr>
          <a:xfrm>
            <a:off x="841248" y="5632704"/>
            <a:ext cx="5897880" cy="438912"/>
          </a:xfrm>
          <a:prstGeom prst="rect">
            <a:avLst/>
          </a:prstGeom>
          <a:noFill/>
          <a:ln/>
        </p:spPr>
        <p:txBody>
          <a:bodyPr wrap="square" lIns="0" tIns="0" rIns="0" bIns="0" rtlCol="0" anchor="t"/>
          <a:lstStyle/>
          <a:p>
            <a:pPr marL="0" indent="0">
              <a:lnSpc>
                <a:spcPts val="1450"/>
              </a:lnSpc>
              <a:buNone/>
            </a:pPr>
            <a:r>
              <a:rPr lang="en-US" sz="1200" dirty="0">
                <a:solidFill>
                  <a:srgbClr val="3D3A35"/>
                </a:solidFill>
                <a:latin typeface="Calibri" pitchFamily="34" charset="0"/>
                <a:ea typeface="Calibri" pitchFamily="34" charset="-122"/>
                <a:cs typeface="Calibri" pitchFamily="34" charset="-120"/>
              </a:rPr>
              <a:t>Inter-agent mailboxes let workers exchange findings without round-tripping the lead.</a:t>
            </a:r>
            <a:endParaRPr lang="en-US" sz="1200" dirty="0"/>
          </a:p>
        </p:txBody>
      </p:sp>
      <p:sp>
        <p:nvSpPr>
          <p:cNvPr id="22" name="Shape 19"/>
          <p:cNvSpPr/>
          <p:nvPr/>
        </p:nvSpPr>
        <p:spPr>
          <a:xfrm>
            <a:off x="7269480" y="2468880"/>
            <a:ext cx="4370832" cy="3730752"/>
          </a:xfrm>
          <a:prstGeom prst="roundRect">
            <a:avLst>
              <a:gd name="adj" fmla="val 2451"/>
            </a:avLst>
          </a:prstGeom>
          <a:solidFill>
            <a:srgbClr val="262624"/>
          </a:solidFill>
          <a:ln/>
          <a:effectLst>
            <a:outerShdw blurRad="114300" dist="38100" dir="5400000" algn="bl" rotWithShape="0">
              <a:srgbClr val="8C8579">
                <a:alpha val="22000"/>
              </a:srgbClr>
            </a:outerShdw>
          </a:effectLst>
        </p:spPr>
        <p:txBody>
          <a:bodyPr/>
          <a:lstStyle/>
          <a:p>
            <a:endParaRPr lang="en-IN"/>
          </a:p>
        </p:txBody>
      </p:sp>
      <p:sp>
        <p:nvSpPr>
          <p:cNvPr id="23" name="Text 20"/>
          <p:cNvSpPr/>
          <p:nvPr/>
        </p:nvSpPr>
        <p:spPr>
          <a:xfrm>
            <a:off x="7635240" y="2697480"/>
            <a:ext cx="3182112" cy="320040"/>
          </a:xfrm>
          <a:prstGeom prst="rect">
            <a:avLst/>
          </a:prstGeom>
          <a:noFill/>
          <a:ln/>
        </p:spPr>
        <p:txBody>
          <a:bodyPr wrap="square" lIns="0" tIns="0" rIns="0" bIns="0" rtlCol="0" anchor="ctr"/>
          <a:lstStyle/>
          <a:p>
            <a:pPr marL="0" indent="0">
              <a:buNone/>
            </a:pPr>
            <a:r>
              <a:rPr lang="en-US" sz="1200" b="1" kern="0" spc="200" dirty="0">
                <a:solidFill>
                  <a:srgbClr val="D97757"/>
                </a:solidFill>
                <a:latin typeface="Calibri" pitchFamily="34" charset="0"/>
                <a:ea typeface="Calibri" pitchFamily="34" charset="-122"/>
                <a:cs typeface="Calibri" pitchFamily="34" charset="-120"/>
              </a:rPr>
              <a:t>EXPERIMENTAL</a:t>
            </a:r>
            <a:endParaRPr lang="en-US" sz="1200" dirty="0"/>
          </a:p>
        </p:txBody>
      </p:sp>
      <p:sp>
        <p:nvSpPr>
          <p:cNvPr id="24" name="Text 21"/>
          <p:cNvSpPr/>
          <p:nvPr/>
        </p:nvSpPr>
        <p:spPr>
          <a:xfrm>
            <a:off x="7635240" y="3063240"/>
            <a:ext cx="3639312" cy="777240"/>
          </a:xfrm>
          <a:prstGeom prst="rect">
            <a:avLst/>
          </a:prstGeom>
          <a:noFill/>
          <a:ln/>
        </p:spPr>
        <p:txBody>
          <a:bodyPr wrap="square" lIns="0" tIns="0" rIns="0" bIns="0" rtlCol="0" anchor="ctr"/>
          <a:lstStyle/>
          <a:p>
            <a:pPr marL="0" indent="0">
              <a:lnSpc>
                <a:spcPts val="2200"/>
              </a:lnSpc>
              <a:buNone/>
            </a:pPr>
            <a:r>
              <a:rPr lang="en-US" sz="1900" b="1" dirty="0">
                <a:solidFill>
                  <a:srgbClr val="FBF8F2"/>
                </a:solidFill>
                <a:latin typeface="Georgia" pitchFamily="34" charset="0"/>
                <a:ea typeface="Georgia" pitchFamily="34" charset="-122"/>
                <a:cs typeface="Georgia" pitchFamily="34" charset="-120"/>
              </a:rPr>
              <a:t>Agent teams ship disabled by default</a:t>
            </a:r>
            <a:endParaRPr lang="en-US" sz="1900" dirty="0"/>
          </a:p>
        </p:txBody>
      </p:sp>
      <p:sp>
        <p:nvSpPr>
          <p:cNvPr id="25" name="Text 22"/>
          <p:cNvSpPr/>
          <p:nvPr/>
        </p:nvSpPr>
        <p:spPr>
          <a:xfrm>
            <a:off x="7635240" y="3931920"/>
            <a:ext cx="3639312" cy="2103120"/>
          </a:xfrm>
          <a:prstGeom prst="rect">
            <a:avLst/>
          </a:prstGeom>
          <a:noFill/>
          <a:ln/>
        </p:spPr>
        <p:txBody>
          <a:bodyPr wrap="square" lIns="0" tIns="0" rIns="0" bIns="0" rtlCol="0" anchor="t"/>
          <a:lstStyle/>
          <a:p>
            <a:pPr marL="0" indent="0">
              <a:lnSpc>
                <a:spcPts val="1700"/>
              </a:lnSpc>
              <a:spcAft>
                <a:spcPts val="800"/>
              </a:spcAft>
              <a:buNone/>
            </a:pPr>
            <a:r>
              <a:rPr lang="en-US" sz="1300" dirty="0">
                <a:solidFill>
                  <a:srgbClr val="D8CDBF"/>
                </a:solidFill>
                <a:latin typeface="Calibri" pitchFamily="34" charset="0"/>
                <a:ea typeface="Calibri" pitchFamily="34" charset="-122"/>
                <a:cs typeface="Calibri" pitchFamily="34" charset="-120"/>
              </a:rPr>
              <a:t>Opt in via an environment flag in settings.
</a:t>
            </a:r>
            <a:endParaRPr lang="en-US" sz="1300" dirty="0"/>
          </a:p>
          <a:p>
            <a:pPr marL="0" indent="0">
              <a:lnSpc>
                <a:spcPts val="1700"/>
              </a:lnSpc>
              <a:spcAft>
                <a:spcPts val="800"/>
              </a:spcAft>
              <a:buNone/>
            </a:pPr>
            <a:r>
              <a:rPr lang="en-US" sz="1300" dirty="0">
                <a:solidFill>
                  <a:srgbClr val="D8CDBF"/>
                </a:solidFill>
                <a:latin typeface="Calibri" pitchFamily="34" charset="0"/>
                <a:ea typeface="Calibri" pitchFamily="34" charset="-122"/>
                <a:cs typeface="Calibri" pitchFamily="34" charset="-120"/>
              </a:rPr>
              <a:t>Known limits around session resumption, task coordination, and shutdown.
</a:t>
            </a:r>
            <a:endParaRPr lang="en-US" sz="1300" dirty="0"/>
          </a:p>
          <a:p>
            <a:pPr marL="0" indent="0">
              <a:lnSpc>
                <a:spcPts val="1700"/>
              </a:lnSpc>
              <a:spcAft>
                <a:spcPts val="800"/>
              </a:spcAft>
              <a:buNone/>
            </a:pPr>
            <a:r>
              <a:rPr lang="en-US" sz="1300" dirty="0">
                <a:solidFill>
                  <a:srgbClr val="D8CDBF"/>
                </a:solidFill>
                <a:latin typeface="Calibri" pitchFamily="34" charset="0"/>
                <a:ea typeface="Calibri" pitchFamily="34" charset="-122"/>
                <a:cs typeface="Calibri" pitchFamily="34" charset="-120"/>
              </a:rPr>
              <a:t>Best for projects you can split into parallel streams that must stay in sync.</a:t>
            </a:r>
            <a:endParaRPr lang="en-US" sz="1300" dirty="0"/>
          </a:p>
        </p:txBody>
      </p:sp>
      <p:sp>
        <p:nvSpPr>
          <p:cNvPr id="26" name="Text 23"/>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7" name="Text 24"/>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CHOOSING A COORDINATION MODEL</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Subagents vs. agent teams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Shape 2"/>
          <p:cNvSpPr/>
          <p:nvPr/>
        </p:nvSpPr>
        <p:spPr>
          <a:xfrm>
            <a:off x="548640" y="1783080"/>
            <a:ext cx="5440680" cy="4069080"/>
          </a:xfrm>
          <a:prstGeom prst="roundRect">
            <a:avLst>
              <a:gd name="adj" fmla="val 179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6" name="Shape 3"/>
          <p:cNvSpPr/>
          <p:nvPr/>
        </p:nvSpPr>
        <p:spPr>
          <a:xfrm>
            <a:off x="548640" y="1783080"/>
            <a:ext cx="5440680" cy="868680"/>
          </a:xfrm>
          <a:prstGeom prst="rect">
            <a:avLst/>
          </a:prstGeom>
          <a:solidFill>
            <a:srgbClr val="D97757"/>
          </a:solidFill>
          <a:ln/>
        </p:spPr>
        <p:txBody>
          <a:bodyPr/>
          <a:lstStyle/>
          <a:p>
            <a:endParaRPr lang="en-IN"/>
          </a:p>
        </p:txBody>
      </p:sp>
      <p:sp>
        <p:nvSpPr>
          <p:cNvPr id="7" name="Text 4"/>
          <p:cNvSpPr/>
          <p:nvPr/>
        </p:nvSpPr>
        <p:spPr>
          <a:xfrm>
            <a:off x="868680" y="1892808"/>
            <a:ext cx="4800600" cy="411480"/>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Subagents</a:t>
            </a:r>
            <a:endParaRPr lang="en-US" sz="2100" dirty="0"/>
          </a:p>
        </p:txBody>
      </p:sp>
      <p:sp>
        <p:nvSpPr>
          <p:cNvPr id="8" name="Text 5"/>
          <p:cNvSpPr/>
          <p:nvPr/>
        </p:nvSpPr>
        <p:spPr>
          <a:xfrm>
            <a:off x="868680" y="2295144"/>
            <a:ext cx="4800600" cy="292608"/>
          </a:xfrm>
          <a:prstGeom prst="rect">
            <a:avLst/>
          </a:prstGeom>
          <a:noFill/>
          <a:ln/>
        </p:spPr>
        <p:txBody>
          <a:bodyPr wrap="square" lIns="0" tIns="0" rIns="0" bIns="0" rtlCol="0" anchor="ctr"/>
          <a:lstStyle/>
          <a:p>
            <a:pPr marL="0" indent="0">
              <a:buNone/>
            </a:pPr>
            <a:r>
              <a:rPr lang="en-US" sz="1200" dirty="0">
                <a:solidFill>
                  <a:srgbClr val="FBF1EA"/>
                </a:solidFill>
                <a:latin typeface="Calibri" pitchFamily="34" charset="0"/>
                <a:ea typeface="Calibri" pitchFamily="34" charset="-122"/>
                <a:cs typeface="Calibri" pitchFamily="34" charset="-120"/>
              </a:rPr>
              <a:t>Delegated workers in one session</a:t>
            </a:r>
            <a:endParaRPr lang="en-US" sz="1200" dirty="0"/>
          </a:p>
        </p:txBody>
      </p:sp>
      <p:sp>
        <p:nvSpPr>
          <p:cNvPr id="9" name="Text 6"/>
          <p:cNvSpPr/>
          <p:nvPr/>
        </p:nvSpPr>
        <p:spPr>
          <a:xfrm>
            <a:off x="868680" y="2834640"/>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CONTEXT</a:t>
            </a:r>
            <a:endParaRPr lang="en-US" sz="1050" dirty="0"/>
          </a:p>
        </p:txBody>
      </p:sp>
      <p:sp>
        <p:nvSpPr>
          <p:cNvPr id="10" name="Text 7"/>
          <p:cNvSpPr/>
          <p:nvPr/>
        </p:nvSpPr>
        <p:spPr>
          <a:xfrm>
            <a:off x="2423160" y="2834640"/>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Isolated, discarded after use</a:t>
            </a:r>
            <a:endParaRPr lang="en-US" sz="1250" dirty="0"/>
          </a:p>
        </p:txBody>
      </p:sp>
      <p:sp>
        <p:nvSpPr>
          <p:cNvPr id="11" name="Shape 8"/>
          <p:cNvSpPr/>
          <p:nvPr/>
        </p:nvSpPr>
        <p:spPr>
          <a:xfrm>
            <a:off x="868680" y="3401568"/>
            <a:ext cx="4800600" cy="0"/>
          </a:xfrm>
          <a:prstGeom prst="line">
            <a:avLst/>
          </a:prstGeom>
          <a:noFill/>
          <a:ln w="12700">
            <a:solidFill>
              <a:srgbClr val="ECE6DB"/>
            </a:solidFill>
            <a:prstDash val="solid"/>
          </a:ln>
        </p:spPr>
        <p:txBody>
          <a:bodyPr/>
          <a:lstStyle/>
          <a:p>
            <a:endParaRPr lang="en-IN"/>
          </a:p>
        </p:txBody>
      </p:sp>
      <p:sp>
        <p:nvSpPr>
          <p:cNvPr id="12" name="Text 9"/>
          <p:cNvSpPr/>
          <p:nvPr/>
        </p:nvSpPr>
        <p:spPr>
          <a:xfrm>
            <a:off x="868680" y="3438144"/>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COMMUNICATION</a:t>
            </a:r>
            <a:endParaRPr lang="en-US" sz="1050" dirty="0"/>
          </a:p>
        </p:txBody>
      </p:sp>
      <p:sp>
        <p:nvSpPr>
          <p:cNvPr id="13" name="Text 10"/>
          <p:cNvSpPr/>
          <p:nvPr/>
        </p:nvSpPr>
        <p:spPr>
          <a:xfrm>
            <a:off x="2423160" y="3438144"/>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Report only back to the parent</a:t>
            </a:r>
            <a:endParaRPr lang="en-US" sz="1250" dirty="0"/>
          </a:p>
        </p:txBody>
      </p:sp>
      <p:sp>
        <p:nvSpPr>
          <p:cNvPr id="14" name="Shape 11"/>
          <p:cNvSpPr/>
          <p:nvPr/>
        </p:nvSpPr>
        <p:spPr>
          <a:xfrm>
            <a:off x="868680" y="4005072"/>
            <a:ext cx="4800600" cy="0"/>
          </a:xfrm>
          <a:prstGeom prst="line">
            <a:avLst/>
          </a:prstGeom>
          <a:noFill/>
          <a:ln w="12700">
            <a:solidFill>
              <a:srgbClr val="ECE6DB"/>
            </a:solidFill>
            <a:prstDash val="solid"/>
          </a:ln>
        </p:spPr>
        <p:txBody>
          <a:bodyPr/>
          <a:lstStyle/>
          <a:p>
            <a:endParaRPr lang="en-IN"/>
          </a:p>
        </p:txBody>
      </p:sp>
      <p:sp>
        <p:nvSpPr>
          <p:cNvPr id="15" name="Text 12"/>
          <p:cNvSpPr/>
          <p:nvPr/>
        </p:nvSpPr>
        <p:spPr>
          <a:xfrm>
            <a:off x="868680" y="4041648"/>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COORDINATION</a:t>
            </a:r>
            <a:endParaRPr lang="en-US" sz="1050" dirty="0"/>
          </a:p>
        </p:txBody>
      </p:sp>
      <p:sp>
        <p:nvSpPr>
          <p:cNvPr id="16" name="Text 13"/>
          <p:cNvSpPr/>
          <p:nvPr/>
        </p:nvSpPr>
        <p:spPr>
          <a:xfrm>
            <a:off x="2423160" y="4041648"/>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Parent fans out and collects</a:t>
            </a:r>
            <a:endParaRPr lang="en-US" sz="1250" dirty="0"/>
          </a:p>
        </p:txBody>
      </p:sp>
      <p:sp>
        <p:nvSpPr>
          <p:cNvPr id="17" name="Shape 14"/>
          <p:cNvSpPr/>
          <p:nvPr/>
        </p:nvSpPr>
        <p:spPr>
          <a:xfrm>
            <a:off x="868680" y="4608576"/>
            <a:ext cx="4800600" cy="0"/>
          </a:xfrm>
          <a:prstGeom prst="line">
            <a:avLst/>
          </a:prstGeom>
          <a:noFill/>
          <a:ln w="12700">
            <a:solidFill>
              <a:srgbClr val="ECE6DB"/>
            </a:solidFill>
            <a:prstDash val="solid"/>
          </a:ln>
        </p:spPr>
        <p:txBody>
          <a:bodyPr/>
          <a:lstStyle/>
          <a:p>
            <a:endParaRPr lang="en-IN"/>
          </a:p>
        </p:txBody>
      </p:sp>
      <p:sp>
        <p:nvSpPr>
          <p:cNvPr id="18" name="Text 15"/>
          <p:cNvSpPr/>
          <p:nvPr/>
        </p:nvSpPr>
        <p:spPr>
          <a:xfrm>
            <a:off x="868680" y="4645152"/>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MATURITY</a:t>
            </a:r>
            <a:endParaRPr lang="en-US" sz="1050" dirty="0"/>
          </a:p>
        </p:txBody>
      </p:sp>
      <p:sp>
        <p:nvSpPr>
          <p:cNvPr id="19" name="Text 16"/>
          <p:cNvSpPr/>
          <p:nvPr/>
        </p:nvSpPr>
        <p:spPr>
          <a:xfrm>
            <a:off x="2423160" y="4645152"/>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Stable, everyday primitive</a:t>
            </a:r>
            <a:endParaRPr lang="en-US" sz="1250" dirty="0"/>
          </a:p>
        </p:txBody>
      </p:sp>
      <p:sp>
        <p:nvSpPr>
          <p:cNvPr id="20" name="Shape 17"/>
          <p:cNvSpPr/>
          <p:nvPr/>
        </p:nvSpPr>
        <p:spPr>
          <a:xfrm>
            <a:off x="868680" y="5212080"/>
            <a:ext cx="4800600" cy="0"/>
          </a:xfrm>
          <a:prstGeom prst="line">
            <a:avLst/>
          </a:prstGeom>
          <a:noFill/>
          <a:ln w="12700">
            <a:solidFill>
              <a:srgbClr val="ECE6DB"/>
            </a:solidFill>
            <a:prstDash val="solid"/>
          </a:ln>
        </p:spPr>
        <p:txBody>
          <a:bodyPr/>
          <a:lstStyle/>
          <a:p>
            <a:endParaRPr lang="en-IN"/>
          </a:p>
        </p:txBody>
      </p:sp>
      <p:sp>
        <p:nvSpPr>
          <p:cNvPr id="21" name="Text 18"/>
          <p:cNvSpPr/>
          <p:nvPr/>
        </p:nvSpPr>
        <p:spPr>
          <a:xfrm>
            <a:off x="868680" y="5248656"/>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BEST FOR</a:t>
            </a:r>
            <a:endParaRPr lang="en-US" sz="1050" dirty="0"/>
          </a:p>
        </p:txBody>
      </p:sp>
      <p:sp>
        <p:nvSpPr>
          <p:cNvPr id="22" name="Text 19"/>
          <p:cNvSpPr/>
          <p:nvPr/>
        </p:nvSpPr>
        <p:spPr>
          <a:xfrm>
            <a:off x="2423160" y="5248656"/>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Bounded side tasks &amp; parallel reads</a:t>
            </a:r>
            <a:endParaRPr lang="en-US" sz="1250" dirty="0"/>
          </a:p>
        </p:txBody>
      </p:sp>
      <p:sp>
        <p:nvSpPr>
          <p:cNvPr id="23" name="Shape 20"/>
          <p:cNvSpPr/>
          <p:nvPr/>
        </p:nvSpPr>
        <p:spPr>
          <a:xfrm>
            <a:off x="6291072" y="1783080"/>
            <a:ext cx="5440680" cy="4069080"/>
          </a:xfrm>
          <a:prstGeom prst="roundRect">
            <a:avLst>
              <a:gd name="adj" fmla="val 179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4" name="Shape 21"/>
          <p:cNvSpPr/>
          <p:nvPr/>
        </p:nvSpPr>
        <p:spPr>
          <a:xfrm>
            <a:off x="6291072" y="1783080"/>
            <a:ext cx="5440680" cy="868680"/>
          </a:xfrm>
          <a:prstGeom prst="rect">
            <a:avLst/>
          </a:prstGeom>
          <a:solidFill>
            <a:srgbClr val="7E8A6E"/>
          </a:solidFill>
          <a:ln/>
        </p:spPr>
        <p:txBody>
          <a:bodyPr/>
          <a:lstStyle/>
          <a:p>
            <a:endParaRPr lang="en-IN"/>
          </a:p>
        </p:txBody>
      </p:sp>
      <p:sp>
        <p:nvSpPr>
          <p:cNvPr id="25" name="Text 22"/>
          <p:cNvSpPr/>
          <p:nvPr/>
        </p:nvSpPr>
        <p:spPr>
          <a:xfrm>
            <a:off x="6611112" y="1892808"/>
            <a:ext cx="4800600" cy="411480"/>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Agent teams</a:t>
            </a:r>
            <a:endParaRPr lang="en-US" sz="2100" dirty="0"/>
          </a:p>
        </p:txBody>
      </p:sp>
      <p:sp>
        <p:nvSpPr>
          <p:cNvPr id="26" name="Text 23"/>
          <p:cNvSpPr/>
          <p:nvPr/>
        </p:nvSpPr>
        <p:spPr>
          <a:xfrm>
            <a:off x="6611112" y="2295144"/>
            <a:ext cx="4800600" cy="292608"/>
          </a:xfrm>
          <a:prstGeom prst="rect">
            <a:avLst/>
          </a:prstGeom>
          <a:noFill/>
          <a:ln/>
        </p:spPr>
        <p:txBody>
          <a:bodyPr wrap="square" lIns="0" tIns="0" rIns="0" bIns="0" rtlCol="0" anchor="ctr"/>
          <a:lstStyle/>
          <a:p>
            <a:pPr marL="0" indent="0">
              <a:buNone/>
            </a:pPr>
            <a:r>
              <a:rPr lang="en-US" sz="1200" dirty="0">
                <a:solidFill>
                  <a:srgbClr val="FBF1EA"/>
                </a:solidFill>
                <a:latin typeface="Calibri" pitchFamily="34" charset="0"/>
                <a:ea typeface="Calibri" pitchFamily="34" charset="-122"/>
                <a:cs typeface="Calibri" pitchFamily="34" charset="-120"/>
              </a:rPr>
              <a:t>Coordinated peer sessions</a:t>
            </a:r>
            <a:endParaRPr lang="en-US" sz="1200" dirty="0"/>
          </a:p>
        </p:txBody>
      </p:sp>
      <p:sp>
        <p:nvSpPr>
          <p:cNvPr id="27" name="Text 24"/>
          <p:cNvSpPr/>
          <p:nvPr/>
        </p:nvSpPr>
        <p:spPr>
          <a:xfrm>
            <a:off x="6611112" y="2834640"/>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CONTEXT</a:t>
            </a:r>
            <a:endParaRPr lang="en-US" sz="1050" dirty="0"/>
          </a:p>
        </p:txBody>
      </p:sp>
      <p:sp>
        <p:nvSpPr>
          <p:cNvPr id="28" name="Text 25"/>
          <p:cNvSpPr/>
          <p:nvPr/>
        </p:nvSpPr>
        <p:spPr>
          <a:xfrm>
            <a:off x="8165592" y="2834640"/>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Per-teammate, persistent in session</a:t>
            </a:r>
            <a:endParaRPr lang="en-US" sz="1250" dirty="0"/>
          </a:p>
        </p:txBody>
      </p:sp>
      <p:sp>
        <p:nvSpPr>
          <p:cNvPr id="29" name="Shape 26"/>
          <p:cNvSpPr/>
          <p:nvPr/>
        </p:nvSpPr>
        <p:spPr>
          <a:xfrm>
            <a:off x="6611112" y="3401568"/>
            <a:ext cx="4800600" cy="0"/>
          </a:xfrm>
          <a:prstGeom prst="line">
            <a:avLst/>
          </a:prstGeom>
          <a:noFill/>
          <a:ln w="12700">
            <a:solidFill>
              <a:srgbClr val="ECE6DB"/>
            </a:solidFill>
            <a:prstDash val="solid"/>
          </a:ln>
        </p:spPr>
        <p:txBody>
          <a:bodyPr/>
          <a:lstStyle/>
          <a:p>
            <a:endParaRPr lang="en-IN"/>
          </a:p>
        </p:txBody>
      </p:sp>
      <p:sp>
        <p:nvSpPr>
          <p:cNvPr id="30" name="Text 27"/>
          <p:cNvSpPr/>
          <p:nvPr/>
        </p:nvSpPr>
        <p:spPr>
          <a:xfrm>
            <a:off x="6611112" y="3438144"/>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COMMUNICATION</a:t>
            </a:r>
            <a:endParaRPr lang="en-US" sz="1050" dirty="0"/>
          </a:p>
        </p:txBody>
      </p:sp>
      <p:sp>
        <p:nvSpPr>
          <p:cNvPr id="31" name="Text 28"/>
          <p:cNvSpPr/>
          <p:nvPr/>
        </p:nvSpPr>
        <p:spPr>
          <a:xfrm>
            <a:off x="8165592" y="3438144"/>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Peer-to-peer + direct to you</a:t>
            </a:r>
            <a:endParaRPr lang="en-US" sz="1250" dirty="0"/>
          </a:p>
        </p:txBody>
      </p:sp>
      <p:sp>
        <p:nvSpPr>
          <p:cNvPr id="32" name="Shape 29"/>
          <p:cNvSpPr/>
          <p:nvPr/>
        </p:nvSpPr>
        <p:spPr>
          <a:xfrm>
            <a:off x="6611112" y="4005072"/>
            <a:ext cx="4800600" cy="0"/>
          </a:xfrm>
          <a:prstGeom prst="line">
            <a:avLst/>
          </a:prstGeom>
          <a:noFill/>
          <a:ln w="12700">
            <a:solidFill>
              <a:srgbClr val="ECE6DB"/>
            </a:solidFill>
            <a:prstDash val="solid"/>
          </a:ln>
        </p:spPr>
        <p:txBody>
          <a:bodyPr/>
          <a:lstStyle/>
          <a:p>
            <a:endParaRPr lang="en-IN"/>
          </a:p>
        </p:txBody>
      </p:sp>
      <p:sp>
        <p:nvSpPr>
          <p:cNvPr id="33" name="Text 30"/>
          <p:cNvSpPr/>
          <p:nvPr/>
        </p:nvSpPr>
        <p:spPr>
          <a:xfrm>
            <a:off x="6611112" y="4041648"/>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COORDINATION</a:t>
            </a:r>
            <a:endParaRPr lang="en-US" sz="1050" dirty="0"/>
          </a:p>
        </p:txBody>
      </p:sp>
      <p:sp>
        <p:nvSpPr>
          <p:cNvPr id="34" name="Text 31"/>
          <p:cNvSpPr/>
          <p:nvPr/>
        </p:nvSpPr>
        <p:spPr>
          <a:xfrm>
            <a:off x="8165592" y="4041648"/>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Lead + shared task list</a:t>
            </a:r>
            <a:endParaRPr lang="en-US" sz="1250" dirty="0"/>
          </a:p>
        </p:txBody>
      </p:sp>
      <p:sp>
        <p:nvSpPr>
          <p:cNvPr id="35" name="Shape 32"/>
          <p:cNvSpPr/>
          <p:nvPr/>
        </p:nvSpPr>
        <p:spPr>
          <a:xfrm>
            <a:off x="6611112" y="4608576"/>
            <a:ext cx="4800600" cy="0"/>
          </a:xfrm>
          <a:prstGeom prst="line">
            <a:avLst/>
          </a:prstGeom>
          <a:noFill/>
          <a:ln w="12700">
            <a:solidFill>
              <a:srgbClr val="ECE6DB"/>
            </a:solidFill>
            <a:prstDash val="solid"/>
          </a:ln>
        </p:spPr>
        <p:txBody>
          <a:bodyPr/>
          <a:lstStyle/>
          <a:p>
            <a:endParaRPr lang="en-IN"/>
          </a:p>
        </p:txBody>
      </p:sp>
      <p:sp>
        <p:nvSpPr>
          <p:cNvPr id="36" name="Text 33"/>
          <p:cNvSpPr/>
          <p:nvPr/>
        </p:nvSpPr>
        <p:spPr>
          <a:xfrm>
            <a:off x="6611112" y="4645152"/>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MATURITY</a:t>
            </a:r>
            <a:endParaRPr lang="en-US" sz="1050" dirty="0"/>
          </a:p>
        </p:txBody>
      </p:sp>
      <p:sp>
        <p:nvSpPr>
          <p:cNvPr id="37" name="Text 34"/>
          <p:cNvSpPr/>
          <p:nvPr/>
        </p:nvSpPr>
        <p:spPr>
          <a:xfrm>
            <a:off x="8165592" y="4645152"/>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Experimental, opt-in</a:t>
            </a:r>
            <a:endParaRPr lang="en-US" sz="1250" dirty="0"/>
          </a:p>
        </p:txBody>
      </p:sp>
      <p:sp>
        <p:nvSpPr>
          <p:cNvPr id="38" name="Shape 35"/>
          <p:cNvSpPr/>
          <p:nvPr/>
        </p:nvSpPr>
        <p:spPr>
          <a:xfrm>
            <a:off x="6611112" y="5212080"/>
            <a:ext cx="4800600" cy="0"/>
          </a:xfrm>
          <a:prstGeom prst="line">
            <a:avLst/>
          </a:prstGeom>
          <a:noFill/>
          <a:ln w="12700">
            <a:solidFill>
              <a:srgbClr val="ECE6DB"/>
            </a:solidFill>
            <a:prstDash val="solid"/>
          </a:ln>
        </p:spPr>
        <p:txBody>
          <a:bodyPr/>
          <a:lstStyle/>
          <a:p>
            <a:endParaRPr lang="en-IN"/>
          </a:p>
        </p:txBody>
      </p:sp>
      <p:sp>
        <p:nvSpPr>
          <p:cNvPr id="39" name="Text 36"/>
          <p:cNvSpPr/>
          <p:nvPr/>
        </p:nvSpPr>
        <p:spPr>
          <a:xfrm>
            <a:off x="6611112" y="5248656"/>
            <a:ext cx="1828800" cy="566928"/>
          </a:xfrm>
          <a:prstGeom prst="rect">
            <a:avLst/>
          </a:prstGeom>
          <a:noFill/>
          <a:ln/>
        </p:spPr>
        <p:txBody>
          <a:bodyPr wrap="square" lIns="0" tIns="0" rIns="0" bIns="0" rtlCol="0" anchor="ctr"/>
          <a:lstStyle/>
          <a:p>
            <a:pPr marL="0" indent="0">
              <a:buNone/>
            </a:pPr>
            <a:r>
              <a:rPr lang="en-US" sz="1050" b="1" kern="0" spc="100" dirty="0">
                <a:solidFill>
                  <a:srgbClr val="8C8579"/>
                </a:solidFill>
                <a:latin typeface="Calibri" pitchFamily="34" charset="0"/>
                <a:ea typeface="Calibri" pitchFamily="34" charset="-122"/>
                <a:cs typeface="Calibri" pitchFamily="34" charset="-120"/>
              </a:rPr>
              <a:t>BEST FOR</a:t>
            </a:r>
            <a:endParaRPr lang="en-US" sz="1050" dirty="0"/>
          </a:p>
        </p:txBody>
      </p:sp>
      <p:sp>
        <p:nvSpPr>
          <p:cNvPr id="40" name="Text 37"/>
          <p:cNvSpPr/>
          <p:nvPr/>
        </p:nvSpPr>
        <p:spPr>
          <a:xfrm>
            <a:off x="8165592" y="5248656"/>
            <a:ext cx="3246120" cy="566928"/>
          </a:xfrm>
          <a:prstGeom prst="rect">
            <a:avLst/>
          </a:prstGeom>
          <a:noFill/>
          <a:ln/>
        </p:spPr>
        <p:txBody>
          <a:bodyPr wrap="square" lIns="0" tIns="0" rIns="0" bIns="0" rtlCol="0" anchor="ctr"/>
          <a:lstStyle/>
          <a:p>
            <a:pPr marL="0" indent="0">
              <a:lnSpc>
                <a:spcPts val="1400"/>
              </a:lnSpc>
              <a:buNone/>
            </a:pPr>
            <a:r>
              <a:rPr lang="en-US" sz="1250" dirty="0">
                <a:solidFill>
                  <a:srgbClr val="1F1E1D"/>
                </a:solidFill>
                <a:latin typeface="Calibri" pitchFamily="34" charset="0"/>
                <a:ea typeface="Calibri" pitchFamily="34" charset="-122"/>
                <a:cs typeface="Calibri" pitchFamily="34" charset="-120"/>
              </a:rPr>
              <a:t>Splitting a project into synced streams</a:t>
            </a:r>
            <a:endParaRPr lang="en-US" sz="1250" dirty="0"/>
          </a:p>
        </p:txBody>
      </p:sp>
      <p:sp>
        <p:nvSpPr>
          <p:cNvPr id="41" name="Text 38"/>
          <p:cNvSpPr/>
          <p:nvPr/>
        </p:nvSpPr>
        <p:spPr>
          <a:xfrm>
            <a:off x="548640" y="5989320"/>
            <a:ext cx="11064240" cy="411480"/>
          </a:xfrm>
          <a:prstGeom prst="rect">
            <a:avLst/>
          </a:prstGeom>
          <a:noFill/>
          <a:ln/>
        </p:spPr>
        <p:txBody>
          <a:bodyPr wrap="square" lIns="0" tIns="0" rIns="0" bIns="0" rtlCol="0" anchor="ctr"/>
          <a:lstStyle/>
          <a:p>
            <a:pPr marL="0" indent="0" algn="ctr">
              <a:buNone/>
            </a:pPr>
            <a:r>
              <a:rPr lang="en-US" sz="1300" i="1" dirty="0">
                <a:solidFill>
                  <a:srgbClr val="BF5E3C"/>
                </a:solidFill>
                <a:latin typeface="Calibri" pitchFamily="34" charset="0"/>
                <a:ea typeface="Calibri" pitchFamily="34" charset="-122"/>
                <a:cs typeface="Calibri" pitchFamily="34" charset="-120"/>
              </a:rPr>
              <a:t>Rule of thumb: start with subagents; graduate to teams only when work must stay coordinated across long-lived, parallel streams.</a:t>
            </a:r>
            <a:endParaRPr lang="en-US" sz="1300" dirty="0"/>
          </a:p>
        </p:txBody>
      </p:sp>
      <p:sp>
        <p:nvSpPr>
          <p:cNvPr id="42" name="Text 39"/>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43" name="Text 40"/>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MAPPING THE TOOLBOX</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Four ways to run work in parallel</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Shape 2"/>
          <p:cNvSpPr/>
          <p:nvPr/>
        </p:nvSpPr>
        <p:spPr>
          <a:xfrm>
            <a:off x="548640" y="1783080"/>
            <a:ext cx="5440680" cy="2057400"/>
          </a:xfrm>
          <a:prstGeom prst="roundRect">
            <a:avLst>
              <a:gd name="adj" fmla="val 4444"/>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6" name="Shape 3"/>
          <p:cNvSpPr/>
          <p:nvPr/>
        </p:nvSpPr>
        <p:spPr>
          <a:xfrm>
            <a:off x="841248" y="2075688"/>
            <a:ext cx="566928" cy="566928"/>
          </a:xfrm>
          <a:prstGeom prst="ellipse">
            <a:avLst/>
          </a:prstGeom>
          <a:solidFill>
            <a:srgbClr val="F0EEE6"/>
          </a:solidFill>
          <a:ln w="19050">
            <a:solidFill>
              <a:srgbClr val="D97757"/>
            </a:solidFill>
            <a:prstDash val="solid"/>
          </a:ln>
        </p:spPr>
        <p:txBody>
          <a:bodyPr/>
          <a:lstStyle/>
          <a:p>
            <a:endParaRPr lang="en-IN"/>
          </a:p>
        </p:txBody>
      </p:sp>
      <p:sp>
        <p:nvSpPr>
          <p:cNvPr id="7" name="Text 4"/>
          <p:cNvSpPr/>
          <p:nvPr/>
        </p:nvSpPr>
        <p:spPr>
          <a:xfrm>
            <a:off x="841248" y="2075688"/>
            <a:ext cx="566928" cy="566928"/>
          </a:xfrm>
          <a:prstGeom prst="rect">
            <a:avLst/>
          </a:prstGeom>
          <a:noFill/>
          <a:ln/>
        </p:spPr>
        <p:txBody>
          <a:bodyPr wrap="square" lIns="0" tIns="0" rIns="0" bIns="0" rtlCol="0" anchor="ctr"/>
          <a:lstStyle/>
          <a:p>
            <a:pPr marL="0" indent="0" algn="ctr">
              <a:buNone/>
            </a:pPr>
            <a:r>
              <a:rPr lang="en-US" sz="2200" b="1" dirty="0">
                <a:solidFill>
                  <a:srgbClr val="D97757"/>
                </a:solidFill>
                <a:latin typeface="Georgia" pitchFamily="34" charset="0"/>
                <a:ea typeface="Georgia" pitchFamily="34" charset="-122"/>
                <a:cs typeface="Georgia" pitchFamily="34" charset="-120"/>
              </a:rPr>
              <a:t>1</a:t>
            </a:r>
            <a:endParaRPr lang="en-US" sz="2200" dirty="0"/>
          </a:p>
        </p:txBody>
      </p:sp>
      <p:sp>
        <p:nvSpPr>
          <p:cNvPr id="8" name="Text 5"/>
          <p:cNvSpPr/>
          <p:nvPr/>
        </p:nvSpPr>
        <p:spPr>
          <a:xfrm>
            <a:off x="1572768" y="2093976"/>
            <a:ext cx="4160520" cy="457200"/>
          </a:xfrm>
          <a:prstGeom prst="rect">
            <a:avLst/>
          </a:prstGeom>
          <a:noFill/>
          <a:ln/>
        </p:spPr>
        <p:txBody>
          <a:bodyPr wrap="square" lIns="0" tIns="0" rIns="0" bIns="0" rtlCol="0" anchor="ctr"/>
          <a:lstStyle/>
          <a:p>
            <a:pPr marL="0" indent="0">
              <a:buNone/>
            </a:pPr>
            <a:r>
              <a:rPr lang="en-US" sz="1800" b="1" dirty="0">
                <a:solidFill>
                  <a:srgbClr val="1F1E1D"/>
                </a:solidFill>
                <a:latin typeface="Calibri" pitchFamily="34" charset="0"/>
                <a:ea typeface="Calibri" pitchFamily="34" charset="-122"/>
                <a:cs typeface="Calibri" pitchFamily="34" charset="-120"/>
              </a:rPr>
              <a:t>Subagents</a:t>
            </a:r>
            <a:endParaRPr lang="en-US" sz="1800" dirty="0"/>
          </a:p>
        </p:txBody>
      </p:sp>
      <p:sp>
        <p:nvSpPr>
          <p:cNvPr id="9" name="Text 6"/>
          <p:cNvSpPr/>
          <p:nvPr/>
        </p:nvSpPr>
        <p:spPr>
          <a:xfrm>
            <a:off x="1572768" y="2569464"/>
            <a:ext cx="4114800" cy="868680"/>
          </a:xfrm>
          <a:prstGeom prst="rect">
            <a:avLst/>
          </a:prstGeom>
          <a:noFill/>
          <a:ln/>
        </p:spPr>
        <p:txBody>
          <a:bodyPr wrap="square" lIns="0" tIns="0" rIns="0" bIns="0" rtlCol="0" anchor="t"/>
          <a:lstStyle/>
          <a:p>
            <a:pPr marL="0" indent="0">
              <a:lnSpc>
                <a:spcPts val="1550"/>
              </a:lnSpc>
              <a:buNone/>
            </a:pPr>
            <a:r>
              <a:rPr lang="en-US" sz="1250" dirty="0">
                <a:solidFill>
                  <a:srgbClr val="3D3A35"/>
                </a:solidFill>
                <a:latin typeface="Calibri" pitchFamily="34" charset="0"/>
                <a:ea typeface="Calibri" pitchFamily="34" charset="-122"/>
                <a:cs typeface="Calibri" pitchFamily="34" charset="-120"/>
              </a:rPr>
              <a:t>Delegated workers inside one session that do a side task in their own context and return a summary.</a:t>
            </a:r>
            <a:endParaRPr lang="en-US" sz="1250" dirty="0"/>
          </a:p>
        </p:txBody>
      </p:sp>
      <p:sp>
        <p:nvSpPr>
          <p:cNvPr id="10" name="Text 7"/>
          <p:cNvSpPr/>
          <p:nvPr/>
        </p:nvSpPr>
        <p:spPr>
          <a:xfrm>
            <a:off x="841248" y="3383280"/>
            <a:ext cx="4892040" cy="365760"/>
          </a:xfrm>
          <a:prstGeom prst="rect">
            <a:avLst/>
          </a:prstGeom>
          <a:noFill/>
          <a:ln/>
        </p:spPr>
        <p:txBody>
          <a:bodyPr wrap="square" lIns="0" tIns="0" rIns="0" bIns="0" rtlCol="0" anchor="ctr"/>
          <a:lstStyle/>
          <a:p>
            <a:pPr marL="0" indent="0">
              <a:buNone/>
            </a:pPr>
            <a:r>
              <a:rPr lang="en-US" sz="1150" b="1" i="1" dirty="0">
                <a:solidFill>
                  <a:srgbClr val="BF5E3C"/>
                </a:solidFill>
                <a:latin typeface="Calibri" pitchFamily="34" charset="0"/>
                <a:ea typeface="Calibri" pitchFamily="34" charset="-122"/>
                <a:cs typeface="Calibri" pitchFamily="34" charset="-120"/>
              </a:rPr>
              <a:t>When:  </a:t>
            </a:r>
            <a:r>
              <a:rPr lang="en-US" sz="1150" i="1" dirty="0">
                <a:solidFill>
                  <a:srgbClr val="1F1E1D"/>
                </a:solidFill>
                <a:latin typeface="Calibri" pitchFamily="34" charset="0"/>
                <a:ea typeface="Calibri" pitchFamily="34" charset="-122"/>
                <a:cs typeface="Calibri" pitchFamily="34" charset="-120"/>
              </a:rPr>
              <a:t>A side task would flood your main thread</a:t>
            </a:r>
            <a:endParaRPr lang="en-US" sz="1150" dirty="0"/>
          </a:p>
        </p:txBody>
      </p:sp>
      <p:sp>
        <p:nvSpPr>
          <p:cNvPr id="11" name="Shape 8"/>
          <p:cNvSpPr/>
          <p:nvPr/>
        </p:nvSpPr>
        <p:spPr>
          <a:xfrm>
            <a:off x="6291072" y="1783080"/>
            <a:ext cx="5440680" cy="2057400"/>
          </a:xfrm>
          <a:prstGeom prst="roundRect">
            <a:avLst>
              <a:gd name="adj" fmla="val 4444"/>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2" name="Shape 9"/>
          <p:cNvSpPr/>
          <p:nvPr/>
        </p:nvSpPr>
        <p:spPr>
          <a:xfrm>
            <a:off x="6583680" y="2075688"/>
            <a:ext cx="566928" cy="566928"/>
          </a:xfrm>
          <a:prstGeom prst="ellipse">
            <a:avLst/>
          </a:prstGeom>
          <a:solidFill>
            <a:srgbClr val="F0EEE6"/>
          </a:solidFill>
          <a:ln w="19050">
            <a:solidFill>
              <a:srgbClr val="D97757"/>
            </a:solidFill>
            <a:prstDash val="solid"/>
          </a:ln>
        </p:spPr>
        <p:txBody>
          <a:bodyPr/>
          <a:lstStyle/>
          <a:p>
            <a:endParaRPr lang="en-IN"/>
          </a:p>
        </p:txBody>
      </p:sp>
      <p:sp>
        <p:nvSpPr>
          <p:cNvPr id="13" name="Text 10"/>
          <p:cNvSpPr/>
          <p:nvPr/>
        </p:nvSpPr>
        <p:spPr>
          <a:xfrm>
            <a:off x="6583680" y="2075688"/>
            <a:ext cx="566928" cy="566928"/>
          </a:xfrm>
          <a:prstGeom prst="rect">
            <a:avLst/>
          </a:prstGeom>
          <a:noFill/>
          <a:ln/>
        </p:spPr>
        <p:txBody>
          <a:bodyPr wrap="square" lIns="0" tIns="0" rIns="0" bIns="0" rtlCol="0" anchor="ctr"/>
          <a:lstStyle/>
          <a:p>
            <a:pPr marL="0" indent="0" algn="ctr">
              <a:buNone/>
            </a:pPr>
            <a:r>
              <a:rPr lang="en-US" sz="2200" b="1" dirty="0">
                <a:solidFill>
                  <a:srgbClr val="D97757"/>
                </a:solidFill>
                <a:latin typeface="Georgia" pitchFamily="34" charset="0"/>
                <a:ea typeface="Georgia" pitchFamily="34" charset="-122"/>
                <a:cs typeface="Georgia" pitchFamily="34" charset="-120"/>
              </a:rPr>
              <a:t>2</a:t>
            </a:r>
            <a:endParaRPr lang="en-US" sz="2200" dirty="0"/>
          </a:p>
        </p:txBody>
      </p:sp>
      <p:sp>
        <p:nvSpPr>
          <p:cNvPr id="14" name="Text 11"/>
          <p:cNvSpPr/>
          <p:nvPr/>
        </p:nvSpPr>
        <p:spPr>
          <a:xfrm>
            <a:off x="7315200" y="2093976"/>
            <a:ext cx="4160520" cy="457200"/>
          </a:xfrm>
          <a:prstGeom prst="rect">
            <a:avLst/>
          </a:prstGeom>
          <a:noFill/>
          <a:ln/>
        </p:spPr>
        <p:txBody>
          <a:bodyPr wrap="square" lIns="0" tIns="0" rIns="0" bIns="0" rtlCol="0" anchor="ctr"/>
          <a:lstStyle/>
          <a:p>
            <a:pPr marL="0" indent="0">
              <a:buNone/>
            </a:pPr>
            <a:r>
              <a:rPr lang="en-US" sz="1800" b="1" dirty="0">
                <a:solidFill>
                  <a:srgbClr val="1F1E1D"/>
                </a:solidFill>
                <a:latin typeface="Calibri" pitchFamily="34" charset="0"/>
                <a:ea typeface="Calibri" pitchFamily="34" charset="-122"/>
                <a:cs typeface="Calibri" pitchFamily="34" charset="-120"/>
              </a:rPr>
              <a:t>Agent view</a:t>
            </a:r>
            <a:endParaRPr lang="en-US" sz="1800" dirty="0"/>
          </a:p>
        </p:txBody>
      </p:sp>
      <p:sp>
        <p:nvSpPr>
          <p:cNvPr id="15" name="Text 12"/>
          <p:cNvSpPr/>
          <p:nvPr/>
        </p:nvSpPr>
        <p:spPr>
          <a:xfrm>
            <a:off x="7315200" y="2569464"/>
            <a:ext cx="4114800" cy="868680"/>
          </a:xfrm>
          <a:prstGeom prst="rect">
            <a:avLst/>
          </a:prstGeom>
          <a:noFill/>
          <a:ln/>
        </p:spPr>
        <p:txBody>
          <a:bodyPr wrap="square" lIns="0" tIns="0" rIns="0" bIns="0" rtlCol="0" anchor="t"/>
          <a:lstStyle/>
          <a:p>
            <a:pPr marL="0" indent="0">
              <a:lnSpc>
                <a:spcPts val="1550"/>
              </a:lnSpc>
              <a:buNone/>
            </a:pPr>
            <a:r>
              <a:rPr lang="en-US" sz="1250" dirty="0">
                <a:solidFill>
                  <a:srgbClr val="3D3A35"/>
                </a:solidFill>
                <a:latin typeface="Calibri" pitchFamily="34" charset="0"/>
                <a:ea typeface="Calibri" pitchFamily="34" charset="-122"/>
                <a:cs typeface="Calibri" pitchFamily="34" charset="-120"/>
              </a:rPr>
              <a:t>One screen to dispatch and monitor background sessions; step in only when one needs you.</a:t>
            </a:r>
            <a:endParaRPr lang="en-US" sz="1250" dirty="0"/>
          </a:p>
        </p:txBody>
      </p:sp>
      <p:sp>
        <p:nvSpPr>
          <p:cNvPr id="16" name="Text 13"/>
          <p:cNvSpPr/>
          <p:nvPr/>
        </p:nvSpPr>
        <p:spPr>
          <a:xfrm>
            <a:off x="6583680" y="3383280"/>
            <a:ext cx="4892040" cy="365760"/>
          </a:xfrm>
          <a:prstGeom prst="rect">
            <a:avLst/>
          </a:prstGeom>
          <a:noFill/>
          <a:ln/>
        </p:spPr>
        <p:txBody>
          <a:bodyPr wrap="square" lIns="0" tIns="0" rIns="0" bIns="0" rtlCol="0" anchor="ctr"/>
          <a:lstStyle/>
          <a:p>
            <a:pPr marL="0" indent="0">
              <a:buNone/>
            </a:pPr>
            <a:r>
              <a:rPr lang="en-US" sz="1150" b="1" i="1" dirty="0">
                <a:solidFill>
                  <a:srgbClr val="BF5E3C"/>
                </a:solidFill>
                <a:latin typeface="Calibri" pitchFamily="34" charset="0"/>
                <a:ea typeface="Calibri" pitchFamily="34" charset="-122"/>
                <a:cs typeface="Calibri" pitchFamily="34" charset="-120"/>
              </a:rPr>
              <a:t>When:  </a:t>
            </a:r>
            <a:r>
              <a:rPr lang="en-US" sz="1150" i="1" dirty="0">
                <a:solidFill>
                  <a:srgbClr val="1F1E1D"/>
                </a:solidFill>
                <a:latin typeface="Calibri" pitchFamily="34" charset="0"/>
                <a:ea typeface="Calibri" pitchFamily="34" charset="-122"/>
                <a:cs typeface="Calibri" pitchFamily="34" charset="-120"/>
              </a:rPr>
              <a:t>Several independent tasks to hand off</a:t>
            </a:r>
            <a:endParaRPr lang="en-US" sz="1150" dirty="0"/>
          </a:p>
        </p:txBody>
      </p:sp>
      <p:sp>
        <p:nvSpPr>
          <p:cNvPr id="17" name="Shape 14"/>
          <p:cNvSpPr/>
          <p:nvPr/>
        </p:nvSpPr>
        <p:spPr>
          <a:xfrm>
            <a:off x="548640" y="4114800"/>
            <a:ext cx="5440680" cy="2057400"/>
          </a:xfrm>
          <a:prstGeom prst="roundRect">
            <a:avLst>
              <a:gd name="adj" fmla="val 4444"/>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8" name="Shape 15"/>
          <p:cNvSpPr/>
          <p:nvPr/>
        </p:nvSpPr>
        <p:spPr>
          <a:xfrm>
            <a:off x="841248" y="4407408"/>
            <a:ext cx="566928" cy="566928"/>
          </a:xfrm>
          <a:prstGeom prst="ellipse">
            <a:avLst/>
          </a:prstGeom>
          <a:solidFill>
            <a:srgbClr val="F0EEE6"/>
          </a:solidFill>
          <a:ln w="19050">
            <a:solidFill>
              <a:srgbClr val="D97757"/>
            </a:solidFill>
            <a:prstDash val="solid"/>
          </a:ln>
        </p:spPr>
        <p:txBody>
          <a:bodyPr/>
          <a:lstStyle/>
          <a:p>
            <a:endParaRPr lang="en-IN"/>
          </a:p>
        </p:txBody>
      </p:sp>
      <p:sp>
        <p:nvSpPr>
          <p:cNvPr id="19" name="Text 16"/>
          <p:cNvSpPr/>
          <p:nvPr/>
        </p:nvSpPr>
        <p:spPr>
          <a:xfrm>
            <a:off x="841248" y="4407408"/>
            <a:ext cx="566928" cy="566928"/>
          </a:xfrm>
          <a:prstGeom prst="rect">
            <a:avLst/>
          </a:prstGeom>
          <a:noFill/>
          <a:ln/>
        </p:spPr>
        <p:txBody>
          <a:bodyPr wrap="square" lIns="0" tIns="0" rIns="0" bIns="0" rtlCol="0" anchor="ctr"/>
          <a:lstStyle/>
          <a:p>
            <a:pPr marL="0" indent="0" algn="ctr">
              <a:buNone/>
            </a:pPr>
            <a:r>
              <a:rPr lang="en-US" sz="2200" b="1" dirty="0">
                <a:solidFill>
                  <a:srgbClr val="D97757"/>
                </a:solidFill>
                <a:latin typeface="Georgia" pitchFamily="34" charset="0"/>
                <a:ea typeface="Georgia" pitchFamily="34" charset="-122"/>
                <a:cs typeface="Georgia" pitchFamily="34" charset="-120"/>
              </a:rPr>
              <a:t>3</a:t>
            </a:r>
            <a:endParaRPr lang="en-US" sz="2200" dirty="0"/>
          </a:p>
        </p:txBody>
      </p:sp>
      <p:sp>
        <p:nvSpPr>
          <p:cNvPr id="20" name="Text 17"/>
          <p:cNvSpPr/>
          <p:nvPr/>
        </p:nvSpPr>
        <p:spPr>
          <a:xfrm>
            <a:off x="1572768" y="4425696"/>
            <a:ext cx="4160520" cy="457200"/>
          </a:xfrm>
          <a:prstGeom prst="rect">
            <a:avLst/>
          </a:prstGeom>
          <a:noFill/>
          <a:ln/>
        </p:spPr>
        <p:txBody>
          <a:bodyPr wrap="square" lIns="0" tIns="0" rIns="0" bIns="0" rtlCol="0" anchor="ctr"/>
          <a:lstStyle/>
          <a:p>
            <a:pPr marL="0" indent="0">
              <a:buNone/>
            </a:pPr>
            <a:r>
              <a:rPr lang="en-US" sz="1800" b="1" dirty="0">
                <a:solidFill>
                  <a:srgbClr val="1F1E1D"/>
                </a:solidFill>
                <a:latin typeface="Calibri" pitchFamily="34" charset="0"/>
                <a:ea typeface="Calibri" pitchFamily="34" charset="-122"/>
                <a:cs typeface="Calibri" pitchFamily="34" charset="-120"/>
              </a:rPr>
              <a:t>Agent teams</a:t>
            </a:r>
            <a:endParaRPr lang="en-US" sz="1800" dirty="0"/>
          </a:p>
        </p:txBody>
      </p:sp>
      <p:sp>
        <p:nvSpPr>
          <p:cNvPr id="21" name="Text 18"/>
          <p:cNvSpPr/>
          <p:nvPr/>
        </p:nvSpPr>
        <p:spPr>
          <a:xfrm>
            <a:off x="1572768" y="4901184"/>
            <a:ext cx="4114800" cy="868680"/>
          </a:xfrm>
          <a:prstGeom prst="rect">
            <a:avLst/>
          </a:prstGeom>
          <a:noFill/>
          <a:ln/>
        </p:spPr>
        <p:txBody>
          <a:bodyPr wrap="square" lIns="0" tIns="0" rIns="0" bIns="0" rtlCol="0" anchor="t"/>
          <a:lstStyle/>
          <a:p>
            <a:pPr marL="0" indent="0">
              <a:lnSpc>
                <a:spcPts val="1550"/>
              </a:lnSpc>
              <a:buNone/>
            </a:pPr>
            <a:r>
              <a:rPr lang="en-US" sz="1250" dirty="0">
                <a:solidFill>
                  <a:srgbClr val="3D3A35"/>
                </a:solidFill>
                <a:latin typeface="Calibri" pitchFamily="34" charset="0"/>
                <a:ea typeface="Calibri" pitchFamily="34" charset="-122"/>
                <a:cs typeface="Calibri" pitchFamily="34" charset="-120"/>
              </a:rPr>
              <a:t>Coordinated sessions with a shared task list and inter-agent messaging, run by a lead.</a:t>
            </a:r>
            <a:endParaRPr lang="en-US" sz="1250" dirty="0"/>
          </a:p>
        </p:txBody>
      </p:sp>
      <p:sp>
        <p:nvSpPr>
          <p:cNvPr id="22" name="Text 19"/>
          <p:cNvSpPr/>
          <p:nvPr/>
        </p:nvSpPr>
        <p:spPr>
          <a:xfrm>
            <a:off x="841248" y="5715000"/>
            <a:ext cx="4892040" cy="365760"/>
          </a:xfrm>
          <a:prstGeom prst="rect">
            <a:avLst/>
          </a:prstGeom>
          <a:noFill/>
          <a:ln/>
        </p:spPr>
        <p:txBody>
          <a:bodyPr wrap="square" lIns="0" tIns="0" rIns="0" bIns="0" rtlCol="0" anchor="ctr"/>
          <a:lstStyle/>
          <a:p>
            <a:pPr marL="0" indent="0">
              <a:buNone/>
            </a:pPr>
            <a:r>
              <a:rPr lang="en-US" sz="1150" b="1" i="1" dirty="0">
                <a:solidFill>
                  <a:srgbClr val="BF5E3C"/>
                </a:solidFill>
                <a:latin typeface="Calibri" pitchFamily="34" charset="0"/>
                <a:ea typeface="Calibri" pitchFamily="34" charset="-122"/>
                <a:cs typeface="Calibri" pitchFamily="34" charset="-120"/>
              </a:rPr>
              <a:t>When:  </a:t>
            </a:r>
            <a:r>
              <a:rPr lang="en-US" sz="1150" i="1" dirty="0">
                <a:solidFill>
                  <a:srgbClr val="1F1E1D"/>
                </a:solidFill>
                <a:latin typeface="Calibri" pitchFamily="34" charset="0"/>
                <a:ea typeface="Calibri" pitchFamily="34" charset="-122"/>
                <a:cs typeface="Calibri" pitchFamily="34" charset="-120"/>
              </a:rPr>
              <a:t>Split a project and keep workers in sync</a:t>
            </a:r>
            <a:endParaRPr lang="en-US" sz="1150" dirty="0"/>
          </a:p>
        </p:txBody>
      </p:sp>
      <p:sp>
        <p:nvSpPr>
          <p:cNvPr id="23" name="Shape 20"/>
          <p:cNvSpPr/>
          <p:nvPr/>
        </p:nvSpPr>
        <p:spPr>
          <a:xfrm>
            <a:off x="6291072" y="4114800"/>
            <a:ext cx="5440680" cy="2057400"/>
          </a:xfrm>
          <a:prstGeom prst="roundRect">
            <a:avLst>
              <a:gd name="adj" fmla="val 4444"/>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4" name="Shape 21"/>
          <p:cNvSpPr/>
          <p:nvPr/>
        </p:nvSpPr>
        <p:spPr>
          <a:xfrm>
            <a:off x="6583680" y="4407408"/>
            <a:ext cx="566928" cy="566928"/>
          </a:xfrm>
          <a:prstGeom prst="ellipse">
            <a:avLst/>
          </a:prstGeom>
          <a:solidFill>
            <a:srgbClr val="F0EEE6"/>
          </a:solidFill>
          <a:ln w="19050">
            <a:solidFill>
              <a:srgbClr val="D97757"/>
            </a:solidFill>
            <a:prstDash val="solid"/>
          </a:ln>
        </p:spPr>
        <p:txBody>
          <a:bodyPr/>
          <a:lstStyle/>
          <a:p>
            <a:endParaRPr lang="en-IN"/>
          </a:p>
        </p:txBody>
      </p:sp>
      <p:sp>
        <p:nvSpPr>
          <p:cNvPr id="25" name="Text 22"/>
          <p:cNvSpPr/>
          <p:nvPr/>
        </p:nvSpPr>
        <p:spPr>
          <a:xfrm>
            <a:off x="6583680" y="4407408"/>
            <a:ext cx="566928" cy="566928"/>
          </a:xfrm>
          <a:prstGeom prst="rect">
            <a:avLst/>
          </a:prstGeom>
          <a:noFill/>
          <a:ln/>
        </p:spPr>
        <p:txBody>
          <a:bodyPr wrap="square" lIns="0" tIns="0" rIns="0" bIns="0" rtlCol="0" anchor="ctr"/>
          <a:lstStyle/>
          <a:p>
            <a:pPr marL="0" indent="0" algn="ctr">
              <a:buNone/>
            </a:pPr>
            <a:r>
              <a:rPr lang="en-US" sz="2200" b="1" dirty="0">
                <a:solidFill>
                  <a:srgbClr val="D97757"/>
                </a:solidFill>
                <a:latin typeface="Georgia" pitchFamily="34" charset="0"/>
                <a:ea typeface="Georgia" pitchFamily="34" charset="-122"/>
                <a:cs typeface="Georgia" pitchFamily="34" charset="-120"/>
              </a:rPr>
              <a:t>4</a:t>
            </a:r>
            <a:endParaRPr lang="en-US" sz="2200" dirty="0"/>
          </a:p>
        </p:txBody>
      </p:sp>
      <p:sp>
        <p:nvSpPr>
          <p:cNvPr id="26" name="Text 23"/>
          <p:cNvSpPr/>
          <p:nvPr/>
        </p:nvSpPr>
        <p:spPr>
          <a:xfrm>
            <a:off x="7315200" y="4425696"/>
            <a:ext cx="4160520" cy="457200"/>
          </a:xfrm>
          <a:prstGeom prst="rect">
            <a:avLst/>
          </a:prstGeom>
          <a:noFill/>
          <a:ln/>
        </p:spPr>
        <p:txBody>
          <a:bodyPr wrap="square" lIns="0" tIns="0" rIns="0" bIns="0" rtlCol="0" anchor="ctr"/>
          <a:lstStyle/>
          <a:p>
            <a:pPr marL="0" indent="0">
              <a:buNone/>
            </a:pPr>
            <a:r>
              <a:rPr lang="en-US" sz="1800" b="1" dirty="0">
                <a:solidFill>
                  <a:srgbClr val="1F1E1D"/>
                </a:solidFill>
                <a:latin typeface="Calibri" pitchFamily="34" charset="0"/>
                <a:ea typeface="Calibri" pitchFamily="34" charset="-122"/>
                <a:cs typeface="Calibri" pitchFamily="34" charset="-120"/>
              </a:rPr>
              <a:t>Dynamic workflows</a:t>
            </a:r>
            <a:endParaRPr lang="en-US" sz="1800" dirty="0"/>
          </a:p>
        </p:txBody>
      </p:sp>
      <p:sp>
        <p:nvSpPr>
          <p:cNvPr id="27" name="Text 24"/>
          <p:cNvSpPr/>
          <p:nvPr/>
        </p:nvSpPr>
        <p:spPr>
          <a:xfrm>
            <a:off x="7315200" y="4901184"/>
            <a:ext cx="4114800" cy="868680"/>
          </a:xfrm>
          <a:prstGeom prst="rect">
            <a:avLst/>
          </a:prstGeom>
          <a:noFill/>
          <a:ln/>
        </p:spPr>
        <p:txBody>
          <a:bodyPr wrap="square" lIns="0" tIns="0" rIns="0" bIns="0" rtlCol="0" anchor="t"/>
          <a:lstStyle/>
          <a:p>
            <a:pPr marL="0" indent="0">
              <a:lnSpc>
                <a:spcPts val="1550"/>
              </a:lnSpc>
              <a:buNone/>
            </a:pPr>
            <a:r>
              <a:rPr lang="en-US" sz="1250" dirty="0">
                <a:solidFill>
                  <a:srgbClr val="3D3A35"/>
                </a:solidFill>
                <a:latin typeface="Calibri" pitchFamily="34" charset="0"/>
                <a:ea typeface="Calibri" pitchFamily="34" charset="-122"/>
                <a:cs typeface="Calibri" pitchFamily="34" charset="-120"/>
              </a:rPr>
              <a:t>A script that runs many subagents and cross-checks their results across multiple passes.</a:t>
            </a:r>
            <a:endParaRPr lang="en-US" sz="1250" dirty="0"/>
          </a:p>
        </p:txBody>
      </p:sp>
      <p:sp>
        <p:nvSpPr>
          <p:cNvPr id="28" name="Text 25"/>
          <p:cNvSpPr/>
          <p:nvPr/>
        </p:nvSpPr>
        <p:spPr>
          <a:xfrm>
            <a:off x="6583680" y="5715000"/>
            <a:ext cx="4892040" cy="365760"/>
          </a:xfrm>
          <a:prstGeom prst="rect">
            <a:avLst/>
          </a:prstGeom>
          <a:noFill/>
          <a:ln/>
        </p:spPr>
        <p:txBody>
          <a:bodyPr wrap="square" lIns="0" tIns="0" rIns="0" bIns="0" rtlCol="0" anchor="ctr"/>
          <a:lstStyle/>
          <a:p>
            <a:pPr marL="0" indent="0">
              <a:buNone/>
            </a:pPr>
            <a:r>
              <a:rPr lang="en-US" sz="1150" b="1" i="1" dirty="0">
                <a:solidFill>
                  <a:srgbClr val="BF5E3C"/>
                </a:solidFill>
                <a:latin typeface="Calibri" pitchFamily="34" charset="0"/>
                <a:ea typeface="Calibri" pitchFamily="34" charset="-122"/>
                <a:cs typeface="Calibri" pitchFamily="34" charset="-120"/>
              </a:rPr>
              <a:t>When:  </a:t>
            </a:r>
            <a:r>
              <a:rPr lang="en-US" sz="1150" i="1" dirty="0">
                <a:solidFill>
                  <a:srgbClr val="1F1E1D"/>
                </a:solidFill>
                <a:latin typeface="Calibri" pitchFamily="34" charset="0"/>
                <a:ea typeface="Calibri" pitchFamily="34" charset="-122"/>
                <a:cs typeface="Calibri" pitchFamily="34" charset="-120"/>
              </a:rPr>
              <a:t>Codebase-wide audits &amp; large migrations</a:t>
            </a:r>
            <a:endParaRPr lang="en-US" sz="1150" dirty="0"/>
          </a:p>
        </p:txBody>
      </p:sp>
      <p:sp>
        <p:nvSpPr>
          <p:cNvPr id="29" name="Text 26"/>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0" name="Text 2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COMPOSING MULTI-STEP WORK</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Five orchestration patterns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411480"/>
          </a:xfrm>
          <a:prstGeom prst="rect">
            <a:avLst/>
          </a:prstGeom>
          <a:noFill/>
          <a:ln/>
        </p:spPr>
        <p:txBody>
          <a:bodyPr wrap="square" lIns="0" tIns="0" rIns="0" bIns="0" rtlCol="0" anchor="ctr"/>
          <a:lstStyle/>
          <a:p>
            <a:pPr marL="0" indent="0">
              <a:buNone/>
            </a:pPr>
            <a:r>
              <a:rPr lang="en-US" sz="1450" dirty="0">
                <a:solidFill>
                  <a:srgbClr val="3D3A35"/>
                </a:solidFill>
                <a:latin typeface="Calibri" pitchFamily="34" charset="0"/>
                <a:ea typeface="Calibri" pitchFamily="34" charset="-122"/>
                <a:cs typeface="Calibri" pitchFamily="34" charset="-120"/>
              </a:rPr>
              <a:t>Reliable agent systems are built from a few composable workflows. Match the pattern to the shape of the task.</a:t>
            </a:r>
            <a:endParaRPr lang="en-US" sz="1450" dirty="0"/>
          </a:p>
        </p:txBody>
      </p:sp>
      <p:sp>
        <p:nvSpPr>
          <p:cNvPr id="6" name="Shape 3"/>
          <p:cNvSpPr/>
          <p:nvPr/>
        </p:nvSpPr>
        <p:spPr>
          <a:xfrm>
            <a:off x="548640" y="2240280"/>
            <a:ext cx="3520440" cy="1874520"/>
          </a:xfrm>
          <a:prstGeom prst="roundRect">
            <a:avLst>
              <a:gd name="adj" fmla="val 487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Shape 4"/>
          <p:cNvSpPr/>
          <p:nvPr/>
        </p:nvSpPr>
        <p:spPr>
          <a:xfrm>
            <a:off x="548640" y="2240280"/>
            <a:ext cx="118872" cy="1874520"/>
          </a:xfrm>
          <a:prstGeom prst="rect">
            <a:avLst/>
          </a:prstGeom>
          <a:solidFill>
            <a:srgbClr val="7E8A6E"/>
          </a:solidFill>
          <a:ln/>
        </p:spPr>
        <p:txBody>
          <a:bodyPr/>
          <a:lstStyle/>
          <a:p>
            <a:endParaRPr lang="en-IN"/>
          </a:p>
        </p:txBody>
      </p:sp>
      <p:sp>
        <p:nvSpPr>
          <p:cNvPr id="8" name="Text 5"/>
          <p:cNvSpPr/>
          <p:nvPr/>
        </p:nvSpPr>
        <p:spPr>
          <a:xfrm>
            <a:off x="868680" y="2441448"/>
            <a:ext cx="3017520" cy="457200"/>
          </a:xfrm>
          <a:prstGeom prst="rect">
            <a:avLst/>
          </a:prstGeom>
          <a:noFill/>
          <a:ln/>
        </p:spPr>
        <p:txBody>
          <a:bodyPr wrap="square" lIns="0" tIns="0" rIns="0" bIns="0" rtlCol="0" anchor="t"/>
          <a:lstStyle/>
          <a:p>
            <a:pPr marL="0" indent="0">
              <a:lnSpc>
                <a:spcPts val="1800"/>
              </a:lnSpc>
              <a:buNone/>
            </a:pPr>
            <a:r>
              <a:rPr lang="en-US" sz="1650" b="1" dirty="0">
                <a:solidFill>
                  <a:srgbClr val="1F1E1D"/>
                </a:solidFill>
                <a:latin typeface="Calibri" pitchFamily="34" charset="0"/>
                <a:ea typeface="Calibri" pitchFamily="34" charset="-122"/>
                <a:cs typeface="Calibri" pitchFamily="34" charset="-120"/>
              </a:rPr>
              <a:t>Prompt chaining</a:t>
            </a:r>
            <a:endParaRPr lang="en-US" sz="1650" dirty="0"/>
          </a:p>
        </p:txBody>
      </p:sp>
      <p:sp>
        <p:nvSpPr>
          <p:cNvPr id="9" name="Text 6"/>
          <p:cNvSpPr/>
          <p:nvPr/>
        </p:nvSpPr>
        <p:spPr>
          <a:xfrm>
            <a:off x="868680" y="2953512"/>
            <a:ext cx="2971800" cy="73152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Sequence steps where each output feeds the next.</a:t>
            </a:r>
            <a:endParaRPr lang="en-US" sz="1200" dirty="0"/>
          </a:p>
        </p:txBody>
      </p:sp>
      <p:sp>
        <p:nvSpPr>
          <p:cNvPr id="10" name="Text 7"/>
          <p:cNvSpPr/>
          <p:nvPr/>
        </p:nvSpPr>
        <p:spPr>
          <a:xfrm>
            <a:off x="868680" y="3694176"/>
            <a:ext cx="2971800" cy="347472"/>
          </a:xfrm>
          <a:prstGeom prst="rect">
            <a:avLst/>
          </a:prstGeom>
          <a:noFill/>
          <a:ln/>
        </p:spPr>
        <p:txBody>
          <a:bodyPr wrap="square" lIns="0" tIns="0" rIns="0" bIns="0" rtlCol="0" anchor="ctr"/>
          <a:lstStyle/>
          <a:p>
            <a:pPr marL="0" indent="0">
              <a:buNone/>
            </a:pPr>
            <a:r>
              <a:rPr lang="en-US" sz="1100" i="1" dirty="0">
                <a:solidFill>
                  <a:srgbClr val="BF5E3C"/>
                </a:solidFill>
                <a:latin typeface="Calibri" pitchFamily="34" charset="0"/>
                <a:ea typeface="Calibri" pitchFamily="34" charset="-122"/>
                <a:cs typeface="Calibri" pitchFamily="34" charset="-120"/>
              </a:rPr>
              <a:t>Linear, decomposable tasks</a:t>
            </a:r>
            <a:endParaRPr lang="en-US" sz="1100" dirty="0"/>
          </a:p>
        </p:txBody>
      </p:sp>
      <p:sp>
        <p:nvSpPr>
          <p:cNvPr id="11" name="Shape 8"/>
          <p:cNvSpPr/>
          <p:nvPr/>
        </p:nvSpPr>
        <p:spPr>
          <a:xfrm>
            <a:off x="4343400" y="2240280"/>
            <a:ext cx="3520440" cy="1874520"/>
          </a:xfrm>
          <a:prstGeom prst="roundRect">
            <a:avLst>
              <a:gd name="adj" fmla="val 487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2" name="Shape 9"/>
          <p:cNvSpPr/>
          <p:nvPr/>
        </p:nvSpPr>
        <p:spPr>
          <a:xfrm>
            <a:off x="4343400" y="2240280"/>
            <a:ext cx="118872" cy="1874520"/>
          </a:xfrm>
          <a:prstGeom prst="rect">
            <a:avLst/>
          </a:prstGeom>
          <a:solidFill>
            <a:srgbClr val="7E8A6E"/>
          </a:solidFill>
          <a:ln/>
        </p:spPr>
        <p:txBody>
          <a:bodyPr/>
          <a:lstStyle/>
          <a:p>
            <a:endParaRPr lang="en-IN"/>
          </a:p>
        </p:txBody>
      </p:sp>
      <p:sp>
        <p:nvSpPr>
          <p:cNvPr id="13" name="Text 10"/>
          <p:cNvSpPr/>
          <p:nvPr/>
        </p:nvSpPr>
        <p:spPr>
          <a:xfrm>
            <a:off x="4663440" y="2441448"/>
            <a:ext cx="3017520" cy="457200"/>
          </a:xfrm>
          <a:prstGeom prst="rect">
            <a:avLst/>
          </a:prstGeom>
          <a:noFill/>
          <a:ln/>
        </p:spPr>
        <p:txBody>
          <a:bodyPr wrap="square" lIns="0" tIns="0" rIns="0" bIns="0" rtlCol="0" anchor="t"/>
          <a:lstStyle/>
          <a:p>
            <a:pPr marL="0" indent="0">
              <a:lnSpc>
                <a:spcPts val="1800"/>
              </a:lnSpc>
              <a:buNone/>
            </a:pPr>
            <a:r>
              <a:rPr lang="en-US" sz="1650" b="1" dirty="0">
                <a:solidFill>
                  <a:srgbClr val="1F1E1D"/>
                </a:solidFill>
                <a:latin typeface="Calibri" pitchFamily="34" charset="0"/>
                <a:ea typeface="Calibri" pitchFamily="34" charset="-122"/>
                <a:cs typeface="Calibri" pitchFamily="34" charset="-120"/>
              </a:rPr>
              <a:t>Routing</a:t>
            </a:r>
            <a:endParaRPr lang="en-US" sz="1650" dirty="0"/>
          </a:p>
        </p:txBody>
      </p:sp>
      <p:sp>
        <p:nvSpPr>
          <p:cNvPr id="14" name="Text 11"/>
          <p:cNvSpPr/>
          <p:nvPr/>
        </p:nvSpPr>
        <p:spPr>
          <a:xfrm>
            <a:off x="4663440" y="2953512"/>
            <a:ext cx="2971800" cy="73152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Classify the input, then send it to a specialized path.</a:t>
            </a:r>
            <a:endParaRPr lang="en-US" sz="1200" dirty="0"/>
          </a:p>
        </p:txBody>
      </p:sp>
      <p:sp>
        <p:nvSpPr>
          <p:cNvPr id="15" name="Text 12"/>
          <p:cNvSpPr/>
          <p:nvPr/>
        </p:nvSpPr>
        <p:spPr>
          <a:xfrm>
            <a:off x="4663440" y="3694176"/>
            <a:ext cx="2971800" cy="347472"/>
          </a:xfrm>
          <a:prstGeom prst="rect">
            <a:avLst/>
          </a:prstGeom>
          <a:noFill/>
          <a:ln/>
        </p:spPr>
        <p:txBody>
          <a:bodyPr wrap="square" lIns="0" tIns="0" rIns="0" bIns="0" rtlCol="0" anchor="ctr"/>
          <a:lstStyle/>
          <a:p>
            <a:pPr marL="0" indent="0">
              <a:buNone/>
            </a:pPr>
            <a:r>
              <a:rPr lang="en-US" sz="1100" i="1" dirty="0">
                <a:solidFill>
                  <a:srgbClr val="BF5E3C"/>
                </a:solidFill>
                <a:latin typeface="Calibri" pitchFamily="34" charset="0"/>
                <a:ea typeface="Calibri" pitchFamily="34" charset="-122"/>
                <a:cs typeface="Calibri" pitchFamily="34" charset="-120"/>
              </a:rPr>
              <a:t>Distinct input types</a:t>
            </a:r>
            <a:endParaRPr lang="en-US" sz="1100" dirty="0"/>
          </a:p>
        </p:txBody>
      </p:sp>
      <p:sp>
        <p:nvSpPr>
          <p:cNvPr id="16" name="Shape 13"/>
          <p:cNvSpPr/>
          <p:nvPr/>
        </p:nvSpPr>
        <p:spPr>
          <a:xfrm>
            <a:off x="8138160" y="2240280"/>
            <a:ext cx="3520440" cy="1874520"/>
          </a:xfrm>
          <a:prstGeom prst="roundRect">
            <a:avLst>
              <a:gd name="adj" fmla="val 487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7" name="Shape 14"/>
          <p:cNvSpPr/>
          <p:nvPr/>
        </p:nvSpPr>
        <p:spPr>
          <a:xfrm>
            <a:off x="8138160" y="2240280"/>
            <a:ext cx="118872" cy="1874520"/>
          </a:xfrm>
          <a:prstGeom prst="rect">
            <a:avLst/>
          </a:prstGeom>
          <a:solidFill>
            <a:srgbClr val="7E8A6E"/>
          </a:solidFill>
          <a:ln/>
        </p:spPr>
        <p:txBody>
          <a:bodyPr/>
          <a:lstStyle/>
          <a:p>
            <a:endParaRPr lang="en-IN"/>
          </a:p>
        </p:txBody>
      </p:sp>
      <p:sp>
        <p:nvSpPr>
          <p:cNvPr id="18" name="Text 15"/>
          <p:cNvSpPr/>
          <p:nvPr/>
        </p:nvSpPr>
        <p:spPr>
          <a:xfrm>
            <a:off x="8458200" y="2441448"/>
            <a:ext cx="3017520" cy="457200"/>
          </a:xfrm>
          <a:prstGeom prst="rect">
            <a:avLst/>
          </a:prstGeom>
          <a:noFill/>
          <a:ln/>
        </p:spPr>
        <p:txBody>
          <a:bodyPr wrap="square" lIns="0" tIns="0" rIns="0" bIns="0" rtlCol="0" anchor="t"/>
          <a:lstStyle/>
          <a:p>
            <a:pPr marL="0" indent="0">
              <a:lnSpc>
                <a:spcPts val="1800"/>
              </a:lnSpc>
              <a:buNone/>
            </a:pPr>
            <a:r>
              <a:rPr lang="en-US" sz="1650" b="1" dirty="0">
                <a:solidFill>
                  <a:srgbClr val="1F1E1D"/>
                </a:solidFill>
                <a:latin typeface="Calibri" pitchFamily="34" charset="0"/>
                <a:ea typeface="Calibri" pitchFamily="34" charset="-122"/>
                <a:cs typeface="Calibri" pitchFamily="34" charset="-120"/>
              </a:rPr>
              <a:t>Parallelization</a:t>
            </a:r>
            <a:endParaRPr lang="en-US" sz="1650" dirty="0"/>
          </a:p>
        </p:txBody>
      </p:sp>
      <p:sp>
        <p:nvSpPr>
          <p:cNvPr id="19" name="Text 16"/>
          <p:cNvSpPr/>
          <p:nvPr/>
        </p:nvSpPr>
        <p:spPr>
          <a:xfrm>
            <a:off x="8458200" y="2953512"/>
            <a:ext cx="2971800" cy="73152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Run independent subtasks at once, then merge.</a:t>
            </a:r>
            <a:endParaRPr lang="en-US" sz="1200" dirty="0"/>
          </a:p>
        </p:txBody>
      </p:sp>
      <p:sp>
        <p:nvSpPr>
          <p:cNvPr id="20" name="Text 17"/>
          <p:cNvSpPr/>
          <p:nvPr/>
        </p:nvSpPr>
        <p:spPr>
          <a:xfrm>
            <a:off x="8458200" y="3694176"/>
            <a:ext cx="2971800" cy="347472"/>
          </a:xfrm>
          <a:prstGeom prst="rect">
            <a:avLst/>
          </a:prstGeom>
          <a:noFill/>
          <a:ln/>
        </p:spPr>
        <p:txBody>
          <a:bodyPr wrap="square" lIns="0" tIns="0" rIns="0" bIns="0" rtlCol="0" anchor="ctr"/>
          <a:lstStyle/>
          <a:p>
            <a:pPr marL="0" indent="0">
              <a:buNone/>
            </a:pPr>
            <a:r>
              <a:rPr lang="en-US" sz="1100" i="1" dirty="0">
                <a:solidFill>
                  <a:srgbClr val="BF5E3C"/>
                </a:solidFill>
                <a:latin typeface="Calibri" pitchFamily="34" charset="0"/>
                <a:ea typeface="Calibri" pitchFamily="34" charset="-122"/>
                <a:cs typeface="Calibri" pitchFamily="34" charset="-120"/>
              </a:rPr>
              <a:t>Fan-out / voting</a:t>
            </a:r>
            <a:endParaRPr lang="en-US" sz="1100" dirty="0"/>
          </a:p>
        </p:txBody>
      </p:sp>
      <p:sp>
        <p:nvSpPr>
          <p:cNvPr id="21" name="Shape 18"/>
          <p:cNvSpPr/>
          <p:nvPr/>
        </p:nvSpPr>
        <p:spPr>
          <a:xfrm>
            <a:off x="2446020" y="4370832"/>
            <a:ext cx="3520440" cy="1874520"/>
          </a:xfrm>
          <a:prstGeom prst="roundRect">
            <a:avLst>
              <a:gd name="adj" fmla="val 487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2" name="Shape 19"/>
          <p:cNvSpPr/>
          <p:nvPr/>
        </p:nvSpPr>
        <p:spPr>
          <a:xfrm>
            <a:off x="2446020" y="4370832"/>
            <a:ext cx="118872" cy="1874520"/>
          </a:xfrm>
          <a:prstGeom prst="rect">
            <a:avLst/>
          </a:prstGeom>
          <a:solidFill>
            <a:srgbClr val="D97757"/>
          </a:solidFill>
          <a:ln/>
        </p:spPr>
        <p:txBody>
          <a:bodyPr/>
          <a:lstStyle/>
          <a:p>
            <a:endParaRPr lang="en-IN"/>
          </a:p>
        </p:txBody>
      </p:sp>
      <p:sp>
        <p:nvSpPr>
          <p:cNvPr id="23" name="Text 20"/>
          <p:cNvSpPr/>
          <p:nvPr/>
        </p:nvSpPr>
        <p:spPr>
          <a:xfrm>
            <a:off x="2766060" y="4572000"/>
            <a:ext cx="3017520" cy="457200"/>
          </a:xfrm>
          <a:prstGeom prst="rect">
            <a:avLst/>
          </a:prstGeom>
          <a:noFill/>
          <a:ln/>
        </p:spPr>
        <p:txBody>
          <a:bodyPr wrap="square" lIns="0" tIns="0" rIns="0" bIns="0" rtlCol="0" anchor="t"/>
          <a:lstStyle/>
          <a:p>
            <a:pPr marL="0" indent="0">
              <a:lnSpc>
                <a:spcPts val="1800"/>
              </a:lnSpc>
              <a:buNone/>
            </a:pPr>
            <a:r>
              <a:rPr lang="en-US" sz="1650" b="1" dirty="0">
                <a:solidFill>
                  <a:srgbClr val="1F1E1D"/>
                </a:solidFill>
                <a:latin typeface="Calibri" pitchFamily="34" charset="0"/>
                <a:ea typeface="Calibri" pitchFamily="34" charset="-122"/>
                <a:cs typeface="Calibri" pitchFamily="34" charset="-120"/>
              </a:rPr>
              <a:t>Orchestrator–workers</a:t>
            </a:r>
            <a:endParaRPr lang="en-US" sz="1650" dirty="0"/>
          </a:p>
        </p:txBody>
      </p:sp>
      <p:sp>
        <p:nvSpPr>
          <p:cNvPr id="24" name="Text 21"/>
          <p:cNvSpPr/>
          <p:nvPr/>
        </p:nvSpPr>
        <p:spPr>
          <a:xfrm>
            <a:off x="2766060" y="5084064"/>
            <a:ext cx="2971800" cy="73152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A lead splits work dynamically and synthesizes results.</a:t>
            </a:r>
            <a:endParaRPr lang="en-US" sz="1200" dirty="0"/>
          </a:p>
        </p:txBody>
      </p:sp>
      <p:sp>
        <p:nvSpPr>
          <p:cNvPr id="25" name="Text 22"/>
          <p:cNvSpPr/>
          <p:nvPr/>
        </p:nvSpPr>
        <p:spPr>
          <a:xfrm>
            <a:off x="2766060" y="5824728"/>
            <a:ext cx="2971800" cy="347472"/>
          </a:xfrm>
          <a:prstGeom prst="rect">
            <a:avLst/>
          </a:prstGeom>
          <a:noFill/>
          <a:ln/>
        </p:spPr>
        <p:txBody>
          <a:bodyPr wrap="square" lIns="0" tIns="0" rIns="0" bIns="0" rtlCol="0" anchor="ctr"/>
          <a:lstStyle/>
          <a:p>
            <a:pPr marL="0" indent="0">
              <a:buNone/>
            </a:pPr>
            <a:r>
              <a:rPr lang="en-US" sz="1100" i="1" dirty="0">
                <a:solidFill>
                  <a:srgbClr val="BF5E3C"/>
                </a:solidFill>
                <a:latin typeface="Calibri" pitchFamily="34" charset="0"/>
                <a:ea typeface="Calibri" pitchFamily="34" charset="-122"/>
                <a:cs typeface="Calibri" pitchFamily="34" charset="-120"/>
              </a:rPr>
              <a:t>Non-trivial, unpredictable tasks</a:t>
            </a:r>
            <a:endParaRPr lang="en-US" sz="1100" dirty="0"/>
          </a:p>
        </p:txBody>
      </p:sp>
      <p:sp>
        <p:nvSpPr>
          <p:cNvPr id="26" name="Shape 23"/>
          <p:cNvSpPr/>
          <p:nvPr/>
        </p:nvSpPr>
        <p:spPr>
          <a:xfrm>
            <a:off x="6240780" y="4370832"/>
            <a:ext cx="3520440" cy="1874520"/>
          </a:xfrm>
          <a:prstGeom prst="roundRect">
            <a:avLst>
              <a:gd name="adj" fmla="val 487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7" name="Shape 24"/>
          <p:cNvSpPr/>
          <p:nvPr/>
        </p:nvSpPr>
        <p:spPr>
          <a:xfrm>
            <a:off x="6240780" y="4370832"/>
            <a:ext cx="118872" cy="1874520"/>
          </a:xfrm>
          <a:prstGeom prst="rect">
            <a:avLst/>
          </a:prstGeom>
          <a:solidFill>
            <a:srgbClr val="7E8A6E"/>
          </a:solidFill>
          <a:ln/>
        </p:spPr>
        <p:txBody>
          <a:bodyPr/>
          <a:lstStyle/>
          <a:p>
            <a:endParaRPr lang="en-IN"/>
          </a:p>
        </p:txBody>
      </p:sp>
      <p:sp>
        <p:nvSpPr>
          <p:cNvPr id="28" name="Text 25"/>
          <p:cNvSpPr/>
          <p:nvPr/>
        </p:nvSpPr>
        <p:spPr>
          <a:xfrm>
            <a:off x="6560820" y="4572000"/>
            <a:ext cx="3017520" cy="457200"/>
          </a:xfrm>
          <a:prstGeom prst="rect">
            <a:avLst/>
          </a:prstGeom>
          <a:noFill/>
          <a:ln/>
        </p:spPr>
        <p:txBody>
          <a:bodyPr wrap="square" lIns="0" tIns="0" rIns="0" bIns="0" rtlCol="0" anchor="t"/>
          <a:lstStyle/>
          <a:p>
            <a:pPr marL="0" indent="0">
              <a:lnSpc>
                <a:spcPts val="1800"/>
              </a:lnSpc>
              <a:buNone/>
            </a:pPr>
            <a:r>
              <a:rPr lang="en-US" sz="1650" b="1" dirty="0">
                <a:solidFill>
                  <a:srgbClr val="1F1E1D"/>
                </a:solidFill>
                <a:latin typeface="Calibri" pitchFamily="34" charset="0"/>
                <a:ea typeface="Calibri" pitchFamily="34" charset="-122"/>
                <a:cs typeface="Calibri" pitchFamily="34" charset="-120"/>
              </a:rPr>
              <a:t>Evaluator–optimizer</a:t>
            </a:r>
            <a:endParaRPr lang="en-US" sz="1650" dirty="0"/>
          </a:p>
        </p:txBody>
      </p:sp>
      <p:sp>
        <p:nvSpPr>
          <p:cNvPr id="29" name="Text 26"/>
          <p:cNvSpPr/>
          <p:nvPr/>
        </p:nvSpPr>
        <p:spPr>
          <a:xfrm>
            <a:off x="6560820" y="5084064"/>
            <a:ext cx="2971800" cy="73152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One agent generates; another critiques and refines in a loop.</a:t>
            </a:r>
            <a:endParaRPr lang="en-US" sz="1200" dirty="0"/>
          </a:p>
        </p:txBody>
      </p:sp>
      <p:sp>
        <p:nvSpPr>
          <p:cNvPr id="30" name="Text 27"/>
          <p:cNvSpPr/>
          <p:nvPr/>
        </p:nvSpPr>
        <p:spPr>
          <a:xfrm>
            <a:off x="6560820" y="5824728"/>
            <a:ext cx="2971800" cy="347472"/>
          </a:xfrm>
          <a:prstGeom prst="rect">
            <a:avLst/>
          </a:prstGeom>
          <a:noFill/>
          <a:ln/>
        </p:spPr>
        <p:txBody>
          <a:bodyPr wrap="square" lIns="0" tIns="0" rIns="0" bIns="0" rtlCol="0" anchor="ctr"/>
          <a:lstStyle/>
          <a:p>
            <a:pPr marL="0" indent="0">
              <a:buNone/>
            </a:pPr>
            <a:r>
              <a:rPr lang="en-US" sz="1100" i="1" dirty="0">
                <a:solidFill>
                  <a:srgbClr val="BF5E3C"/>
                </a:solidFill>
                <a:latin typeface="Calibri" pitchFamily="34" charset="0"/>
                <a:ea typeface="Calibri" pitchFamily="34" charset="-122"/>
                <a:cs typeface="Calibri" pitchFamily="34" charset="-120"/>
              </a:rPr>
              <a:t>Quality-critical output</a:t>
            </a:r>
            <a:endParaRPr lang="en-US" sz="1100" dirty="0"/>
          </a:p>
        </p:txBody>
      </p:sp>
      <p:sp>
        <p:nvSpPr>
          <p:cNvPr id="31" name="Text 28"/>
          <p:cNvSpPr/>
          <p:nvPr/>
        </p:nvSpPr>
        <p:spPr>
          <a:xfrm>
            <a:off x="548640" y="6053328"/>
            <a:ext cx="11064240" cy="365760"/>
          </a:xfrm>
          <a:prstGeom prst="rect">
            <a:avLst/>
          </a:prstGeom>
          <a:noFill/>
          <a:ln/>
        </p:spPr>
        <p:txBody>
          <a:bodyPr wrap="square" lIns="0" tIns="0" rIns="0" bIns="0" rtlCol="0" anchor="ctr"/>
          <a:lstStyle/>
          <a:p>
            <a:pPr marL="0" indent="0" algn="ctr">
              <a:buNone/>
            </a:pPr>
            <a:r>
              <a:rPr lang="en-US" sz="1250" i="1" dirty="0">
                <a:solidFill>
                  <a:srgbClr val="BF5E3C"/>
                </a:solidFill>
                <a:latin typeface="Calibri" pitchFamily="34" charset="0"/>
                <a:ea typeface="Calibri" pitchFamily="34" charset="-122"/>
                <a:cs typeface="Calibri" pitchFamily="34" charset="-120"/>
              </a:rPr>
              <a:t>Highlighted: orchestrator–workers — the workhorse for non-trivial, multi-step tasks (next slide).</a:t>
            </a:r>
            <a:endParaRPr lang="en-US" sz="1250" dirty="0"/>
          </a:p>
        </p:txBody>
      </p:sp>
      <p:sp>
        <p:nvSpPr>
          <p:cNvPr id="32" name="Text 29"/>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3" name="Text 30"/>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PATTERN DEEP DIVE</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Orchestrator–workers for non-trivial tasks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685800"/>
          </a:xfrm>
          <a:prstGeom prst="rect">
            <a:avLst/>
          </a:prstGeom>
          <a:noFill/>
          <a:ln/>
        </p:spPr>
        <p:txBody>
          <a:bodyPr wrap="square" lIns="0" tIns="0" rIns="0" bIns="0" rtlCol="0" anchor="ctr"/>
          <a:lstStyle/>
          <a:p>
            <a:pPr marL="0" indent="0">
              <a:lnSpc>
                <a:spcPts val="1800"/>
              </a:lnSpc>
              <a:buNone/>
            </a:pPr>
            <a:r>
              <a:rPr lang="en-US" sz="1450" dirty="0">
                <a:solidFill>
                  <a:srgbClr val="3D3A35"/>
                </a:solidFill>
                <a:latin typeface="Calibri" pitchFamily="34" charset="0"/>
                <a:ea typeface="Calibri" pitchFamily="34" charset="-122"/>
                <a:cs typeface="Calibri" pitchFamily="34" charset="-120"/>
              </a:rPr>
              <a:t>A central agent analyzes each unique task, decides the subtasks on the fly, delegates to workers, then synthesizes their combined output. Unlike hard-coded parallelism, the breakdown is decided per task.</a:t>
            </a:r>
            <a:endParaRPr lang="en-US" sz="1450" dirty="0"/>
          </a:p>
        </p:txBody>
      </p:sp>
      <p:sp>
        <p:nvSpPr>
          <p:cNvPr id="6" name="Shape 3"/>
          <p:cNvSpPr/>
          <p:nvPr/>
        </p:nvSpPr>
        <p:spPr>
          <a:xfrm>
            <a:off x="640080" y="3200400"/>
            <a:ext cx="2468880" cy="1371600"/>
          </a:xfrm>
          <a:prstGeom prst="roundRect">
            <a:avLst>
              <a:gd name="adj" fmla="val 6667"/>
            </a:avLst>
          </a:prstGeom>
          <a:solidFill>
            <a:srgbClr val="262624"/>
          </a:solidFill>
          <a:ln/>
          <a:effectLst>
            <a:outerShdw blurRad="114300" dist="38100" dir="5400000" algn="bl" rotWithShape="0">
              <a:srgbClr val="8C8579">
                <a:alpha val="22000"/>
              </a:srgbClr>
            </a:outerShdw>
          </a:effectLst>
        </p:spPr>
        <p:txBody>
          <a:bodyPr/>
          <a:lstStyle/>
          <a:p>
            <a:endParaRPr lang="en-IN"/>
          </a:p>
        </p:txBody>
      </p:sp>
      <p:sp>
        <p:nvSpPr>
          <p:cNvPr id="7" name="Text 4"/>
          <p:cNvSpPr/>
          <p:nvPr/>
        </p:nvSpPr>
        <p:spPr>
          <a:xfrm>
            <a:off x="640080" y="3310128"/>
            <a:ext cx="2468880" cy="320040"/>
          </a:xfrm>
          <a:prstGeom prst="rect">
            <a:avLst/>
          </a:prstGeom>
          <a:noFill/>
          <a:ln/>
        </p:spPr>
        <p:txBody>
          <a:bodyPr wrap="square" lIns="0" tIns="0" rIns="0" bIns="0" rtlCol="0" anchor="ctr"/>
          <a:lstStyle/>
          <a:p>
            <a:pPr marL="0" indent="0" algn="ctr">
              <a:buNone/>
            </a:pPr>
            <a:r>
              <a:rPr lang="en-US" sz="1150" b="1" kern="0" spc="150" dirty="0">
                <a:solidFill>
                  <a:srgbClr val="D97757"/>
                </a:solidFill>
                <a:latin typeface="Calibri" pitchFamily="34" charset="0"/>
                <a:ea typeface="Calibri" pitchFamily="34" charset="-122"/>
                <a:cs typeface="Calibri" pitchFamily="34" charset="-120"/>
              </a:rPr>
              <a:t>ORCHESTRATOR</a:t>
            </a:r>
            <a:endParaRPr lang="en-US" sz="1150" dirty="0"/>
          </a:p>
        </p:txBody>
      </p:sp>
      <p:sp>
        <p:nvSpPr>
          <p:cNvPr id="8" name="Text 5"/>
          <p:cNvSpPr/>
          <p:nvPr/>
        </p:nvSpPr>
        <p:spPr>
          <a:xfrm>
            <a:off x="640080" y="3611880"/>
            <a:ext cx="2468880" cy="822960"/>
          </a:xfrm>
          <a:prstGeom prst="rect">
            <a:avLst/>
          </a:prstGeom>
          <a:noFill/>
          <a:ln/>
        </p:spPr>
        <p:txBody>
          <a:bodyPr wrap="square" lIns="0" tIns="0" rIns="0" bIns="0" rtlCol="0" anchor="t"/>
          <a:lstStyle/>
          <a:p>
            <a:pPr marL="0" indent="0" algn="ctr">
              <a:lnSpc>
                <a:spcPts val="1600"/>
              </a:lnSpc>
              <a:buNone/>
            </a:pPr>
            <a:r>
              <a:rPr lang="en-US" sz="1300" dirty="0">
                <a:solidFill>
                  <a:srgbClr val="EDE6DA"/>
                </a:solidFill>
                <a:latin typeface="Calibri" pitchFamily="34" charset="0"/>
                <a:ea typeface="Calibri" pitchFamily="34" charset="-122"/>
                <a:cs typeface="Calibri" pitchFamily="34" charset="-120"/>
              </a:rPr>
              <a:t>Analyzes the task &amp;</a:t>
            </a:r>
            <a:endParaRPr lang="en-US" sz="1300" dirty="0"/>
          </a:p>
          <a:p>
            <a:pPr marL="0" indent="0" algn="ctr">
              <a:lnSpc>
                <a:spcPts val="1600"/>
              </a:lnSpc>
              <a:buNone/>
            </a:pPr>
            <a:r>
              <a:rPr lang="en-US" sz="1300" dirty="0">
                <a:solidFill>
                  <a:srgbClr val="EDE6DA"/>
                </a:solidFill>
                <a:latin typeface="Calibri" pitchFamily="34" charset="0"/>
                <a:ea typeface="Calibri" pitchFamily="34" charset="-122"/>
                <a:cs typeface="Calibri" pitchFamily="34" charset="-120"/>
              </a:rPr>
              <a:t>plans subtasks</a:t>
            </a:r>
            <a:endParaRPr lang="en-US" sz="1300" dirty="0"/>
          </a:p>
        </p:txBody>
      </p:sp>
      <p:sp>
        <p:nvSpPr>
          <p:cNvPr id="9" name="Shape 6"/>
          <p:cNvSpPr/>
          <p:nvPr/>
        </p:nvSpPr>
        <p:spPr>
          <a:xfrm>
            <a:off x="4572000" y="2560320"/>
            <a:ext cx="2743200" cy="841248"/>
          </a:xfrm>
          <a:prstGeom prst="roundRect">
            <a:avLst>
              <a:gd name="adj" fmla="val 8696"/>
            </a:avLst>
          </a:prstGeom>
          <a:solidFill>
            <a:srgbClr val="FFFFFF"/>
          </a:solidFill>
          <a:ln w="15875">
            <a:solidFill>
              <a:srgbClr val="D97757"/>
            </a:solidFill>
            <a:prstDash val="solid"/>
          </a:ln>
        </p:spPr>
        <p:txBody>
          <a:bodyPr/>
          <a:lstStyle/>
          <a:p>
            <a:endParaRPr lang="en-IN"/>
          </a:p>
        </p:txBody>
      </p:sp>
      <p:sp>
        <p:nvSpPr>
          <p:cNvPr id="10" name="Text 7"/>
          <p:cNvSpPr/>
          <p:nvPr/>
        </p:nvSpPr>
        <p:spPr>
          <a:xfrm>
            <a:off x="4754880" y="2670048"/>
            <a:ext cx="2377440" cy="292608"/>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Worker A</a:t>
            </a:r>
            <a:endParaRPr lang="en-US" sz="1400" dirty="0"/>
          </a:p>
        </p:txBody>
      </p:sp>
      <p:sp>
        <p:nvSpPr>
          <p:cNvPr id="11" name="Text 8"/>
          <p:cNvSpPr/>
          <p:nvPr/>
        </p:nvSpPr>
        <p:spPr>
          <a:xfrm>
            <a:off x="4754880" y="2980944"/>
            <a:ext cx="2377440" cy="320040"/>
          </a:xfrm>
          <a:prstGeom prst="rect">
            <a:avLst/>
          </a:prstGeom>
          <a:noFill/>
          <a:ln/>
        </p:spPr>
        <p:txBody>
          <a:bodyPr wrap="square" lIns="0" tIns="0" rIns="0" bIns="0" rtlCol="0" anchor="ctr"/>
          <a:lstStyle/>
          <a:p>
            <a:pPr marL="0" indent="0">
              <a:buNone/>
            </a:pPr>
            <a:r>
              <a:rPr lang="en-US" sz="1100" dirty="0">
                <a:solidFill>
                  <a:srgbClr val="8C8579"/>
                </a:solidFill>
                <a:latin typeface="Calibri" pitchFamily="34" charset="0"/>
                <a:ea typeface="Calibri" pitchFamily="34" charset="-122"/>
                <a:cs typeface="Calibri" pitchFamily="34" charset="-120"/>
              </a:rPr>
              <a:t>Own context · one subtask</a:t>
            </a:r>
            <a:endParaRPr lang="en-US" sz="1100" dirty="0"/>
          </a:p>
        </p:txBody>
      </p:sp>
      <p:sp>
        <p:nvSpPr>
          <p:cNvPr id="12" name="Shape 9"/>
          <p:cNvSpPr/>
          <p:nvPr/>
        </p:nvSpPr>
        <p:spPr>
          <a:xfrm flipV="1">
            <a:off x="3108960" y="2980944"/>
            <a:ext cx="1463040" cy="905256"/>
          </a:xfrm>
          <a:prstGeom prst="line">
            <a:avLst/>
          </a:prstGeom>
          <a:noFill/>
          <a:ln w="19050">
            <a:solidFill>
              <a:srgbClr val="D97757"/>
            </a:solidFill>
            <a:prstDash val="solid"/>
          </a:ln>
        </p:spPr>
        <p:txBody>
          <a:bodyPr/>
          <a:lstStyle/>
          <a:p>
            <a:endParaRPr lang="en-IN"/>
          </a:p>
        </p:txBody>
      </p:sp>
      <p:sp>
        <p:nvSpPr>
          <p:cNvPr id="13" name="Shape 10"/>
          <p:cNvSpPr/>
          <p:nvPr/>
        </p:nvSpPr>
        <p:spPr>
          <a:xfrm>
            <a:off x="4572000" y="3602736"/>
            <a:ext cx="2743200" cy="841248"/>
          </a:xfrm>
          <a:prstGeom prst="roundRect">
            <a:avLst>
              <a:gd name="adj" fmla="val 8696"/>
            </a:avLst>
          </a:prstGeom>
          <a:solidFill>
            <a:srgbClr val="FFFFFF"/>
          </a:solidFill>
          <a:ln w="15875">
            <a:solidFill>
              <a:srgbClr val="D97757"/>
            </a:solidFill>
            <a:prstDash val="solid"/>
          </a:ln>
        </p:spPr>
        <p:txBody>
          <a:bodyPr/>
          <a:lstStyle/>
          <a:p>
            <a:endParaRPr lang="en-IN"/>
          </a:p>
        </p:txBody>
      </p:sp>
      <p:sp>
        <p:nvSpPr>
          <p:cNvPr id="14" name="Text 11"/>
          <p:cNvSpPr/>
          <p:nvPr/>
        </p:nvSpPr>
        <p:spPr>
          <a:xfrm>
            <a:off x="4754880" y="3712464"/>
            <a:ext cx="2377440" cy="292608"/>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Worker B</a:t>
            </a:r>
            <a:endParaRPr lang="en-US" sz="1400" dirty="0"/>
          </a:p>
        </p:txBody>
      </p:sp>
      <p:sp>
        <p:nvSpPr>
          <p:cNvPr id="15" name="Text 12"/>
          <p:cNvSpPr/>
          <p:nvPr/>
        </p:nvSpPr>
        <p:spPr>
          <a:xfrm>
            <a:off x="4754880" y="4023360"/>
            <a:ext cx="2377440" cy="320040"/>
          </a:xfrm>
          <a:prstGeom prst="rect">
            <a:avLst/>
          </a:prstGeom>
          <a:noFill/>
          <a:ln/>
        </p:spPr>
        <p:txBody>
          <a:bodyPr wrap="square" lIns="0" tIns="0" rIns="0" bIns="0" rtlCol="0" anchor="ctr"/>
          <a:lstStyle/>
          <a:p>
            <a:pPr marL="0" indent="0">
              <a:buNone/>
            </a:pPr>
            <a:r>
              <a:rPr lang="en-US" sz="1100" dirty="0">
                <a:solidFill>
                  <a:srgbClr val="8C8579"/>
                </a:solidFill>
                <a:latin typeface="Calibri" pitchFamily="34" charset="0"/>
                <a:ea typeface="Calibri" pitchFamily="34" charset="-122"/>
                <a:cs typeface="Calibri" pitchFamily="34" charset="-120"/>
              </a:rPr>
              <a:t>Own context · one subtask</a:t>
            </a:r>
            <a:endParaRPr lang="en-US" sz="1100" dirty="0"/>
          </a:p>
        </p:txBody>
      </p:sp>
      <p:sp>
        <p:nvSpPr>
          <p:cNvPr id="16" name="Shape 13"/>
          <p:cNvSpPr/>
          <p:nvPr/>
        </p:nvSpPr>
        <p:spPr>
          <a:xfrm>
            <a:off x="3108960" y="3886200"/>
            <a:ext cx="1463040" cy="137160"/>
          </a:xfrm>
          <a:prstGeom prst="line">
            <a:avLst/>
          </a:prstGeom>
          <a:noFill/>
          <a:ln w="19050">
            <a:solidFill>
              <a:srgbClr val="D97757"/>
            </a:solidFill>
            <a:prstDash val="solid"/>
          </a:ln>
        </p:spPr>
        <p:txBody>
          <a:bodyPr/>
          <a:lstStyle/>
          <a:p>
            <a:endParaRPr lang="en-IN"/>
          </a:p>
        </p:txBody>
      </p:sp>
      <p:sp>
        <p:nvSpPr>
          <p:cNvPr id="17" name="Shape 14"/>
          <p:cNvSpPr/>
          <p:nvPr/>
        </p:nvSpPr>
        <p:spPr>
          <a:xfrm>
            <a:off x="4572000" y="4645152"/>
            <a:ext cx="2743200" cy="841248"/>
          </a:xfrm>
          <a:prstGeom prst="roundRect">
            <a:avLst>
              <a:gd name="adj" fmla="val 8696"/>
            </a:avLst>
          </a:prstGeom>
          <a:solidFill>
            <a:srgbClr val="FFFFFF"/>
          </a:solidFill>
          <a:ln w="15875">
            <a:solidFill>
              <a:srgbClr val="D97757"/>
            </a:solidFill>
            <a:prstDash val="solid"/>
          </a:ln>
        </p:spPr>
        <p:txBody>
          <a:bodyPr/>
          <a:lstStyle/>
          <a:p>
            <a:endParaRPr lang="en-IN"/>
          </a:p>
        </p:txBody>
      </p:sp>
      <p:sp>
        <p:nvSpPr>
          <p:cNvPr id="18" name="Text 15"/>
          <p:cNvSpPr/>
          <p:nvPr/>
        </p:nvSpPr>
        <p:spPr>
          <a:xfrm>
            <a:off x="4754880" y="4754880"/>
            <a:ext cx="2377440" cy="292608"/>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Worker C</a:t>
            </a:r>
            <a:endParaRPr lang="en-US" sz="1400" dirty="0"/>
          </a:p>
        </p:txBody>
      </p:sp>
      <p:sp>
        <p:nvSpPr>
          <p:cNvPr id="19" name="Text 16"/>
          <p:cNvSpPr/>
          <p:nvPr/>
        </p:nvSpPr>
        <p:spPr>
          <a:xfrm>
            <a:off x="4754880" y="5065776"/>
            <a:ext cx="2377440" cy="320040"/>
          </a:xfrm>
          <a:prstGeom prst="rect">
            <a:avLst/>
          </a:prstGeom>
          <a:noFill/>
          <a:ln/>
        </p:spPr>
        <p:txBody>
          <a:bodyPr wrap="square" lIns="0" tIns="0" rIns="0" bIns="0" rtlCol="0" anchor="ctr"/>
          <a:lstStyle/>
          <a:p>
            <a:pPr marL="0" indent="0">
              <a:buNone/>
            </a:pPr>
            <a:r>
              <a:rPr lang="en-US" sz="1100" dirty="0">
                <a:solidFill>
                  <a:srgbClr val="8C8579"/>
                </a:solidFill>
                <a:latin typeface="Calibri" pitchFamily="34" charset="0"/>
                <a:ea typeface="Calibri" pitchFamily="34" charset="-122"/>
                <a:cs typeface="Calibri" pitchFamily="34" charset="-120"/>
              </a:rPr>
              <a:t>Own context · one subtask</a:t>
            </a:r>
            <a:endParaRPr lang="en-US" sz="1100" dirty="0"/>
          </a:p>
        </p:txBody>
      </p:sp>
      <p:sp>
        <p:nvSpPr>
          <p:cNvPr id="20" name="Shape 17"/>
          <p:cNvSpPr/>
          <p:nvPr/>
        </p:nvSpPr>
        <p:spPr>
          <a:xfrm>
            <a:off x="3108960" y="3886200"/>
            <a:ext cx="1463040" cy="1179576"/>
          </a:xfrm>
          <a:prstGeom prst="line">
            <a:avLst/>
          </a:prstGeom>
          <a:noFill/>
          <a:ln w="19050">
            <a:solidFill>
              <a:srgbClr val="D97757"/>
            </a:solidFill>
            <a:prstDash val="solid"/>
          </a:ln>
        </p:spPr>
        <p:txBody>
          <a:bodyPr/>
          <a:lstStyle/>
          <a:p>
            <a:endParaRPr lang="en-IN"/>
          </a:p>
        </p:txBody>
      </p:sp>
      <p:sp>
        <p:nvSpPr>
          <p:cNvPr id="21" name="Shape 18"/>
          <p:cNvSpPr/>
          <p:nvPr/>
        </p:nvSpPr>
        <p:spPr>
          <a:xfrm>
            <a:off x="8778240" y="3200400"/>
            <a:ext cx="2788920" cy="1371600"/>
          </a:xfrm>
          <a:prstGeom prst="roundRect">
            <a:avLst>
              <a:gd name="adj" fmla="val 6667"/>
            </a:avLst>
          </a:prstGeom>
          <a:solidFill>
            <a:srgbClr val="D97757"/>
          </a:solidFill>
          <a:ln/>
          <a:effectLst>
            <a:outerShdw blurRad="114300" dist="38100" dir="5400000" algn="bl" rotWithShape="0">
              <a:srgbClr val="8C8579">
                <a:alpha val="22000"/>
              </a:srgbClr>
            </a:outerShdw>
          </a:effectLst>
        </p:spPr>
        <p:txBody>
          <a:bodyPr/>
          <a:lstStyle/>
          <a:p>
            <a:endParaRPr lang="en-IN"/>
          </a:p>
        </p:txBody>
      </p:sp>
      <p:sp>
        <p:nvSpPr>
          <p:cNvPr id="22" name="Text 19"/>
          <p:cNvSpPr/>
          <p:nvPr/>
        </p:nvSpPr>
        <p:spPr>
          <a:xfrm>
            <a:off x="8778240" y="3310128"/>
            <a:ext cx="2788920" cy="320040"/>
          </a:xfrm>
          <a:prstGeom prst="rect">
            <a:avLst/>
          </a:prstGeom>
          <a:noFill/>
          <a:ln/>
        </p:spPr>
        <p:txBody>
          <a:bodyPr wrap="square" lIns="0" tIns="0" rIns="0" bIns="0" rtlCol="0" anchor="ctr"/>
          <a:lstStyle/>
          <a:p>
            <a:pPr marL="0" indent="0" algn="ctr">
              <a:buNone/>
            </a:pPr>
            <a:r>
              <a:rPr lang="en-US" sz="1150" b="1" kern="0" spc="150" dirty="0">
                <a:solidFill>
                  <a:srgbClr val="FFFFFF"/>
                </a:solidFill>
                <a:latin typeface="Calibri" pitchFamily="34" charset="0"/>
                <a:ea typeface="Calibri" pitchFamily="34" charset="-122"/>
                <a:cs typeface="Calibri" pitchFamily="34" charset="-120"/>
              </a:rPr>
              <a:t>SYNTHESIS</a:t>
            </a:r>
            <a:endParaRPr lang="en-US" sz="1150" dirty="0"/>
          </a:p>
        </p:txBody>
      </p:sp>
      <p:sp>
        <p:nvSpPr>
          <p:cNvPr id="23" name="Text 20"/>
          <p:cNvSpPr/>
          <p:nvPr/>
        </p:nvSpPr>
        <p:spPr>
          <a:xfrm>
            <a:off x="8778240" y="3611880"/>
            <a:ext cx="2788920" cy="822960"/>
          </a:xfrm>
          <a:prstGeom prst="rect">
            <a:avLst/>
          </a:prstGeom>
          <a:noFill/>
          <a:ln/>
        </p:spPr>
        <p:txBody>
          <a:bodyPr wrap="square" lIns="0" tIns="0" rIns="0" bIns="0" rtlCol="0" anchor="t"/>
          <a:lstStyle/>
          <a:p>
            <a:pPr marL="0" indent="0" algn="ctr">
              <a:lnSpc>
                <a:spcPts val="1600"/>
              </a:lnSpc>
              <a:buNone/>
            </a:pPr>
            <a:r>
              <a:rPr lang="en-US" sz="1300" dirty="0">
                <a:solidFill>
                  <a:srgbClr val="FFF3EC"/>
                </a:solidFill>
                <a:latin typeface="Calibri" pitchFamily="34" charset="0"/>
                <a:ea typeface="Calibri" pitchFamily="34" charset="-122"/>
                <a:cs typeface="Calibri" pitchFamily="34" charset="-120"/>
              </a:rPr>
              <a:t>Merge results into</a:t>
            </a:r>
            <a:endParaRPr lang="en-US" sz="1300" dirty="0"/>
          </a:p>
          <a:p>
            <a:pPr marL="0" indent="0" algn="ctr">
              <a:lnSpc>
                <a:spcPts val="1600"/>
              </a:lnSpc>
              <a:buNone/>
            </a:pPr>
            <a:r>
              <a:rPr lang="en-US" sz="1300" dirty="0">
                <a:solidFill>
                  <a:srgbClr val="FFF3EC"/>
                </a:solidFill>
                <a:latin typeface="Calibri" pitchFamily="34" charset="0"/>
                <a:ea typeface="Calibri" pitchFamily="34" charset="-122"/>
                <a:cs typeface="Calibri" pitchFamily="34" charset="-120"/>
              </a:rPr>
              <a:t>one coherent answer</a:t>
            </a:r>
            <a:endParaRPr lang="en-US" sz="1300" dirty="0"/>
          </a:p>
        </p:txBody>
      </p:sp>
      <p:sp>
        <p:nvSpPr>
          <p:cNvPr id="24" name="Shape 21"/>
          <p:cNvSpPr/>
          <p:nvPr/>
        </p:nvSpPr>
        <p:spPr>
          <a:xfrm>
            <a:off x="7315200" y="2980944"/>
            <a:ext cx="1463040" cy="905256"/>
          </a:xfrm>
          <a:prstGeom prst="line">
            <a:avLst/>
          </a:prstGeom>
          <a:noFill/>
          <a:ln w="19050">
            <a:solidFill>
              <a:srgbClr val="D97757"/>
            </a:solidFill>
            <a:prstDash val="solid"/>
          </a:ln>
        </p:spPr>
        <p:txBody>
          <a:bodyPr/>
          <a:lstStyle/>
          <a:p>
            <a:endParaRPr lang="en-IN"/>
          </a:p>
        </p:txBody>
      </p:sp>
      <p:sp>
        <p:nvSpPr>
          <p:cNvPr id="25" name="Shape 22"/>
          <p:cNvSpPr/>
          <p:nvPr/>
        </p:nvSpPr>
        <p:spPr>
          <a:xfrm flipV="1">
            <a:off x="7315200" y="3886200"/>
            <a:ext cx="1463040" cy="137160"/>
          </a:xfrm>
          <a:prstGeom prst="line">
            <a:avLst/>
          </a:prstGeom>
          <a:noFill/>
          <a:ln w="19050">
            <a:solidFill>
              <a:srgbClr val="D97757"/>
            </a:solidFill>
            <a:prstDash val="solid"/>
          </a:ln>
        </p:spPr>
        <p:txBody>
          <a:bodyPr/>
          <a:lstStyle/>
          <a:p>
            <a:endParaRPr lang="en-IN"/>
          </a:p>
        </p:txBody>
      </p:sp>
      <p:sp>
        <p:nvSpPr>
          <p:cNvPr id="26" name="Shape 23"/>
          <p:cNvSpPr/>
          <p:nvPr/>
        </p:nvSpPr>
        <p:spPr>
          <a:xfrm flipV="1">
            <a:off x="7315200" y="3886200"/>
            <a:ext cx="1463040" cy="1179576"/>
          </a:xfrm>
          <a:prstGeom prst="line">
            <a:avLst/>
          </a:prstGeom>
          <a:noFill/>
          <a:ln w="19050">
            <a:solidFill>
              <a:srgbClr val="D97757"/>
            </a:solidFill>
            <a:prstDash val="solid"/>
          </a:ln>
        </p:spPr>
        <p:txBody>
          <a:bodyPr/>
          <a:lstStyle/>
          <a:p>
            <a:endParaRPr lang="en-IN"/>
          </a:p>
        </p:txBody>
      </p:sp>
      <p:sp>
        <p:nvSpPr>
          <p:cNvPr id="27" name="Text 24"/>
          <p:cNvSpPr/>
          <p:nvPr/>
        </p:nvSpPr>
        <p:spPr>
          <a:xfrm>
            <a:off x="640080" y="5897880"/>
            <a:ext cx="10972800" cy="457200"/>
          </a:xfrm>
          <a:prstGeom prst="rect">
            <a:avLst/>
          </a:prstGeom>
          <a:noFill/>
          <a:ln/>
        </p:spPr>
        <p:txBody>
          <a:bodyPr wrap="square" lIns="0" tIns="0" rIns="0" bIns="0" rtlCol="0" anchor="ctr"/>
          <a:lstStyle/>
          <a:p>
            <a:pPr marL="0" indent="0">
              <a:lnSpc>
                <a:spcPts val="1600"/>
              </a:lnSpc>
              <a:buNone/>
            </a:pPr>
            <a:r>
              <a:rPr lang="en-US" sz="1300" b="1" dirty="0">
                <a:solidFill>
                  <a:srgbClr val="BF5E3C"/>
                </a:solidFill>
                <a:latin typeface="Calibri" pitchFamily="34" charset="0"/>
                <a:ea typeface="Calibri" pitchFamily="34" charset="-122"/>
                <a:cs typeface="Calibri" pitchFamily="34" charset="-120"/>
              </a:rPr>
              <a:t>Watch the cost:  </a:t>
            </a:r>
            <a:r>
              <a:rPr lang="en-US" sz="1300" dirty="0">
                <a:solidFill>
                  <a:srgbClr val="1F1E1D"/>
                </a:solidFill>
                <a:latin typeface="Calibri" pitchFamily="34" charset="0"/>
                <a:ea typeface="Calibri" pitchFamily="34" charset="-122"/>
                <a:cs typeface="Calibri" pitchFamily="34" charset="-120"/>
              </a:rPr>
              <a:t>every worker carries its own context copy. Scope subtasks tightly and cap worker count so the 15× multiplier stays justified.</a:t>
            </a:r>
            <a:endParaRPr lang="en-US" sz="1300" dirty="0"/>
          </a:p>
        </p:txBody>
      </p:sp>
      <p:sp>
        <p:nvSpPr>
          <p:cNvPr id="28" name="Text 25"/>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9" name="Text 26"/>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COST LEVER 1</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Model-tier selection: Haiku, Sonnet, Opus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384048"/>
          </a:xfrm>
          <a:prstGeom prst="rect">
            <a:avLst/>
          </a:prstGeom>
          <a:noFill/>
          <a:ln/>
        </p:spPr>
        <p:txBody>
          <a:bodyPr wrap="square" lIns="0" tIns="0" rIns="0" bIns="0" rtlCol="0" anchor="ctr"/>
          <a:lstStyle/>
          <a:p>
            <a:pPr marL="0" indent="0">
              <a:buNone/>
            </a:pPr>
            <a:r>
              <a:rPr lang="en-US" sz="1450" dirty="0">
                <a:solidFill>
                  <a:srgbClr val="3D3A35"/>
                </a:solidFill>
                <a:latin typeface="Calibri" pitchFamily="34" charset="0"/>
                <a:ea typeface="Calibri" pitchFamily="34" charset="-122"/>
                <a:cs typeface="Calibri" pitchFamily="34" charset="-120"/>
              </a:rPr>
              <a:t>Right-size the model to the job. Most agent steps don't need the top tier — route by difficulty.</a:t>
            </a:r>
            <a:endParaRPr lang="en-US" sz="1450" dirty="0"/>
          </a:p>
        </p:txBody>
      </p:sp>
      <p:sp>
        <p:nvSpPr>
          <p:cNvPr id="6" name="Shape 3"/>
          <p:cNvSpPr/>
          <p:nvPr/>
        </p:nvSpPr>
        <p:spPr>
          <a:xfrm>
            <a:off x="548640" y="2240280"/>
            <a:ext cx="3611880" cy="3246120"/>
          </a:xfrm>
          <a:prstGeom prst="roundRect">
            <a:avLst>
              <a:gd name="adj" fmla="val 2817"/>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Shape 4"/>
          <p:cNvSpPr/>
          <p:nvPr/>
        </p:nvSpPr>
        <p:spPr>
          <a:xfrm>
            <a:off x="548640" y="2240280"/>
            <a:ext cx="3611880" cy="777240"/>
          </a:xfrm>
          <a:prstGeom prst="rect">
            <a:avLst/>
          </a:prstGeom>
          <a:solidFill>
            <a:srgbClr val="7E8A6E"/>
          </a:solidFill>
          <a:ln/>
        </p:spPr>
        <p:txBody>
          <a:bodyPr/>
          <a:lstStyle/>
          <a:p>
            <a:endParaRPr lang="en-IN"/>
          </a:p>
        </p:txBody>
      </p:sp>
      <p:sp>
        <p:nvSpPr>
          <p:cNvPr id="8" name="Text 5"/>
          <p:cNvSpPr/>
          <p:nvPr/>
        </p:nvSpPr>
        <p:spPr>
          <a:xfrm>
            <a:off x="822960" y="2331720"/>
            <a:ext cx="306324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Haiku 4.5</a:t>
            </a:r>
            <a:endParaRPr lang="en-US" sz="1900" dirty="0"/>
          </a:p>
        </p:txBody>
      </p:sp>
      <p:sp>
        <p:nvSpPr>
          <p:cNvPr id="9" name="Text 6"/>
          <p:cNvSpPr/>
          <p:nvPr/>
        </p:nvSpPr>
        <p:spPr>
          <a:xfrm>
            <a:off x="822960" y="2697480"/>
            <a:ext cx="3063240" cy="274320"/>
          </a:xfrm>
          <a:prstGeom prst="rect">
            <a:avLst/>
          </a:prstGeom>
          <a:noFill/>
          <a:ln/>
        </p:spPr>
        <p:txBody>
          <a:bodyPr wrap="square" lIns="0" tIns="0" rIns="0" bIns="0" rtlCol="0" anchor="ctr"/>
          <a:lstStyle/>
          <a:p>
            <a:pPr marL="0" indent="0">
              <a:buNone/>
            </a:pPr>
            <a:r>
              <a:rPr lang="en-US" sz="1050" b="1" kern="0" spc="150" dirty="0">
                <a:solidFill>
                  <a:srgbClr val="FBF1EA"/>
                </a:solidFill>
                <a:latin typeface="Calibri" pitchFamily="34" charset="0"/>
                <a:ea typeface="Calibri" pitchFamily="34" charset="-122"/>
                <a:cs typeface="Calibri" pitchFamily="34" charset="-120"/>
              </a:rPr>
              <a:t>SPEED &amp; VOLUME</a:t>
            </a:r>
            <a:endParaRPr lang="en-US" sz="1050" dirty="0"/>
          </a:p>
        </p:txBody>
      </p:sp>
      <p:sp>
        <p:nvSpPr>
          <p:cNvPr id="10" name="Text 7"/>
          <p:cNvSpPr/>
          <p:nvPr/>
        </p:nvSpPr>
        <p:spPr>
          <a:xfrm>
            <a:off x="822960" y="3154680"/>
            <a:ext cx="3063240" cy="548640"/>
          </a:xfrm>
          <a:prstGeom prst="rect">
            <a:avLst/>
          </a:prstGeom>
          <a:noFill/>
          <a:ln/>
        </p:spPr>
        <p:txBody>
          <a:bodyPr wrap="square" lIns="0" tIns="0" rIns="0" bIns="0" rtlCol="0" anchor="ctr"/>
          <a:lstStyle/>
          <a:p>
            <a:pPr marL="0" indent="0">
              <a:buNone/>
            </a:pPr>
            <a:r>
              <a:rPr lang="en-US" sz="2700" b="1" dirty="0">
                <a:solidFill>
                  <a:srgbClr val="1F1E1D"/>
                </a:solidFill>
                <a:latin typeface="Georgia" pitchFamily="34" charset="0"/>
                <a:ea typeface="Georgia" pitchFamily="34" charset="-122"/>
                <a:cs typeface="Georgia" pitchFamily="34" charset="-120"/>
              </a:rPr>
              <a:t>$1  /  $5</a:t>
            </a:r>
            <a:endParaRPr lang="en-US" sz="2700" dirty="0"/>
          </a:p>
        </p:txBody>
      </p:sp>
      <p:sp>
        <p:nvSpPr>
          <p:cNvPr id="11" name="Text 8"/>
          <p:cNvSpPr/>
          <p:nvPr/>
        </p:nvSpPr>
        <p:spPr>
          <a:xfrm>
            <a:off x="822960" y="3685032"/>
            <a:ext cx="3063240" cy="274320"/>
          </a:xfrm>
          <a:prstGeom prst="rect">
            <a:avLst/>
          </a:prstGeom>
          <a:noFill/>
          <a:ln/>
        </p:spPr>
        <p:txBody>
          <a:bodyPr wrap="square" lIns="0" tIns="0" rIns="0" bIns="0" rtlCol="0" anchor="ctr"/>
          <a:lstStyle/>
          <a:p>
            <a:pPr marL="0" indent="0">
              <a:buNone/>
            </a:pPr>
            <a:r>
              <a:rPr lang="en-US" sz="1050" dirty="0">
                <a:solidFill>
                  <a:srgbClr val="8C8579"/>
                </a:solidFill>
                <a:latin typeface="Calibri" pitchFamily="34" charset="0"/>
                <a:ea typeface="Calibri" pitchFamily="34" charset="-122"/>
                <a:cs typeface="Calibri" pitchFamily="34" charset="-120"/>
              </a:rPr>
              <a:t>per 1M input / output tokens</a:t>
            </a:r>
            <a:endParaRPr lang="en-US" sz="1050" dirty="0"/>
          </a:p>
        </p:txBody>
      </p:sp>
      <p:sp>
        <p:nvSpPr>
          <p:cNvPr id="12" name="Shape 9"/>
          <p:cNvSpPr/>
          <p:nvPr/>
        </p:nvSpPr>
        <p:spPr>
          <a:xfrm>
            <a:off x="822960" y="4050792"/>
            <a:ext cx="3063240" cy="0"/>
          </a:xfrm>
          <a:prstGeom prst="line">
            <a:avLst/>
          </a:prstGeom>
          <a:noFill/>
          <a:ln w="12700">
            <a:solidFill>
              <a:srgbClr val="ECE6DB"/>
            </a:solidFill>
            <a:prstDash val="solid"/>
          </a:ln>
        </p:spPr>
        <p:txBody>
          <a:bodyPr/>
          <a:lstStyle/>
          <a:p>
            <a:endParaRPr lang="en-IN"/>
          </a:p>
        </p:txBody>
      </p:sp>
      <p:sp>
        <p:nvSpPr>
          <p:cNvPr id="13" name="Text 10"/>
          <p:cNvSpPr/>
          <p:nvPr/>
        </p:nvSpPr>
        <p:spPr>
          <a:xfrm>
            <a:off x="822960" y="4123944"/>
            <a:ext cx="3063240" cy="292608"/>
          </a:xfrm>
          <a:prstGeom prst="rect">
            <a:avLst/>
          </a:prstGeom>
          <a:noFill/>
          <a:ln/>
        </p:spPr>
        <p:txBody>
          <a:bodyPr wrap="square" lIns="0" tIns="0" rIns="0" bIns="0" rtlCol="0" anchor="ctr"/>
          <a:lstStyle/>
          <a:p>
            <a:pPr marL="0" indent="0">
              <a:buNone/>
            </a:pPr>
            <a:r>
              <a:rPr lang="en-US" sz="1200" b="1" dirty="0">
                <a:solidFill>
                  <a:srgbClr val="BF5E3C"/>
                </a:solidFill>
                <a:latin typeface="Calibri" pitchFamily="34" charset="0"/>
                <a:ea typeface="Calibri" pitchFamily="34" charset="-122"/>
                <a:cs typeface="Calibri" pitchFamily="34" charset="-120"/>
              </a:rPr>
              <a:t>$0.10</a:t>
            </a:r>
            <a:r>
              <a:rPr lang="en-US" sz="1200" dirty="0">
                <a:solidFill>
                  <a:srgbClr val="3D3A35"/>
                </a:solidFill>
                <a:latin typeface="Calibri" pitchFamily="34" charset="0"/>
                <a:ea typeface="Calibri" pitchFamily="34" charset="-122"/>
                <a:cs typeface="Calibri" pitchFamily="34" charset="-120"/>
              </a:rPr>
              <a:t> / 1M  cache-hit input</a:t>
            </a:r>
            <a:endParaRPr lang="en-US" sz="1200" dirty="0"/>
          </a:p>
        </p:txBody>
      </p:sp>
      <p:sp>
        <p:nvSpPr>
          <p:cNvPr id="14" name="Text 11"/>
          <p:cNvSpPr/>
          <p:nvPr/>
        </p:nvSpPr>
        <p:spPr>
          <a:xfrm>
            <a:off x="822960" y="4507992"/>
            <a:ext cx="3063240" cy="868680"/>
          </a:xfrm>
          <a:prstGeom prst="rect">
            <a:avLst/>
          </a:prstGeom>
          <a:noFill/>
          <a:ln/>
        </p:spPr>
        <p:txBody>
          <a:bodyPr wrap="square" lIns="0" tIns="0" rIns="0" bIns="0" rtlCol="0" anchor="t"/>
          <a:lstStyle/>
          <a:p>
            <a:pPr marL="0" indent="0">
              <a:lnSpc>
                <a:spcPts val="1550"/>
              </a:lnSpc>
              <a:buNone/>
            </a:pPr>
            <a:r>
              <a:rPr lang="en-US" sz="1200" dirty="0">
                <a:solidFill>
                  <a:srgbClr val="1F1E1D"/>
                </a:solidFill>
                <a:latin typeface="Calibri" pitchFamily="34" charset="0"/>
                <a:ea typeface="Calibri" pitchFamily="34" charset="-122"/>
                <a:cs typeface="Calibri" pitchFamily="34" charset="-120"/>
              </a:rPr>
              <a:t>High-volume classification, routing, extraction, simple tool calls</a:t>
            </a:r>
            <a:endParaRPr lang="en-US" sz="1200" dirty="0"/>
          </a:p>
        </p:txBody>
      </p:sp>
      <p:sp>
        <p:nvSpPr>
          <p:cNvPr id="15" name="Shape 12"/>
          <p:cNvSpPr/>
          <p:nvPr/>
        </p:nvSpPr>
        <p:spPr>
          <a:xfrm>
            <a:off x="4434840" y="2240280"/>
            <a:ext cx="3611880" cy="3246120"/>
          </a:xfrm>
          <a:prstGeom prst="roundRect">
            <a:avLst>
              <a:gd name="adj" fmla="val 2817"/>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6" name="Shape 13"/>
          <p:cNvSpPr/>
          <p:nvPr/>
        </p:nvSpPr>
        <p:spPr>
          <a:xfrm>
            <a:off x="4434840" y="2240280"/>
            <a:ext cx="3611880" cy="777240"/>
          </a:xfrm>
          <a:prstGeom prst="rect">
            <a:avLst/>
          </a:prstGeom>
          <a:solidFill>
            <a:srgbClr val="D97757"/>
          </a:solidFill>
          <a:ln/>
        </p:spPr>
        <p:txBody>
          <a:bodyPr/>
          <a:lstStyle/>
          <a:p>
            <a:endParaRPr lang="en-IN"/>
          </a:p>
        </p:txBody>
      </p:sp>
      <p:sp>
        <p:nvSpPr>
          <p:cNvPr id="17" name="Text 14"/>
          <p:cNvSpPr/>
          <p:nvPr/>
        </p:nvSpPr>
        <p:spPr>
          <a:xfrm>
            <a:off x="4709160" y="2331720"/>
            <a:ext cx="306324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Sonnet 4.6</a:t>
            </a:r>
            <a:endParaRPr lang="en-US" sz="1900" dirty="0"/>
          </a:p>
        </p:txBody>
      </p:sp>
      <p:sp>
        <p:nvSpPr>
          <p:cNvPr id="18" name="Text 15"/>
          <p:cNvSpPr/>
          <p:nvPr/>
        </p:nvSpPr>
        <p:spPr>
          <a:xfrm>
            <a:off x="4709160" y="2697480"/>
            <a:ext cx="3063240" cy="274320"/>
          </a:xfrm>
          <a:prstGeom prst="rect">
            <a:avLst/>
          </a:prstGeom>
          <a:noFill/>
          <a:ln/>
        </p:spPr>
        <p:txBody>
          <a:bodyPr wrap="square" lIns="0" tIns="0" rIns="0" bIns="0" rtlCol="0" anchor="ctr"/>
          <a:lstStyle/>
          <a:p>
            <a:pPr marL="0" indent="0">
              <a:buNone/>
            </a:pPr>
            <a:r>
              <a:rPr lang="en-US" sz="1050" b="1" kern="0" spc="150" dirty="0">
                <a:solidFill>
                  <a:srgbClr val="FBF1EA"/>
                </a:solidFill>
                <a:latin typeface="Calibri" pitchFamily="34" charset="0"/>
                <a:ea typeface="Calibri" pitchFamily="34" charset="-122"/>
                <a:cs typeface="Calibri" pitchFamily="34" charset="-120"/>
              </a:rPr>
              <a:t>THE WORKHORSE</a:t>
            </a:r>
            <a:endParaRPr lang="en-US" sz="1050" dirty="0"/>
          </a:p>
        </p:txBody>
      </p:sp>
      <p:sp>
        <p:nvSpPr>
          <p:cNvPr id="19" name="Text 16"/>
          <p:cNvSpPr/>
          <p:nvPr/>
        </p:nvSpPr>
        <p:spPr>
          <a:xfrm>
            <a:off x="4709160" y="3154680"/>
            <a:ext cx="3063240" cy="548640"/>
          </a:xfrm>
          <a:prstGeom prst="rect">
            <a:avLst/>
          </a:prstGeom>
          <a:noFill/>
          <a:ln/>
        </p:spPr>
        <p:txBody>
          <a:bodyPr wrap="square" lIns="0" tIns="0" rIns="0" bIns="0" rtlCol="0" anchor="ctr"/>
          <a:lstStyle/>
          <a:p>
            <a:pPr marL="0" indent="0">
              <a:buNone/>
            </a:pPr>
            <a:r>
              <a:rPr lang="en-US" sz="2700" b="1" dirty="0">
                <a:solidFill>
                  <a:srgbClr val="1F1E1D"/>
                </a:solidFill>
                <a:latin typeface="Georgia" pitchFamily="34" charset="0"/>
                <a:ea typeface="Georgia" pitchFamily="34" charset="-122"/>
                <a:cs typeface="Georgia" pitchFamily="34" charset="-120"/>
              </a:rPr>
              <a:t>$3  /  $15</a:t>
            </a:r>
            <a:endParaRPr lang="en-US" sz="2700" dirty="0"/>
          </a:p>
        </p:txBody>
      </p:sp>
      <p:sp>
        <p:nvSpPr>
          <p:cNvPr id="20" name="Text 17"/>
          <p:cNvSpPr/>
          <p:nvPr/>
        </p:nvSpPr>
        <p:spPr>
          <a:xfrm>
            <a:off x="4709160" y="3685032"/>
            <a:ext cx="3063240" cy="274320"/>
          </a:xfrm>
          <a:prstGeom prst="rect">
            <a:avLst/>
          </a:prstGeom>
          <a:noFill/>
          <a:ln/>
        </p:spPr>
        <p:txBody>
          <a:bodyPr wrap="square" lIns="0" tIns="0" rIns="0" bIns="0" rtlCol="0" anchor="ctr"/>
          <a:lstStyle/>
          <a:p>
            <a:pPr marL="0" indent="0">
              <a:buNone/>
            </a:pPr>
            <a:r>
              <a:rPr lang="en-US" sz="1050" dirty="0">
                <a:solidFill>
                  <a:srgbClr val="8C8579"/>
                </a:solidFill>
                <a:latin typeface="Calibri" pitchFamily="34" charset="0"/>
                <a:ea typeface="Calibri" pitchFamily="34" charset="-122"/>
                <a:cs typeface="Calibri" pitchFamily="34" charset="-120"/>
              </a:rPr>
              <a:t>per 1M input / output tokens</a:t>
            </a:r>
            <a:endParaRPr lang="en-US" sz="1050" dirty="0"/>
          </a:p>
        </p:txBody>
      </p:sp>
      <p:sp>
        <p:nvSpPr>
          <p:cNvPr id="21" name="Shape 18"/>
          <p:cNvSpPr/>
          <p:nvPr/>
        </p:nvSpPr>
        <p:spPr>
          <a:xfrm>
            <a:off x="4709160" y="4050792"/>
            <a:ext cx="3063240" cy="0"/>
          </a:xfrm>
          <a:prstGeom prst="line">
            <a:avLst/>
          </a:prstGeom>
          <a:noFill/>
          <a:ln w="12700">
            <a:solidFill>
              <a:srgbClr val="ECE6DB"/>
            </a:solidFill>
            <a:prstDash val="solid"/>
          </a:ln>
        </p:spPr>
        <p:txBody>
          <a:bodyPr/>
          <a:lstStyle/>
          <a:p>
            <a:endParaRPr lang="en-IN"/>
          </a:p>
        </p:txBody>
      </p:sp>
      <p:sp>
        <p:nvSpPr>
          <p:cNvPr id="22" name="Text 19"/>
          <p:cNvSpPr/>
          <p:nvPr/>
        </p:nvSpPr>
        <p:spPr>
          <a:xfrm>
            <a:off x="4709160" y="4123944"/>
            <a:ext cx="3063240" cy="292608"/>
          </a:xfrm>
          <a:prstGeom prst="rect">
            <a:avLst/>
          </a:prstGeom>
          <a:noFill/>
          <a:ln/>
        </p:spPr>
        <p:txBody>
          <a:bodyPr wrap="square" lIns="0" tIns="0" rIns="0" bIns="0" rtlCol="0" anchor="ctr"/>
          <a:lstStyle/>
          <a:p>
            <a:pPr marL="0" indent="0">
              <a:buNone/>
            </a:pPr>
            <a:r>
              <a:rPr lang="en-US" sz="1200" b="1" dirty="0">
                <a:solidFill>
                  <a:srgbClr val="BF5E3C"/>
                </a:solidFill>
                <a:latin typeface="Calibri" pitchFamily="34" charset="0"/>
                <a:ea typeface="Calibri" pitchFamily="34" charset="-122"/>
                <a:cs typeface="Calibri" pitchFamily="34" charset="-120"/>
              </a:rPr>
              <a:t>$0.30</a:t>
            </a:r>
            <a:r>
              <a:rPr lang="en-US" sz="1200" dirty="0">
                <a:solidFill>
                  <a:srgbClr val="3D3A35"/>
                </a:solidFill>
                <a:latin typeface="Calibri" pitchFamily="34" charset="0"/>
                <a:ea typeface="Calibri" pitchFamily="34" charset="-122"/>
                <a:cs typeface="Calibri" pitchFamily="34" charset="-120"/>
              </a:rPr>
              <a:t> / 1M  cache-hit input</a:t>
            </a:r>
            <a:endParaRPr lang="en-US" sz="1200" dirty="0"/>
          </a:p>
        </p:txBody>
      </p:sp>
      <p:sp>
        <p:nvSpPr>
          <p:cNvPr id="23" name="Text 20"/>
          <p:cNvSpPr/>
          <p:nvPr/>
        </p:nvSpPr>
        <p:spPr>
          <a:xfrm>
            <a:off x="4709160" y="4507992"/>
            <a:ext cx="3063240" cy="868680"/>
          </a:xfrm>
          <a:prstGeom prst="rect">
            <a:avLst/>
          </a:prstGeom>
          <a:noFill/>
          <a:ln/>
        </p:spPr>
        <p:txBody>
          <a:bodyPr wrap="square" lIns="0" tIns="0" rIns="0" bIns="0" rtlCol="0" anchor="t"/>
          <a:lstStyle/>
          <a:p>
            <a:pPr marL="0" indent="0">
              <a:lnSpc>
                <a:spcPts val="1550"/>
              </a:lnSpc>
              <a:buNone/>
            </a:pPr>
            <a:r>
              <a:rPr lang="en-US" sz="1200" dirty="0">
                <a:solidFill>
                  <a:srgbClr val="1F1E1D"/>
                </a:solidFill>
                <a:latin typeface="Calibri" pitchFamily="34" charset="0"/>
                <a:ea typeface="Calibri" pitchFamily="34" charset="-122"/>
                <a:cs typeface="Calibri" pitchFamily="34" charset="-120"/>
              </a:rPr>
              <a:t>~80% of production: coding, orchestration, everyday agent loops</a:t>
            </a:r>
            <a:endParaRPr lang="en-US" sz="1200" dirty="0"/>
          </a:p>
        </p:txBody>
      </p:sp>
      <p:sp>
        <p:nvSpPr>
          <p:cNvPr id="24" name="Shape 21"/>
          <p:cNvSpPr/>
          <p:nvPr/>
        </p:nvSpPr>
        <p:spPr>
          <a:xfrm>
            <a:off x="8321040" y="2240280"/>
            <a:ext cx="3611880" cy="3246120"/>
          </a:xfrm>
          <a:prstGeom prst="roundRect">
            <a:avLst>
              <a:gd name="adj" fmla="val 2817"/>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5" name="Shape 22"/>
          <p:cNvSpPr/>
          <p:nvPr/>
        </p:nvSpPr>
        <p:spPr>
          <a:xfrm>
            <a:off x="8321040" y="2240280"/>
            <a:ext cx="3611880" cy="777240"/>
          </a:xfrm>
          <a:prstGeom prst="rect">
            <a:avLst/>
          </a:prstGeom>
          <a:solidFill>
            <a:srgbClr val="262624"/>
          </a:solidFill>
          <a:ln/>
        </p:spPr>
        <p:txBody>
          <a:bodyPr/>
          <a:lstStyle/>
          <a:p>
            <a:endParaRPr lang="en-IN"/>
          </a:p>
        </p:txBody>
      </p:sp>
      <p:sp>
        <p:nvSpPr>
          <p:cNvPr id="26" name="Text 23"/>
          <p:cNvSpPr/>
          <p:nvPr/>
        </p:nvSpPr>
        <p:spPr>
          <a:xfrm>
            <a:off x="8595360" y="2331720"/>
            <a:ext cx="306324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Opus 4.8</a:t>
            </a:r>
            <a:endParaRPr lang="en-US" sz="1900" dirty="0"/>
          </a:p>
        </p:txBody>
      </p:sp>
      <p:sp>
        <p:nvSpPr>
          <p:cNvPr id="27" name="Text 24"/>
          <p:cNvSpPr/>
          <p:nvPr/>
        </p:nvSpPr>
        <p:spPr>
          <a:xfrm>
            <a:off x="8595360" y="2697480"/>
            <a:ext cx="3063240" cy="274320"/>
          </a:xfrm>
          <a:prstGeom prst="rect">
            <a:avLst/>
          </a:prstGeom>
          <a:noFill/>
          <a:ln/>
        </p:spPr>
        <p:txBody>
          <a:bodyPr wrap="square" lIns="0" tIns="0" rIns="0" bIns="0" rtlCol="0" anchor="ctr"/>
          <a:lstStyle/>
          <a:p>
            <a:pPr marL="0" indent="0">
              <a:buNone/>
            </a:pPr>
            <a:r>
              <a:rPr lang="en-US" sz="1050" b="1" kern="0" spc="150" dirty="0">
                <a:solidFill>
                  <a:srgbClr val="FBF1EA"/>
                </a:solidFill>
                <a:latin typeface="Calibri" pitchFamily="34" charset="0"/>
                <a:ea typeface="Calibri" pitchFamily="34" charset="-122"/>
                <a:cs typeface="Calibri" pitchFamily="34" charset="-120"/>
              </a:rPr>
              <a:t>MAX INTELLIGENCE</a:t>
            </a:r>
            <a:endParaRPr lang="en-US" sz="1050" dirty="0"/>
          </a:p>
        </p:txBody>
      </p:sp>
      <p:sp>
        <p:nvSpPr>
          <p:cNvPr id="28" name="Text 25"/>
          <p:cNvSpPr/>
          <p:nvPr/>
        </p:nvSpPr>
        <p:spPr>
          <a:xfrm>
            <a:off x="8595360" y="3154680"/>
            <a:ext cx="3063240" cy="548640"/>
          </a:xfrm>
          <a:prstGeom prst="rect">
            <a:avLst/>
          </a:prstGeom>
          <a:noFill/>
          <a:ln/>
        </p:spPr>
        <p:txBody>
          <a:bodyPr wrap="square" lIns="0" tIns="0" rIns="0" bIns="0" rtlCol="0" anchor="ctr"/>
          <a:lstStyle/>
          <a:p>
            <a:pPr marL="0" indent="0">
              <a:buNone/>
            </a:pPr>
            <a:r>
              <a:rPr lang="en-US" sz="2700" b="1" dirty="0">
                <a:solidFill>
                  <a:srgbClr val="1F1E1D"/>
                </a:solidFill>
                <a:latin typeface="Georgia" pitchFamily="34" charset="0"/>
                <a:ea typeface="Georgia" pitchFamily="34" charset="-122"/>
                <a:cs typeface="Georgia" pitchFamily="34" charset="-120"/>
              </a:rPr>
              <a:t>$5  /  $25</a:t>
            </a:r>
            <a:endParaRPr lang="en-US" sz="2700" dirty="0"/>
          </a:p>
        </p:txBody>
      </p:sp>
      <p:sp>
        <p:nvSpPr>
          <p:cNvPr id="29" name="Text 26"/>
          <p:cNvSpPr/>
          <p:nvPr/>
        </p:nvSpPr>
        <p:spPr>
          <a:xfrm>
            <a:off x="8595360" y="3685032"/>
            <a:ext cx="3063240" cy="274320"/>
          </a:xfrm>
          <a:prstGeom prst="rect">
            <a:avLst/>
          </a:prstGeom>
          <a:noFill/>
          <a:ln/>
        </p:spPr>
        <p:txBody>
          <a:bodyPr wrap="square" lIns="0" tIns="0" rIns="0" bIns="0" rtlCol="0" anchor="ctr"/>
          <a:lstStyle/>
          <a:p>
            <a:pPr marL="0" indent="0">
              <a:buNone/>
            </a:pPr>
            <a:r>
              <a:rPr lang="en-US" sz="1050" dirty="0">
                <a:solidFill>
                  <a:srgbClr val="8C8579"/>
                </a:solidFill>
                <a:latin typeface="Calibri" pitchFamily="34" charset="0"/>
                <a:ea typeface="Calibri" pitchFamily="34" charset="-122"/>
                <a:cs typeface="Calibri" pitchFamily="34" charset="-120"/>
              </a:rPr>
              <a:t>per 1M input / output tokens</a:t>
            </a:r>
            <a:endParaRPr lang="en-US" sz="1050" dirty="0"/>
          </a:p>
        </p:txBody>
      </p:sp>
      <p:sp>
        <p:nvSpPr>
          <p:cNvPr id="30" name="Shape 27"/>
          <p:cNvSpPr/>
          <p:nvPr/>
        </p:nvSpPr>
        <p:spPr>
          <a:xfrm>
            <a:off x="8595360" y="4050792"/>
            <a:ext cx="3063240" cy="0"/>
          </a:xfrm>
          <a:prstGeom prst="line">
            <a:avLst/>
          </a:prstGeom>
          <a:noFill/>
          <a:ln w="12700">
            <a:solidFill>
              <a:srgbClr val="ECE6DB"/>
            </a:solidFill>
            <a:prstDash val="solid"/>
          </a:ln>
        </p:spPr>
        <p:txBody>
          <a:bodyPr/>
          <a:lstStyle/>
          <a:p>
            <a:endParaRPr lang="en-IN"/>
          </a:p>
        </p:txBody>
      </p:sp>
      <p:sp>
        <p:nvSpPr>
          <p:cNvPr id="31" name="Text 28"/>
          <p:cNvSpPr/>
          <p:nvPr/>
        </p:nvSpPr>
        <p:spPr>
          <a:xfrm>
            <a:off x="8595360" y="4123944"/>
            <a:ext cx="3063240" cy="292608"/>
          </a:xfrm>
          <a:prstGeom prst="rect">
            <a:avLst/>
          </a:prstGeom>
          <a:noFill/>
          <a:ln/>
        </p:spPr>
        <p:txBody>
          <a:bodyPr wrap="square" lIns="0" tIns="0" rIns="0" bIns="0" rtlCol="0" anchor="ctr"/>
          <a:lstStyle/>
          <a:p>
            <a:pPr marL="0" indent="0">
              <a:buNone/>
            </a:pPr>
            <a:r>
              <a:rPr lang="en-US" sz="1200" b="1" dirty="0">
                <a:solidFill>
                  <a:srgbClr val="BF5E3C"/>
                </a:solidFill>
                <a:latin typeface="Calibri" pitchFamily="34" charset="0"/>
                <a:ea typeface="Calibri" pitchFamily="34" charset="-122"/>
                <a:cs typeface="Calibri" pitchFamily="34" charset="-120"/>
              </a:rPr>
              <a:t>$0.50</a:t>
            </a:r>
            <a:r>
              <a:rPr lang="en-US" sz="1200" dirty="0">
                <a:solidFill>
                  <a:srgbClr val="3D3A35"/>
                </a:solidFill>
                <a:latin typeface="Calibri" pitchFamily="34" charset="0"/>
                <a:ea typeface="Calibri" pitchFamily="34" charset="-122"/>
                <a:cs typeface="Calibri" pitchFamily="34" charset="-120"/>
              </a:rPr>
              <a:t> / 1M  cache-hit input</a:t>
            </a:r>
            <a:endParaRPr lang="en-US" sz="1200" dirty="0"/>
          </a:p>
        </p:txBody>
      </p:sp>
      <p:sp>
        <p:nvSpPr>
          <p:cNvPr id="32" name="Text 29"/>
          <p:cNvSpPr/>
          <p:nvPr/>
        </p:nvSpPr>
        <p:spPr>
          <a:xfrm>
            <a:off x="8595360" y="4507992"/>
            <a:ext cx="3063240" cy="868680"/>
          </a:xfrm>
          <a:prstGeom prst="rect">
            <a:avLst/>
          </a:prstGeom>
          <a:noFill/>
          <a:ln/>
        </p:spPr>
        <p:txBody>
          <a:bodyPr wrap="square" lIns="0" tIns="0" rIns="0" bIns="0" rtlCol="0" anchor="t"/>
          <a:lstStyle/>
          <a:p>
            <a:pPr marL="0" indent="0">
              <a:lnSpc>
                <a:spcPts val="1550"/>
              </a:lnSpc>
              <a:buNone/>
            </a:pPr>
            <a:r>
              <a:rPr lang="en-US" sz="1200" dirty="0">
                <a:solidFill>
                  <a:srgbClr val="1F1E1D"/>
                </a:solidFill>
                <a:latin typeface="Calibri" pitchFamily="34" charset="0"/>
                <a:ea typeface="Calibri" pitchFamily="34" charset="-122"/>
                <a:cs typeface="Calibri" pitchFamily="34" charset="-120"/>
              </a:rPr>
              <a:t>Hardest reasoning, planning, and synthesis steps only</a:t>
            </a:r>
            <a:endParaRPr lang="en-US" sz="1200" dirty="0"/>
          </a:p>
        </p:txBody>
      </p:sp>
      <p:sp>
        <p:nvSpPr>
          <p:cNvPr id="33" name="Text 30"/>
          <p:cNvSpPr/>
          <p:nvPr/>
        </p:nvSpPr>
        <p:spPr>
          <a:xfrm>
            <a:off x="548640" y="5669280"/>
            <a:ext cx="11064240" cy="548640"/>
          </a:xfrm>
          <a:prstGeom prst="rect">
            <a:avLst/>
          </a:prstGeom>
          <a:noFill/>
          <a:ln/>
        </p:spPr>
        <p:txBody>
          <a:bodyPr wrap="square" lIns="0" tIns="0" rIns="0" bIns="0" rtlCol="0" anchor="ctr"/>
          <a:lstStyle/>
          <a:p>
            <a:pPr marL="0" indent="0" algn="ctr">
              <a:lnSpc>
                <a:spcPts val="1400"/>
              </a:lnSpc>
              <a:buNone/>
            </a:pPr>
            <a:r>
              <a:rPr lang="en-US" sz="1150" i="1" dirty="0">
                <a:solidFill>
                  <a:srgbClr val="8C8579"/>
                </a:solidFill>
                <a:latin typeface="Calibri" pitchFamily="34" charset="0"/>
                <a:ea typeface="Calibri" pitchFamily="34" charset="-122"/>
                <a:cs typeface="Calibri" pitchFamily="34" charset="-120"/>
              </a:rPr>
              <a:t>Prices per million tokens (Anthropic platform pricing, 2026). Mix tiers in one workflow: cheap models triage, expensive models reason.</a:t>
            </a:r>
            <a:endParaRPr lang="en-US" sz="1150" dirty="0"/>
          </a:p>
        </p:txBody>
      </p:sp>
      <p:sp>
        <p:nvSpPr>
          <p:cNvPr id="34" name="Text 31"/>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5" name="Text 32"/>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COST LEVER 2</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Prompt caching: stop re-paying for context</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640080"/>
          </a:xfrm>
          <a:prstGeom prst="rect">
            <a:avLst/>
          </a:prstGeom>
          <a:noFill/>
          <a:ln/>
        </p:spPr>
        <p:txBody>
          <a:bodyPr wrap="square" lIns="0" tIns="0" rIns="0" bIns="0" rtlCol="0" anchor="ctr"/>
          <a:lstStyle/>
          <a:p>
            <a:pPr marL="0" indent="0">
              <a:lnSpc>
                <a:spcPts val="1800"/>
              </a:lnSpc>
              <a:buNone/>
            </a:pPr>
            <a:r>
              <a:rPr lang="en-US" sz="1450" dirty="0">
                <a:solidFill>
                  <a:srgbClr val="3D3A35"/>
                </a:solidFill>
                <a:latin typeface="Calibri" pitchFamily="34" charset="0"/>
                <a:ea typeface="Calibri" pitchFamily="34" charset="-122"/>
                <a:cs typeface="Calibri" pitchFamily="34" charset="-120"/>
              </a:rPr>
              <a:t>Mark the stable prefix of your prompt — system instructions, tool schemas, long context — as cacheable. Reused prefixes are read at a fraction of the input price.</a:t>
            </a:r>
            <a:endParaRPr lang="en-US" sz="1450" dirty="0"/>
          </a:p>
        </p:txBody>
      </p:sp>
      <p:sp>
        <p:nvSpPr>
          <p:cNvPr id="6" name="Shape 3"/>
          <p:cNvSpPr/>
          <p:nvPr/>
        </p:nvSpPr>
        <p:spPr>
          <a:xfrm>
            <a:off x="548640" y="2468880"/>
            <a:ext cx="3611880" cy="1783080"/>
          </a:xfrm>
          <a:prstGeom prst="roundRect">
            <a:avLst>
              <a:gd name="adj" fmla="val 512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Text 4"/>
          <p:cNvSpPr/>
          <p:nvPr/>
        </p:nvSpPr>
        <p:spPr>
          <a:xfrm>
            <a:off x="822960" y="2697480"/>
            <a:ext cx="3063240" cy="274320"/>
          </a:xfrm>
          <a:prstGeom prst="rect">
            <a:avLst/>
          </a:prstGeom>
          <a:noFill/>
          <a:ln/>
        </p:spPr>
        <p:txBody>
          <a:bodyPr wrap="square" lIns="0" tIns="0" rIns="0" bIns="0" rtlCol="0" anchor="ctr"/>
          <a:lstStyle/>
          <a:p>
            <a:pPr marL="0" indent="0">
              <a:buNone/>
            </a:pPr>
            <a:r>
              <a:rPr lang="en-US" sz="1150" b="1" kern="0" spc="150" dirty="0">
                <a:solidFill>
                  <a:srgbClr val="BF5E3C"/>
                </a:solidFill>
                <a:latin typeface="Calibri" pitchFamily="34" charset="0"/>
                <a:ea typeface="Calibri" pitchFamily="34" charset="-122"/>
                <a:cs typeface="Calibri" pitchFamily="34" charset="-120"/>
              </a:rPr>
              <a:t>CACHE WRITE</a:t>
            </a:r>
            <a:endParaRPr lang="en-US" sz="1150" dirty="0"/>
          </a:p>
        </p:txBody>
      </p:sp>
      <p:sp>
        <p:nvSpPr>
          <p:cNvPr id="8" name="Text 5"/>
          <p:cNvSpPr/>
          <p:nvPr/>
        </p:nvSpPr>
        <p:spPr>
          <a:xfrm>
            <a:off x="822960" y="2944368"/>
            <a:ext cx="3063240" cy="685800"/>
          </a:xfrm>
          <a:prstGeom prst="rect">
            <a:avLst/>
          </a:prstGeom>
          <a:noFill/>
          <a:ln/>
        </p:spPr>
        <p:txBody>
          <a:bodyPr wrap="square" lIns="0" tIns="0" rIns="0" bIns="0" rtlCol="0" anchor="ctr"/>
          <a:lstStyle/>
          <a:p>
            <a:pPr marL="0" indent="0">
              <a:buNone/>
            </a:pPr>
            <a:r>
              <a:rPr lang="en-US" sz="3800" b="1" dirty="0">
                <a:solidFill>
                  <a:srgbClr val="1F1E1D"/>
                </a:solidFill>
                <a:latin typeface="Georgia" pitchFamily="34" charset="0"/>
                <a:ea typeface="Georgia" pitchFamily="34" charset="-122"/>
                <a:cs typeface="Georgia" pitchFamily="34" charset="-120"/>
              </a:rPr>
              <a:t>1.25×</a:t>
            </a:r>
            <a:endParaRPr lang="en-US" sz="3800" dirty="0"/>
          </a:p>
        </p:txBody>
      </p:sp>
      <p:sp>
        <p:nvSpPr>
          <p:cNvPr id="9" name="Text 6"/>
          <p:cNvSpPr/>
          <p:nvPr/>
        </p:nvSpPr>
        <p:spPr>
          <a:xfrm>
            <a:off x="822960" y="3657600"/>
            <a:ext cx="3063240" cy="502920"/>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base input, 5-min TTL  (2× for 1-hour)</a:t>
            </a:r>
            <a:endParaRPr lang="en-US" sz="1150" dirty="0"/>
          </a:p>
        </p:txBody>
      </p:sp>
      <p:sp>
        <p:nvSpPr>
          <p:cNvPr id="10" name="Shape 7"/>
          <p:cNvSpPr/>
          <p:nvPr/>
        </p:nvSpPr>
        <p:spPr>
          <a:xfrm>
            <a:off x="4434840" y="2468880"/>
            <a:ext cx="3611880" cy="1783080"/>
          </a:xfrm>
          <a:prstGeom prst="roundRect">
            <a:avLst>
              <a:gd name="adj" fmla="val 5128"/>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1" name="Text 8"/>
          <p:cNvSpPr/>
          <p:nvPr/>
        </p:nvSpPr>
        <p:spPr>
          <a:xfrm>
            <a:off x="4709160" y="2697480"/>
            <a:ext cx="3063240" cy="274320"/>
          </a:xfrm>
          <a:prstGeom prst="rect">
            <a:avLst/>
          </a:prstGeom>
          <a:noFill/>
          <a:ln/>
        </p:spPr>
        <p:txBody>
          <a:bodyPr wrap="square" lIns="0" tIns="0" rIns="0" bIns="0" rtlCol="0" anchor="ctr"/>
          <a:lstStyle/>
          <a:p>
            <a:pPr marL="0" indent="0">
              <a:buNone/>
            </a:pPr>
            <a:r>
              <a:rPr lang="en-US" sz="1150" b="1" kern="0" spc="150" dirty="0">
                <a:solidFill>
                  <a:srgbClr val="BF5E3C"/>
                </a:solidFill>
                <a:latin typeface="Calibri" pitchFamily="34" charset="0"/>
                <a:ea typeface="Calibri" pitchFamily="34" charset="-122"/>
                <a:cs typeface="Calibri" pitchFamily="34" charset="-120"/>
              </a:rPr>
              <a:t>CACHE READ</a:t>
            </a:r>
            <a:endParaRPr lang="en-US" sz="1150" dirty="0"/>
          </a:p>
        </p:txBody>
      </p:sp>
      <p:sp>
        <p:nvSpPr>
          <p:cNvPr id="12" name="Text 9"/>
          <p:cNvSpPr/>
          <p:nvPr/>
        </p:nvSpPr>
        <p:spPr>
          <a:xfrm>
            <a:off x="4709160" y="2944368"/>
            <a:ext cx="3063240" cy="685800"/>
          </a:xfrm>
          <a:prstGeom prst="rect">
            <a:avLst/>
          </a:prstGeom>
          <a:noFill/>
          <a:ln/>
        </p:spPr>
        <p:txBody>
          <a:bodyPr wrap="square" lIns="0" tIns="0" rIns="0" bIns="0" rtlCol="0" anchor="ctr"/>
          <a:lstStyle/>
          <a:p>
            <a:pPr marL="0" indent="0">
              <a:buNone/>
            </a:pPr>
            <a:r>
              <a:rPr lang="en-US" sz="3800" b="1" dirty="0">
                <a:solidFill>
                  <a:srgbClr val="1F1E1D"/>
                </a:solidFill>
                <a:latin typeface="Georgia" pitchFamily="34" charset="0"/>
                <a:ea typeface="Georgia" pitchFamily="34" charset="-122"/>
                <a:cs typeface="Georgia" pitchFamily="34" charset="-120"/>
              </a:rPr>
              <a:t>~0.1×</a:t>
            </a:r>
            <a:endParaRPr lang="en-US" sz="3800" dirty="0"/>
          </a:p>
        </p:txBody>
      </p:sp>
      <p:sp>
        <p:nvSpPr>
          <p:cNvPr id="13" name="Text 10"/>
          <p:cNvSpPr/>
          <p:nvPr/>
        </p:nvSpPr>
        <p:spPr>
          <a:xfrm>
            <a:off x="4709160" y="3657600"/>
            <a:ext cx="3063240" cy="502920"/>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base input — roughly 90% off reused tokens</a:t>
            </a:r>
            <a:endParaRPr lang="en-US" sz="1150" dirty="0"/>
          </a:p>
        </p:txBody>
      </p:sp>
      <p:sp>
        <p:nvSpPr>
          <p:cNvPr id="14" name="Shape 11"/>
          <p:cNvSpPr/>
          <p:nvPr/>
        </p:nvSpPr>
        <p:spPr>
          <a:xfrm>
            <a:off x="8321040" y="2468880"/>
            <a:ext cx="3611880" cy="1783080"/>
          </a:xfrm>
          <a:prstGeom prst="roundRect">
            <a:avLst>
              <a:gd name="adj" fmla="val 5128"/>
            </a:avLst>
          </a:prstGeom>
          <a:solidFill>
            <a:srgbClr val="262624"/>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5" name="Text 12"/>
          <p:cNvSpPr/>
          <p:nvPr/>
        </p:nvSpPr>
        <p:spPr>
          <a:xfrm>
            <a:off x="8595360" y="2697480"/>
            <a:ext cx="3063240" cy="274320"/>
          </a:xfrm>
          <a:prstGeom prst="rect">
            <a:avLst/>
          </a:prstGeom>
          <a:noFill/>
          <a:ln/>
        </p:spPr>
        <p:txBody>
          <a:bodyPr wrap="square" lIns="0" tIns="0" rIns="0" bIns="0" rtlCol="0" anchor="ctr"/>
          <a:lstStyle/>
          <a:p>
            <a:pPr marL="0" indent="0">
              <a:buNone/>
            </a:pPr>
            <a:r>
              <a:rPr lang="en-US" sz="1150" b="1" kern="0" spc="150" dirty="0">
                <a:solidFill>
                  <a:srgbClr val="D97757"/>
                </a:solidFill>
                <a:latin typeface="Calibri" pitchFamily="34" charset="0"/>
                <a:ea typeface="Calibri" pitchFamily="34" charset="-122"/>
                <a:cs typeface="Calibri" pitchFamily="34" charset="-120"/>
              </a:rPr>
              <a:t>NET EFFECT</a:t>
            </a:r>
            <a:endParaRPr lang="en-US" sz="1150" dirty="0"/>
          </a:p>
        </p:txBody>
      </p:sp>
      <p:sp>
        <p:nvSpPr>
          <p:cNvPr id="16" name="Text 13"/>
          <p:cNvSpPr/>
          <p:nvPr/>
        </p:nvSpPr>
        <p:spPr>
          <a:xfrm>
            <a:off x="8595360" y="2944368"/>
            <a:ext cx="3063240" cy="685800"/>
          </a:xfrm>
          <a:prstGeom prst="rect">
            <a:avLst/>
          </a:prstGeom>
          <a:noFill/>
          <a:ln/>
        </p:spPr>
        <p:txBody>
          <a:bodyPr wrap="square" lIns="0" tIns="0" rIns="0" bIns="0" rtlCol="0" anchor="ctr"/>
          <a:lstStyle/>
          <a:p>
            <a:pPr marL="0" indent="0">
              <a:buNone/>
            </a:pPr>
            <a:r>
              <a:rPr lang="en-US" sz="3800" b="1" dirty="0">
                <a:solidFill>
                  <a:srgbClr val="FBF8F2"/>
                </a:solidFill>
                <a:latin typeface="Georgia" pitchFamily="34" charset="0"/>
                <a:ea typeface="Georgia" pitchFamily="34" charset="-122"/>
                <a:cs typeface="Georgia" pitchFamily="34" charset="-120"/>
              </a:rPr>
              <a:t>up to 90%</a:t>
            </a:r>
            <a:endParaRPr lang="en-US" sz="3800" dirty="0"/>
          </a:p>
        </p:txBody>
      </p:sp>
      <p:sp>
        <p:nvSpPr>
          <p:cNvPr id="17" name="Text 14"/>
          <p:cNvSpPr/>
          <p:nvPr/>
        </p:nvSpPr>
        <p:spPr>
          <a:xfrm>
            <a:off x="8595360" y="3657600"/>
            <a:ext cx="3063240" cy="502920"/>
          </a:xfrm>
          <a:prstGeom prst="rect">
            <a:avLst/>
          </a:prstGeom>
          <a:noFill/>
          <a:ln/>
        </p:spPr>
        <p:txBody>
          <a:bodyPr wrap="square" lIns="0" tIns="0" rIns="0" bIns="0" rtlCol="0" anchor="t"/>
          <a:lstStyle/>
          <a:p>
            <a:pPr marL="0" indent="0">
              <a:lnSpc>
                <a:spcPts val="1400"/>
              </a:lnSpc>
              <a:buNone/>
            </a:pPr>
            <a:r>
              <a:rPr lang="en-US" sz="1150" dirty="0">
                <a:solidFill>
                  <a:srgbClr val="D8CDBF"/>
                </a:solidFill>
                <a:latin typeface="Calibri" pitchFamily="34" charset="0"/>
                <a:ea typeface="Calibri" pitchFamily="34" charset="-122"/>
                <a:cs typeface="Calibri" pitchFamily="34" charset="-120"/>
              </a:rPr>
              <a:t>lower input bill on repeated, prefix-heavy calls</a:t>
            </a:r>
            <a:endParaRPr lang="en-US" sz="1150" dirty="0"/>
          </a:p>
        </p:txBody>
      </p:sp>
      <p:sp>
        <p:nvSpPr>
          <p:cNvPr id="18" name="Shape 15"/>
          <p:cNvSpPr/>
          <p:nvPr/>
        </p:nvSpPr>
        <p:spPr>
          <a:xfrm>
            <a:off x="548640" y="4526280"/>
            <a:ext cx="11091672" cy="1600200"/>
          </a:xfrm>
          <a:prstGeom prst="roundRect">
            <a:avLst>
              <a:gd name="adj" fmla="val 4571"/>
            </a:avLst>
          </a:prstGeom>
          <a:solidFill>
            <a:srgbClr val="FAF9F5"/>
          </a:solidFill>
          <a:ln w="12700">
            <a:solidFill>
              <a:srgbClr val="E5DDCE"/>
            </a:solidFill>
            <a:prstDash val="solid"/>
          </a:ln>
        </p:spPr>
        <p:txBody>
          <a:bodyPr/>
          <a:lstStyle/>
          <a:p>
            <a:endParaRPr lang="en-IN"/>
          </a:p>
        </p:txBody>
      </p:sp>
      <p:sp>
        <p:nvSpPr>
          <p:cNvPr id="19" name="Text 16"/>
          <p:cNvSpPr/>
          <p:nvPr/>
        </p:nvSpPr>
        <p:spPr>
          <a:xfrm>
            <a:off x="822960" y="4681728"/>
            <a:ext cx="1051560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Cache the stable, re-pay only the new</a:t>
            </a:r>
            <a:endParaRPr lang="en-US" sz="1600" dirty="0"/>
          </a:p>
        </p:txBody>
      </p:sp>
      <p:sp>
        <p:nvSpPr>
          <p:cNvPr id="20" name="Shape 17"/>
          <p:cNvSpPr/>
          <p:nvPr/>
        </p:nvSpPr>
        <p:spPr>
          <a:xfrm>
            <a:off x="868680" y="5120640"/>
            <a:ext cx="128016" cy="128016"/>
          </a:xfrm>
          <a:prstGeom prst="ellipse">
            <a:avLst/>
          </a:prstGeom>
          <a:solidFill>
            <a:srgbClr val="D97757"/>
          </a:solidFill>
          <a:ln/>
        </p:spPr>
        <p:txBody>
          <a:bodyPr/>
          <a:lstStyle/>
          <a:p>
            <a:endParaRPr lang="en-IN"/>
          </a:p>
        </p:txBody>
      </p:sp>
      <p:sp>
        <p:nvSpPr>
          <p:cNvPr id="21" name="Text 18"/>
          <p:cNvSpPr/>
          <p:nvPr/>
        </p:nvSpPr>
        <p:spPr>
          <a:xfrm>
            <a:off x="1115568" y="5010912"/>
            <a:ext cx="10241280" cy="347472"/>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Cache:  </a:t>
            </a:r>
            <a:r>
              <a:rPr lang="en-US" sz="1250" dirty="0">
                <a:solidFill>
                  <a:srgbClr val="3D3A35"/>
                </a:solidFill>
                <a:latin typeface="Calibri" pitchFamily="34" charset="0"/>
                <a:ea typeface="Calibri" pitchFamily="34" charset="-122"/>
                <a:cs typeface="Calibri" pitchFamily="34" charset="-120"/>
              </a:rPr>
              <a:t>long system prompts, tool definitions, RAG context, few-shot examples — anything reused verbatim.</a:t>
            </a:r>
            <a:endParaRPr lang="en-US" sz="1250" dirty="0"/>
          </a:p>
        </p:txBody>
      </p:sp>
      <p:sp>
        <p:nvSpPr>
          <p:cNvPr id="22" name="Shape 19"/>
          <p:cNvSpPr/>
          <p:nvPr/>
        </p:nvSpPr>
        <p:spPr>
          <a:xfrm>
            <a:off x="868680" y="5468112"/>
            <a:ext cx="128016" cy="128016"/>
          </a:xfrm>
          <a:prstGeom prst="ellipse">
            <a:avLst/>
          </a:prstGeom>
          <a:solidFill>
            <a:srgbClr val="D97757"/>
          </a:solidFill>
          <a:ln/>
        </p:spPr>
        <p:txBody>
          <a:bodyPr/>
          <a:lstStyle/>
          <a:p>
            <a:endParaRPr lang="en-IN"/>
          </a:p>
        </p:txBody>
      </p:sp>
      <p:sp>
        <p:nvSpPr>
          <p:cNvPr id="23" name="Text 20"/>
          <p:cNvSpPr/>
          <p:nvPr/>
        </p:nvSpPr>
        <p:spPr>
          <a:xfrm>
            <a:off x="1115568" y="5358384"/>
            <a:ext cx="10241280" cy="347472"/>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Mind the TTL:  </a:t>
            </a:r>
            <a:r>
              <a:rPr lang="en-US" sz="1250" dirty="0">
                <a:solidFill>
                  <a:srgbClr val="3D3A35"/>
                </a:solidFill>
                <a:latin typeface="Calibri" pitchFamily="34" charset="0"/>
                <a:ea typeface="Calibri" pitchFamily="34" charset="-122"/>
                <a:cs typeface="Calibri" pitchFamily="34" charset="-120"/>
              </a:rPr>
              <a:t>5-min cache expires fast; use the 1-hour tier for spiky traffic so prefixes stay warm.</a:t>
            </a:r>
            <a:endParaRPr lang="en-US" sz="1250" dirty="0"/>
          </a:p>
        </p:txBody>
      </p:sp>
      <p:sp>
        <p:nvSpPr>
          <p:cNvPr id="24" name="Shape 21"/>
          <p:cNvSpPr/>
          <p:nvPr/>
        </p:nvSpPr>
        <p:spPr>
          <a:xfrm>
            <a:off x="868680" y="5815584"/>
            <a:ext cx="128016" cy="128016"/>
          </a:xfrm>
          <a:prstGeom prst="ellipse">
            <a:avLst/>
          </a:prstGeom>
          <a:solidFill>
            <a:srgbClr val="D97757"/>
          </a:solidFill>
          <a:ln/>
        </p:spPr>
        <p:txBody>
          <a:bodyPr/>
          <a:lstStyle/>
          <a:p>
            <a:endParaRPr lang="en-IN"/>
          </a:p>
        </p:txBody>
      </p:sp>
      <p:sp>
        <p:nvSpPr>
          <p:cNvPr id="25" name="Text 22"/>
          <p:cNvSpPr/>
          <p:nvPr/>
        </p:nvSpPr>
        <p:spPr>
          <a:xfrm>
            <a:off x="1115568" y="5705856"/>
            <a:ext cx="10241280" cy="347472"/>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Order matters:  </a:t>
            </a:r>
            <a:r>
              <a:rPr lang="en-US" sz="1250" dirty="0">
                <a:solidFill>
                  <a:srgbClr val="3D3A35"/>
                </a:solidFill>
                <a:latin typeface="Calibri" pitchFamily="34" charset="0"/>
                <a:ea typeface="Calibri" pitchFamily="34" charset="-122"/>
                <a:cs typeface="Calibri" pitchFamily="34" charset="-120"/>
              </a:rPr>
              <a:t>keep cached content first and stable; put the changing user input last.</a:t>
            </a:r>
            <a:endParaRPr lang="en-US" sz="1250" dirty="0"/>
          </a:p>
        </p:txBody>
      </p:sp>
      <p:sp>
        <p:nvSpPr>
          <p:cNvPr id="26" name="Text 23"/>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7" name="Text 24"/>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COST LEVER 3</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Context hygiene: curate the window</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640080"/>
          </a:xfrm>
          <a:prstGeom prst="rect">
            <a:avLst/>
          </a:prstGeom>
          <a:noFill/>
          <a:ln/>
        </p:spPr>
        <p:txBody>
          <a:bodyPr wrap="square" lIns="0" tIns="0" rIns="0" bIns="0" rtlCol="0" anchor="ctr"/>
          <a:lstStyle/>
          <a:p>
            <a:pPr marL="0" indent="0">
              <a:lnSpc>
                <a:spcPts val="1800"/>
              </a:lnSpc>
              <a:buNone/>
            </a:pPr>
            <a:r>
              <a:rPr lang="en-US" sz="1450" dirty="0">
                <a:solidFill>
                  <a:srgbClr val="3D3A35"/>
                </a:solidFill>
                <a:latin typeface="Calibri" pitchFamily="34" charset="0"/>
                <a:ea typeface="Calibri" pitchFamily="34" charset="-122"/>
                <a:cs typeface="Calibri" pitchFamily="34" charset="-120"/>
              </a:rPr>
              <a:t>More context isn't better. As tokens grow, recall and accuracy decay — “context rot.” Curate what's in the window as deliberately as you manage spend.</a:t>
            </a:r>
            <a:endParaRPr lang="en-US" sz="1450" dirty="0"/>
          </a:p>
        </p:txBody>
      </p:sp>
      <p:sp>
        <p:nvSpPr>
          <p:cNvPr id="6" name="Text 3"/>
          <p:cNvSpPr/>
          <p:nvPr/>
        </p:nvSpPr>
        <p:spPr>
          <a:xfrm>
            <a:off x="548640" y="2423160"/>
            <a:ext cx="10058400" cy="274320"/>
          </a:xfrm>
          <a:prstGeom prst="rect">
            <a:avLst/>
          </a:prstGeom>
          <a:noFill/>
          <a:ln/>
        </p:spPr>
        <p:txBody>
          <a:bodyPr wrap="square" lIns="0" tIns="0" rIns="0" bIns="0" rtlCol="0" anchor="ctr"/>
          <a:lstStyle/>
          <a:p>
            <a:pPr marL="0" indent="0">
              <a:buNone/>
            </a:pPr>
            <a:r>
              <a:rPr lang="en-US" sz="1150" b="1" kern="0" spc="150" dirty="0">
                <a:solidFill>
                  <a:srgbClr val="BF5E3C"/>
                </a:solidFill>
                <a:latin typeface="Calibri" pitchFamily="34" charset="0"/>
                <a:ea typeface="Calibri" pitchFamily="34" charset="-122"/>
                <a:cs typeface="Calibri" pitchFamily="34" charset="-120"/>
              </a:rPr>
              <a:t>A WORKING TOKEN BUDGET  (≈200K WINDOW)</a:t>
            </a:r>
            <a:endParaRPr lang="en-US" sz="1150" dirty="0"/>
          </a:p>
        </p:txBody>
      </p:sp>
      <p:sp>
        <p:nvSpPr>
          <p:cNvPr id="7" name="Shape 4"/>
          <p:cNvSpPr/>
          <p:nvPr/>
        </p:nvSpPr>
        <p:spPr>
          <a:xfrm>
            <a:off x="548640" y="2743200"/>
            <a:ext cx="6100420" cy="566928"/>
          </a:xfrm>
          <a:prstGeom prst="rect">
            <a:avLst/>
          </a:prstGeom>
          <a:solidFill>
            <a:srgbClr val="7E8A6E"/>
          </a:solidFill>
          <a:ln/>
        </p:spPr>
        <p:txBody>
          <a:bodyPr/>
          <a:lstStyle/>
          <a:p>
            <a:endParaRPr lang="en-IN"/>
          </a:p>
        </p:txBody>
      </p:sp>
      <p:sp>
        <p:nvSpPr>
          <p:cNvPr id="8" name="Text 5"/>
          <p:cNvSpPr/>
          <p:nvPr/>
        </p:nvSpPr>
        <p:spPr>
          <a:xfrm>
            <a:off x="548640" y="2743200"/>
            <a:ext cx="61004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Safe</a:t>
            </a:r>
            <a:endParaRPr lang="en-US" sz="1400" dirty="0"/>
          </a:p>
        </p:txBody>
      </p:sp>
      <p:sp>
        <p:nvSpPr>
          <p:cNvPr id="9" name="Text 6"/>
          <p:cNvSpPr/>
          <p:nvPr/>
        </p:nvSpPr>
        <p:spPr>
          <a:xfrm>
            <a:off x="548640" y="3364992"/>
            <a:ext cx="6100420" cy="256032"/>
          </a:xfrm>
          <a:prstGeom prst="rect">
            <a:avLst/>
          </a:prstGeom>
          <a:noFill/>
          <a:ln/>
        </p:spPr>
        <p:txBody>
          <a:bodyPr wrap="square" lIns="0" tIns="0" rIns="0" bIns="0" rtlCol="0" anchor="ctr"/>
          <a:lstStyle/>
          <a:p>
            <a:pPr marL="0" indent="0" algn="ctr">
              <a:buNone/>
            </a:pPr>
            <a:r>
              <a:rPr lang="en-US" sz="1100" dirty="0">
                <a:solidFill>
                  <a:srgbClr val="3D3A35"/>
                </a:solidFill>
                <a:latin typeface="Calibri" pitchFamily="34" charset="0"/>
                <a:ea typeface="Calibri" pitchFamily="34" charset="-122"/>
                <a:cs typeface="Calibri" pitchFamily="34" charset="-120"/>
              </a:rPr>
              <a:t>0–110K</a:t>
            </a:r>
            <a:endParaRPr lang="en-US" sz="1100" dirty="0"/>
          </a:p>
        </p:txBody>
      </p:sp>
      <p:sp>
        <p:nvSpPr>
          <p:cNvPr id="10" name="Shape 7"/>
          <p:cNvSpPr/>
          <p:nvPr/>
        </p:nvSpPr>
        <p:spPr>
          <a:xfrm>
            <a:off x="6649060" y="2743200"/>
            <a:ext cx="2772918" cy="566928"/>
          </a:xfrm>
          <a:prstGeom prst="rect">
            <a:avLst/>
          </a:prstGeom>
          <a:solidFill>
            <a:srgbClr val="D9A441"/>
          </a:solidFill>
          <a:ln/>
        </p:spPr>
        <p:txBody>
          <a:bodyPr/>
          <a:lstStyle/>
          <a:p>
            <a:endParaRPr lang="en-IN"/>
          </a:p>
        </p:txBody>
      </p:sp>
      <p:sp>
        <p:nvSpPr>
          <p:cNvPr id="11" name="Text 8"/>
          <p:cNvSpPr/>
          <p:nvPr/>
        </p:nvSpPr>
        <p:spPr>
          <a:xfrm>
            <a:off x="6649060" y="2743200"/>
            <a:ext cx="277291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Watch</a:t>
            </a:r>
            <a:endParaRPr lang="en-US" sz="1400" dirty="0"/>
          </a:p>
        </p:txBody>
      </p:sp>
      <p:sp>
        <p:nvSpPr>
          <p:cNvPr id="12" name="Text 9"/>
          <p:cNvSpPr/>
          <p:nvPr/>
        </p:nvSpPr>
        <p:spPr>
          <a:xfrm>
            <a:off x="6649060" y="3364992"/>
            <a:ext cx="2772918" cy="256032"/>
          </a:xfrm>
          <a:prstGeom prst="rect">
            <a:avLst/>
          </a:prstGeom>
          <a:noFill/>
          <a:ln/>
        </p:spPr>
        <p:txBody>
          <a:bodyPr wrap="square" lIns="0" tIns="0" rIns="0" bIns="0" rtlCol="0" anchor="ctr"/>
          <a:lstStyle/>
          <a:p>
            <a:pPr marL="0" indent="0" algn="ctr">
              <a:buNone/>
            </a:pPr>
            <a:r>
              <a:rPr lang="en-US" sz="1100" dirty="0">
                <a:solidFill>
                  <a:srgbClr val="3D3A35"/>
                </a:solidFill>
                <a:latin typeface="Calibri" pitchFamily="34" charset="0"/>
                <a:ea typeface="Calibri" pitchFamily="34" charset="-122"/>
                <a:cs typeface="Calibri" pitchFamily="34" charset="-120"/>
              </a:rPr>
              <a:t>110–160K</a:t>
            </a:r>
            <a:endParaRPr lang="en-US" sz="1100" dirty="0"/>
          </a:p>
        </p:txBody>
      </p:sp>
      <p:sp>
        <p:nvSpPr>
          <p:cNvPr id="13" name="Shape 10"/>
          <p:cNvSpPr/>
          <p:nvPr/>
        </p:nvSpPr>
        <p:spPr>
          <a:xfrm>
            <a:off x="9421978" y="2743200"/>
            <a:ext cx="2218334" cy="566928"/>
          </a:xfrm>
          <a:prstGeom prst="rect">
            <a:avLst/>
          </a:prstGeom>
          <a:solidFill>
            <a:srgbClr val="D97757"/>
          </a:solidFill>
          <a:ln/>
        </p:spPr>
        <p:txBody>
          <a:bodyPr/>
          <a:lstStyle/>
          <a:p>
            <a:endParaRPr lang="en-IN"/>
          </a:p>
        </p:txBody>
      </p:sp>
      <p:sp>
        <p:nvSpPr>
          <p:cNvPr id="14" name="Text 11"/>
          <p:cNvSpPr/>
          <p:nvPr/>
        </p:nvSpPr>
        <p:spPr>
          <a:xfrm>
            <a:off x="9421978" y="2743200"/>
            <a:ext cx="2218334"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Compress</a:t>
            </a:r>
            <a:endParaRPr lang="en-US" sz="1400" dirty="0"/>
          </a:p>
        </p:txBody>
      </p:sp>
      <p:sp>
        <p:nvSpPr>
          <p:cNvPr id="15" name="Text 12"/>
          <p:cNvSpPr/>
          <p:nvPr/>
        </p:nvSpPr>
        <p:spPr>
          <a:xfrm>
            <a:off x="9421978" y="3364992"/>
            <a:ext cx="2218334" cy="256032"/>
          </a:xfrm>
          <a:prstGeom prst="rect">
            <a:avLst/>
          </a:prstGeom>
          <a:noFill/>
          <a:ln/>
        </p:spPr>
        <p:txBody>
          <a:bodyPr wrap="square" lIns="0" tIns="0" rIns="0" bIns="0" rtlCol="0" anchor="ctr"/>
          <a:lstStyle/>
          <a:p>
            <a:pPr marL="0" indent="0" algn="ctr">
              <a:buNone/>
            </a:pPr>
            <a:r>
              <a:rPr lang="en-US" sz="1100" dirty="0">
                <a:solidFill>
                  <a:srgbClr val="3D3A35"/>
                </a:solidFill>
                <a:latin typeface="Calibri" pitchFamily="34" charset="0"/>
                <a:ea typeface="Calibri" pitchFamily="34" charset="-122"/>
                <a:cs typeface="Calibri" pitchFamily="34" charset="-120"/>
              </a:rPr>
              <a:t>160K+</a:t>
            </a:r>
            <a:endParaRPr lang="en-US" sz="1100" dirty="0"/>
          </a:p>
        </p:txBody>
      </p:sp>
      <p:sp>
        <p:nvSpPr>
          <p:cNvPr id="16" name="Text 13"/>
          <p:cNvSpPr/>
          <p:nvPr/>
        </p:nvSpPr>
        <p:spPr>
          <a:xfrm>
            <a:off x="548640" y="3886200"/>
            <a:ext cx="1005840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Keep the window lean</a:t>
            </a:r>
            <a:endParaRPr lang="en-US" sz="1600" dirty="0"/>
          </a:p>
        </p:txBody>
      </p:sp>
      <p:sp>
        <p:nvSpPr>
          <p:cNvPr id="17" name="Shape 14"/>
          <p:cNvSpPr/>
          <p:nvPr/>
        </p:nvSpPr>
        <p:spPr>
          <a:xfrm>
            <a:off x="548640" y="4297680"/>
            <a:ext cx="5440680" cy="868680"/>
          </a:xfrm>
          <a:prstGeom prst="roundRect">
            <a:avLst>
              <a:gd name="adj" fmla="val 7368"/>
            </a:avLst>
          </a:prstGeom>
          <a:solidFill>
            <a:srgbClr val="FFFFFF"/>
          </a:solidFill>
          <a:ln w="12700">
            <a:solidFill>
              <a:srgbClr val="E5DDCE"/>
            </a:solidFill>
            <a:prstDash val="solid"/>
          </a:ln>
        </p:spPr>
        <p:txBody>
          <a:bodyPr/>
          <a:lstStyle/>
          <a:p>
            <a:endParaRPr lang="en-IN"/>
          </a:p>
        </p:txBody>
      </p:sp>
      <p:sp>
        <p:nvSpPr>
          <p:cNvPr id="18" name="Shape 15"/>
          <p:cNvSpPr/>
          <p:nvPr/>
        </p:nvSpPr>
        <p:spPr>
          <a:xfrm>
            <a:off x="548640" y="4297680"/>
            <a:ext cx="100584" cy="868680"/>
          </a:xfrm>
          <a:prstGeom prst="rect">
            <a:avLst/>
          </a:prstGeom>
          <a:solidFill>
            <a:srgbClr val="D97757"/>
          </a:solidFill>
          <a:ln/>
        </p:spPr>
        <p:txBody>
          <a:bodyPr/>
          <a:lstStyle/>
          <a:p>
            <a:endParaRPr lang="en-IN"/>
          </a:p>
        </p:txBody>
      </p:sp>
      <p:sp>
        <p:nvSpPr>
          <p:cNvPr id="19" name="Text 16"/>
          <p:cNvSpPr/>
          <p:nvPr/>
        </p:nvSpPr>
        <p:spPr>
          <a:xfrm>
            <a:off x="841248" y="4389120"/>
            <a:ext cx="4937760" cy="320040"/>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Server-side compaction</a:t>
            </a:r>
            <a:endParaRPr lang="en-US" sz="1400" dirty="0"/>
          </a:p>
        </p:txBody>
      </p:sp>
      <p:sp>
        <p:nvSpPr>
          <p:cNvPr id="20" name="Text 17"/>
          <p:cNvSpPr/>
          <p:nvPr/>
        </p:nvSpPr>
        <p:spPr>
          <a:xfrm>
            <a:off x="841248" y="4690872"/>
            <a:ext cx="4937760" cy="420624"/>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Summarize older turns automatically in long agentic runs.</a:t>
            </a:r>
            <a:endParaRPr lang="en-US" sz="1150" dirty="0"/>
          </a:p>
        </p:txBody>
      </p:sp>
      <p:sp>
        <p:nvSpPr>
          <p:cNvPr id="21" name="Shape 18"/>
          <p:cNvSpPr/>
          <p:nvPr/>
        </p:nvSpPr>
        <p:spPr>
          <a:xfrm>
            <a:off x="6291072" y="4297680"/>
            <a:ext cx="5440680" cy="868680"/>
          </a:xfrm>
          <a:prstGeom prst="roundRect">
            <a:avLst>
              <a:gd name="adj" fmla="val 7368"/>
            </a:avLst>
          </a:prstGeom>
          <a:solidFill>
            <a:srgbClr val="FFFFFF"/>
          </a:solidFill>
          <a:ln w="12700">
            <a:solidFill>
              <a:srgbClr val="E5DDCE"/>
            </a:solidFill>
            <a:prstDash val="solid"/>
          </a:ln>
        </p:spPr>
        <p:txBody>
          <a:bodyPr/>
          <a:lstStyle/>
          <a:p>
            <a:endParaRPr lang="en-IN"/>
          </a:p>
        </p:txBody>
      </p:sp>
      <p:sp>
        <p:nvSpPr>
          <p:cNvPr id="22" name="Shape 19"/>
          <p:cNvSpPr/>
          <p:nvPr/>
        </p:nvSpPr>
        <p:spPr>
          <a:xfrm>
            <a:off x="6291072" y="4297680"/>
            <a:ext cx="100584" cy="868680"/>
          </a:xfrm>
          <a:prstGeom prst="rect">
            <a:avLst/>
          </a:prstGeom>
          <a:solidFill>
            <a:srgbClr val="D97757"/>
          </a:solidFill>
          <a:ln/>
        </p:spPr>
        <p:txBody>
          <a:bodyPr/>
          <a:lstStyle/>
          <a:p>
            <a:endParaRPr lang="en-IN"/>
          </a:p>
        </p:txBody>
      </p:sp>
      <p:sp>
        <p:nvSpPr>
          <p:cNvPr id="23" name="Text 20"/>
          <p:cNvSpPr/>
          <p:nvPr/>
        </p:nvSpPr>
        <p:spPr>
          <a:xfrm>
            <a:off x="6583680" y="4389120"/>
            <a:ext cx="4937760" cy="320040"/>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Context editing</a:t>
            </a:r>
            <a:endParaRPr lang="en-US" sz="1400" dirty="0"/>
          </a:p>
        </p:txBody>
      </p:sp>
      <p:sp>
        <p:nvSpPr>
          <p:cNvPr id="24" name="Text 21"/>
          <p:cNvSpPr/>
          <p:nvPr/>
        </p:nvSpPr>
        <p:spPr>
          <a:xfrm>
            <a:off x="6583680" y="4690872"/>
            <a:ext cx="4937760" cy="420624"/>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Clear stale tool results and thinking blocks you no longer need.</a:t>
            </a:r>
            <a:endParaRPr lang="en-US" sz="1150" dirty="0"/>
          </a:p>
        </p:txBody>
      </p:sp>
      <p:sp>
        <p:nvSpPr>
          <p:cNvPr id="25" name="Shape 22"/>
          <p:cNvSpPr/>
          <p:nvPr/>
        </p:nvSpPr>
        <p:spPr>
          <a:xfrm>
            <a:off x="548640" y="5422392"/>
            <a:ext cx="5440680" cy="868680"/>
          </a:xfrm>
          <a:prstGeom prst="roundRect">
            <a:avLst>
              <a:gd name="adj" fmla="val 7368"/>
            </a:avLst>
          </a:prstGeom>
          <a:solidFill>
            <a:srgbClr val="FFFFFF"/>
          </a:solidFill>
          <a:ln w="12700">
            <a:solidFill>
              <a:srgbClr val="E5DDCE"/>
            </a:solidFill>
            <a:prstDash val="solid"/>
          </a:ln>
        </p:spPr>
        <p:txBody>
          <a:bodyPr/>
          <a:lstStyle/>
          <a:p>
            <a:endParaRPr lang="en-IN"/>
          </a:p>
        </p:txBody>
      </p:sp>
      <p:sp>
        <p:nvSpPr>
          <p:cNvPr id="26" name="Shape 23"/>
          <p:cNvSpPr/>
          <p:nvPr/>
        </p:nvSpPr>
        <p:spPr>
          <a:xfrm>
            <a:off x="548640" y="5422392"/>
            <a:ext cx="100584" cy="868680"/>
          </a:xfrm>
          <a:prstGeom prst="rect">
            <a:avLst/>
          </a:prstGeom>
          <a:solidFill>
            <a:srgbClr val="D97757"/>
          </a:solidFill>
          <a:ln/>
        </p:spPr>
        <p:txBody>
          <a:bodyPr/>
          <a:lstStyle/>
          <a:p>
            <a:endParaRPr lang="en-IN"/>
          </a:p>
        </p:txBody>
      </p:sp>
      <p:sp>
        <p:nvSpPr>
          <p:cNvPr id="27" name="Text 24"/>
          <p:cNvSpPr/>
          <p:nvPr/>
        </p:nvSpPr>
        <p:spPr>
          <a:xfrm>
            <a:off x="841248" y="5513832"/>
            <a:ext cx="4937760" cy="320040"/>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Scope tightly</a:t>
            </a:r>
            <a:endParaRPr lang="en-US" sz="1400" dirty="0"/>
          </a:p>
        </p:txBody>
      </p:sp>
      <p:sp>
        <p:nvSpPr>
          <p:cNvPr id="28" name="Text 25"/>
          <p:cNvSpPr/>
          <p:nvPr/>
        </p:nvSpPr>
        <p:spPr>
          <a:xfrm>
            <a:off x="841248" y="5815584"/>
            <a:ext cx="4937760" cy="420624"/>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Reference targeted files, not whole directories; isolate side work in subagents.</a:t>
            </a:r>
            <a:endParaRPr lang="en-US" sz="1150" dirty="0"/>
          </a:p>
        </p:txBody>
      </p:sp>
      <p:sp>
        <p:nvSpPr>
          <p:cNvPr id="29" name="Shape 26"/>
          <p:cNvSpPr/>
          <p:nvPr/>
        </p:nvSpPr>
        <p:spPr>
          <a:xfrm>
            <a:off x="6291072" y="5422392"/>
            <a:ext cx="5440680" cy="868680"/>
          </a:xfrm>
          <a:prstGeom prst="roundRect">
            <a:avLst>
              <a:gd name="adj" fmla="val 7368"/>
            </a:avLst>
          </a:prstGeom>
          <a:solidFill>
            <a:srgbClr val="FFFFFF"/>
          </a:solidFill>
          <a:ln w="12700">
            <a:solidFill>
              <a:srgbClr val="E5DDCE"/>
            </a:solidFill>
            <a:prstDash val="solid"/>
          </a:ln>
        </p:spPr>
        <p:txBody>
          <a:bodyPr/>
          <a:lstStyle/>
          <a:p>
            <a:endParaRPr lang="en-IN"/>
          </a:p>
        </p:txBody>
      </p:sp>
      <p:sp>
        <p:nvSpPr>
          <p:cNvPr id="30" name="Shape 27"/>
          <p:cNvSpPr/>
          <p:nvPr/>
        </p:nvSpPr>
        <p:spPr>
          <a:xfrm>
            <a:off x="6291072" y="5422392"/>
            <a:ext cx="100584" cy="868680"/>
          </a:xfrm>
          <a:prstGeom prst="rect">
            <a:avLst/>
          </a:prstGeom>
          <a:solidFill>
            <a:srgbClr val="D97757"/>
          </a:solidFill>
          <a:ln/>
        </p:spPr>
        <p:txBody>
          <a:bodyPr/>
          <a:lstStyle/>
          <a:p>
            <a:endParaRPr lang="en-IN"/>
          </a:p>
        </p:txBody>
      </p:sp>
      <p:sp>
        <p:nvSpPr>
          <p:cNvPr id="31" name="Text 28"/>
          <p:cNvSpPr/>
          <p:nvPr/>
        </p:nvSpPr>
        <p:spPr>
          <a:xfrm>
            <a:off x="6583680" y="5513832"/>
            <a:ext cx="4937760" cy="320040"/>
          </a:xfrm>
          <a:prstGeom prst="rect">
            <a:avLst/>
          </a:prstGeom>
          <a:noFill/>
          <a:ln/>
        </p:spPr>
        <p:txBody>
          <a:bodyPr wrap="square" lIns="0" tIns="0" rIns="0" bIns="0" rtlCol="0" anchor="ctr"/>
          <a:lstStyle/>
          <a:p>
            <a:pPr marL="0" indent="0">
              <a:buNone/>
            </a:pPr>
            <a:r>
              <a:rPr lang="en-US" sz="1400" b="1" dirty="0">
                <a:solidFill>
                  <a:srgbClr val="1F1E1D"/>
                </a:solidFill>
                <a:latin typeface="Calibri" pitchFamily="34" charset="0"/>
                <a:ea typeface="Calibri" pitchFamily="34" charset="-122"/>
                <a:cs typeface="Calibri" pitchFamily="34" charset="-120"/>
              </a:rPr>
              <a:t>Compress instructions</a:t>
            </a:r>
            <a:endParaRPr lang="en-US" sz="1400" dirty="0"/>
          </a:p>
        </p:txBody>
      </p:sp>
      <p:sp>
        <p:nvSpPr>
          <p:cNvPr id="32" name="Text 29"/>
          <p:cNvSpPr/>
          <p:nvPr/>
        </p:nvSpPr>
        <p:spPr>
          <a:xfrm>
            <a:off x="6583680" y="5815584"/>
            <a:ext cx="4937760" cy="420624"/>
          </a:xfrm>
          <a:prstGeom prst="rect">
            <a:avLst/>
          </a:prstGeom>
          <a:noFill/>
          <a:ln/>
        </p:spPr>
        <p:txBody>
          <a:bodyPr wrap="square" lIns="0" tIns="0" rIns="0" bIns="0" rtlCol="0" anchor="t"/>
          <a:lstStyle/>
          <a:p>
            <a:pPr marL="0" indent="0">
              <a:lnSpc>
                <a:spcPts val="1400"/>
              </a:lnSpc>
              <a:buNone/>
            </a:pPr>
            <a:r>
              <a:rPr lang="en-US" sz="1150" dirty="0">
                <a:solidFill>
                  <a:srgbClr val="3D3A35"/>
                </a:solidFill>
                <a:latin typeface="Calibri" pitchFamily="34" charset="0"/>
                <a:ea typeface="Calibri" pitchFamily="34" charset="-122"/>
                <a:cs typeface="Calibri" pitchFamily="34" charset="-120"/>
              </a:rPr>
              <a:t>Trim system prompts and CLAUDE.md to what actually steers behavior.</a:t>
            </a:r>
            <a:endParaRPr lang="en-US" sz="1150" dirty="0"/>
          </a:p>
        </p:txBody>
      </p:sp>
      <p:sp>
        <p:nvSpPr>
          <p:cNvPr id="33" name="Text 30"/>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4" name="Text 31"/>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MEASURE BEFORE YOU OPTIMIZE</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Tracking token consumption</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548640"/>
          </a:xfrm>
          <a:prstGeom prst="rect">
            <a:avLst/>
          </a:prstGeom>
          <a:noFill/>
          <a:ln/>
        </p:spPr>
        <p:txBody>
          <a:bodyPr wrap="square" lIns="0" tIns="0" rIns="0" bIns="0" rtlCol="0" anchor="ctr"/>
          <a:lstStyle/>
          <a:p>
            <a:pPr marL="0" indent="0">
              <a:lnSpc>
                <a:spcPts val="1800"/>
              </a:lnSpc>
              <a:buNone/>
            </a:pPr>
            <a:r>
              <a:rPr lang="en-US" sz="1450" dirty="0">
                <a:solidFill>
                  <a:srgbClr val="3D3A35"/>
                </a:solidFill>
                <a:latin typeface="Calibri" pitchFamily="34" charset="0"/>
                <a:ea typeface="Calibri" pitchFamily="34" charset="-122"/>
                <a:cs typeface="Calibri" pitchFamily="34" charset="-120"/>
              </a:rPr>
              <a:t>You can't control what you don't watch. Make token usage visible at the session, project, and org level before tuning anything.</a:t>
            </a:r>
            <a:endParaRPr lang="en-US" sz="1450" dirty="0"/>
          </a:p>
        </p:txBody>
      </p:sp>
      <p:sp>
        <p:nvSpPr>
          <p:cNvPr id="6" name="Shape 3"/>
          <p:cNvSpPr/>
          <p:nvPr/>
        </p:nvSpPr>
        <p:spPr>
          <a:xfrm>
            <a:off x="548640" y="2331720"/>
            <a:ext cx="3611880" cy="2514600"/>
          </a:xfrm>
          <a:prstGeom prst="roundRect">
            <a:avLst>
              <a:gd name="adj" fmla="val 363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Text 4"/>
          <p:cNvSpPr/>
          <p:nvPr/>
        </p:nvSpPr>
        <p:spPr>
          <a:xfrm>
            <a:off x="822960" y="2587752"/>
            <a:ext cx="3063240" cy="274320"/>
          </a:xfrm>
          <a:prstGeom prst="rect">
            <a:avLst/>
          </a:prstGeom>
          <a:noFill/>
          <a:ln/>
        </p:spPr>
        <p:txBody>
          <a:bodyPr wrap="square" lIns="0" tIns="0" rIns="0" bIns="0" rtlCol="0" anchor="ctr"/>
          <a:lstStyle/>
          <a:p>
            <a:pPr marL="0" indent="0">
              <a:buNone/>
            </a:pPr>
            <a:r>
              <a:rPr lang="en-US" sz="1100" b="1" kern="0" spc="150" dirty="0">
                <a:solidFill>
                  <a:srgbClr val="BF5E3C"/>
                </a:solidFill>
                <a:latin typeface="Calibri" pitchFamily="34" charset="0"/>
                <a:ea typeface="Calibri" pitchFamily="34" charset="-122"/>
                <a:cs typeface="Calibri" pitchFamily="34" charset="-120"/>
              </a:rPr>
              <a:t>SESSION</a:t>
            </a:r>
            <a:endParaRPr lang="en-US" sz="1100" dirty="0"/>
          </a:p>
        </p:txBody>
      </p:sp>
      <p:sp>
        <p:nvSpPr>
          <p:cNvPr id="8" name="Shape 5"/>
          <p:cNvSpPr/>
          <p:nvPr/>
        </p:nvSpPr>
        <p:spPr>
          <a:xfrm>
            <a:off x="822960" y="2898648"/>
            <a:ext cx="3063240" cy="530352"/>
          </a:xfrm>
          <a:prstGeom prst="roundRect">
            <a:avLst>
              <a:gd name="adj" fmla="val 8621"/>
            </a:avLst>
          </a:prstGeom>
          <a:solidFill>
            <a:srgbClr val="262624"/>
          </a:solidFill>
          <a:ln/>
        </p:spPr>
        <p:txBody>
          <a:bodyPr/>
          <a:lstStyle/>
          <a:p>
            <a:endParaRPr lang="en-IN"/>
          </a:p>
        </p:txBody>
      </p:sp>
      <p:sp>
        <p:nvSpPr>
          <p:cNvPr id="9" name="Text 6"/>
          <p:cNvSpPr/>
          <p:nvPr/>
        </p:nvSpPr>
        <p:spPr>
          <a:xfrm>
            <a:off x="822960" y="2898648"/>
            <a:ext cx="3063240" cy="530352"/>
          </a:xfrm>
          <a:prstGeom prst="rect">
            <a:avLst/>
          </a:prstGeom>
          <a:noFill/>
          <a:ln/>
        </p:spPr>
        <p:txBody>
          <a:bodyPr wrap="square" lIns="0" tIns="0" rIns="0" bIns="0" rtlCol="0" anchor="ctr"/>
          <a:lstStyle/>
          <a:p>
            <a:pPr marL="0" indent="0" algn="ctr">
              <a:buNone/>
            </a:pPr>
            <a:r>
              <a:rPr lang="en-US" sz="1450" b="1" dirty="0">
                <a:solidFill>
                  <a:srgbClr val="F0EEE6"/>
                </a:solidFill>
                <a:latin typeface="Consolas" pitchFamily="34" charset="0"/>
                <a:ea typeface="Consolas" pitchFamily="34" charset="-122"/>
                <a:cs typeface="Consolas" pitchFamily="34" charset="-120"/>
              </a:rPr>
              <a:t>/usage  &amp;  /cost</a:t>
            </a:r>
            <a:endParaRPr lang="en-US" sz="1450" dirty="0"/>
          </a:p>
        </p:txBody>
      </p:sp>
      <p:sp>
        <p:nvSpPr>
          <p:cNvPr id="10" name="Text 7"/>
          <p:cNvSpPr/>
          <p:nvPr/>
        </p:nvSpPr>
        <p:spPr>
          <a:xfrm>
            <a:off x="822960" y="3593592"/>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Live token counts, duration, and a local cost estimate for the current session.</a:t>
            </a:r>
            <a:endParaRPr lang="en-US" sz="1250" dirty="0"/>
          </a:p>
        </p:txBody>
      </p:sp>
      <p:sp>
        <p:nvSpPr>
          <p:cNvPr id="11" name="Shape 8"/>
          <p:cNvSpPr/>
          <p:nvPr/>
        </p:nvSpPr>
        <p:spPr>
          <a:xfrm>
            <a:off x="4434840" y="2331720"/>
            <a:ext cx="3611880" cy="2514600"/>
          </a:xfrm>
          <a:prstGeom prst="roundRect">
            <a:avLst>
              <a:gd name="adj" fmla="val 363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2" name="Text 9"/>
          <p:cNvSpPr/>
          <p:nvPr/>
        </p:nvSpPr>
        <p:spPr>
          <a:xfrm>
            <a:off x="4709160" y="2587752"/>
            <a:ext cx="3063240" cy="274320"/>
          </a:xfrm>
          <a:prstGeom prst="rect">
            <a:avLst/>
          </a:prstGeom>
          <a:noFill/>
          <a:ln/>
        </p:spPr>
        <p:txBody>
          <a:bodyPr wrap="square" lIns="0" tIns="0" rIns="0" bIns="0" rtlCol="0" anchor="ctr"/>
          <a:lstStyle/>
          <a:p>
            <a:pPr marL="0" indent="0">
              <a:buNone/>
            </a:pPr>
            <a:r>
              <a:rPr lang="en-US" sz="1100" b="1" kern="0" spc="150" dirty="0">
                <a:solidFill>
                  <a:srgbClr val="BF5E3C"/>
                </a:solidFill>
                <a:latin typeface="Calibri" pitchFamily="34" charset="0"/>
                <a:ea typeface="Calibri" pitchFamily="34" charset="-122"/>
                <a:cs typeface="Calibri" pitchFamily="34" charset="-120"/>
              </a:rPr>
              <a:t>ORG / BILLING</a:t>
            </a:r>
            <a:endParaRPr lang="en-US" sz="1100" dirty="0"/>
          </a:p>
        </p:txBody>
      </p:sp>
      <p:sp>
        <p:nvSpPr>
          <p:cNvPr id="13" name="Shape 10"/>
          <p:cNvSpPr/>
          <p:nvPr/>
        </p:nvSpPr>
        <p:spPr>
          <a:xfrm>
            <a:off x="4709160" y="2898648"/>
            <a:ext cx="3063240" cy="530352"/>
          </a:xfrm>
          <a:prstGeom prst="roundRect">
            <a:avLst>
              <a:gd name="adj" fmla="val 8621"/>
            </a:avLst>
          </a:prstGeom>
          <a:solidFill>
            <a:srgbClr val="262624"/>
          </a:solidFill>
          <a:ln/>
        </p:spPr>
        <p:txBody>
          <a:bodyPr/>
          <a:lstStyle/>
          <a:p>
            <a:endParaRPr lang="en-IN"/>
          </a:p>
        </p:txBody>
      </p:sp>
      <p:sp>
        <p:nvSpPr>
          <p:cNvPr id="14" name="Text 11"/>
          <p:cNvSpPr/>
          <p:nvPr/>
        </p:nvSpPr>
        <p:spPr>
          <a:xfrm>
            <a:off x="4709160" y="2898648"/>
            <a:ext cx="3063240" cy="530352"/>
          </a:xfrm>
          <a:prstGeom prst="rect">
            <a:avLst/>
          </a:prstGeom>
          <a:noFill/>
          <a:ln/>
        </p:spPr>
        <p:txBody>
          <a:bodyPr wrap="square" lIns="0" tIns="0" rIns="0" bIns="0" rtlCol="0" anchor="ctr"/>
          <a:lstStyle/>
          <a:p>
            <a:pPr marL="0" indent="0" algn="ctr">
              <a:buNone/>
            </a:pPr>
            <a:r>
              <a:rPr lang="en-US" sz="1450" b="1" dirty="0">
                <a:solidFill>
                  <a:srgbClr val="F0EEE6"/>
                </a:solidFill>
                <a:latin typeface="Consolas" pitchFamily="34" charset="0"/>
                <a:ea typeface="Consolas" pitchFamily="34" charset="-122"/>
                <a:cs typeface="Consolas" pitchFamily="34" charset="-120"/>
              </a:rPr>
              <a:t>Console Usage page</a:t>
            </a:r>
            <a:endParaRPr lang="en-US" sz="1450" dirty="0"/>
          </a:p>
        </p:txBody>
      </p:sp>
      <p:sp>
        <p:nvSpPr>
          <p:cNvPr id="15" name="Text 12"/>
          <p:cNvSpPr/>
          <p:nvPr/>
        </p:nvSpPr>
        <p:spPr>
          <a:xfrm>
            <a:off x="4709160" y="3593592"/>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Authoritative spend across the organization — the number finance trusts.</a:t>
            </a:r>
            <a:endParaRPr lang="en-US" sz="1250" dirty="0"/>
          </a:p>
        </p:txBody>
      </p:sp>
      <p:sp>
        <p:nvSpPr>
          <p:cNvPr id="16" name="Shape 13"/>
          <p:cNvSpPr/>
          <p:nvPr/>
        </p:nvSpPr>
        <p:spPr>
          <a:xfrm>
            <a:off x="8321040" y="2331720"/>
            <a:ext cx="3611880" cy="2514600"/>
          </a:xfrm>
          <a:prstGeom prst="roundRect">
            <a:avLst>
              <a:gd name="adj" fmla="val 363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7" name="Text 14"/>
          <p:cNvSpPr/>
          <p:nvPr/>
        </p:nvSpPr>
        <p:spPr>
          <a:xfrm>
            <a:off x="8595360" y="2587752"/>
            <a:ext cx="3063240" cy="274320"/>
          </a:xfrm>
          <a:prstGeom prst="rect">
            <a:avLst/>
          </a:prstGeom>
          <a:noFill/>
          <a:ln/>
        </p:spPr>
        <p:txBody>
          <a:bodyPr wrap="square" lIns="0" tIns="0" rIns="0" bIns="0" rtlCol="0" anchor="ctr"/>
          <a:lstStyle/>
          <a:p>
            <a:pPr marL="0" indent="0">
              <a:buNone/>
            </a:pPr>
            <a:r>
              <a:rPr lang="en-US" sz="1100" b="1" kern="0" spc="150" dirty="0">
                <a:solidFill>
                  <a:srgbClr val="BF5E3C"/>
                </a:solidFill>
                <a:latin typeface="Calibri" pitchFamily="34" charset="0"/>
                <a:ea typeface="Calibri" pitchFamily="34" charset="-122"/>
                <a:cs typeface="Calibri" pitchFamily="34" charset="-120"/>
              </a:rPr>
              <a:t>PER-CALL</a:t>
            </a:r>
            <a:endParaRPr lang="en-US" sz="1100" dirty="0"/>
          </a:p>
        </p:txBody>
      </p:sp>
      <p:sp>
        <p:nvSpPr>
          <p:cNvPr id="18" name="Shape 15"/>
          <p:cNvSpPr/>
          <p:nvPr/>
        </p:nvSpPr>
        <p:spPr>
          <a:xfrm>
            <a:off x="8595360" y="2898648"/>
            <a:ext cx="3063240" cy="530352"/>
          </a:xfrm>
          <a:prstGeom prst="roundRect">
            <a:avLst>
              <a:gd name="adj" fmla="val 8621"/>
            </a:avLst>
          </a:prstGeom>
          <a:solidFill>
            <a:srgbClr val="262624"/>
          </a:solidFill>
          <a:ln/>
        </p:spPr>
        <p:txBody>
          <a:bodyPr/>
          <a:lstStyle/>
          <a:p>
            <a:endParaRPr lang="en-IN"/>
          </a:p>
        </p:txBody>
      </p:sp>
      <p:sp>
        <p:nvSpPr>
          <p:cNvPr id="19" name="Text 16"/>
          <p:cNvSpPr/>
          <p:nvPr/>
        </p:nvSpPr>
        <p:spPr>
          <a:xfrm>
            <a:off x="8595360" y="2898648"/>
            <a:ext cx="3063240" cy="530352"/>
          </a:xfrm>
          <a:prstGeom prst="rect">
            <a:avLst/>
          </a:prstGeom>
          <a:noFill/>
          <a:ln/>
        </p:spPr>
        <p:txBody>
          <a:bodyPr wrap="square" lIns="0" tIns="0" rIns="0" bIns="0" rtlCol="0" anchor="ctr"/>
          <a:lstStyle/>
          <a:p>
            <a:pPr marL="0" indent="0" algn="ctr">
              <a:buNone/>
            </a:pPr>
            <a:r>
              <a:rPr lang="en-US" sz="1450" b="1" dirty="0">
                <a:solidFill>
                  <a:srgbClr val="F0EEE6"/>
                </a:solidFill>
                <a:latin typeface="Consolas" pitchFamily="34" charset="0"/>
                <a:ea typeface="Consolas" pitchFamily="34" charset="-122"/>
                <a:cs typeface="Consolas" pitchFamily="34" charset="-120"/>
              </a:rPr>
              <a:t>response.usage</a:t>
            </a:r>
            <a:endParaRPr lang="en-US" sz="1450" dirty="0"/>
          </a:p>
        </p:txBody>
      </p:sp>
      <p:sp>
        <p:nvSpPr>
          <p:cNvPr id="20" name="Text 17"/>
          <p:cNvSpPr/>
          <p:nvPr/>
        </p:nvSpPr>
        <p:spPr>
          <a:xfrm>
            <a:off x="8595360" y="3593592"/>
            <a:ext cx="3063240" cy="1097280"/>
          </a:xfrm>
          <a:prstGeom prst="rect">
            <a:avLst/>
          </a:prstGeom>
          <a:noFill/>
          <a:ln/>
        </p:spPr>
        <p:txBody>
          <a:bodyPr wrap="square" lIns="0" tIns="0" rIns="0" bIns="0" rtlCol="0" anchor="t"/>
          <a:lstStyle/>
          <a:p>
            <a:pPr marL="0" indent="0">
              <a:lnSpc>
                <a:spcPts val="1600"/>
              </a:lnSpc>
              <a:buNone/>
            </a:pPr>
            <a:r>
              <a:rPr lang="en-US" sz="1250" dirty="0">
                <a:solidFill>
                  <a:srgbClr val="3D3A35"/>
                </a:solidFill>
                <a:latin typeface="Calibri" pitchFamily="34" charset="0"/>
                <a:ea typeface="Calibri" pitchFamily="34" charset="-122"/>
                <a:cs typeface="Calibri" pitchFamily="34" charset="-120"/>
              </a:rPr>
              <a:t>Inspect input, output, and cache-hit tokens programmatically to find hotspots.</a:t>
            </a:r>
            <a:endParaRPr lang="en-US" sz="1250" dirty="0"/>
          </a:p>
        </p:txBody>
      </p:sp>
      <p:sp>
        <p:nvSpPr>
          <p:cNvPr id="21" name="Shape 18"/>
          <p:cNvSpPr/>
          <p:nvPr/>
        </p:nvSpPr>
        <p:spPr>
          <a:xfrm>
            <a:off x="548640" y="5074920"/>
            <a:ext cx="11091672" cy="960120"/>
          </a:xfrm>
          <a:prstGeom prst="roundRect">
            <a:avLst>
              <a:gd name="adj" fmla="val 6667"/>
            </a:avLst>
          </a:prstGeom>
          <a:solidFill>
            <a:srgbClr val="E5DDCE"/>
          </a:solidFill>
          <a:ln/>
        </p:spPr>
        <p:txBody>
          <a:bodyPr/>
          <a:lstStyle/>
          <a:p>
            <a:endParaRPr lang="en-IN"/>
          </a:p>
        </p:txBody>
      </p:sp>
      <p:sp>
        <p:nvSpPr>
          <p:cNvPr id="22" name="Text 19"/>
          <p:cNvSpPr/>
          <p:nvPr/>
        </p:nvSpPr>
        <p:spPr>
          <a:xfrm>
            <a:off x="868680" y="5074920"/>
            <a:ext cx="10469880" cy="960120"/>
          </a:xfrm>
          <a:prstGeom prst="rect">
            <a:avLst/>
          </a:prstGeom>
          <a:noFill/>
          <a:ln/>
        </p:spPr>
        <p:txBody>
          <a:bodyPr wrap="square" lIns="0" tIns="0" rIns="0" bIns="0" rtlCol="0" anchor="ctr"/>
          <a:lstStyle/>
          <a:p>
            <a:pPr marL="0" indent="0">
              <a:lnSpc>
                <a:spcPts val="1700"/>
              </a:lnSpc>
              <a:buNone/>
            </a:pPr>
            <a:r>
              <a:rPr lang="en-US" sz="1350" b="1" dirty="0">
                <a:solidFill>
                  <a:srgbClr val="BF5E3C"/>
                </a:solidFill>
                <a:latin typeface="Calibri" pitchFamily="34" charset="0"/>
                <a:ea typeface="Calibri" pitchFamily="34" charset="-122"/>
                <a:cs typeface="Calibri" pitchFamily="34" charset="-120"/>
              </a:rPr>
              <a:t>Benchmark first.  </a:t>
            </a:r>
            <a:r>
              <a:rPr lang="en-US" sz="1350" dirty="0">
                <a:solidFill>
                  <a:srgbClr val="1F1E1D"/>
                </a:solidFill>
                <a:latin typeface="Calibri" pitchFamily="34" charset="0"/>
                <a:ea typeface="Calibri" pitchFamily="34" charset="-122"/>
                <a:cs typeface="Calibri" pitchFamily="34" charset="-120"/>
              </a:rPr>
              <a:t>Enterprise deployments average ~$13 per developer per active day and $150–250 per month — run a small pilot to set your own baseline before rollout.</a:t>
            </a:r>
            <a:endParaRPr lang="en-US" sz="1350" dirty="0"/>
          </a:p>
        </p:txBody>
      </p:sp>
      <p:sp>
        <p:nvSpPr>
          <p:cNvPr id="23" name="Text 20"/>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24" name="Text 21"/>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KEEP SPEND PREDICTABLE</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Practical cost guardrails</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Shape 2"/>
          <p:cNvSpPr/>
          <p:nvPr/>
        </p:nvSpPr>
        <p:spPr>
          <a:xfrm>
            <a:off x="548640" y="1783080"/>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6" name="Shape 3"/>
          <p:cNvSpPr/>
          <p:nvPr/>
        </p:nvSpPr>
        <p:spPr>
          <a:xfrm>
            <a:off x="804672" y="2112264"/>
            <a:ext cx="548640" cy="548640"/>
          </a:xfrm>
          <a:prstGeom prst="ellipse">
            <a:avLst/>
          </a:prstGeom>
          <a:solidFill>
            <a:srgbClr val="D97757"/>
          </a:solidFill>
          <a:ln/>
        </p:spPr>
        <p:txBody>
          <a:bodyPr/>
          <a:lstStyle/>
          <a:p>
            <a:endParaRPr lang="en-IN"/>
          </a:p>
        </p:txBody>
      </p:sp>
      <p:sp>
        <p:nvSpPr>
          <p:cNvPr id="7" name="Text 4"/>
          <p:cNvSpPr/>
          <p:nvPr/>
        </p:nvSpPr>
        <p:spPr>
          <a:xfrm>
            <a:off x="804672" y="2112264"/>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5"/>
          <p:cNvSpPr/>
          <p:nvPr/>
        </p:nvSpPr>
        <p:spPr>
          <a:xfrm>
            <a:off x="1508760" y="1965960"/>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Tiered routing</a:t>
            </a:r>
            <a:endParaRPr lang="en-US" sz="1600" dirty="0"/>
          </a:p>
        </p:txBody>
      </p:sp>
      <p:sp>
        <p:nvSpPr>
          <p:cNvPr id="9" name="Text 6"/>
          <p:cNvSpPr/>
          <p:nvPr/>
        </p:nvSpPr>
        <p:spPr>
          <a:xfrm>
            <a:off x="1508760" y="2313432"/>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Default to Sonnet; drop to Haiku for triage; escalate to Opus only on hard steps.</a:t>
            </a:r>
            <a:endParaRPr lang="en-US" sz="1200" dirty="0"/>
          </a:p>
        </p:txBody>
      </p:sp>
      <p:sp>
        <p:nvSpPr>
          <p:cNvPr id="10" name="Shape 7"/>
          <p:cNvSpPr/>
          <p:nvPr/>
        </p:nvSpPr>
        <p:spPr>
          <a:xfrm>
            <a:off x="6291072" y="1783080"/>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1" name="Shape 8"/>
          <p:cNvSpPr/>
          <p:nvPr/>
        </p:nvSpPr>
        <p:spPr>
          <a:xfrm>
            <a:off x="6547104" y="2112264"/>
            <a:ext cx="548640" cy="548640"/>
          </a:xfrm>
          <a:prstGeom prst="ellipse">
            <a:avLst/>
          </a:prstGeom>
          <a:solidFill>
            <a:srgbClr val="D97757"/>
          </a:solidFill>
          <a:ln/>
        </p:spPr>
        <p:txBody>
          <a:bodyPr/>
          <a:lstStyle/>
          <a:p>
            <a:endParaRPr lang="en-IN"/>
          </a:p>
        </p:txBody>
      </p:sp>
      <p:sp>
        <p:nvSpPr>
          <p:cNvPr id="12" name="Text 9"/>
          <p:cNvSpPr/>
          <p:nvPr/>
        </p:nvSpPr>
        <p:spPr>
          <a:xfrm>
            <a:off x="6547104" y="2112264"/>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0"/>
          <p:cNvSpPr/>
          <p:nvPr/>
        </p:nvSpPr>
        <p:spPr>
          <a:xfrm>
            <a:off x="7251192" y="1965960"/>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Cache by design</a:t>
            </a:r>
            <a:endParaRPr lang="en-US" sz="1600" dirty="0"/>
          </a:p>
        </p:txBody>
      </p:sp>
      <p:sp>
        <p:nvSpPr>
          <p:cNvPr id="14" name="Text 11"/>
          <p:cNvSpPr/>
          <p:nvPr/>
        </p:nvSpPr>
        <p:spPr>
          <a:xfrm>
            <a:off x="7251192" y="2313432"/>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Make stable prefixes cacheable and verify cache-hit rates in usage telemetry.</a:t>
            </a:r>
            <a:endParaRPr lang="en-US" sz="1200" dirty="0"/>
          </a:p>
        </p:txBody>
      </p:sp>
      <p:sp>
        <p:nvSpPr>
          <p:cNvPr id="15" name="Shape 12"/>
          <p:cNvSpPr/>
          <p:nvPr/>
        </p:nvSpPr>
        <p:spPr>
          <a:xfrm>
            <a:off x="548640" y="3227832"/>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16" name="Shape 13"/>
          <p:cNvSpPr/>
          <p:nvPr/>
        </p:nvSpPr>
        <p:spPr>
          <a:xfrm>
            <a:off x="804672" y="3557016"/>
            <a:ext cx="548640" cy="548640"/>
          </a:xfrm>
          <a:prstGeom prst="ellipse">
            <a:avLst/>
          </a:prstGeom>
          <a:solidFill>
            <a:srgbClr val="D97757"/>
          </a:solidFill>
          <a:ln/>
        </p:spPr>
        <p:txBody>
          <a:bodyPr/>
          <a:lstStyle/>
          <a:p>
            <a:endParaRPr lang="en-IN"/>
          </a:p>
        </p:txBody>
      </p:sp>
      <p:sp>
        <p:nvSpPr>
          <p:cNvPr id="17" name="Text 14"/>
          <p:cNvSpPr/>
          <p:nvPr/>
        </p:nvSpPr>
        <p:spPr>
          <a:xfrm>
            <a:off x="804672" y="35570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5"/>
          <p:cNvSpPr/>
          <p:nvPr/>
        </p:nvSpPr>
        <p:spPr>
          <a:xfrm>
            <a:off x="1508760" y="3410712"/>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Cap the fan-out</a:t>
            </a:r>
            <a:endParaRPr lang="en-US" sz="1600" dirty="0"/>
          </a:p>
        </p:txBody>
      </p:sp>
      <p:sp>
        <p:nvSpPr>
          <p:cNvPr id="19" name="Text 16"/>
          <p:cNvSpPr/>
          <p:nvPr/>
        </p:nvSpPr>
        <p:spPr>
          <a:xfrm>
            <a:off x="1508760" y="3758184"/>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Limit worker/subagent counts and scope each subtask — respect the 15× multiplier.</a:t>
            </a:r>
            <a:endParaRPr lang="en-US" sz="1200" dirty="0"/>
          </a:p>
        </p:txBody>
      </p:sp>
      <p:sp>
        <p:nvSpPr>
          <p:cNvPr id="20" name="Shape 17"/>
          <p:cNvSpPr/>
          <p:nvPr/>
        </p:nvSpPr>
        <p:spPr>
          <a:xfrm>
            <a:off x="6291072" y="3227832"/>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1" name="Shape 18"/>
          <p:cNvSpPr/>
          <p:nvPr/>
        </p:nvSpPr>
        <p:spPr>
          <a:xfrm>
            <a:off x="6547104" y="3557016"/>
            <a:ext cx="548640" cy="548640"/>
          </a:xfrm>
          <a:prstGeom prst="ellipse">
            <a:avLst/>
          </a:prstGeom>
          <a:solidFill>
            <a:srgbClr val="D97757"/>
          </a:solidFill>
          <a:ln/>
        </p:spPr>
        <p:txBody>
          <a:bodyPr/>
          <a:lstStyle/>
          <a:p>
            <a:endParaRPr lang="en-IN"/>
          </a:p>
        </p:txBody>
      </p:sp>
      <p:sp>
        <p:nvSpPr>
          <p:cNvPr id="22" name="Text 19"/>
          <p:cNvSpPr/>
          <p:nvPr/>
        </p:nvSpPr>
        <p:spPr>
          <a:xfrm>
            <a:off x="6547104" y="355701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3" name="Text 20"/>
          <p:cNvSpPr/>
          <p:nvPr/>
        </p:nvSpPr>
        <p:spPr>
          <a:xfrm>
            <a:off x="7251192" y="3410712"/>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Batch the non-urgent</a:t>
            </a:r>
            <a:endParaRPr lang="en-US" sz="1600" dirty="0"/>
          </a:p>
        </p:txBody>
      </p:sp>
      <p:sp>
        <p:nvSpPr>
          <p:cNvPr id="24" name="Text 21"/>
          <p:cNvSpPr/>
          <p:nvPr/>
        </p:nvSpPr>
        <p:spPr>
          <a:xfrm>
            <a:off x="7251192" y="3758184"/>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Send latency-tolerant jobs through the Batch API for ~50% off.</a:t>
            </a:r>
            <a:endParaRPr lang="en-US" sz="1200" dirty="0"/>
          </a:p>
        </p:txBody>
      </p:sp>
      <p:sp>
        <p:nvSpPr>
          <p:cNvPr id="25" name="Shape 22"/>
          <p:cNvSpPr/>
          <p:nvPr/>
        </p:nvSpPr>
        <p:spPr>
          <a:xfrm>
            <a:off x="548640" y="4672584"/>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6" name="Shape 23"/>
          <p:cNvSpPr/>
          <p:nvPr/>
        </p:nvSpPr>
        <p:spPr>
          <a:xfrm>
            <a:off x="804672" y="5001768"/>
            <a:ext cx="548640" cy="548640"/>
          </a:xfrm>
          <a:prstGeom prst="ellipse">
            <a:avLst/>
          </a:prstGeom>
          <a:solidFill>
            <a:srgbClr val="D97757"/>
          </a:solidFill>
          <a:ln/>
        </p:spPr>
        <p:txBody>
          <a:bodyPr/>
          <a:lstStyle/>
          <a:p>
            <a:endParaRPr lang="en-IN"/>
          </a:p>
        </p:txBody>
      </p:sp>
      <p:sp>
        <p:nvSpPr>
          <p:cNvPr id="27" name="Text 24"/>
          <p:cNvSpPr/>
          <p:nvPr/>
        </p:nvSpPr>
        <p:spPr>
          <a:xfrm>
            <a:off x="804672" y="5001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8" name="Text 25"/>
          <p:cNvSpPr/>
          <p:nvPr/>
        </p:nvSpPr>
        <p:spPr>
          <a:xfrm>
            <a:off x="1508760" y="4855464"/>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Set spend limits</a:t>
            </a:r>
            <a:endParaRPr lang="en-US" sz="1600" dirty="0"/>
          </a:p>
        </p:txBody>
      </p:sp>
      <p:sp>
        <p:nvSpPr>
          <p:cNvPr id="29" name="Text 26"/>
          <p:cNvSpPr/>
          <p:nvPr/>
        </p:nvSpPr>
        <p:spPr>
          <a:xfrm>
            <a:off x="1508760" y="5202936"/>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Use team/org limits and budget alerts so runaway loops fail loud, not silently.</a:t>
            </a:r>
            <a:endParaRPr lang="en-US" sz="1200" dirty="0"/>
          </a:p>
        </p:txBody>
      </p:sp>
      <p:sp>
        <p:nvSpPr>
          <p:cNvPr id="30" name="Shape 27"/>
          <p:cNvSpPr/>
          <p:nvPr/>
        </p:nvSpPr>
        <p:spPr>
          <a:xfrm>
            <a:off x="6291072" y="4672584"/>
            <a:ext cx="5440680" cy="1207008"/>
          </a:xfrm>
          <a:prstGeom prst="roundRect">
            <a:avLst>
              <a:gd name="adj" fmla="val 7576"/>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31" name="Shape 28"/>
          <p:cNvSpPr/>
          <p:nvPr/>
        </p:nvSpPr>
        <p:spPr>
          <a:xfrm>
            <a:off x="6547104" y="5001768"/>
            <a:ext cx="548640" cy="548640"/>
          </a:xfrm>
          <a:prstGeom prst="ellipse">
            <a:avLst/>
          </a:prstGeom>
          <a:solidFill>
            <a:srgbClr val="D97757"/>
          </a:solidFill>
          <a:ln/>
        </p:spPr>
        <p:txBody>
          <a:bodyPr/>
          <a:lstStyle/>
          <a:p>
            <a:endParaRPr lang="en-IN"/>
          </a:p>
        </p:txBody>
      </p:sp>
      <p:sp>
        <p:nvSpPr>
          <p:cNvPr id="32" name="Text 29"/>
          <p:cNvSpPr/>
          <p:nvPr/>
        </p:nvSpPr>
        <p:spPr>
          <a:xfrm>
            <a:off x="6547104" y="5001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33" name="Text 30"/>
          <p:cNvSpPr/>
          <p:nvPr/>
        </p:nvSpPr>
        <p:spPr>
          <a:xfrm>
            <a:off x="7251192" y="4855464"/>
            <a:ext cx="4251960" cy="365760"/>
          </a:xfrm>
          <a:prstGeom prst="rect">
            <a:avLst/>
          </a:prstGeom>
          <a:noFill/>
          <a:ln/>
        </p:spPr>
        <p:txBody>
          <a:bodyPr wrap="square" lIns="0" tIns="0" rIns="0" bIns="0" rtlCol="0" anchor="ctr"/>
          <a:lstStyle/>
          <a:p>
            <a:pPr marL="0" indent="0">
              <a:buNone/>
            </a:pPr>
            <a:r>
              <a:rPr lang="en-US" sz="1600" b="1" dirty="0">
                <a:solidFill>
                  <a:srgbClr val="1F1E1D"/>
                </a:solidFill>
                <a:latin typeface="Calibri" pitchFamily="34" charset="0"/>
                <a:ea typeface="Calibri" pitchFamily="34" charset="-122"/>
                <a:cs typeface="Calibri" pitchFamily="34" charset="-120"/>
              </a:rPr>
              <a:t>Trim context</a:t>
            </a:r>
            <a:endParaRPr lang="en-US" sz="1600" dirty="0"/>
          </a:p>
        </p:txBody>
      </p:sp>
      <p:sp>
        <p:nvSpPr>
          <p:cNvPr id="34" name="Text 31"/>
          <p:cNvSpPr/>
          <p:nvPr/>
        </p:nvSpPr>
        <p:spPr>
          <a:xfrm>
            <a:off x="7251192" y="5202936"/>
            <a:ext cx="4251960" cy="594360"/>
          </a:xfrm>
          <a:prstGeom prst="rect">
            <a:avLst/>
          </a:prstGeom>
          <a:noFill/>
          <a:ln/>
        </p:spPr>
        <p:txBody>
          <a:bodyPr wrap="square" lIns="0" tIns="0" rIns="0" bIns="0" rtlCol="0" anchor="t"/>
          <a:lstStyle/>
          <a:p>
            <a:pPr marL="0" indent="0">
              <a:lnSpc>
                <a:spcPts val="1500"/>
              </a:lnSpc>
              <a:buNone/>
            </a:pPr>
            <a:r>
              <a:rPr lang="en-US" sz="1200" dirty="0">
                <a:solidFill>
                  <a:srgbClr val="3D3A35"/>
                </a:solidFill>
                <a:latin typeface="Calibri" pitchFamily="34" charset="0"/>
                <a:ea typeface="Calibri" pitchFamily="34" charset="-122"/>
                <a:cs typeface="Calibri" pitchFamily="34" charset="-120"/>
              </a:rPr>
              <a:t>Compact long sessions and prune stale tool output to shrink every call.</a:t>
            </a:r>
            <a:endParaRPr lang="en-US" sz="1200" dirty="0"/>
          </a:p>
        </p:txBody>
      </p:sp>
      <p:sp>
        <p:nvSpPr>
          <p:cNvPr id="35" name="Text 32"/>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6" name="Text 33"/>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GOVERN THE SPEND</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Per-team cost SLOs &amp; budget alerting</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384048"/>
          </a:xfrm>
          <a:prstGeom prst="rect">
            <a:avLst/>
          </a:prstGeom>
          <a:noFill/>
          <a:ln/>
        </p:spPr>
        <p:txBody>
          <a:bodyPr wrap="square" lIns="0" tIns="0" rIns="0" bIns="0" rtlCol="0" anchor="ctr"/>
          <a:lstStyle/>
          <a:p>
            <a:pPr marL="0" indent="0">
              <a:buNone/>
            </a:pPr>
            <a:r>
              <a:rPr lang="en-US" sz="1450" dirty="0">
                <a:solidFill>
                  <a:srgbClr val="3D3A35"/>
                </a:solidFill>
                <a:latin typeface="Calibri" pitchFamily="34" charset="0"/>
                <a:ea typeface="Calibri" pitchFamily="34" charset="-122"/>
                <a:cs typeface="Calibri" pitchFamily="34" charset="-120"/>
              </a:rPr>
              <a:t>Treat cost like reliability: set a budget per team, alert before it's breached, and review burn rate like any other SLO.</a:t>
            </a:r>
            <a:endParaRPr lang="en-US" sz="1450" dirty="0"/>
          </a:p>
        </p:txBody>
      </p:sp>
      <p:sp>
        <p:nvSpPr>
          <p:cNvPr id="6" name="Shape 3"/>
          <p:cNvSpPr/>
          <p:nvPr/>
        </p:nvSpPr>
        <p:spPr>
          <a:xfrm>
            <a:off x="548640" y="2286000"/>
            <a:ext cx="6812280" cy="3611880"/>
          </a:xfrm>
          <a:prstGeom prst="roundRect">
            <a:avLst>
              <a:gd name="adj" fmla="val 2532"/>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Text 4"/>
          <p:cNvSpPr/>
          <p:nvPr/>
        </p:nvSpPr>
        <p:spPr>
          <a:xfrm>
            <a:off x="822960" y="2450592"/>
            <a:ext cx="6263640" cy="274320"/>
          </a:xfrm>
          <a:prstGeom prst="rect">
            <a:avLst/>
          </a:prstGeom>
          <a:noFill/>
          <a:ln/>
        </p:spPr>
        <p:txBody>
          <a:bodyPr wrap="square" lIns="0" tIns="0" rIns="0" bIns="0" rtlCol="0" anchor="ctr"/>
          <a:lstStyle/>
          <a:p>
            <a:pPr marL="0" indent="0">
              <a:buNone/>
            </a:pPr>
            <a:r>
              <a:rPr lang="en-US" sz="1200" b="1" kern="0" spc="120" dirty="0">
                <a:solidFill>
                  <a:srgbClr val="BF5E3C"/>
                </a:solidFill>
                <a:latin typeface="Calibri" pitchFamily="34" charset="0"/>
                <a:ea typeface="Calibri" pitchFamily="34" charset="-122"/>
                <a:cs typeface="Calibri" pitchFamily="34" charset="-120"/>
              </a:rPr>
              <a:t>BUDGET SLOs BY WORKLOAD</a:t>
            </a:r>
            <a:endParaRPr lang="en-US" sz="1200" dirty="0"/>
          </a:p>
        </p:txBody>
      </p:sp>
      <p:sp>
        <p:nvSpPr>
          <p:cNvPr id="8" name="Text 5"/>
          <p:cNvSpPr/>
          <p:nvPr/>
        </p:nvSpPr>
        <p:spPr>
          <a:xfrm>
            <a:off x="822960" y="2697480"/>
            <a:ext cx="2103120" cy="274320"/>
          </a:xfrm>
          <a:prstGeom prst="rect">
            <a:avLst/>
          </a:prstGeom>
          <a:noFill/>
          <a:ln/>
        </p:spPr>
        <p:txBody>
          <a:bodyPr wrap="square" lIns="0" tIns="0" rIns="0" bIns="0" rtlCol="0" anchor="ctr"/>
          <a:lstStyle/>
          <a:p>
            <a:pPr marL="0" indent="0">
              <a:buNone/>
            </a:pPr>
            <a:r>
              <a:rPr lang="en-US" sz="1050" b="1" kern="0" spc="50" dirty="0">
                <a:solidFill>
                  <a:srgbClr val="8C8579"/>
                </a:solidFill>
                <a:latin typeface="Calibri" pitchFamily="34" charset="0"/>
                <a:ea typeface="Calibri" pitchFamily="34" charset="-122"/>
                <a:cs typeface="Calibri" pitchFamily="34" charset="-120"/>
              </a:rPr>
              <a:t>Workload</a:t>
            </a:r>
            <a:endParaRPr lang="en-US" sz="1050" dirty="0"/>
          </a:p>
        </p:txBody>
      </p:sp>
      <p:sp>
        <p:nvSpPr>
          <p:cNvPr id="9" name="Text 6"/>
          <p:cNvSpPr/>
          <p:nvPr/>
        </p:nvSpPr>
        <p:spPr>
          <a:xfrm>
            <a:off x="2971800" y="2697480"/>
            <a:ext cx="1234440" cy="274320"/>
          </a:xfrm>
          <a:prstGeom prst="rect">
            <a:avLst/>
          </a:prstGeom>
          <a:noFill/>
          <a:ln/>
        </p:spPr>
        <p:txBody>
          <a:bodyPr wrap="square" lIns="0" tIns="0" rIns="0" bIns="0" rtlCol="0" anchor="ctr"/>
          <a:lstStyle/>
          <a:p>
            <a:pPr marL="0" indent="0">
              <a:buNone/>
            </a:pPr>
            <a:r>
              <a:rPr lang="en-US" sz="1050" b="1" kern="0" spc="50" dirty="0">
                <a:solidFill>
                  <a:srgbClr val="8C8579"/>
                </a:solidFill>
                <a:latin typeface="Calibri" pitchFamily="34" charset="0"/>
                <a:ea typeface="Calibri" pitchFamily="34" charset="-122"/>
                <a:cs typeface="Calibri" pitchFamily="34" charset="-120"/>
              </a:rPr>
              <a:t>Budget</a:t>
            </a:r>
            <a:endParaRPr lang="en-US" sz="1050" dirty="0"/>
          </a:p>
        </p:txBody>
      </p:sp>
      <p:sp>
        <p:nvSpPr>
          <p:cNvPr id="10" name="Text 7"/>
          <p:cNvSpPr/>
          <p:nvPr/>
        </p:nvSpPr>
        <p:spPr>
          <a:xfrm>
            <a:off x="4251960" y="2697480"/>
            <a:ext cx="777240" cy="274320"/>
          </a:xfrm>
          <a:prstGeom prst="rect">
            <a:avLst/>
          </a:prstGeom>
          <a:noFill/>
          <a:ln/>
        </p:spPr>
        <p:txBody>
          <a:bodyPr wrap="square" lIns="0" tIns="0" rIns="0" bIns="0" rtlCol="0" anchor="ctr"/>
          <a:lstStyle/>
          <a:p>
            <a:pPr marL="0" indent="0">
              <a:buNone/>
            </a:pPr>
            <a:r>
              <a:rPr lang="en-US" sz="1050" b="1" kern="0" spc="50" dirty="0">
                <a:solidFill>
                  <a:srgbClr val="8C8579"/>
                </a:solidFill>
                <a:latin typeface="Calibri" pitchFamily="34" charset="0"/>
                <a:ea typeface="Calibri" pitchFamily="34" charset="-122"/>
                <a:cs typeface="Calibri" pitchFamily="34" charset="-120"/>
              </a:rPr>
              <a:t>Alert</a:t>
            </a:r>
            <a:endParaRPr lang="en-US" sz="1050" dirty="0"/>
          </a:p>
        </p:txBody>
      </p:sp>
      <p:sp>
        <p:nvSpPr>
          <p:cNvPr id="11" name="Text 8"/>
          <p:cNvSpPr/>
          <p:nvPr/>
        </p:nvSpPr>
        <p:spPr>
          <a:xfrm>
            <a:off x="5074920" y="2697480"/>
            <a:ext cx="2011680" cy="274320"/>
          </a:xfrm>
          <a:prstGeom prst="rect">
            <a:avLst/>
          </a:prstGeom>
          <a:noFill/>
          <a:ln/>
        </p:spPr>
        <p:txBody>
          <a:bodyPr wrap="square" lIns="0" tIns="0" rIns="0" bIns="0" rtlCol="0" anchor="ctr"/>
          <a:lstStyle/>
          <a:p>
            <a:pPr marL="0" indent="0">
              <a:buNone/>
            </a:pPr>
            <a:r>
              <a:rPr lang="en-US" sz="1050" b="1" kern="0" spc="50" dirty="0">
                <a:solidFill>
                  <a:srgbClr val="8C8579"/>
                </a:solidFill>
                <a:latin typeface="Calibri" pitchFamily="34" charset="0"/>
                <a:ea typeface="Calibri" pitchFamily="34" charset="-122"/>
                <a:cs typeface="Calibri" pitchFamily="34" charset="-120"/>
              </a:rPr>
              <a:t>Breach action</a:t>
            </a:r>
            <a:endParaRPr lang="en-US" sz="1050" dirty="0"/>
          </a:p>
        </p:txBody>
      </p:sp>
      <p:sp>
        <p:nvSpPr>
          <p:cNvPr id="12" name="Shape 9"/>
          <p:cNvSpPr/>
          <p:nvPr/>
        </p:nvSpPr>
        <p:spPr>
          <a:xfrm>
            <a:off x="822960" y="2999232"/>
            <a:ext cx="6263640" cy="0"/>
          </a:xfrm>
          <a:prstGeom prst="line">
            <a:avLst/>
          </a:prstGeom>
          <a:noFill/>
          <a:ln w="12700">
            <a:solidFill>
              <a:srgbClr val="E5DDCE"/>
            </a:solidFill>
            <a:prstDash val="solid"/>
          </a:ln>
        </p:spPr>
        <p:txBody>
          <a:bodyPr/>
          <a:lstStyle/>
          <a:p>
            <a:endParaRPr lang="en-IN"/>
          </a:p>
        </p:txBody>
      </p:sp>
      <p:sp>
        <p:nvSpPr>
          <p:cNvPr id="13" name="Text 10"/>
          <p:cNvSpPr/>
          <p:nvPr/>
        </p:nvSpPr>
        <p:spPr>
          <a:xfrm>
            <a:off x="822960" y="3127248"/>
            <a:ext cx="2103120" cy="64008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Prototyping &amp; R&amp;D</a:t>
            </a:r>
            <a:endParaRPr lang="en-US" sz="1200" dirty="0"/>
          </a:p>
        </p:txBody>
      </p:sp>
      <p:sp>
        <p:nvSpPr>
          <p:cNvPr id="14" name="Text 11"/>
          <p:cNvSpPr/>
          <p:nvPr/>
        </p:nvSpPr>
        <p:spPr>
          <a:xfrm>
            <a:off x="2971800" y="3127248"/>
            <a:ext cx="1234440" cy="640080"/>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$300 / mo</a:t>
            </a:r>
            <a:endParaRPr lang="en-US" sz="1250" dirty="0"/>
          </a:p>
        </p:txBody>
      </p:sp>
      <p:sp>
        <p:nvSpPr>
          <p:cNvPr id="15" name="Text 12"/>
          <p:cNvSpPr/>
          <p:nvPr/>
        </p:nvSpPr>
        <p:spPr>
          <a:xfrm>
            <a:off x="4251960" y="3127248"/>
            <a:ext cx="777240" cy="640080"/>
          </a:xfrm>
          <a:prstGeom prst="rect">
            <a:avLst/>
          </a:prstGeom>
          <a:noFill/>
          <a:ln/>
        </p:spPr>
        <p:txBody>
          <a:bodyPr wrap="square" lIns="0" tIns="0" rIns="0" bIns="0" rtlCol="0" anchor="ctr"/>
          <a:lstStyle/>
          <a:p>
            <a:pPr marL="0" indent="0">
              <a:buNone/>
            </a:pPr>
            <a:r>
              <a:rPr lang="en-US" sz="1200" b="1" dirty="0">
                <a:solidFill>
                  <a:srgbClr val="1F1E1D"/>
                </a:solidFill>
                <a:latin typeface="Calibri" pitchFamily="34" charset="0"/>
                <a:ea typeface="Calibri" pitchFamily="34" charset="-122"/>
                <a:cs typeface="Calibri" pitchFamily="34" charset="-120"/>
              </a:rPr>
              <a:t>80%</a:t>
            </a:r>
            <a:endParaRPr lang="en-US" sz="1200" dirty="0"/>
          </a:p>
        </p:txBody>
      </p:sp>
      <p:sp>
        <p:nvSpPr>
          <p:cNvPr id="16" name="Text 13"/>
          <p:cNvSpPr/>
          <p:nvPr/>
        </p:nvSpPr>
        <p:spPr>
          <a:xfrm>
            <a:off x="5074920" y="3127248"/>
            <a:ext cx="2011680" cy="640080"/>
          </a:xfrm>
          <a:prstGeom prst="rect">
            <a:avLst/>
          </a:prstGeom>
          <a:noFill/>
          <a:ln/>
        </p:spPr>
        <p:txBody>
          <a:bodyPr wrap="square" lIns="0" tIns="0" rIns="0" bIns="0" rtlCol="0" anchor="ctr"/>
          <a:lstStyle/>
          <a:p>
            <a:pPr marL="0" indent="0">
              <a:lnSpc>
                <a:spcPts val="1300"/>
              </a:lnSpc>
              <a:buNone/>
            </a:pPr>
            <a:r>
              <a:rPr lang="en-US" sz="1080" dirty="0">
                <a:solidFill>
                  <a:srgbClr val="3D3A35"/>
                </a:solidFill>
                <a:latin typeface="Calibri" pitchFamily="34" charset="0"/>
                <a:ea typeface="Calibri" pitchFamily="34" charset="-122"/>
                <a:cs typeface="Calibri" pitchFamily="34" charset="-120"/>
              </a:rPr>
              <a:t>Notify lead; throttle Opus usage</a:t>
            </a:r>
            <a:endParaRPr lang="en-US" sz="1080" dirty="0"/>
          </a:p>
        </p:txBody>
      </p:sp>
      <p:sp>
        <p:nvSpPr>
          <p:cNvPr id="17" name="Shape 14"/>
          <p:cNvSpPr/>
          <p:nvPr/>
        </p:nvSpPr>
        <p:spPr>
          <a:xfrm>
            <a:off x="685800" y="3895344"/>
            <a:ext cx="6537960" cy="786384"/>
          </a:xfrm>
          <a:prstGeom prst="rect">
            <a:avLst/>
          </a:prstGeom>
          <a:solidFill>
            <a:srgbClr val="F4F1EA"/>
          </a:solidFill>
          <a:ln/>
        </p:spPr>
        <p:txBody>
          <a:bodyPr/>
          <a:lstStyle/>
          <a:p>
            <a:endParaRPr lang="en-IN"/>
          </a:p>
        </p:txBody>
      </p:sp>
      <p:sp>
        <p:nvSpPr>
          <p:cNvPr id="18" name="Text 15"/>
          <p:cNvSpPr/>
          <p:nvPr/>
        </p:nvSpPr>
        <p:spPr>
          <a:xfrm>
            <a:off x="822960" y="3968496"/>
            <a:ext cx="2103120" cy="64008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Production agents</a:t>
            </a:r>
            <a:endParaRPr lang="en-US" sz="1200" dirty="0"/>
          </a:p>
        </p:txBody>
      </p:sp>
      <p:sp>
        <p:nvSpPr>
          <p:cNvPr id="19" name="Text 16"/>
          <p:cNvSpPr/>
          <p:nvPr/>
        </p:nvSpPr>
        <p:spPr>
          <a:xfrm>
            <a:off x="2971800" y="3968496"/>
            <a:ext cx="1234440" cy="640080"/>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$2,000 / mo</a:t>
            </a:r>
            <a:endParaRPr lang="en-US" sz="1250" dirty="0"/>
          </a:p>
        </p:txBody>
      </p:sp>
      <p:sp>
        <p:nvSpPr>
          <p:cNvPr id="20" name="Text 17"/>
          <p:cNvSpPr/>
          <p:nvPr/>
        </p:nvSpPr>
        <p:spPr>
          <a:xfrm>
            <a:off x="4251960" y="3968496"/>
            <a:ext cx="777240" cy="640080"/>
          </a:xfrm>
          <a:prstGeom prst="rect">
            <a:avLst/>
          </a:prstGeom>
          <a:noFill/>
          <a:ln/>
        </p:spPr>
        <p:txBody>
          <a:bodyPr wrap="square" lIns="0" tIns="0" rIns="0" bIns="0" rtlCol="0" anchor="ctr"/>
          <a:lstStyle/>
          <a:p>
            <a:pPr marL="0" indent="0">
              <a:buNone/>
            </a:pPr>
            <a:r>
              <a:rPr lang="en-US" sz="1200" b="1" dirty="0">
                <a:solidFill>
                  <a:srgbClr val="1F1E1D"/>
                </a:solidFill>
                <a:latin typeface="Calibri" pitchFamily="34" charset="0"/>
                <a:ea typeface="Calibri" pitchFamily="34" charset="-122"/>
                <a:cs typeface="Calibri" pitchFamily="34" charset="-120"/>
              </a:rPr>
              <a:t>75%</a:t>
            </a:r>
            <a:endParaRPr lang="en-US" sz="1200" dirty="0"/>
          </a:p>
        </p:txBody>
      </p:sp>
      <p:sp>
        <p:nvSpPr>
          <p:cNvPr id="21" name="Text 18"/>
          <p:cNvSpPr/>
          <p:nvPr/>
        </p:nvSpPr>
        <p:spPr>
          <a:xfrm>
            <a:off x="5074920" y="3968496"/>
            <a:ext cx="2011680" cy="640080"/>
          </a:xfrm>
          <a:prstGeom prst="rect">
            <a:avLst/>
          </a:prstGeom>
          <a:noFill/>
          <a:ln/>
        </p:spPr>
        <p:txBody>
          <a:bodyPr wrap="square" lIns="0" tIns="0" rIns="0" bIns="0" rtlCol="0" anchor="ctr"/>
          <a:lstStyle/>
          <a:p>
            <a:pPr marL="0" indent="0">
              <a:lnSpc>
                <a:spcPts val="1300"/>
              </a:lnSpc>
              <a:buNone/>
            </a:pPr>
            <a:r>
              <a:rPr lang="en-US" sz="1080" dirty="0">
                <a:solidFill>
                  <a:srgbClr val="3D3A35"/>
                </a:solidFill>
                <a:latin typeface="Calibri" pitchFamily="34" charset="0"/>
                <a:ea typeface="Calibri" pitchFamily="34" charset="-122"/>
                <a:cs typeface="Calibri" pitchFamily="34" charset="-120"/>
              </a:rPr>
              <a:t>Page on-call; cap worker fan-out</a:t>
            </a:r>
            <a:endParaRPr lang="en-US" sz="1080" dirty="0"/>
          </a:p>
        </p:txBody>
      </p:sp>
      <p:sp>
        <p:nvSpPr>
          <p:cNvPr id="22" name="Text 19"/>
          <p:cNvSpPr/>
          <p:nvPr/>
        </p:nvSpPr>
        <p:spPr>
          <a:xfrm>
            <a:off x="822960" y="4809744"/>
            <a:ext cx="2103120" cy="64008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Batch / offline jobs</a:t>
            </a:r>
            <a:endParaRPr lang="en-US" sz="1200" dirty="0"/>
          </a:p>
        </p:txBody>
      </p:sp>
      <p:sp>
        <p:nvSpPr>
          <p:cNvPr id="23" name="Text 20"/>
          <p:cNvSpPr/>
          <p:nvPr/>
        </p:nvSpPr>
        <p:spPr>
          <a:xfrm>
            <a:off x="2971800" y="4809744"/>
            <a:ext cx="1234440" cy="640080"/>
          </a:xfrm>
          <a:prstGeom prst="rect">
            <a:avLst/>
          </a:prstGeom>
          <a:noFill/>
          <a:ln/>
        </p:spPr>
        <p:txBody>
          <a:bodyPr wrap="square" lIns="0" tIns="0" rIns="0" bIns="0" rtlCol="0" anchor="ctr"/>
          <a:lstStyle/>
          <a:p>
            <a:pPr marL="0" indent="0">
              <a:buNone/>
            </a:pPr>
            <a:r>
              <a:rPr lang="en-US" sz="1250" b="1" dirty="0">
                <a:solidFill>
                  <a:srgbClr val="BF5E3C"/>
                </a:solidFill>
                <a:latin typeface="Calibri" pitchFamily="34" charset="0"/>
                <a:ea typeface="Calibri" pitchFamily="34" charset="-122"/>
                <a:cs typeface="Calibri" pitchFamily="34" charset="-120"/>
              </a:rPr>
              <a:t>$500 / mo</a:t>
            </a:r>
            <a:endParaRPr lang="en-US" sz="1250" dirty="0"/>
          </a:p>
        </p:txBody>
      </p:sp>
      <p:sp>
        <p:nvSpPr>
          <p:cNvPr id="24" name="Text 21"/>
          <p:cNvSpPr/>
          <p:nvPr/>
        </p:nvSpPr>
        <p:spPr>
          <a:xfrm>
            <a:off x="4251960" y="4809744"/>
            <a:ext cx="777240" cy="640080"/>
          </a:xfrm>
          <a:prstGeom prst="rect">
            <a:avLst/>
          </a:prstGeom>
          <a:noFill/>
          <a:ln/>
        </p:spPr>
        <p:txBody>
          <a:bodyPr wrap="square" lIns="0" tIns="0" rIns="0" bIns="0" rtlCol="0" anchor="ctr"/>
          <a:lstStyle/>
          <a:p>
            <a:pPr marL="0" indent="0">
              <a:buNone/>
            </a:pPr>
            <a:r>
              <a:rPr lang="en-US" sz="1200" b="1" dirty="0">
                <a:solidFill>
                  <a:srgbClr val="1F1E1D"/>
                </a:solidFill>
                <a:latin typeface="Calibri" pitchFamily="34" charset="0"/>
                <a:ea typeface="Calibri" pitchFamily="34" charset="-122"/>
                <a:cs typeface="Calibri" pitchFamily="34" charset="-120"/>
              </a:rPr>
              <a:t>90%</a:t>
            </a:r>
            <a:endParaRPr lang="en-US" sz="1200" dirty="0"/>
          </a:p>
        </p:txBody>
      </p:sp>
      <p:sp>
        <p:nvSpPr>
          <p:cNvPr id="25" name="Text 22"/>
          <p:cNvSpPr/>
          <p:nvPr/>
        </p:nvSpPr>
        <p:spPr>
          <a:xfrm>
            <a:off x="5074920" y="4809744"/>
            <a:ext cx="2011680" cy="640080"/>
          </a:xfrm>
          <a:prstGeom prst="rect">
            <a:avLst/>
          </a:prstGeom>
          <a:noFill/>
          <a:ln/>
        </p:spPr>
        <p:txBody>
          <a:bodyPr wrap="square" lIns="0" tIns="0" rIns="0" bIns="0" rtlCol="0" anchor="ctr"/>
          <a:lstStyle/>
          <a:p>
            <a:pPr marL="0" indent="0">
              <a:lnSpc>
                <a:spcPts val="1300"/>
              </a:lnSpc>
              <a:buNone/>
            </a:pPr>
            <a:r>
              <a:rPr lang="en-US" sz="1080" dirty="0">
                <a:solidFill>
                  <a:srgbClr val="3D3A35"/>
                </a:solidFill>
                <a:latin typeface="Calibri" pitchFamily="34" charset="0"/>
                <a:ea typeface="Calibri" pitchFamily="34" charset="-122"/>
                <a:cs typeface="Calibri" pitchFamily="34" charset="-120"/>
              </a:rPr>
              <a:t>Defer non-urgent to the Batch API</a:t>
            </a:r>
            <a:endParaRPr lang="en-US" sz="1080" dirty="0"/>
          </a:p>
        </p:txBody>
      </p:sp>
      <p:sp>
        <p:nvSpPr>
          <p:cNvPr id="26" name="Shape 23"/>
          <p:cNvSpPr/>
          <p:nvPr/>
        </p:nvSpPr>
        <p:spPr>
          <a:xfrm>
            <a:off x="7543800" y="2286000"/>
            <a:ext cx="4096512" cy="3611880"/>
          </a:xfrm>
          <a:prstGeom prst="roundRect">
            <a:avLst>
              <a:gd name="adj" fmla="val 2532"/>
            </a:avLst>
          </a:prstGeom>
          <a:solidFill>
            <a:srgbClr val="FAF9F5"/>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7" name="Text 24"/>
          <p:cNvSpPr/>
          <p:nvPr/>
        </p:nvSpPr>
        <p:spPr>
          <a:xfrm>
            <a:off x="7818120" y="2450592"/>
            <a:ext cx="3547872" cy="274320"/>
          </a:xfrm>
          <a:prstGeom prst="rect">
            <a:avLst/>
          </a:prstGeom>
          <a:noFill/>
          <a:ln/>
        </p:spPr>
        <p:txBody>
          <a:bodyPr wrap="square" lIns="0" tIns="0" rIns="0" bIns="0" rtlCol="0" anchor="ctr"/>
          <a:lstStyle/>
          <a:p>
            <a:pPr marL="0" indent="0">
              <a:buNone/>
            </a:pPr>
            <a:r>
              <a:rPr lang="en-US" sz="1200" b="1" kern="0" spc="120" dirty="0">
                <a:solidFill>
                  <a:srgbClr val="BF5E3C"/>
                </a:solidFill>
                <a:latin typeface="Calibri" pitchFamily="34" charset="0"/>
                <a:ea typeface="Calibri" pitchFamily="34" charset="-122"/>
                <a:cs typeface="Calibri" pitchFamily="34" charset="-120"/>
              </a:rPr>
              <a:t>ALERT LADDER</a:t>
            </a:r>
            <a:endParaRPr lang="en-US" sz="1200" dirty="0"/>
          </a:p>
        </p:txBody>
      </p:sp>
      <p:sp>
        <p:nvSpPr>
          <p:cNvPr id="28" name="Shape 25"/>
          <p:cNvSpPr/>
          <p:nvPr/>
        </p:nvSpPr>
        <p:spPr>
          <a:xfrm>
            <a:off x="7818120" y="2743200"/>
            <a:ext cx="960120" cy="658368"/>
          </a:xfrm>
          <a:prstGeom prst="roundRect">
            <a:avLst>
              <a:gd name="adj" fmla="val 8333"/>
            </a:avLst>
          </a:prstGeom>
          <a:solidFill>
            <a:srgbClr val="7E8A6E"/>
          </a:solidFill>
          <a:ln/>
        </p:spPr>
        <p:txBody>
          <a:bodyPr/>
          <a:lstStyle/>
          <a:p>
            <a:endParaRPr lang="en-IN"/>
          </a:p>
        </p:txBody>
      </p:sp>
      <p:sp>
        <p:nvSpPr>
          <p:cNvPr id="29" name="Text 26"/>
          <p:cNvSpPr/>
          <p:nvPr/>
        </p:nvSpPr>
        <p:spPr>
          <a:xfrm>
            <a:off x="7818120" y="2743200"/>
            <a:ext cx="960120" cy="658368"/>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50%</a:t>
            </a:r>
            <a:endParaRPr lang="en-US" sz="1900" dirty="0"/>
          </a:p>
        </p:txBody>
      </p:sp>
      <p:sp>
        <p:nvSpPr>
          <p:cNvPr id="30" name="Text 27"/>
          <p:cNvSpPr/>
          <p:nvPr/>
        </p:nvSpPr>
        <p:spPr>
          <a:xfrm>
            <a:off x="8915400" y="2743200"/>
            <a:ext cx="2450592" cy="658368"/>
          </a:xfrm>
          <a:prstGeom prst="rect">
            <a:avLst/>
          </a:prstGeom>
          <a:noFill/>
          <a:ln/>
        </p:spPr>
        <p:txBody>
          <a:bodyPr wrap="square" lIns="0" tIns="0" rIns="0" bIns="0" rtlCol="0" anchor="ctr"/>
          <a:lstStyle/>
          <a:p>
            <a:pPr marL="0" indent="0">
              <a:lnSpc>
                <a:spcPts val="1400"/>
              </a:lnSpc>
              <a:buNone/>
            </a:pPr>
            <a:r>
              <a:rPr lang="en-US" sz="1150" dirty="0">
                <a:solidFill>
                  <a:srgbClr val="1F1E1D"/>
                </a:solidFill>
                <a:latin typeface="Calibri" pitchFamily="34" charset="0"/>
                <a:ea typeface="Calibri" pitchFamily="34" charset="-122"/>
                <a:cs typeface="Calibri" pitchFamily="34" charset="-120"/>
              </a:rPr>
              <a:t>Heads-up — log it and watch burn rate</a:t>
            </a:r>
            <a:endParaRPr lang="en-US" sz="1150" dirty="0"/>
          </a:p>
        </p:txBody>
      </p:sp>
      <p:sp>
        <p:nvSpPr>
          <p:cNvPr id="31" name="Shape 28"/>
          <p:cNvSpPr/>
          <p:nvPr/>
        </p:nvSpPr>
        <p:spPr>
          <a:xfrm>
            <a:off x="7818120" y="3675888"/>
            <a:ext cx="960120" cy="658368"/>
          </a:xfrm>
          <a:prstGeom prst="roundRect">
            <a:avLst>
              <a:gd name="adj" fmla="val 8333"/>
            </a:avLst>
          </a:prstGeom>
          <a:solidFill>
            <a:srgbClr val="D9A441"/>
          </a:solidFill>
          <a:ln/>
        </p:spPr>
        <p:txBody>
          <a:bodyPr/>
          <a:lstStyle/>
          <a:p>
            <a:endParaRPr lang="en-IN"/>
          </a:p>
        </p:txBody>
      </p:sp>
      <p:sp>
        <p:nvSpPr>
          <p:cNvPr id="32" name="Text 29"/>
          <p:cNvSpPr/>
          <p:nvPr/>
        </p:nvSpPr>
        <p:spPr>
          <a:xfrm>
            <a:off x="7818120" y="3675888"/>
            <a:ext cx="960120" cy="658368"/>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80%</a:t>
            </a:r>
            <a:endParaRPr lang="en-US" sz="1900" dirty="0"/>
          </a:p>
        </p:txBody>
      </p:sp>
      <p:sp>
        <p:nvSpPr>
          <p:cNvPr id="33" name="Text 30"/>
          <p:cNvSpPr/>
          <p:nvPr/>
        </p:nvSpPr>
        <p:spPr>
          <a:xfrm>
            <a:off x="8915400" y="3675888"/>
            <a:ext cx="2450592" cy="658368"/>
          </a:xfrm>
          <a:prstGeom prst="rect">
            <a:avLst/>
          </a:prstGeom>
          <a:noFill/>
          <a:ln/>
        </p:spPr>
        <p:txBody>
          <a:bodyPr wrap="square" lIns="0" tIns="0" rIns="0" bIns="0" rtlCol="0" anchor="ctr"/>
          <a:lstStyle/>
          <a:p>
            <a:pPr marL="0" indent="0">
              <a:lnSpc>
                <a:spcPts val="1400"/>
              </a:lnSpc>
              <a:buNone/>
            </a:pPr>
            <a:r>
              <a:rPr lang="en-US" sz="1150" dirty="0">
                <a:solidFill>
                  <a:srgbClr val="1F1E1D"/>
                </a:solidFill>
                <a:latin typeface="Calibri" pitchFamily="34" charset="0"/>
                <a:ea typeface="Calibri" pitchFamily="34" charset="-122"/>
                <a:cs typeface="Calibri" pitchFamily="34" charset="-120"/>
              </a:rPr>
              <a:t>Warn — review routing, caching, fan-out</a:t>
            </a:r>
            <a:endParaRPr lang="en-US" sz="1150" dirty="0"/>
          </a:p>
        </p:txBody>
      </p:sp>
      <p:sp>
        <p:nvSpPr>
          <p:cNvPr id="34" name="Shape 31"/>
          <p:cNvSpPr/>
          <p:nvPr/>
        </p:nvSpPr>
        <p:spPr>
          <a:xfrm>
            <a:off x="7818120" y="4608576"/>
            <a:ext cx="960120" cy="658368"/>
          </a:xfrm>
          <a:prstGeom prst="roundRect">
            <a:avLst>
              <a:gd name="adj" fmla="val 8333"/>
            </a:avLst>
          </a:prstGeom>
          <a:solidFill>
            <a:srgbClr val="D97757"/>
          </a:solidFill>
          <a:ln/>
        </p:spPr>
        <p:txBody>
          <a:bodyPr/>
          <a:lstStyle/>
          <a:p>
            <a:endParaRPr lang="en-IN"/>
          </a:p>
        </p:txBody>
      </p:sp>
      <p:sp>
        <p:nvSpPr>
          <p:cNvPr id="35" name="Text 32"/>
          <p:cNvSpPr/>
          <p:nvPr/>
        </p:nvSpPr>
        <p:spPr>
          <a:xfrm>
            <a:off x="7818120" y="4608576"/>
            <a:ext cx="960120" cy="658368"/>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100%</a:t>
            </a:r>
            <a:endParaRPr lang="en-US" sz="1900" dirty="0"/>
          </a:p>
        </p:txBody>
      </p:sp>
      <p:sp>
        <p:nvSpPr>
          <p:cNvPr id="36" name="Text 33"/>
          <p:cNvSpPr/>
          <p:nvPr/>
        </p:nvSpPr>
        <p:spPr>
          <a:xfrm>
            <a:off x="8915400" y="4608576"/>
            <a:ext cx="2450592" cy="658368"/>
          </a:xfrm>
          <a:prstGeom prst="rect">
            <a:avLst/>
          </a:prstGeom>
          <a:noFill/>
          <a:ln/>
        </p:spPr>
        <p:txBody>
          <a:bodyPr wrap="square" lIns="0" tIns="0" rIns="0" bIns="0" rtlCol="0" anchor="ctr"/>
          <a:lstStyle/>
          <a:p>
            <a:pPr marL="0" indent="0">
              <a:lnSpc>
                <a:spcPts val="1400"/>
              </a:lnSpc>
              <a:buNone/>
            </a:pPr>
            <a:r>
              <a:rPr lang="en-US" sz="1150" dirty="0">
                <a:solidFill>
                  <a:srgbClr val="1F1E1D"/>
                </a:solidFill>
                <a:latin typeface="Calibri" pitchFamily="34" charset="0"/>
                <a:ea typeface="Calibri" pitchFamily="34" charset="-122"/>
                <a:cs typeface="Calibri" pitchFamily="34" charset="-120"/>
              </a:rPr>
              <a:t>Stop — enforce the hard spend limit</a:t>
            </a:r>
            <a:endParaRPr lang="en-US" sz="1150" dirty="0"/>
          </a:p>
        </p:txBody>
      </p:sp>
      <p:sp>
        <p:nvSpPr>
          <p:cNvPr id="37" name="Text 34"/>
          <p:cNvSpPr/>
          <p:nvPr/>
        </p:nvSpPr>
        <p:spPr>
          <a:xfrm>
            <a:off x="548640" y="6035040"/>
            <a:ext cx="11091672" cy="274320"/>
          </a:xfrm>
          <a:prstGeom prst="rect">
            <a:avLst/>
          </a:prstGeom>
          <a:noFill/>
          <a:ln/>
        </p:spPr>
        <p:txBody>
          <a:bodyPr wrap="square" lIns="0" tIns="0" rIns="0" bIns="0" rtlCol="0" anchor="ctr"/>
          <a:lstStyle/>
          <a:p>
            <a:pPr marL="0" indent="0" algn="ctr">
              <a:buNone/>
            </a:pPr>
            <a:r>
              <a:rPr lang="en-US" sz="1100" i="1" dirty="0">
                <a:solidFill>
                  <a:srgbClr val="8C8579"/>
                </a:solidFill>
                <a:latin typeface="Calibri" pitchFamily="34" charset="0"/>
                <a:ea typeface="Calibri" pitchFamily="34" charset="-122"/>
                <a:cs typeface="Calibri" pitchFamily="34" charset="-120"/>
              </a:rPr>
              <a:t>Feeds: response.usage + Console Usage → dashboards; alerts fire from the billing API.</a:t>
            </a:r>
            <a:endParaRPr lang="en-US" sz="1100" dirty="0"/>
          </a:p>
        </p:txBody>
      </p:sp>
      <p:sp>
        <p:nvSpPr>
          <p:cNvPr id="38" name="Text 35"/>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39" name="Text 36"/>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PRINT &amp; PIN</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Cost guardrails — one-page cheat-sheet</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572768"/>
            <a:ext cx="11064240" cy="310896"/>
          </a:xfrm>
          <a:prstGeom prst="rect">
            <a:avLst/>
          </a:prstGeom>
          <a:noFill/>
          <a:ln/>
        </p:spPr>
        <p:txBody>
          <a:bodyPr wrap="square" lIns="0" tIns="0" rIns="0" bIns="0" rtlCol="0" anchor="ctr"/>
          <a:lstStyle/>
          <a:p>
            <a:pPr marL="0" indent="0">
              <a:buNone/>
            </a:pPr>
            <a:r>
              <a:rPr lang="en-US" sz="1250" dirty="0">
                <a:solidFill>
                  <a:srgbClr val="3D3A35"/>
                </a:solidFill>
                <a:latin typeface="Calibri" pitchFamily="34" charset="0"/>
                <a:ea typeface="Calibri" pitchFamily="34" charset="-122"/>
                <a:cs typeface="Calibri" pitchFamily="34" charset="-120"/>
              </a:rPr>
              <a:t>Pull-apart reference: tier pricing, routing policy, caching, context budget, and the daily guardrail checklist on a single page.</a:t>
            </a:r>
            <a:endParaRPr lang="en-US" sz="1250" dirty="0"/>
          </a:p>
        </p:txBody>
      </p:sp>
      <p:sp>
        <p:nvSpPr>
          <p:cNvPr id="6" name="Shape 3"/>
          <p:cNvSpPr/>
          <p:nvPr/>
        </p:nvSpPr>
        <p:spPr>
          <a:xfrm>
            <a:off x="548640" y="1965960"/>
            <a:ext cx="5394960" cy="1965960"/>
          </a:xfrm>
          <a:prstGeom prst="roundRect">
            <a:avLst>
              <a:gd name="adj" fmla="val 4651"/>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Text 4"/>
          <p:cNvSpPr/>
          <p:nvPr/>
        </p:nvSpPr>
        <p:spPr>
          <a:xfrm>
            <a:off x="777240" y="2084832"/>
            <a:ext cx="4937760" cy="274320"/>
          </a:xfrm>
          <a:prstGeom prst="rect">
            <a:avLst/>
          </a:prstGeom>
          <a:noFill/>
          <a:ln/>
        </p:spPr>
        <p:txBody>
          <a:bodyPr wrap="square" lIns="0" tIns="0" rIns="0" bIns="0" rtlCol="0" anchor="ctr"/>
          <a:lstStyle/>
          <a:p>
            <a:pPr marL="0" indent="0">
              <a:buNone/>
            </a:pPr>
            <a:r>
              <a:rPr lang="en-US" sz="1100" b="1" kern="0" spc="120" dirty="0">
                <a:solidFill>
                  <a:srgbClr val="BF5E3C"/>
                </a:solidFill>
                <a:latin typeface="Calibri" pitchFamily="34" charset="0"/>
                <a:ea typeface="Calibri" pitchFamily="34" charset="-122"/>
                <a:cs typeface="Calibri" pitchFamily="34" charset="-120"/>
              </a:rPr>
              <a:t>MODEL TIERS  ·  $ PER 1M IN / OUT</a:t>
            </a:r>
            <a:endParaRPr lang="en-US" sz="1100" dirty="0"/>
          </a:p>
        </p:txBody>
      </p:sp>
      <p:sp>
        <p:nvSpPr>
          <p:cNvPr id="8" name="Shape 5"/>
          <p:cNvSpPr/>
          <p:nvPr/>
        </p:nvSpPr>
        <p:spPr>
          <a:xfrm>
            <a:off x="795528" y="2487168"/>
            <a:ext cx="137160" cy="137160"/>
          </a:xfrm>
          <a:prstGeom prst="ellipse">
            <a:avLst/>
          </a:prstGeom>
          <a:solidFill>
            <a:srgbClr val="7E8A6E"/>
          </a:solidFill>
          <a:ln/>
        </p:spPr>
        <p:txBody>
          <a:bodyPr/>
          <a:lstStyle/>
          <a:p>
            <a:endParaRPr lang="en-IN"/>
          </a:p>
        </p:txBody>
      </p:sp>
      <p:sp>
        <p:nvSpPr>
          <p:cNvPr id="9" name="Text 6"/>
          <p:cNvSpPr/>
          <p:nvPr/>
        </p:nvSpPr>
        <p:spPr>
          <a:xfrm>
            <a:off x="1051560" y="2432304"/>
            <a:ext cx="1417320" cy="256032"/>
          </a:xfrm>
          <a:prstGeom prst="rect">
            <a:avLst/>
          </a:prstGeom>
          <a:noFill/>
          <a:ln/>
        </p:spPr>
        <p:txBody>
          <a:bodyPr wrap="square" lIns="0" tIns="0" rIns="0" bIns="0" rtlCol="0" anchor="ctr"/>
          <a:lstStyle/>
          <a:p>
            <a:pPr marL="0" indent="0">
              <a:buNone/>
            </a:pPr>
            <a:r>
              <a:rPr lang="en-US" sz="1150" b="1" dirty="0">
                <a:solidFill>
                  <a:srgbClr val="1F1E1D"/>
                </a:solidFill>
                <a:latin typeface="Calibri" pitchFamily="34" charset="0"/>
                <a:ea typeface="Calibri" pitchFamily="34" charset="-122"/>
                <a:cs typeface="Calibri" pitchFamily="34" charset="-120"/>
              </a:rPr>
              <a:t>Haiku 4.5</a:t>
            </a:r>
            <a:endParaRPr lang="en-US" sz="1150" dirty="0"/>
          </a:p>
        </p:txBody>
      </p:sp>
      <p:sp>
        <p:nvSpPr>
          <p:cNvPr id="10" name="Text 7"/>
          <p:cNvSpPr/>
          <p:nvPr/>
        </p:nvSpPr>
        <p:spPr>
          <a:xfrm>
            <a:off x="2423160" y="2432304"/>
            <a:ext cx="1143000" cy="256032"/>
          </a:xfrm>
          <a:prstGeom prst="rect">
            <a:avLst/>
          </a:prstGeom>
          <a:noFill/>
          <a:ln/>
        </p:spPr>
        <p:txBody>
          <a:bodyPr wrap="square" lIns="0" tIns="0" rIns="0" bIns="0" rtlCol="0" anchor="ctr"/>
          <a:lstStyle/>
          <a:p>
            <a:pPr marL="0" indent="0">
              <a:buNone/>
            </a:pPr>
            <a:r>
              <a:rPr lang="en-US" sz="1150" b="1" dirty="0">
                <a:solidFill>
                  <a:srgbClr val="BF5E3C"/>
                </a:solidFill>
                <a:latin typeface="Calibri" pitchFamily="34" charset="0"/>
                <a:ea typeface="Calibri" pitchFamily="34" charset="-122"/>
                <a:cs typeface="Calibri" pitchFamily="34" charset="-120"/>
              </a:rPr>
              <a:t>$1 / $5</a:t>
            </a:r>
            <a:endParaRPr lang="en-US" sz="1150" dirty="0"/>
          </a:p>
        </p:txBody>
      </p:sp>
      <p:sp>
        <p:nvSpPr>
          <p:cNvPr id="11" name="Text 8"/>
          <p:cNvSpPr/>
          <p:nvPr/>
        </p:nvSpPr>
        <p:spPr>
          <a:xfrm>
            <a:off x="3520440" y="2432304"/>
            <a:ext cx="2240280" cy="384048"/>
          </a:xfrm>
          <a:prstGeom prst="rect">
            <a:avLst/>
          </a:prstGeom>
          <a:noFill/>
          <a:ln/>
        </p:spPr>
        <p:txBody>
          <a:bodyPr wrap="square" lIns="0" tIns="0" rIns="0" bIns="0" rtlCol="0" anchor="ctr"/>
          <a:lstStyle/>
          <a:p>
            <a:pPr marL="0" indent="0">
              <a:lnSpc>
                <a:spcPts val="1100"/>
              </a:lnSpc>
              <a:buNone/>
            </a:pPr>
            <a:r>
              <a:rPr lang="en-US" sz="980" dirty="0">
                <a:solidFill>
                  <a:srgbClr val="3D3A35"/>
                </a:solidFill>
                <a:latin typeface="Calibri" pitchFamily="34" charset="0"/>
                <a:ea typeface="Calibri" pitchFamily="34" charset="-122"/>
                <a:cs typeface="Calibri" pitchFamily="34" charset="-120"/>
              </a:rPr>
              <a:t>Triage · routing · extraction</a:t>
            </a:r>
            <a:endParaRPr lang="en-US" sz="980" dirty="0"/>
          </a:p>
        </p:txBody>
      </p:sp>
      <p:sp>
        <p:nvSpPr>
          <p:cNvPr id="12" name="Shape 9"/>
          <p:cNvSpPr/>
          <p:nvPr/>
        </p:nvSpPr>
        <p:spPr>
          <a:xfrm>
            <a:off x="795528" y="2944368"/>
            <a:ext cx="137160" cy="137160"/>
          </a:xfrm>
          <a:prstGeom prst="ellipse">
            <a:avLst/>
          </a:prstGeom>
          <a:solidFill>
            <a:srgbClr val="D97757"/>
          </a:solidFill>
          <a:ln/>
        </p:spPr>
        <p:txBody>
          <a:bodyPr/>
          <a:lstStyle/>
          <a:p>
            <a:endParaRPr lang="en-IN"/>
          </a:p>
        </p:txBody>
      </p:sp>
      <p:sp>
        <p:nvSpPr>
          <p:cNvPr id="13" name="Text 10"/>
          <p:cNvSpPr/>
          <p:nvPr/>
        </p:nvSpPr>
        <p:spPr>
          <a:xfrm>
            <a:off x="1051560" y="2889504"/>
            <a:ext cx="1417320" cy="256032"/>
          </a:xfrm>
          <a:prstGeom prst="rect">
            <a:avLst/>
          </a:prstGeom>
          <a:noFill/>
          <a:ln/>
        </p:spPr>
        <p:txBody>
          <a:bodyPr wrap="square" lIns="0" tIns="0" rIns="0" bIns="0" rtlCol="0" anchor="ctr"/>
          <a:lstStyle/>
          <a:p>
            <a:pPr marL="0" indent="0">
              <a:buNone/>
            </a:pPr>
            <a:r>
              <a:rPr lang="en-US" sz="1150" b="1" dirty="0">
                <a:solidFill>
                  <a:srgbClr val="1F1E1D"/>
                </a:solidFill>
                <a:latin typeface="Calibri" pitchFamily="34" charset="0"/>
                <a:ea typeface="Calibri" pitchFamily="34" charset="-122"/>
                <a:cs typeface="Calibri" pitchFamily="34" charset="-120"/>
              </a:rPr>
              <a:t>Sonnet 4.6</a:t>
            </a:r>
            <a:endParaRPr lang="en-US" sz="1150" dirty="0"/>
          </a:p>
        </p:txBody>
      </p:sp>
      <p:sp>
        <p:nvSpPr>
          <p:cNvPr id="14" name="Text 11"/>
          <p:cNvSpPr/>
          <p:nvPr/>
        </p:nvSpPr>
        <p:spPr>
          <a:xfrm>
            <a:off x="2423160" y="2889504"/>
            <a:ext cx="1143000" cy="256032"/>
          </a:xfrm>
          <a:prstGeom prst="rect">
            <a:avLst/>
          </a:prstGeom>
          <a:noFill/>
          <a:ln/>
        </p:spPr>
        <p:txBody>
          <a:bodyPr wrap="square" lIns="0" tIns="0" rIns="0" bIns="0" rtlCol="0" anchor="ctr"/>
          <a:lstStyle/>
          <a:p>
            <a:pPr marL="0" indent="0">
              <a:buNone/>
            </a:pPr>
            <a:r>
              <a:rPr lang="en-US" sz="1150" b="1" dirty="0">
                <a:solidFill>
                  <a:srgbClr val="BF5E3C"/>
                </a:solidFill>
                <a:latin typeface="Calibri" pitchFamily="34" charset="0"/>
                <a:ea typeface="Calibri" pitchFamily="34" charset="-122"/>
                <a:cs typeface="Calibri" pitchFamily="34" charset="-120"/>
              </a:rPr>
              <a:t>$3 / $15</a:t>
            </a:r>
            <a:endParaRPr lang="en-US" sz="1150" dirty="0"/>
          </a:p>
        </p:txBody>
      </p:sp>
      <p:sp>
        <p:nvSpPr>
          <p:cNvPr id="15" name="Text 12"/>
          <p:cNvSpPr/>
          <p:nvPr/>
        </p:nvSpPr>
        <p:spPr>
          <a:xfrm>
            <a:off x="3520440" y="2889504"/>
            <a:ext cx="2240280" cy="384048"/>
          </a:xfrm>
          <a:prstGeom prst="rect">
            <a:avLst/>
          </a:prstGeom>
          <a:noFill/>
          <a:ln/>
        </p:spPr>
        <p:txBody>
          <a:bodyPr wrap="square" lIns="0" tIns="0" rIns="0" bIns="0" rtlCol="0" anchor="ctr"/>
          <a:lstStyle/>
          <a:p>
            <a:pPr marL="0" indent="0">
              <a:lnSpc>
                <a:spcPts val="1100"/>
              </a:lnSpc>
              <a:buNone/>
            </a:pPr>
            <a:r>
              <a:rPr lang="en-US" sz="980" dirty="0">
                <a:solidFill>
                  <a:srgbClr val="3D3A35"/>
                </a:solidFill>
                <a:latin typeface="Calibri" pitchFamily="34" charset="0"/>
                <a:ea typeface="Calibri" pitchFamily="34" charset="-122"/>
                <a:cs typeface="Calibri" pitchFamily="34" charset="-120"/>
              </a:rPr>
              <a:t>Default workhorse (~80% of work)</a:t>
            </a:r>
            <a:endParaRPr lang="en-US" sz="980" dirty="0"/>
          </a:p>
        </p:txBody>
      </p:sp>
      <p:sp>
        <p:nvSpPr>
          <p:cNvPr id="16" name="Shape 13"/>
          <p:cNvSpPr/>
          <p:nvPr/>
        </p:nvSpPr>
        <p:spPr>
          <a:xfrm>
            <a:off x="795528" y="3401568"/>
            <a:ext cx="137160" cy="137160"/>
          </a:xfrm>
          <a:prstGeom prst="ellipse">
            <a:avLst/>
          </a:prstGeom>
          <a:solidFill>
            <a:srgbClr val="262624"/>
          </a:solidFill>
          <a:ln/>
        </p:spPr>
        <p:txBody>
          <a:bodyPr/>
          <a:lstStyle/>
          <a:p>
            <a:endParaRPr lang="en-IN"/>
          </a:p>
        </p:txBody>
      </p:sp>
      <p:sp>
        <p:nvSpPr>
          <p:cNvPr id="17" name="Text 14"/>
          <p:cNvSpPr/>
          <p:nvPr/>
        </p:nvSpPr>
        <p:spPr>
          <a:xfrm>
            <a:off x="1051560" y="3346704"/>
            <a:ext cx="1417320" cy="256032"/>
          </a:xfrm>
          <a:prstGeom prst="rect">
            <a:avLst/>
          </a:prstGeom>
          <a:noFill/>
          <a:ln/>
        </p:spPr>
        <p:txBody>
          <a:bodyPr wrap="square" lIns="0" tIns="0" rIns="0" bIns="0" rtlCol="0" anchor="ctr"/>
          <a:lstStyle/>
          <a:p>
            <a:pPr marL="0" indent="0">
              <a:buNone/>
            </a:pPr>
            <a:r>
              <a:rPr lang="en-US" sz="1150" b="1" dirty="0">
                <a:solidFill>
                  <a:srgbClr val="1F1E1D"/>
                </a:solidFill>
                <a:latin typeface="Calibri" pitchFamily="34" charset="0"/>
                <a:ea typeface="Calibri" pitchFamily="34" charset="-122"/>
                <a:cs typeface="Calibri" pitchFamily="34" charset="-120"/>
              </a:rPr>
              <a:t>Opus 4.8</a:t>
            </a:r>
            <a:endParaRPr lang="en-US" sz="1150" dirty="0"/>
          </a:p>
        </p:txBody>
      </p:sp>
      <p:sp>
        <p:nvSpPr>
          <p:cNvPr id="18" name="Text 15"/>
          <p:cNvSpPr/>
          <p:nvPr/>
        </p:nvSpPr>
        <p:spPr>
          <a:xfrm>
            <a:off x="2423160" y="3346704"/>
            <a:ext cx="1143000" cy="256032"/>
          </a:xfrm>
          <a:prstGeom prst="rect">
            <a:avLst/>
          </a:prstGeom>
          <a:noFill/>
          <a:ln/>
        </p:spPr>
        <p:txBody>
          <a:bodyPr wrap="square" lIns="0" tIns="0" rIns="0" bIns="0" rtlCol="0" anchor="ctr"/>
          <a:lstStyle/>
          <a:p>
            <a:pPr marL="0" indent="0">
              <a:buNone/>
            </a:pPr>
            <a:r>
              <a:rPr lang="en-US" sz="1150" b="1" dirty="0">
                <a:solidFill>
                  <a:srgbClr val="BF5E3C"/>
                </a:solidFill>
                <a:latin typeface="Calibri" pitchFamily="34" charset="0"/>
                <a:ea typeface="Calibri" pitchFamily="34" charset="-122"/>
                <a:cs typeface="Calibri" pitchFamily="34" charset="-120"/>
              </a:rPr>
              <a:t>$5 / $25</a:t>
            </a:r>
            <a:endParaRPr lang="en-US" sz="1150" dirty="0"/>
          </a:p>
        </p:txBody>
      </p:sp>
      <p:sp>
        <p:nvSpPr>
          <p:cNvPr id="19" name="Text 16"/>
          <p:cNvSpPr/>
          <p:nvPr/>
        </p:nvSpPr>
        <p:spPr>
          <a:xfrm>
            <a:off x="3520440" y="3346704"/>
            <a:ext cx="2240280" cy="384048"/>
          </a:xfrm>
          <a:prstGeom prst="rect">
            <a:avLst/>
          </a:prstGeom>
          <a:noFill/>
          <a:ln/>
        </p:spPr>
        <p:txBody>
          <a:bodyPr wrap="square" lIns="0" tIns="0" rIns="0" bIns="0" rtlCol="0" anchor="ctr"/>
          <a:lstStyle/>
          <a:p>
            <a:pPr marL="0" indent="0">
              <a:lnSpc>
                <a:spcPts val="1100"/>
              </a:lnSpc>
              <a:buNone/>
            </a:pPr>
            <a:r>
              <a:rPr lang="en-US" sz="980" dirty="0">
                <a:solidFill>
                  <a:srgbClr val="3D3A35"/>
                </a:solidFill>
                <a:latin typeface="Calibri" pitchFamily="34" charset="0"/>
                <a:ea typeface="Calibri" pitchFamily="34" charset="-122"/>
                <a:cs typeface="Calibri" pitchFamily="34" charset="-120"/>
              </a:rPr>
              <a:t>Hardest reasoning &amp; planning only</a:t>
            </a:r>
            <a:endParaRPr lang="en-US" sz="980" dirty="0"/>
          </a:p>
        </p:txBody>
      </p:sp>
      <p:sp>
        <p:nvSpPr>
          <p:cNvPr id="20" name="Shape 17"/>
          <p:cNvSpPr/>
          <p:nvPr/>
        </p:nvSpPr>
        <p:spPr>
          <a:xfrm>
            <a:off x="6245352" y="1965960"/>
            <a:ext cx="5394960" cy="1965960"/>
          </a:xfrm>
          <a:prstGeom prst="roundRect">
            <a:avLst>
              <a:gd name="adj" fmla="val 4651"/>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1" name="Text 18"/>
          <p:cNvSpPr/>
          <p:nvPr/>
        </p:nvSpPr>
        <p:spPr>
          <a:xfrm>
            <a:off x="6473952" y="2084832"/>
            <a:ext cx="4937760" cy="274320"/>
          </a:xfrm>
          <a:prstGeom prst="rect">
            <a:avLst/>
          </a:prstGeom>
          <a:noFill/>
          <a:ln/>
        </p:spPr>
        <p:txBody>
          <a:bodyPr wrap="square" lIns="0" tIns="0" rIns="0" bIns="0" rtlCol="0" anchor="ctr"/>
          <a:lstStyle/>
          <a:p>
            <a:pPr marL="0" indent="0">
              <a:buNone/>
            </a:pPr>
            <a:r>
              <a:rPr lang="en-US" sz="1100" b="1" kern="0" spc="120" dirty="0">
                <a:solidFill>
                  <a:srgbClr val="BF5E3C"/>
                </a:solidFill>
                <a:latin typeface="Calibri" pitchFamily="34" charset="0"/>
                <a:ea typeface="Calibri" pitchFamily="34" charset="-122"/>
                <a:cs typeface="Calibri" pitchFamily="34" charset="-120"/>
              </a:rPr>
              <a:t>ROUTING POLICY</a:t>
            </a:r>
            <a:endParaRPr lang="en-US" sz="1100" dirty="0"/>
          </a:p>
        </p:txBody>
      </p:sp>
      <p:sp>
        <p:nvSpPr>
          <p:cNvPr id="22" name="Text 19"/>
          <p:cNvSpPr/>
          <p:nvPr/>
        </p:nvSpPr>
        <p:spPr>
          <a:xfrm>
            <a:off x="6492240" y="2432304"/>
            <a:ext cx="4937760" cy="310896"/>
          </a:xfrm>
          <a:prstGeom prst="rect">
            <a:avLst/>
          </a:prstGeom>
          <a:noFill/>
          <a:ln/>
        </p:spPr>
        <p:txBody>
          <a:bodyPr wrap="square" lIns="0" tIns="0" rIns="0" bIns="0" rtlCol="0" anchor="ctr"/>
          <a:lstStyle/>
          <a:p>
            <a:pPr marL="0" indent="0">
              <a:buNone/>
            </a:pPr>
            <a:r>
              <a:rPr lang="en-US" sz="1100" b="1" dirty="0">
                <a:solidFill>
                  <a:srgbClr val="D97757"/>
                </a:solidFill>
                <a:latin typeface="Calibri" pitchFamily="34" charset="0"/>
                <a:ea typeface="Calibri" pitchFamily="34" charset="-122"/>
                <a:cs typeface="Calibri" pitchFamily="34" charset="-120"/>
              </a:rPr>
              <a:t>Default →  </a:t>
            </a:r>
            <a:r>
              <a:rPr lang="en-US" sz="1100" dirty="0">
                <a:solidFill>
                  <a:srgbClr val="3D3A35"/>
                </a:solidFill>
                <a:latin typeface="Calibri" pitchFamily="34" charset="0"/>
                <a:ea typeface="Calibri" pitchFamily="34" charset="-122"/>
                <a:cs typeface="Calibri" pitchFamily="34" charset="-120"/>
              </a:rPr>
              <a:t>Sonnet 4.6 for everyday agent loops</a:t>
            </a:r>
            <a:endParaRPr lang="en-US" sz="1100" dirty="0"/>
          </a:p>
        </p:txBody>
      </p:sp>
      <p:sp>
        <p:nvSpPr>
          <p:cNvPr id="23" name="Text 20"/>
          <p:cNvSpPr/>
          <p:nvPr/>
        </p:nvSpPr>
        <p:spPr>
          <a:xfrm>
            <a:off x="6492240" y="2784348"/>
            <a:ext cx="4937760" cy="310896"/>
          </a:xfrm>
          <a:prstGeom prst="rect">
            <a:avLst/>
          </a:prstGeom>
          <a:noFill/>
          <a:ln/>
        </p:spPr>
        <p:txBody>
          <a:bodyPr wrap="square" lIns="0" tIns="0" rIns="0" bIns="0" rtlCol="0" anchor="ctr"/>
          <a:lstStyle/>
          <a:p>
            <a:pPr marL="0" indent="0">
              <a:buNone/>
            </a:pPr>
            <a:r>
              <a:rPr lang="en-US" sz="1100" b="1" dirty="0">
                <a:solidFill>
                  <a:srgbClr val="D97757"/>
                </a:solidFill>
                <a:latin typeface="Calibri" pitchFamily="34" charset="0"/>
                <a:ea typeface="Calibri" pitchFamily="34" charset="-122"/>
                <a:cs typeface="Calibri" pitchFamily="34" charset="-120"/>
              </a:rPr>
              <a:t>Drop to →  </a:t>
            </a:r>
            <a:r>
              <a:rPr lang="en-US" sz="1100" dirty="0">
                <a:solidFill>
                  <a:srgbClr val="3D3A35"/>
                </a:solidFill>
                <a:latin typeface="Calibri" pitchFamily="34" charset="0"/>
                <a:ea typeface="Calibri" pitchFamily="34" charset="-122"/>
                <a:cs typeface="Calibri" pitchFamily="34" charset="-120"/>
              </a:rPr>
              <a:t>Haiku for high-volume triage &amp; classification</a:t>
            </a:r>
            <a:endParaRPr lang="en-US" sz="1100" dirty="0"/>
          </a:p>
        </p:txBody>
      </p:sp>
      <p:sp>
        <p:nvSpPr>
          <p:cNvPr id="24" name="Text 21"/>
          <p:cNvSpPr/>
          <p:nvPr/>
        </p:nvSpPr>
        <p:spPr>
          <a:xfrm>
            <a:off x="6492240" y="3136392"/>
            <a:ext cx="4937760" cy="310896"/>
          </a:xfrm>
          <a:prstGeom prst="rect">
            <a:avLst/>
          </a:prstGeom>
          <a:noFill/>
          <a:ln/>
        </p:spPr>
        <p:txBody>
          <a:bodyPr wrap="square" lIns="0" tIns="0" rIns="0" bIns="0" rtlCol="0" anchor="ctr"/>
          <a:lstStyle/>
          <a:p>
            <a:pPr marL="0" indent="0">
              <a:buNone/>
            </a:pPr>
            <a:r>
              <a:rPr lang="en-US" sz="1100" b="1" dirty="0">
                <a:solidFill>
                  <a:srgbClr val="D97757"/>
                </a:solidFill>
                <a:latin typeface="Calibri" pitchFamily="34" charset="0"/>
                <a:ea typeface="Calibri" pitchFamily="34" charset="-122"/>
                <a:cs typeface="Calibri" pitchFamily="34" charset="-120"/>
              </a:rPr>
              <a:t>Escalate to →  </a:t>
            </a:r>
            <a:r>
              <a:rPr lang="en-US" sz="1100" dirty="0">
                <a:solidFill>
                  <a:srgbClr val="3D3A35"/>
                </a:solidFill>
                <a:latin typeface="Calibri" pitchFamily="34" charset="0"/>
                <a:ea typeface="Calibri" pitchFamily="34" charset="-122"/>
                <a:cs typeface="Calibri" pitchFamily="34" charset="-120"/>
              </a:rPr>
              <a:t>Opus only on the hardest reasoning steps</a:t>
            </a:r>
            <a:endParaRPr lang="en-US" sz="1100" dirty="0"/>
          </a:p>
        </p:txBody>
      </p:sp>
      <p:sp>
        <p:nvSpPr>
          <p:cNvPr id="25" name="Text 22"/>
          <p:cNvSpPr/>
          <p:nvPr/>
        </p:nvSpPr>
        <p:spPr>
          <a:xfrm>
            <a:off x="6492240" y="3488436"/>
            <a:ext cx="4937760" cy="310896"/>
          </a:xfrm>
          <a:prstGeom prst="rect">
            <a:avLst/>
          </a:prstGeom>
          <a:noFill/>
          <a:ln/>
        </p:spPr>
        <p:txBody>
          <a:bodyPr wrap="square" lIns="0" tIns="0" rIns="0" bIns="0" rtlCol="0" anchor="ctr"/>
          <a:lstStyle/>
          <a:p>
            <a:pPr marL="0" indent="0">
              <a:buNone/>
            </a:pPr>
            <a:r>
              <a:rPr lang="en-US" sz="1100" b="1" dirty="0">
                <a:solidFill>
                  <a:srgbClr val="D97757"/>
                </a:solidFill>
                <a:latin typeface="Calibri" pitchFamily="34" charset="0"/>
                <a:ea typeface="Calibri" pitchFamily="34" charset="-122"/>
                <a:cs typeface="Calibri" pitchFamily="34" charset="-120"/>
              </a:rPr>
              <a:t>Cap →  </a:t>
            </a:r>
            <a:r>
              <a:rPr lang="en-US" sz="1100" dirty="0">
                <a:solidFill>
                  <a:srgbClr val="3D3A35"/>
                </a:solidFill>
                <a:latin typeface="Calibri" pitchFamily="34" charset="0"/>
                <a:ea typeface="Calibri" pitchFamily="34" charset="-122"/>
                <a:cs typeface="Calibri" pitchFamily="34" charset="-120"/>
              </a:rPr>
              <a:t>fan-out / workers — respect the ~15× multiplier</a:t>
            </a:r>
            <a:endParaRPr lang="en-US" sz="1100" dirty="0"/>
          </a:p>
        </p:txBody>
      </p:sp>
      <p:sp>
        <p:nvSpPr>
          <p:cNvPr id="26" name="Shape 23"/>
          <p:cNvSpPr/>
          <p:nvPr/>
        </p:nvSpPr>
        <p:spPr>
          <a:xfrm>
            <a:off x="548640" y="4069080"/>
            <a:ext cx="5394960" cy="1508760"/>
          </a:xfrm>
          <a:prstGeom prst="roundRect">
            <a:avLst>
              <a:gd name="adj" fmla="val 6061"/>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27" name="Text 24"/>
          <p:cNvSpPr/>
          <p:nvPr/>
        </p:nvSpPr>
        <p:spPr>
          <a:xfrm>
            <a:off x="777240" y="4187952"/>
            <a:ext cx="4937760" cy="274320"/>
          </a:xfrm>
          <a:prstGeom prst="rect">
            <a:avLst/>
          </a:prstGeom>
          <a:noFill/>
          <a:ln/>
        </p:spPr>
        <p:txBody>
          <a:bodyPr wrap="square" lIns="0" tIns="0" rIns="0" bIns="0" rtlCol="0" anchor="ctr"/>
          <a:lstStyle/>
          <a:p>
            <a:pPr marL="0" indent="0">
              <a:buNone/>
            </a:pPr>
            <a:r>
              <a:rPr lang="en-US" sz="1100" b="1" kern="0" spc="120" dirty="0">
                <a:solidFill>
                  <a:srgbClr val="BF5E3C"/>
                </a:solidFill>
                <a:latin typeface="Calibri" pitchFamily="34" charset="0"/>
                <a:ea typeface="Calibri" pitchFamily="34" charset="-122"/>
                <a:cs typeface="Calibri" pitchFamily="34" charset="-120"/>
              </a:rPr>
              <a:t>CACHING</a:t>
            </a:r>
            <a:endParaRPr lang="en-US" sz="1100" dirty="0"/>
          </a:p>
        </p:txBody>
      </p:sp>
      <p:sp>
        <p:nvSpPr>
          <p:cNvPr id="28" name="Text 25"/>
          <p:cNvSpPr/>
          <p:nvPr/>
        </p:nvSpPr>
        <p:spPr>
          <a:xfrm>
            <a:off x="795528" y="4498848"/>
            <a:ext cx="4937760" cy="100584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60" dirty="0">
                <a:solidFill>
                  <a:srgbClr val="3D3A35"/>
                </a:solidFill>
                <a:latin typeface="Calibri" pitchFamily="34" charset="0"/>
                <a:ea typeface="Calibri" pitchFamily="34" charset="-122"/>
                <a:cs typeface="Calibri" pitchFamily="34" charset="-120"/>
              </a:rPr>
              <a:t>Reads ≈ 0.1× input — about 90% off reused tokens</a:t>
            </a:r>
            <a:endParaRPr lang="en-US" sz="1060" dirty="0"/>
          </a:p>
          <a:p>
            <a:pPr marL="152400" indent="-152400">
              <a:lnSpc>
                <a:spcPts val="1300"/>
              </a:lnSpc>
              <a:spcAft>
                <a:spcPts val="400"/>
              </a:spcAft>
              <a:buSzPct val="100000"/>
              <a:buChar char="•"/>
            </a:pPr>
            <a:r>
              <a:rPr lang="en-US" sz="1060" dirty="0">
                <a:solidFill>
                  <a:srgbClr val="3D3A35"/>
                </a:solidFill>
                <a:latin typeface="Calibri" pitchFamily="34" charset="0"/>
                <a:ea typeface="Calibri" pitchFamily="34" charset="-122"/>
                <a:cs typeface="Calibri" pitchFamily="34" charset="-120"/>
              </a:rPr>
              <a:t>Write 1.25× (5-min TTL) / 2× (1-hour TTL)</a:t>
            </a:r>
            <a:endParaRPr lang="en-US" sz="1060" dirty="0"/>
          </a:p>
          <a:p>
            <a:pPr marL="152400" indent="-152400">
              <a:lnSpc>
                <a:spcPts val="1300"/>
              </a:lnSpc>
              <a:spcAft>
                <a:spcPts val="400"/>
              </a:spcAft>
              <a:buSzPct val="100000"/>
              <a:buChar char="•"/>
            </a:pPr>
            <a:r>
              <a:rPr lang="en-US" sz="1060" dirty="0">
                <a:solidFill>
                  <a:srgbClr val="3D3A35"/>
                </a:solidFill>
                <a:latin typeface="Calibri" pitchFamily="34" charset="0"/>
                <a:ea typeface="Calibri" pitchFamily="34" charset="-122"/>
                <a:cs typeface="Calibri" pitchFamily="34" charset="-120"/>
              </a:rPr>
              <a:t>Stable prefix first; volatile user input last</a:t>
            </a:r>
            <a:endParaRPr lang="en-US" sz="1060" dirty="0"/>
          </a:p>
        </p:txBody>
      </p:sp>
      <p:sp>
        <p:nvSpPr>
          <p:cNvPr id="29" name="Shape 26"/>
          <p:cNvSpPr/>
          <p:nvPr/>
        </p:nvSpPr>
        <p:spPr>
          <a:xfrm>
            <a:off x="6245352" y="4069080"/>
            <a:ext cx="5394960" cy="1508760"/>
          </a:xfrm>
          <a:prstGeom prst="roundRect">
            <a:avLst>
              <a:gd name="adj" fmla="val 6061"/>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30" name="Text 27"/>
          <p:cNvSpPr/>
          <p:nvPr/>
        </p:nvSpPr>
        <p:spPr>
          <a:xfrm>
            <a:off x="6473952" y="4187952"/>
            <a:ext cx="4937760" cy="274320"/>
          </a:xfrm>
          <a:prstGeom prst="rect">
            <a:avLst/>
          </a:prstGeom>
          <a:noFill/>
          <a:ln/>
        </p:spPr>
        <p:txBody>
          <a:bodyPr wrap="square" lIns="0" tIns="0" rIns="0" bIns="0" rtlCol="0" anchor="ctr"/>
          <a:lstStyle/>
          <a:p>
            <a:pPr marL="0" indent="0">
              <a:buNone/>
            </a:pPr>
            <a:r>
              <a:rPr lang="en-US" sz="1100" b="1" kern="0" spc="120" dirty="0">
                <a:solidFill>
                  <a:srgbClr val="BF5E3C"/>
                </a:solidFill>
                <a:latin typeface="Calibri" pitchFamily="34" charset="0"/>
                <a:ea typeface="Calibri" pitchFamily="34" charset="-122"/>
                <a:cs typeface="Calibri" pitchFamily="34" charset="-120"/>
              </a:rPr>
              <a:t>CONTEXT BUDGET  ·  ≈200K WINDOW</a:t>
            </a:r>
            <a:endParaRPr lang="en-US" sz="1100" dirty="0"/>
          </a:p>
        </p:txBody>
      </p:sp>
      <p:sp>
        <p:nvSpPr>
          <p:cNvPr id="31" name="Shape 28"/>
          <p:cNvSpPr/>
          <p:nvPr/>
        </p:nvSpPr>
        <p:spPr>
          <a:xfrm>
            <a:off x="6492240" y="4526280"/>
            <a:ext cx="2695651" cy="329184"/>
          </a:xfrm>
          <a:prstGeom prst="rect">
            <a:avLst/>
          </a:prstGeom>
          <a:solidFill>
            <a:srgbClr val="7E8A6E"/>
          </a:solidFill>
          <a:ln/>
        </p:spPr>
        <p:txBody>
          <a:bodyPr/>
          <a:lstStyle/>
          <a:p>
            <a:endParaRPr lang="en-IN"/>
          </a:p>
        </p:txBody>
      </p:sp>
      <p:sp>
        <p:nvSpPr>
          <p:cNvPr id="32" name="Text 29"/>
          <p:cNvSpPr/>
          <p:nvPr/>
        </p:nvSpPr>
        <p:spPr>
          <a:xfrm>
            <a:off x="6492240" y="4526280"/>
            <a:ext cx="2695651"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Safe</a:t>
            </a:r>
            <a:endParaRPr lang="en-US" sz="1050" dirty="0"/>
          </a:p>
        </p:txBody>
      </p:sp>
      <p:sp>
        <p:nvSpPr>
          <p:cNvPr id="33" name="Text 30"/>
          <p:cNvSpPr/>
          <p:nvPr/>
        </p:nvSpPr>
        <p:spPr>
          <a:xfrm>
            <a:off x="6492240" y="4873752"/>
            <a:ext cx="2695651" cy="219456"/>
          </a:xfrm>
          <a:prstGeom prst="rect">
            <a:avLst/>
          </a:prstGeom>
          <a:noFill/>
          <a:ln/>
        </p:spPr>
        <p:txBody>
          <a:bodyPr wrap="square" lIns="0" tIns="0" rIns="0" bIns="0" rtlCol="0" anchor="ctr"/>
          <a:lstStyle/>
          <a:p>
            <a:pPr marL="0" indent="0" algn="ctr">
              <a:buNone/>
            </a:pPr>
            <a:r>
              <a:rPr lang="en-US" sz="900" dirty="0">
                <a:solidFill>
                  <a:srgbClr val="3D3A35"/>
                </a:solidFill>
                <a:latin typeface="Calibri" pitchFamily="34" charset="0"/>
                <a:ea typeface="Calibri" pitchFamily="34" charset="-122"/>
                <a:cs typeface="Calibri" pitchFamily="34" charset="-120"/>
              </a:rPr>
              <a:t>0–110K</a:t>
            </a:r>
            <a:endParaRPr lang="en-US" sz="900" dirty="0"/>
          </a:p>
        </p:txBody>
      </p:sp>
      <p:sp>
        <p:nvSpPr>
          <p:cNvPr id="34" name="Shape 31"/>
          <p:cNvSpPr/>
          <p:nvPr/>
        </p:nvSpPr>
        <p:spPr>
          <a:xfrm>
            <a:off x="9187891" y="4526280"/>
            <a:ext cx="1225296" cy="329184"/>
          </a:xfrm>
          <a:prstGeom prst="rect">
            <a:avLst/>
          </a:prstGeom>
          <a:solidFill>
            <a:srgbClr val="D9A441"/>
          </a:solidFill>
          <a:ln/>
        </p:spPr>
        <p:txBody>
          <a:bodyPr/>
          <a:lstStyle/>
          <a:p>
            <a:endParaRPr lang="en-IN"/>
          </a:p>
        </p:txBody>
      </p:sp>
      <p:sp>
        <p:nvSpPr>
          <p:cNvPr id="35" name="Text 32"/>
          <p:cNvSpPr/>
          <p:nvPr/>
        </p:nvSpPr>
        <p:spPr>
          <a:xfrm>
            <a:off x="9187891" y="4526280"/>
            <a:ext cx="1225296"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Watch</a:t>
            </a:r>
            <a:endParaRPr lang="en-US" sz="1050" dirty="0"/>
          </a:p>
        </p:txBody>
      </p:sp>
      <p:sp>
        <p:nvSpPr>
          <p:cNvPr id="36" name="Text 33"/>
          <p:cNvSpPr/>
          <p:nvPr/>
        </p:nvSpPr>
        <p:spPr>
          <a:xfrm>
            <a:off x="9187891" y="4873752"/>
            <a:ext cx="1225296" cy="219456"/>
          </a:xfrm>
          <a:prstGeom prst="rect">
            <a:avLst/>
          </a:prstGeom>
          <a:noFill/>
          <a:ln/>
        </p:spPr>
        <p:txBody>
          <a:bodyPr wrap="square" lIns="0" tIns="0" rIns="0" bIns="0" rtlCol="0" anchor="ctr"/>
          <a:lstStyle/>
          <a:p>
            <a:pPr marL="0" indent="0" algn="ctr">
              <a:buNone/>
            </a:pPr>
            <a:r>
              <a:rPr lang="en-US" sz="900" dirty="0">
                <a:solidFill>
                  <a:srgbClr val="3D3A35"/>
                </a:solidFill>
                <a:latin typeface="Calibri" pitchFamily="34" charset="0"/>
                <a:ea typeface="Calibri" pitchFamily="34" charset="-122"/>
                <a:cs typeface="Calibri" pitchFamily="34" charset="-120"/>
              </a:rPr>
              <a:t>110–160K</a:t>
            </a:r>
            <a:endParaRPr lang="en-US" sz="900" dirty="0"/>
          </a:p>
        </p:txBody>
      </p:sp>
      <p:sp>
        <p:nvSpPr>
          <p:cNvPr id="37" name="Shape 34"/>
          <p:cNvSpPr/>
          <p:nvPr/>
        </p:nvSpPr>
        <p:spPr>
          <a:xfrm>
            <a:off x="10413187" y="4526280"/>
            <a:ext cx="980237" cy="329184"/>
          </a:xfrm>
          <a:prstGeom prst="rect">
            <a:avLst/>
          </a:prstGeom>
          <a:solidFill>
            <a:srgbClr val="D97757"/>
          </a:solidFill>
          <a:ln/>
        </p:spPr>
        <p:txBody>
          <a:bodyPr/>
          <a:lstStyle/>
          <a:p>
            <a:endParaRPr lang="en-IN"/>
          </a:p>
        </p:txBody>
      </p:sp>
      <p:sp>
        <p:nvSpPr>
          <p:cNvPr id="38" name="Text 35"/>
          <p:cNvSpPr/>
          <p:nvPr/>
        </p:nvSpPr>
        <p:spPr>
          <a:xfrm>
            <a:off x="10413187" y="4526280"/>
            <a:ext cx="980237"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Compress</a:t>
            </a:r>
            <a:endParaRPr lang="en-US" sz="1050" dirty="0"/>
          </a:p>
        </p:txBody>
      </p:sp>
      <p:sp>
        <p:nvSpPr>
          <p:cNvPr id="39" name="Text 36"/>
          <p:cNvSpPr/>
          <p:nvPr/>
        </p:nvSpPr>
        <p:spPr>
          <a:xfrm>
            <a:off x="10413187" y="4873752"/>
            <a:ext cx="980237" cy="219456"/>
          </a:xfrm>
          <a:prstGeom prst="rect">
            <a:avLst/>
          </a:prstGeom>
          <a:noFill/>
          <a:ln/>
        </p:spPr>
        <p:txBody>
          <a:bodyPr wrap="square" lIns="0" tIns="0" rIns="0" bIns="0" rtlCol="0" anchor="ctr"/>
          <a:lstStyle/>
          <a:p>
            <a:pPr marL="0" indent="0" algn="ctr">
              <a:buNone/>
            </a:pPr>
            <a:r>
              <a:rPr lang="en-US" sz="900" dirty="0">
                <a:solidFill>
                  <a:srgbClr val="3D3A35"/>
                </a:solidFill>
                <a:latin typeface="Calibri" pitchFamily="34" charset="0"/>
                <a:ea typeface="Calibri" pitchFamily="34" charset="-122"/>
                <a:cs typeface="Calibri" pitchFamily="34" charset="-120"/>
              </a:rPr>
              <a:t>160K+</a:t>
            </a:r>
            <a:endParaRPr lang="en-US" sz="900" dirty="0"/>
          </a:p>
        </p:txBody>
      </p:sp>
      <p:sp>
        <p:nvSpPr>
          <p:cNvPr id="40" name="Text 37"/>
          <p:cNvSpPr/>
          <p:nvPr/>
        </p:nvSpPr>
        <p:spPr>
          <a:xfrm>
            <a:off x="6492240" y="5230368"/>
            <a:ext cx="4937760" cy="256032"/>
          </a:xfrm>
          <a:prstGeom prst="rect">
            <a:avLst/>
          </a:prstGeom>
          <a:noFill/>
          <a:ln/>
        </p:spPr>
        <p:txBody>
          <a:bodyPr wrap="square" lIns="0" tIns="0" rIns="0" bIns="0" rtlCol="0" anchor="ctr"/>
          <a:lstStyle/>
          <a:p>
            <a:pPr marL="0" indent="0">
              <a:buNone/>
            </a:pPr>
            <a:r>
              <a:rPr lang="en-US" sz="1040" i="1" dirty="0">
                <a:solidFill>
                  <a:srgbClr val="8C8579"/>
                </a:solidFill>
                <a:latin typeface="Calibri" pitchFamily="34" charset="0"/>
                <a:ea typeface="Calibri" pitchFamily="34" charset="-122"/>
                <a:cs typeface="Calibri" pitchFamily="34" charset="-120"/>
              </a:rPr>
              <a:t>Compact long sessions · prune stale tool output</a:t>
            </a:r>
            <a:endParaRPr lang="en-US" sz="1040" dirty="0"/>
          </a:p>
        </p:txBody>
      </p:sp>
      <p:sp>
        <p:nvSpPr>
          <p:cNvPr id="41" name="Shape 38"/>
          <p:cNvSpPr/>
          <p:nvPr/>
        </p:nvSpPr>
        <p:spPr>
          <a:xfrm>
            <a:off x="548640" y="5715000"/>
            <a:ext cx="11091672" cy="786384"/>
          </a:xfrm>
          <a:prstGeom prst="roundRect">
            <a:avLst>
              <a:gd name="adj" fmla="val 8140"/>
            </a:avLst>
          </a:prstGeom>
          <a:solidFill>
            <a:srgbClr val="262624"/>
          </a:solidFill>
          <a:ln w="12700">
            <a:solidFill>
              <a:srgbClr val="D97757"/>
            </a:solidFill>
            <a:prstDash val="solid"/>
          </a:ln>
        </p:spPr>
        <p:txBody>
          <a:bodyPr/>
          <a:lstStyle/>
          <a:p>
            <a:endParaRPr lang="en-IN"/>
          </a:p>
        </p:txBody>
      </p:sp>
      <p:sp>
        <p:nvSpPr>
          <p:cNvPr id="42" name="Text 39"/>
          <p:cNvSpPr/>
          <p:nvPr/>
        </p:nvSpPr>
        <p:spPr>
          <a:xfrm>
            <a:off x="822960" y="5815584"/>
            <a:ext cx="2194560" cy="548640"/>
          </a:xfrm>
          <a:prstGeom prst="rect">
            <a:avLst/>
          </a:prstGeom>
          <a:noFill/>
          <a:ln/>
        </p:spPr>
        <p:txBody>
          <a:bodyPr wrap="square" lIns="0" tIns="0" rIns="0" bIns="0" rtlCol="0" anchor="ctr"/>
          <a:lstStyle/>
          <a:p>
            <a:pPr marL="0" indent="0">
              <a:buNone/>
            </a:pPr>
            <a:r>
              <a:rPr lang="en-US" sz="1150" b="1" kern="0" spc="100" dirty="0">
                <a:solidFill>
                  <a:srgbClr val="D97757"/>
                </a:solidFill>
                <a:latin typeface="Calibri" pitchFamily="34" charset="0"/>
                <a:ea typeface="Calibri" pitchFamily="34" charset="-122"/>
                <a:cs typeface="Calibri" pitchFamily="34" charset="-120"/>
              </a:rPr>
              <a:t>DAILY GUARDRAILS</a:t>
            </a:r>
            <a:endParaRPr lang="en-US" sz="1150" dirty="0"/>
          </a:p>
        </p:txBody>
      </p:sp>
      <p:sp>
        <p:nvSpPr>
          <p:cNvPr id="43" name="Text 40"/>
          <p:cNvSpPr/>
          <p:nvPr/>
        </p:nvSpPr>
        <p:spPr>
          <a:xfrm>
            <a:off x="3063240" y="5815584"/>
            <a:ext cx="2788920" cy="548640"/>
          </a:xfrm>
          <a:prstGeom prst="rect">
            <a:avLst/>
          </a:prstGeom>
          <a:noFill/>
          <a:ln/>
        </p:spPr>
        <p:txBody>
          <a:bodyPr wrap="square" lIns="0" tIns="0" rIns="0" bIns="0" rtlCol="0" anchor="ctr"/>
          <a:lstStyle/>
          <a:p>
            <a:pPr marL="0" indent="0">
              <a:lnSpc>
                <a:spcPts val="1200"/>
              </a:lnSpc>
              <a:buNone/>
            </a:pPr>
            <a:r>
              <a:rPr lang="en-US" sz="1060" b="1" dirty="0">
                <a:solidFill>
                  <a:srgbClr val="8FB57E"/>
                </a:solidFill>
                <a:latin typeface="Calibri" pitchFamily="34" charset="0"/>
                <a:ea typeface="Calibri" pitchFamily="34" charset="-122"/>
                <a:cs typeface="Calibri" pitchFamily="34" charset="-120"/>
              </a:rPr>
              <a:t>✓  </a:t>
            </a:r>
            <a:r>
              <a:rPr lang="en-US" sz="1060" dirty="0">
                <a:solidFill>
                  <a:srgbClr val="E7DECF"/>
                </a:solidFill>
                <a:latin typeface="Calibri" pitchFamily="34" charset="0"/>
                <a:ea typeface="Calibri" pitchFamily="34" charset="-122"/>
                <a:cs typeface="Calibri" pitchFamily="34" charset="-120"/>
              </a:rPr>
              <a:t>Set team/org spend limits + budget alerts</a:t>
            </a:r>
            <a:endParaRPr lang="en-US" sz="1060" dirty="0"/>
          </a:p>
        </p:txBody>
      </p:sp>
      <p:sp>
        <p:nvSpPr>
          <p:cNvPr id="44" name="Text 41"/>
          <p:cNvSpPr/>
          <p:nvPr/>
        </p:nvSpPr>
        <p:spPr>
          <a:xfrm>
            <a:off x="5897880" y="5815584"/>
            <a:ext cx="2788920" cy="548640"/>
          </a:xfrm>
          <a:prstGeom prst="rect">
            <a:avLst/>
          </a:prstGeom>
          <a:noFill/>
          <a:ln/>
        </p:spPr>
        <p:txBody>
          <a:bodyPr wrap="square" lIns="0" tIns="0" rIns="0" bIns="0" rtlCol="0" anchor="ctr"/>
          <a:lstStyle/>
          <a:p>
            <a:pPr marL="0" indent="0">
              <a:lnSpc>
                <a:spcPts val="1200"/>
              </a:lnSpc>
              <a:buNone/>
            </a:pPr>
            <a:r>
              <a:rPr lang="en-US" sz="1060" b="1" dirty="0">
                <a:solidFill>
                  <a:srgbClr val="8FB57E"/>
                </a:solidFill>
                <a:latin typeface="Calibri" pitchFamily="34" charset="0"/>
                <a:ea typeface="Calibri" pitchFamily="34" charset="-122"/>
                <a:cs typeface="Calibri" pitchFamily="34" charset="-120"/>
              </a:rPr>
              <a:t>✓  </a:t>
            </a:r>
            <a:r>
              <a:rPr lang="en-US" sz="1060" dirty="0">
                <a:solidFill>
                  <a:srgbClr val="E7DECF"/>
                </a:solidFill>
                <a:latin typeface="Calibri" pitchFamily="34" charset="0"/>
                <a:ea typeface="Calibri" pitchFamily="34" charset="-122"/>
                <a:cs typeface="Calibri" pitchFamily="34" charset="-120"/>
              </a:rPr>
              <a:t>Batch latency-tolerant jobs (~50% off)</a:t>
            </a:r>
            <a:endParaRPr lang="en-US" sz="1060" dirty="0"/>
          </a:p>
        </p:txBody>
      </p:sp>
      <p:sp>
        <p:nvSpPr>
          <p:cNvPr id="45" name="Text 42"/>
          <p:cNvSpPr/>
          <p:nvPr/>
        </p:nvSpPr>
        <p:spPr>
          <a:xfrm>
            <a:off x="8732520" y="5815584"/>
            <a:ext cx="2788920" cy="548640"/>
          </a:xfrm>
          <a:prstGeom prst="rect">
            <a:avLst/>
          </a:prstGeom>
          <a:noFill/>
          <a:ln/>
        </p:spPr>
        <p:txBody>
          <a:bodyPr wrap="square" lIns="0" tIns="0" rIns="0" bIns="0" rtlCol="0" anchor="ctr"/>
          <a:lstStyle/>
          <a:p>
            <a:pPr marL="0" indent="0">
              <a:lnSpc>
                <a:spcPts val="1200"/>
              </a:lnSpc>
              <a:buNone/>
            </a:pPr>
            <a:r>
              <a:rPr lang="en-US" sz="1060" b="1" dirty="0">
                <a:solidFill>
                  <a:srgbClr val="8FB57E"/>
                </a:solidFill>
                <a:latin typeface="Calibri" pitchFamily="34" charset="0"/>
                <a:ea typeface="Calibri" pitchFamily="34" charset="-122"/>
                <a:cs typeface="Calibri" pitchFamily="34" charset="-120"/>
              </a:rPr>
              <a:t>✓  </a:t>
            </a:r>
            <a:r>
              <a:rPr lang="en-US" sz="1060" dirty="0">
                <a:solidFill>
                  <a:srgbClr val="E7DECF"/>
                </a:solidFill>
                <a:latin typeface="Calibri" pitchFamily="34" charset="0"/>
                <a:ea typeface="Calibri" pitchFamily="34" charset="-122"/>
                <a:cs typeface="Calibri" pitchFamily="34" charset="-120"/>
              </a:rPr>
              <a:t>Measure: /cost · /usage · response.usage</a:t>
            </a:r>
            <a:endParaRPr lang="en-US" sz="1060" dirty="0"/>
          </a:p>
        </p:txBody>
      </p:sp>
      <p:sp>
        <p:nvSpPr>
          <p:cNvPr id="46" name="Text 43"/>
          <p:cNvSpPr/>
          <p:nvPr/>
        </p:nvSpPr>
        <p:spPr>
          <a:xfrm>
            <a:off x="548640" y="6565392"/>
            <a:ext cx="11091672" cy="237744"/>
          </a:xfrm>
          <a:prstGeom prst="rect">
            <a:avLst/>
          </a:prstGeom>
          <a:noFill/>
          <a:ln/>
        </p:spPr>
        <p:txBody>
          <a:bodyPr wrap="square" lIns="0" tIns="0" rIns="0" bIns="0" rtlCol="0" anchor="ctr"/>
          <a:lstStyle/>
          <a:p>
            <a:pPr marL="0" indent="0" algn="ctr">
              <a:buNone/>
            </a:pPr>
            <a:r>
              <a:rPr lang="en-US" sz="920" i="1" dirty="0">
                <a:solidFill>
                  <a:srgbClr val="8C8579"/>
                </a:solidFill>
                <a:latin typeface="Calibri" pitchFamily="34" charset="0"/>
                <a:ea typeface="Calibri" pitchFamily="34" charset="-122"/>
                <a:cs typeface="Calibri" pitchFamily="34" charset="-120"/>
              </a:rPr>
              <a:t>Pricing &amp; TTLs are 2026 Anthropic platform snapshots — verify live values before quoting.</a:t>
            </a:r>
            <a:endParaRPr lang="en-US" sz="920" dirty="0"/>
          </a:p>
        </p:txBody>
      </p:sp>
      <p:sp>
        <p:nvSpPr>
          <p:cNvPr id="47" name="Text 44"/>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48" name="Text 45"/>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92608"/>
          </a:xfrm>
          <a:prstGeom prst="rect">
            <a:avLst/>
          </a:prstGeom>
          <a:noFill/>
          <a:ln/>
        </p:spPr>
        <p:txBody>
          <a:bodyPr wrap="square" lIns="0" tIns="0" rIns="0" bIns="0" rtlCol="0" anchor="ctr"/>
          <a:lstStyle/>
          <a:p>
            <a:pPr marL="0" indent="0" algn="l">
              <a:buNone/>
            </a:pPr>
            <a:r>
              <a:rPr lang="en-US" sz="1250" b="1" kern="0" spc="220" dirty="0">
                <a:solidFill>
                  <a:srgbClr val="BF5E3C"/>
                </a:solidFill>
                <a:latin typeface="Calibri" pitchFamily="34" charset="0"/>
                <a:ea typeface="Calibri" pitchFamily="34" charset="-122"/>
                <a:cs typeface="Calibri" pitchFamily="34" charset="-120"/>
              </a:rPr>
              <a:t>BRING IT TOGETHER</a:t>
            </a:r>
            <a:endParaRPr lang="en-US" sz="1250" dirty="0"/>
          </a:p>
        </p:txBody>
      </p:sp>
      <p:sp>
        <p:nvSpPr>
          <p:cNvPr id="3" name="Text 1"/>
          <p:cNvSpPr/>
          <p:nvPr/>
        </p:nvSpPr>
        <p:spPr>
          <a:xfrm>
            <a:off x="548640" y="713232"/>
            <a:ext cx="10424160" cy="868680"/>
          </a:xfrm>
          <a:prstGeom prst="rect">
            <a:avLst/>
          </a:prstGeom>
          <a:noFill/>
          <a:ln/>
        </p:spPr>
        <p:txBody>
          <a:bodyPr wrap="square" lIns="0" tIns="0" rIns="0" bIns="0" rtlCol="0" anchor="t"/>
          <a:lstStyle/>
          <a:p>
            <a:pPr marL="0" indent="0" algn="l">
              <a:lnSpc>
                <a:spcPts val="3400"/>
              </a:lnSpc>
              <a:buNone/>
            </a:pPr>
            <a:r>
              <a:rPr lang="en-US" sz="3200" b="1" dirty="0">
                <a:solidFill>
                  <a:srgbClr val="1F1E1D"/>
                </a:solidFill>
                <a:latin typeface="Georgia" pitchFamily="34" charset="0"/>
                <a:ea typeface="Georgia" pitchFamily="34" charset="-122"/>
                <a:cs typeface="Georgia" pitchFamily="34" charset="-120"/>
              </a:rPr>
              <a:t>Decision matrix: task → pattern → tier</a:t>
            </a:r>
            <a:endParaRPr lang="en-US" sz="3200" dirty="0"/>
          </a:p>
        </p:txBody>
      </p:sp>
      <p:pic>
        <p:nvPicPr>
          <p:cNvPr id="4" name="Image 0" descr="assets/burst_clay.png"/>
          <p:cNvPicPr>
            <a:picLocks noChangeAspect="1"/>
          </p:cNvPicPr>
          <p:nvPr/>
        </p:nvPicPr>
        <p:blipFill>
          <a:blip r:embed="rId3"/>
          <a:stretch>
            <a:fillRect/>
          </a:stretch>
        </p:blipFill>
        <p:spPr>
          <a:xfrm>
            <a:off x="11384280" y="384048"/>
            <a:ext cx="566928" cy="566928"/>
          </a:xfrm>
          <a:prstGeom prst="rect">
            <a:avLst/>
          </a:prstGeom>
        </p:spPr>
      </p:pic>
      <p:sp>
        <p:nvSpPr>
          <p:cNvPr id="5" name="Text 2"/>
          <p:cNvSpPr/>
          <p:nvPr/>
        </p:nvSpPr>
        <p:spPr>
          <a:xfrm>
            <a:off x="548640" y="1664208"/>
            <a:ext cx="11064240" cy="365760"/>
          </a:xfrm>
          <a:prstGeom prst="rect">
            <a:avLst/>
          </a:prstGeom>
          <a:noFill/>
          <a:ln/>
        </p:spPr>
        <p:txBody>
          <a:bodyPr wrap="square" lIns="0" tIns="0" rIns="0" bIns="0" rtlCol="0" anchor="ctr"/>
          <a:lstStyle/>
          <a:p>
            <a:pPr marL="0" indent="0">
              <a:buNone/>
            </a:pPr>
            <a:r>
              <a:rPr lang="en-US" sz="1450" dirty="0">
                <a:solidFill>
                  <a:srgbClr val="3D3A35"/>
                </a:solidFill>
                <a:latin typeface="Calibri" pitchFamily="34" charset="0"/>
                <a:ea typeface="Calibri" pitchFamily="34" charset="-122"/>
                <a:cs typeface="Calibri" pitchFamily="34" charset="-120"/>
              </a:rPr>
              <a:t>From the shape of the task to the orchestration pattern and the model tier that fit it.</a:t>
            </a:r>
            <a:endParaRPr lang="en-US" sz="1450" dirty="0"/>
          </a:p>
        </p:txBody>
      </p:sp>
      <p:sp>
        <p:nvSpPr>
          <p:cNvPr id="6" name="Shape 3"/>
          <p:cNvSpPr/>
          <p:nvPr/>
        </p:nvSpPr>
        <p:spPr>
          <a:xfrm>
            <a:off x="548640" y="2194560"/>
            <a:ext cx="11091672" cy="4069080"/>
          </a:xfrm>
          <a:prstGeom prst="roundRect">
            <a:avLst>
              <a:gd name="adj" fmla="val 2247"/>
            </a:avLst>
          </a:prstGeom>
          <a:solidFill>
            <a:srgbClr val="FFFFFF"/>
          </a:solidFill>
          <a:ln w="12700">
            <a:solidFill>
              <a:srgbClr val="E5DDCE"/>
            </a:solidFill>
            <a:prstDash val="solid"/>
          </a:ln>
          <a:effectLst>
            <a:outerShdw blurRad="114300" dist="38100" dir="5400000" algn="bl" rotWithShape="0">
              <a:srgbClr val="8C8579">
                <a:alpha val="22000"/>
              </a:srgbClr>
            </a:outerShdw>
          </a:effectLst>
        </p:spPr>
        <p:txBody>
          <a:bodyPr/>
          <a:lstStyle/>
          <a:p>
            <a:endParaRPr lang="en-IN"/>
          </a:p>
        </p:txBody>
      </p:sp>
      <p:sp>
        <p:nvSpPr>
          <p:cNvPr id="7" name="Shape 4"/>
          <p:cNvSpPr/>
          <p:nvPr/>
        </p:nvSpPr>
        <p:spPr>
          <a:xfrm>
            <a:off x="658368" y="2304288"/>
            <a:ext cx="10872216" cy="475488"/>
          </a:xfrm>
          <a:prstGeom prst="rect">
            <a:avLst/>
          </a:prstGeom>
          <a:solidFill>
            <a:srgbClr val="262624"/>
          </a:solidFill>
          <a:ln/>
        </p:spPr>
        <p:txBody>
          <a:bodyPr/>
          <a:lstStyle/>
          <a:p>
            <a:endParaRPr lang="en-IN"/>
          </a:p>
        </p:txBody>
      </p:sp>
      <p:sp>
        <p:nvSpPr>
          <p:cNvPr id="8" name="Text 5"/>
          <p:cNvSpPr/>
          <p:nvPr/>
        </p:nvSpPr>
        <p:spPr>
          <a:xfrm>
            <a:off x="777240" y="2304288"/>
            <a:ext cx="2743200" cy="475488"/>
          </a:xfrm>
          <a:prstGeom prst="rect">
            <a:avLst/>
          </a:prstGeom>
          <a:noFill/>
          <a:ln/>
        </p:spPr>
        <p:txBody>
          <a:bodyPr wrap="square" lIns="0" tIns="0" rIns="0" bIns="0" rtlCol="0" anchor="ctr"/>
          <a:lstStyle/>
          <a:p>
            <a:pPr marL="0" indent="0">
              <a:buNone/>
            </a:pPr>
            <a:r>
              <a:rPr lang="en-US" sz="1100" b="1" kern="0" spc="100" dirty="0">
                <a:solidFill>
                  <a:srgbClr val="F0C7B3"/>
                </a:solidFill>
                <a:latin typeface="Calibri" pitchFamily="34" charset="0"/>
                <a:ea typeface="Calibri" pitchFamily="34" charset="-122"/>
                <a:cs typeface="Calibri" pitchFamily="34" charset="-120"/>
              </a:rPr>
              <a:t>TASK SHAPE</a:t>
            </a:r>
            <a:endParaRPr lang="en-US" sz="1100" dirty="0"/>
          </a:p>
        </p:txBody>
      </p:sp>
      <p:sp>
        <p:nvSpPr>
          <p:cNvPr id="9" name="Text 6"/>
          <p:cNvSpPr/>
          <p:nvPr/>
        </p:nvSpPr>
        <p:spPr>
          <a:xfrm>
            <a:off x="3703320" y="2304288"/>
            <a:ext cx="2743200" cy="475488"/>
          </a:xfrm>
          <a:prstGeom prst="rect">
            <a:avLst/>
          </a:prstGeom>
          <a:noFill/>
          <a:ln/>
        </p:spPr>
        <p:txBody>
          <a:bodyPr wrap="square" lIns="0" tIns="0" rIns="0" bIns="0" rtlCol="0" anchor="ctr"/>
          <a:lstStyle/>
          <a:p>
            <a:pPr marL="0" indent="0">
              <a:buNone/>
            </a:pPr>
            <a:r>
              <a:rPr lang="en-US" sz="1100" b="1" kern="0" spc="100" dirty="0">
                <a:solidFill>
                  <a:srgbClr val="F0C7B3"/>
                </a:solidFill>
                <a:latin typeface="Calibri" pitchFamily="34" charset="0"/>
                <a:ea typeface="Calibri" pitchFamily="34" charset="-122"/>
                <a:cs typeface="Calibri" pitchFamily="34" charset="-120"/>
              </a:rPr>
              <a:t>ORCHESTRATION</a:t>
            </a:r>
            <a:endParaRPr lang="en-US" sz="1100" dirty="0"/>
          </a:p>
        </p:txBody>
      </p:sp>
      <p:sp>
        <p:nvSpPr>
          <p:cNvPr id="10" name="Text 7"/>
          <p:cNvSpPr/>
          <p:nvPr/>
        </p:nvSpPr>
        <p:spPr>
          <a:xfrm>
            <a:off x="6492240" y="2304288"/>
            <a:ext cx="2743200" cy="475488"/>
          </a:xfrm>
          <a:prstGeom prst="rect">
            <a:avLst/>
          </a:prstGeom>
          <a:noFill/>
          <a:ln/>
        </p:spPr>
        <p:txBody>
          <a:bodyPr wrap="square" lIns="0" tIns="0" rIns="0" bIns="0" rtlCol="0" anchor="ctr"/>
          <a:lstStyle/>
          <a:p>
            <a:pPr marL="0" indent="0">
              <a:buNone/>
            </a:pPr>
            <a:r>
              <a:rPr lang="en-US" sz="1100" b="1" kern="0" spc="100" dirty="0">
                <a:solidFill>
                  <a:srgbClr val="F0C7B3"/>
                </a:solidFill>
                <a:latin typeface="Calibri" pitchFamily="34" charset="0"/>
                <a:ea typeface="Calibri" pitchFamily="34" charset="-122"/>
                <a:cs typeface="Calibri" pitchFamily="34" charset="-120"/>
              </a:rPr>
              <a:t>MODEL TIER</a:t>
            </a:r>
            <a:endParaRPr lang="en-US" sz="1100" dirty="0"/>
          </a:p>
        </p:txBody>
      </p:sp>
      <p:sp>
        <p:nvSpPr>
          <p:cNvPr id="11" name="Text 8"/>
          <p:cNvSpPr/>
          <p:nvPr/>
        </p:nvSpPr>
        <p:spPr>
          <a:xfrm>
            <a:off x="8869680" y="2304288"/>
            <a:ext cx="2743200" cy="475488"/>
          </a:xfrm>
          <a:prstGeom prst="rect">
            <a:avLst/>
          </a:prstGeom>
          <a:noFill/>
          <a:ln/>
        </p:spPr>
        <p:txBody>
          <a:bodyPr wrap="square" lIns="0" tIns="0" rIns="0" bIns="0" rtlCol="0" anchor="ctr"/>
          <a:lstStyle/>
          <a:p>
            <a:pPr marL="0" indent="0">
              <a:buNone/>
            </a:pPr>
            <a:r>
              <a:rPr lang="en-US" sz="1100" b="1" kern="0" spc="100" dirty="0">
                <a:solidFill>
                  <a:srgbClr val="F0C7B3"/>
                </a:solidFill>
                <a:latin typeface="Calibri" pitchFamily="34" charset="0"/>
                <a:ea typeface="Calibri" pitchFamily="34" charset="-122"/>
                <a:cs typeface="Calibri" pitchFamily="34" charset="-120"/>
              </a:rPr>
              <a:t>WHY</a:t>
            </a:r>
            <a:endParaRPr lang="en-US" sz="1100" dirty="0"/>
          </a:p>
        </p:txBody>
      </p:sp>
      <p:sp>
        <p:nvSpPr>
          <p:cNvPr id="12" name="Text 9"/>
          <p:cNvSpPr/>
          <p:nvPr/>
        </p:nvSpPr>
        <p:spPr>
          <a:xfrm>
            <a:off x="777240" y="287121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Simple lookup / classify</a:t>
            </a:r>
            <a:endParaRPr lang="en-US" sz="1200" dirty="0"/>
          </a:p>
        </p:txBody>
      </p:sp>
      <p:sp>
        <p:nvSpPr>
          <p:cNvPr id="13" name="Text 10"/>
          <p:cNvSpPr/>
          <p:nvPr/>
        </p:nvSpPr>
        <p:spPr>
          <a:xfrm>
            <a:off x="3703320" y="287121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Single call</a:t>
            </a:r>
            <a:endParaRPr lang="en-US" sz="1200" dirty="0"/>
          </a:p>
        </p:txBody>
      </p:sp>
      <p:sp>
        <p:nvSpPr>
          <p:cNvPr id="14" name="Text 11"/>
          <p:cNvSpPr/>
          <p:nvPr/>
        </p:nvSpPr>
        <p:spPr>
          <a:xfrm>
            <a:off x="6492240" y="287121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5E6B4F"/>
                </a:solidFill>
                <a:latin typeface="Calibri" pitchFamily="34" charset="0"/>
                <a:ea typeface="Calibri" pitchFamily="34" charset="-122"/>
                <a:cs typeface="Calibri" pitchFamily="34" charset="-120"/>
              </a:rPr>
              <a:t>Haiku 4.5</a:t>
            </a:r>
            <a:endParaRPr lang="en-US" sz="1200" dirty="0"/>
          </a:p>
        </p:txBody>
      </p:sp>
      <p:sp>
        <p:nvSpPr>
          <p:cNvPr id="15" name="Text 12"/>
          <p:cNvSpPr/>
          <p:nvPr/>
        </p:nvSpPr>
        <p:spPr>
          <a:xfrm>
            <a:off x="8869680" y="287121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High volume, low ambiguity</a:t>
            </a:r>
            <a:endParaRPr lang="en-US" sz="1100" dirty="0"/>
          </a:p>
        </p:txBody>
      </p:sp>
      <p:sp>
        <p:nvSpPr>
          <p:cNvPr id="16" name="Shape 13"/>
          <p:cNvSpPr/>
          <p:nvPr/>
        </p:nvSpPr>
        <p:spPr>
          <a:xfrm>
            <a:off x="658368" y="3419856"/>
            <a:ext cx="10872216" cy="548640"/>
          </a:xfrm>
          <a:prstGeom prst="rect">
            <a:avLst/>
          </a:prstGeom>
          <a:solidFill>
            <a:srgbClr val="F4F1EA"/>
          </a:solidFill>
          <a:ln/>
        </p:spPr>
        <p:txBody>
          <a:bodyPr/>
          <a:lstStyle/>
          <a:p>
            <a:endParaRPr lang="en-IN"/>
          </a:p>
        </p:txBody>
      </p:sp>
      <p:sp>
        <p:nvSpPr>
          <p:cNvPr id="17" name="Text 14"/>
          <p:cNvSpPr/>
          <p:nvPr/>
        </p:nvSpPr>
        <p:spPr>
          <a:xfrm>
            <a:off x="777240" y="341985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Multi-step, fixed sequence</a:t>
            </a:r>
            <a:endParaRPr lang="en-US" sz="1200" dirty="0"/>
          </a:p>
        </p:txBody>
      </p:sp>
      <p:sp>
        <p:nvSpPr>
          <p:cNvPr id="18" name="Text 15"/>
          <p:cNvSpPr/>
          <p:nvPr/>
        </p:nvSpPr>
        <p:spPr>
          <a:xfrm>
            <a:off x="3703320" y="341985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Prompt chaining</a:t>
            </a:r>
            <a:endParaRPr lang="en-US" sz="1200" dirty="0"/>
          </a:p>
        </p:txBody>
      </p:sp>
      <p:sp>
        <p:nvSpPr>
          <p:cNvPr id="19" name="Text 16"/>
          <p:cNvSpPr/>
          <p:nvPr/>
        </p:nvSpPr>
        <p:spPr>
          <a:xfrm>
            <a:off x="6492240" y="341985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D97757"/>
                </a:solidFill>
                <a:latin typeface="Calibri" pitchFamily="34" charset="0"/>
                <a:ea typeface="Calibri" pitchFamily="34" charset="-122"/>
                <a:cs typeface="Calibri" pitchFamily="34" charset="-120"/>
              </a:rPr>
              <a:t>Sonnet 4.6</a:t>
            </a:r>
            <a:endParaRPr lang="en-US" sz="1200" dirty="0"/>
          </a:p>
        </p:txBody>
      </p:sp>
      <p:sp>
        <p:nvSpPr>
          <p:cNvPr id="20" name="Text 17"/>
          <p:cNvSpPr/>
          <p:nvPr/>
        </p:nvSpPr>
        <p:spPr>
          <a:xfrm>
            <a:off x="8869680" y="341985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Predictable, ordered stages</a:t>
            </a:r>
            <a:endParaRPr lang="en-US" sz="1100" dirty="0"/>
          </a:p>
        </p:txBody>
      </p:sp>
      <p:sp>
        <p:nvSpPr>
          <p:cNvPr id="21" name="Text 18"/>
          <p:cNvSpPr/>
          <p:nvPr/>
        </p:nvSpPr>
        <p:spPr>
          <a:xfrm>
            <a:off x="777240" y="396849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Input varies by type</a:t>
            </a:r>
            <a:endParaRPr lang="en-US" sz="1200" dirty="0"/>
          </a:p>
        </p:txBody>
      </p:sp>
      <p:sp>
        <p:nvSpPr>
          <p:cNvPr id="22" name="Text 19"/>
          <p:cNvSpPr/>
          <p:nvPr/>
        </p:nvSpPr>
        <p:spPr>
          <a:xfrm>
            <a:off x="3703320" y="396849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Routing</a:t>
            </a:r>
            <a:endParaRPr lang="en-US" sz="1200" dirty="0"/>
          </a:p>
        </p:txBody>
      </p:sp>
      <p:sp>
        <p:nvSpPr>
          <p:cNvPr id="23" name="Text 20"/>
          <p:cNvSpPr/>
          <p:nvPr/>
        </p:nvSpPr>
        <p:spPr>
          <a:xfrm>
            <a:off x="6492240" y="396849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5E6B4F"/>
                </a:solidFill>
                <a:latin typeface="Calibri" pitchFamily="34" charset="0"/>
                <a:ea typeface="Calibri" pitchFamily="34" charset="-122"/>
                <a:cs typeface="Calibri" pitchFamily="34" charset="-120"/>
              </a:rPr>
              <a:t>Haiku → Sonnet</a:t>
            </a:r>
            <a:endParaRPr lang="en-US" sz="1200" dirty="0"/>
          </a:p>
        </p:txBody>
      </p:sp>
      <p:sp>
        <p:nvSpPr>
          <p:cNvPr id="24" name="Text 21"/>
          <p:cNvSpPr/>
          <p:nvPr/>
        </p:nvSpPr>
        <p:spPr>
          <a:xfrm>
            <a:off x="8869680" y="396849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Cheap triage, escalate on need</a:t>
            </a:r>
            <a:endParaRPr lang="en-US" sz="1100" dirty="0"/>
          </a:p>
        </p:txBody>
      </p:sp>
      <p:sp>
        <p:nvSpPr>
          <p:cNvPr id="25" name="Shape 22"/>
          <p:cNvSpPr/>
          <p:nvPr/>
        </p:nvSpPr>
        <p:spPr>
          <a:xfrm>
            <a:off x="658368" y="4517136"/>
            <a:ext cx="10872216" cy="548640"/>
          </a:xfrm>
          <a:prstGeom prst="rect">
            <a:avLst/>
          </a:prstGeom>
          <a:solidFill>
            <a:srgbClr val="F4F1EA"/>
          </a:solidFill>
          <a:ln/>
        </p:spPr>
        <p:txBody>
          <a:bodyPr/>
          <a:lstStyle/>
          <a:p>
            <a:endParaRPr lang="en-IN"/>
          </a:p>
        </p:txBody>
      </p:sp>
      <p:sp>
        <p:nvSpPr>
          <p:cNvPr id="26" name="Text 23"/>
          <p:cNvSpPr/>
          <p:nvPr/>
        </p:nvSpPr>
        <p:spPr>
          <a:xfrm>
            <a:off x="777240" y="451713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Parallel, independent subtasks</a:t>
            </a:r>
            <a:endParaRPr lang="en-US" sz="1200" dirty="0"/>
          </a:p>
        </p:txBody>
      </p:sp>
      <p:sp>
        <p:nvSpPr>
          <p:cNvPr id="27" name="Text 24"/>
          <p:cNvSpPr/>
          <p:nvPr/>
        </p:nvSpPr>
        <p:spPr>
          <a:xfrm>
            <a:off x="3703320" y="451713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Subagents (fan-out)</a:t>
            </a:r>
            <a:endParaRPr lang="en-US" sz="1200" dirty="0"/>
          </a:p>
        </p:txBody>
      </p:sp>
      <p:sp>
        <p:nvSpPr>
          <p:cNvPr id="28" name="Text 25"/>
          <p:cNvSpPr/>
          <p:nvPr/>
        </p:nvSpPr>
        <p:spPr>
          <a:xfrm>
            <a:off x="6492240" y="451713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D97757"/>
                </a:solidFill>
                <a:latin typeface="Calibri" pitchFamily="34" charset="0"/>
                <a:ea typeface="Calibri" pitchFamily="34" charset="-122"/>
                <a:cs typeface="Calibri" pitchFamily="34" charset="-120"/>
              </a:rPr>
              <a:t>Sonnet 4.6</a:t>
            </a:r>
            <a:endParaRPr lang="en-US" sz="1200" dirty="0"/>
          </a:p>
        </p:txBody>
      </p:sp>
      <p:sp>
        <p:nvSpPr>
          <p:cNvPr id="29" name="Text 26"/>
          <p:cNvSpPr/>
          <p:nvPr/>
        </p:nvSpPr>
        <p:spPr>
          <a:xfrm>
            <a:off x="8869680" y="451713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Isolated context, bounded work</a:t>
            </a:r>
            <a:endParaRPr lang="en-US" sz="1100" dirty="0"/>
          </a:p>
        </p:txBody>
      </p:sp>
      <p:sp>
        <p:nvSpPr>
          <p:cNvPr id="30" name="Text 27"/>
          <p:cNvSpPr/>
          <p:nvPr/>
        </p:nvSpPr>
        <p:spPr>
          <a:xfrm>
            <a:off x="777240" y="506577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Open-ended, unknown steps</a:t>
            </a:r>
            <a:endParaRPr lang="en-US" sz="1200" dirty="0"/>
          </a:p>
        </p:txBody>
      </p:sp>
      <p:sp>
        <p:nvSpPr>
          <p:cNvPr id="31" name="Text 28"/>
          <p:cNvSpPr/>
          <p:nvPr/>
        </p:nvSpPr>
        <p:spPr>
          <a:xfrm>
            <a:off x="3703320" y="506577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Orchestrator–workers</a:t>
            </a:r>
            <a:endParaRPr lang="en-US" sz="1200" dirty="0"/>
          </a:p>
        </p:txBody>
      </p:sp>
      <p:sp>
        <p:nvSpPr>
          <p:cNvPr id="32" name="Text 29"/>
          <p:cNvSpPr/>
          <p:nvPr/>
        </p:nvSpPr>
        <p:spPr>
          <a:xfrm>
            <a:off x="6492240" y="506577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BF5E3C"/>
                </a:solidFill>
                <a:latin typeface="Calibri" pitchFamily="34" charset="0"/>
                <a:ea typeface="Calibri" pitchFamily="34" charset="-122"/>
                <a:cs typeface="Calibri" pitchFamily="34" charset="-120"/>
              </a:rPr>
              <a:t>Opus lead + Sonnet</a:t>
            </a:r>
            <a:endParaRPr lang="en-US" sz="1200" dirty="0"/>
          </a:p>
        </p:txBody>
      </p:sp>
      <p:sp>
        <p:nvSpPr>
          <p:cNvPr id="33" name="Text 30"/>
          <p:cNvSpPr/>
          <p:nvPr/>
        </p:nvSpPr>
        <p:spPr>
          <a:xfrm>
            <a:off x="8869680" y="506577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Dynamic planning at runtime</a:t>
            </a:r>
            <a:endParaRPr lang="en-US" sz="1100" dirty="0"/>
          </a:p>
        </p:txBody>
      </p:sp>
      <p:sp>
        <p:nvSpPr>
          <p:cNvPr id="34" name="Shape 31"/>
          <p:cNvSpPr/>
          <p:nvPr/>
        </p:nvSpPr>
        <p:spPr>
          <a:xfrm>
            <a:off x="658368" y="5614416"/>
            <a:ext cx="10872216" cy="548640"/>
          </a:xfrm>
          <a:prstGeom prst="rect">
            <a:avLst/>
          </a:prstGeom>
          <a:solidFill>
            <a:srgbClr val="F4F1EA"/>
          </a:solidFill>
          <a:ln/>
        </p:spPr>
        <p:txBody>
          <a:bodyPr/>
          <a:lstStyle/>
          <a:p>
            <a:endParaRPr lang="en-IN"/>
          </a:p>
        </p:txBody>
      </p:sp>
      <p:sp>
        <p:nvSpPr>
          <p:cNvPr id="35" name="Text 32"/>
          <p:cNvSpPr/>
          <p:nvPr/>
        </p:nvSpPr>
        <p:spPr>
          <a:xfrm>
            <a:off x="777240" y="5614416"/>
            <a:ext cx="2834640" cy="548640"/>
          </a:xfrm>
          <a:prstGeom prst="rect">
            <a:avLst/>
          </a:prstGeom>
          <a:noFill/>
          <a:ln/>
        </p:spPr>
        <p:txBody>
          <a:bodyPr wrap="square" lIns="0" tIns="0" rIns="0" bIns="0" rtlCol="0" anchor="ctr"/>
          <a:lstStyle/>
          <a:p>
            <a:pPr marL="0" indent="0">
              <a:lnSpc>
                <a:spcPts val="1300"/>
              </a:lnSpc>
              <a:buNone/>
            </a:pPr>
            <a:r>
              <a:rPr lang="en-US" sz="1200" b="1" dirty="0">
                <a:solidFill>
                  <a:srgbClr val="1F1E1D"/>
                </a:solidFill>
                <a:latin typeface="Calibri" pitchFamily="34" charset="0"/>
                <a:ea typeface="Calibri" pitchFamily="34" charset="-122"/>
                <a:cs typeface="Calibri" pitchFamily="34" charset="-120"/>
              </a:rPr>
              <a:t>Quality-critical output</a:t>
            </a:r>
            <a:endParaRPr lang="en-US" sz="1200" dirty="0"/>
          </a:p>
        </p:txBody>
      </p:sp>
      <p:sp>
        <p:nvSpPr>
          <p:cNvPr id="36" name="Text 33"/>
          <p:cNvSpPr/>
          <p:nvPr/>
        </p:nvSpPr>
        <p:spPr>
          <a:xfrm>
            <a:off x="3703320" y="5614416"/>
            <a:ext cx="2697480" cy="548640"/>
          </a:xfrm>
          <a:prstGeom prst="rect">
            <a:avLst/>
          </a:prstGeom>
          <a:noFill/>
          <a:ln/>
        </p:spPr>
        <p:txBody>
          <a:bodyPr wrap="square" lIns="0" tIns="0" rIns="0" bIns="0" rtlCol="0" anchor="ctr"/>
          <a:lstStyle/>
          <a:p>
            <a:pPr marL="0" indent="0">
              <a:lnSpc>
                <a:spcPts val="1300"/>
              </a:lnSpc>
              <a:buNone/>
            </a:pPr>
            <a:r>
              <a:rPr lang="en-US" sz="1200" dirty="0">
                <a:solidFill>
                  <a:srgbClr val="3D3A35"/>
                </a:solidFill>
                <a:latin typeface="Calibri" pitchFamily="34" charset="0"/>
                <a:ea typeface="Calibri" pitchFamily="34" charset="-122"/>
                <a:cs typeface="Calibri" pitchFamily="34" charset="-120"/>
              </a:rPr>
              <a:t>Evaluator–optimizer</a:t>
            </a:r>
            <a:endParaRPr lang="en-US" sz="1200" dirty="0"/>
          </a:p>
        </p:txBody>
      </p:sp>
      <p:sp>
        <p:nvSpPr>
          <p:cNvPr id="37" name="Text 34"/>
          <p:cNvSpPr/>
          <p:nvPr/>
        </p:nvSpPr>
        <p:spPr>
          <a:xfrm>
            <a:off x="6492240" y="5614416"/>
            <a:ext cx="2286000" cy="548640"/>
          </a:xfrm>
          <a:prstGeom prst="rect">
            <a:avLst/>
          </a:prstGeom>
          <a:noFill/>
          <a:ln/>
        </p:spPr>
        <p:txBody>
          <a:bodyPr wrap="square" lIns="0" tIns="0" rIns="0" bIns="0" rtlCol="0" anchor="ctr"/>
          <a:lstStyle/>
          <a:p>
            <a:pPr marL="0" indent="0">
              <a:lnSpc>
                <a:spcPts val="1300"/>
              </a:lnSpc>
              <a:buNone/>
            </a:pPr>
            <a:r>
              <a:rPr lang="en-US" sz="1200" b="1" dirty="0">
                <a:solidFill>
                  <a:srgbClr val="BF5E3C"/>
                </a:solidFill>
                <a:latin typeface="Calibri" pitchFamily="34" charset="0"/>
                <a:ea typeface="Calibri" pitchFamily="34" charset="-122"/>
                <a:cs typeface="Calibri" pitchFamily="34" charset="-120"/>
              </a:rPr>
              <a:t>Opus 4.8</a:t>
            </a:r>
            <a:endParaRPr lang="en-US" sz="1200" dirty="0"/>
          </a:p>
        </p:txBody>
      </p:sp>
      <p:sp>
        <p:nvSpPr>
          <p:cNvPr id="38" name="Text 35"/>
          <p:cNvSpPr/>
          <p:nvPr/>
        </p:nvSpPr>
        <p:spPr>
          <a:xfrm>
            <a:off x="8869680" y="5614416"/>
            <a:ext cx="2377440" cy="548640"/>
          </a:xfrm>
          <a:prstGeom prst="rect">
            <a:avLst/>
          </a:prstGeom>
          <a:noFill/>
          <a:ln/>
        </p:spPr>
        <p:txBody>
          <a:bodyPr wrap="square" lIns="0" tIns="0" rIns="0" bIns="0" rtlCol="0" anchor="ctr"/>
          <a:lstStyle/>
          <a:p>
            <a:pPr marL="0" indent="0">
              <a:lnSpc>
                <a:spcPts val="1300"/>
              </a:lnSpc>
              <a:buNone/>
            </a:pPr>
            <a:r>
              <a:rPr lang="en-US" sz="1100" dirty="0">
                <a:solidFill>
                  <a:srgbClr val="8C8579"/>
                </a:solidFill>
                <a:latin typeface="Calibri" pitchFamily="34" charset="0"/>
                <a:ea typeface="Calibri" pitchFamily="34" charset="-122"/>
                <a:cs typeface="Calibri" pitchFamily="34" charset="-120"/>
              </a:rPr>
              <a:t>Iterate until it clears the bar</a:t>
            </a:r>
            <a:endParaRPr lang="en-US" sz="1100" dirty="0"/>
          </a:p>
        </p:txBody>
      </p:sp>
      <p:sp>
        <p:nvSpPr>
          <p:cNvPr id="39" name="Text 36"/>
          <p:cNvSpPr/>
          <p:nvPr/>
        </p:nvSpPr>
        <p:spPr>
          <a:xfrm>
            <a:off x="548640" y="6437376"/>
            <a:ext cx="9144000" cy="274320"/>
          </a:xfrm>
          <a:prstGeom prst="rect">
            <a:avLst/>
          </a:prstGeom>
          <a:noFill/>
          <a:ln/>
        </p:spPr>
        <p:txBody>
          <a:bodyPr wrap="square" lIns="0" tIns="0" rIns="0" bIns="0" rtlCol="0" anchor="ctr"/>
          <a:lstStyle/>
          <a:p>
            <a:pPr marL="0" indent="0" algn="l">
              <a:buNone/>
            </a:pPr>
            <a:r>
              <a:rPr lang="en-US" sz="950" b="1" kern="0" spc="50" dirty="0">
                <a:solidFill>
                  <a:srgbClr val="BF5E3C"/>
                </a:solidFill>
                <a:latin typeface="Calibri" pitchFamily="34" charset="0"/>
                <a:ea typeface="Calibri" pitchFamily="34" charset="-122"/>
                <a:cs typeface="Calibri" pitchFamily="34" charset="-120"/>
              </a:rPr>
              <a:t>Claude Training</a:t>
            </a:r>
            <a:r>
              <a:rPr lang="en-US" sz="950" kern="0" spc="50" dirty="0">
                <a:solidFill>
                  <a:srgbClr val="8C8579"/>
                </a:solidFill>
                <a:latin typeface="Calibri" pitchFamily="34" charset="0"/>
                <a:ea typeface="Calibri" pitchFamily="34" charset="-122"/>
                <a:cs typeface="Calibri" pitchFamily="34" charset="-120"/>
              </a:rPr>
              <a:t>   |   Multi-Agent Orchestration &amp; Cost Optimization</a:t>
            </a:r>
            <a:endParaRPr lang="en-US" sz="950" dirty="0"/>
          </a:p>
        </p:txBody>
      </p:sp>
      <p:sp>
        <p:nvSpPr>
          <p:cNvPr id="40" name="Text 37"/>
          <p:cNvSpPr/>
          <p:nvPr/>
        </p:nvSpPr>
        <p:spPr>
          <a:xfrm>
            <a:off x="11155680" y="6437376"/>
            <a:ext cx="548640" cy="274320"/>
          </a:xfrm>
          <a:prstGeom prst="rect">
            <a:avLst/>
          </a:prstGeom>
          <a:noFill/>
          <a:ln/>
        </p:spPr>
        <p:txBody>
          <a:bodyPr wrap="square" lIns="0" tIns="0" rIns="0" bIns="0" rtlCol="0" anchor="ctr"/>
          <a:lstStyle/>
          <a:p>
            <a:pPr marL="0" indent="0" algn="r">
              <a:buNone/>
            </a:pPr>
            <a:r>
              <a:rPr lang="en-US" sz="1000" dirty="0">
                <a:solidFill>
                  <a:srgbClr val="8C857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62624"/>
        </a:solidFill>
        <a:effectLst/>
      </p:bgPr>
    </p:bg>
    <p:spTree>
      <p:nvGrpSpPr>
        <p:cNvPr id="1" name=""/>
        <p:cNvGrpSpPr/>
        <p:nvPr/>
      </p:nvGrpSpPr>
      <p:grpSpPr>
        <a:xfrm>
          <a:off x="0" y="0"/>
          <a:ext cx="0" cy="0"/>
          <a:chOff x="0" y="0"/>
          <a:chExt cx="0" cy="0"/>
        </a:xfrm>
      </p:grpSpPr>
      <p:pic>
        <p:nvPicPr>
          <p:cNvPr id="2" name="Image 0" descr="assets/burst_clay.png"/>
          <p:cNvPicPr>
            <a:picLocks noChangeAspect="1"/>
          </p:cNvPicPr>
          <p:nvPr/>
        </p:nvPicPr>
        <p:blipFill>
          <a:blip r:embed="rId3">
            <a:alphaModFix amt="20000"/>
          </a:blip>
          <a:stretch>
            <a:fillRect/>
          </a:stretch>
        </p:blipFill>
        <p:spPr>
          <a:xfrm>
            <a:off x="9784080" y="457200"/>
            <a:ext cx="2194560" cy="2194560"/>
          </a:xfrm>
          <a:prstGeom prst="rect">
            <a:avLst/>
          </a:prstGeom>
        </p:spPr>
      </p:pic>
      <p:pic>
        <p:nvPicPr>
          <p:cNvPr id="3" name="Image 1" descr="assets/burst_clay.png"/>
          <p:cNvPicPr>
            <a:picLocks noChangeAspect="1"/>
          </p:cNvPicPr>
          <p:nvPr/>
        </p:nvPicPr>
        <p:blipFill>
          <a:blip r:embed="rId3"/>
          <a:stretch>
            <a:fillRect/>
          </a:stretch>
        </p:blipFill>
        <p:spPr>
          <a:xfrm>
            <a:off x="640080" y="502920"/>
            <a:ext cx="731520" cy="731520"/>
          </a:xfrm>
          <a:prstGeom prst="rect">
            <a:avLst/>
          </a:prstGeom>
        </p:spPr>
      </p:pic>
      <p:sp>
        <p:nvSpPr>
          <p:cNvPr id="4" name="Text 0"/>
          <p:cNvSpPr/>
          <p:nvPr/>
        </p:nvSpPr>
        <p:spPr>
          <a:xfrm>
            <a:off x="1508760" y="566928"/>
            <a:ext cx="5486400" cy="365760"/>
          </a:xfrm>
          <a:prstGeom prst="rect">
            <a:avLst/>
          </a:prstGeom>
          <a:noFill/>
          <a:ln/>
        </p:spPr>
        <p:txBody>
          <a:bodyPr wrap="square" lIns="0" tIns="0" rIns="0" bIns="0" rtlCol="0" anchor="ctr"/>
          <a:lstStyle/>
          <a:p>
            <a:pPr marL="0" indent="0">
              <a:buNone/>
            </a:pPr>
            <a:r>
              <a:rPr lang="en-US" sz="1300" b="1" kern="0" spc="250" dirty="0">
                <a:solidFill>
                  <a:srgbClr val="D97757"/>
                </a:solidFill>
                <a:latin typeface="Calibri" pitchFamily="34" charset="0"/>
                <a:ea typeface="Calibri" pitchFamily="34" charset="-122"/>
                <a:cs typeface="Calibri" pitchFamily="34" charset="-120"/>
              </a:rPr>
              <a:t>WRAP-UP</a:t>
            </a:r>
            <a:endParaRPr lang="en-US" sz="1300" dirty="0"/>
          </a:p>
        </p:txBody>
      </p:sp>
      <p:sp>
        <p:nvSpPr>
          <p:cNvPr id="5" name="Text 1"/>
          <p:cNvSpPr/>
          <p:nvPr/>
        </p:nvSpPr>
        <p:spPr>
          <a:xfrm>
            <a:off x="640080" y="1051560"/>
            <a:ext cx="9144000" cy="731520"/>
          </a:xfrm>
          <a:prstGeom prst="rect">
            <a:avLst/>
          </a:prstGeom>
          <a:noFill/>
          <a:ln/>
        </p:spPr>
        <p:txBody>
          <a:bodyPr wrap="square" lIns="0" tIns="0" rIns="0" bIns="0" rtlCol="0" anchor="ctr"/>
          <a:lstStyle/>
          <a:p>
            <a:pPr marL="0" indent="0">
              <a:buNone/>
            </a:pPr>
            <a:r>
              <a:rPr lang="en-US" sz="3300" b="1" dirty="0">
                <a:solidFill>
                  <a:srgbClr val="FBF8F2"/>
                </a:solidFill>
                <a:latin typeface="Georgia" pitchFamily="34" charset="0"/>
                <a:ea typeface="Georgia" pitchFamily="34" charset="-122"/>
                <a:cs typeface="Georgia" pitchFamily="34" charset="-120"/>
              </a:rPr>
              <a:t>Summary &amp; trainer's notes</a:t>
            </a:r>
            <a:endParaRPr lang="en-US" sz="3300" dirty="0"/>
          </a:p>
        </p:txBody>
      </p:sp>
      <p:sp>
        <p:nvSpPr>
          <p:cNvPr id="6" name="Text 2"/>
          <p:cNvSpPr/>
          <p:nvPr/>
        </p:nvSpPr>
        <p:spPr>
          <a:xfrm>
            <a:off x="640080" y="2011680"/>
            <a:ext cx="5486400" cy="292608"/>
          </a:xfrm>
          <a:prstGeom prst="rect">
            <a:avLst/>
          </a:prstGeom>
          <a:noFill/>
          <a:ln/>
        </p:spPr>
        <p:txBody>
          <a:bodyPr wrap="square" lIns="0" tIns="0" rIns="0" bIns="0" rtlCol="0" anchor="ctr"/>
          <a:lstStyle/>
          <a:p>
            <a:pPr marL="0" indent="0">
              <a:buNone/>
            </a:pPr>
            <a:r>
              <a:rPr lang="en-US" sz="1200" b="1" kern="0" spc="150" dirty="0">
                <a:solidFill>
                  <a:srgbClr val="D97757"/>
                </a:solidFill>
                <a:latin typeface="Calibri" pitchFamily="34" charset="0"/>
                <a:ea typeface="Calibri" pitchFamily="34" charset="-122"/>
                <a:cs typeface="Calibri" pitchFamily="34" charset="-120"/>
              </a:rPr>
              <a:t>KEY TAKEAWAYS</a:t>
            </a:r>
            <a:endParaRPr lang="en-US" sz="1200" dirty="0"/>
          </a:p>
        </p:txBody>
      </p:sp>
      <p:sp>
        <p:nvSpPr>
          <p:cNvPr id="7" name="Text 3"/>
          <p:cNvSpPr/>
          <p:nvPr/>
        </p:nvSpPr>
        <p:spPr>
          <a:xfrm>
            <a:off x="640080" y="2331720"/>
            <a:ext cx="5989320" cy="3931920"/>
          </a:xfrm>
          <a:prstGeom prst="rect">
            <a:avLst/>
          </a:prstGeom>
          <a:noFill/>
          <a:ln/>
        </p:spPr>
        <p:txBody>
          <a:bodyPr wrap="square" lIns="0" tIns="0" rIns="0" bIns="0" rtlCol="0" anchor="t"/>
          <a:lstStyle/>
          <a:p>
            <a:pPr marL="177800" indent="-177800">
              <a:lnSpc>
                <a:spcPts val="1600"/>
              </a:lnSpc>
              <a:spcAft>
                <a:spcPts val="700"/>
              </a:spcAft>
              <a:buSzPct val="100000"/>
              <a:buChar char="•"/>
            </a:pPr>
            <a:r>
              <a:rPr lang="en-US" sz="1300" dirty="0">
                <a:solidFill>
                  <a:srgbClr val="E7DECF"/>
                </a:solidFill>
                <a:latin typeface="Calibri" pitchFamily="34" charset="0"/>
                <a:ea typeface="Calibri" pitchFamily="34" charset="-122"/>
                <a:cs typeface="Calibri" pitchFamily="34" charset="-120"/>
              </a:rPr>
              <a:t>Go multi-agent only when work is truly parallel or exceeds one context — it costs ~15× the tokens.</a:t>
            </a:r>
            <a:endParaRPr lang="en-US" sz="1300" dirty="0"/>
          </a:p>
          <a:p>
            <a:pPr marL="177800" indent="-177800">
              <a:lnSpc>
                <a:spcPts val="1600"/>
              </a:lnSpc>
              <a:spcAft>
                <a:spcPts val="700"/>
              </a:spcAft>
              <a:buSzPct val="100000"/>
              <a:buChar char="•"/>
            </a:pPr>
            <a:r>
              <a:rPr lang="en-US" sz="1300" dirty="0">
                <a:solidFill>
                  <a:srgbClr val="E7DECF"/>
                </a:solidFill>
                <a:latin typeface="Calibri" pitchFamily="34" charset="0"/>
                <a:ea typeface="Calibri" pitchFamily="34" charset="-122"/>
                <a:cs typeface="Calibri" pitchFamily="34" charset="-120"/>
              </a:rPr>
              <a:t>Subagents isolate context and fan out; agent teams coordinate peers — start simple, escalate deliberately.</a:t>
            </a:r>
            <a:endParaRPr lang="en-US" sz="1300" dirty="0"/>
          </a:p>
          <a:p>
            <a:pPr marL="177800" indent="-177800">
              <a:lnSpc>
                <a:spcPts val="1600"/>
              </a:lnSpc>
              <a:spcAft>
                <a:spcPts val="700"/>
              </a:spcAft>
              <a:buSzPct val="100000"/>
              <a:buChar char="•"/>
            </a:pPr>
            <a:r>
              <a:rPr lang="en-US" sz="1300" dirty="0">
                <a:solidFill>
                  <a:srgbClr val="E7DECF"/>
                </a:solidFill>
                <a:latin typeface="Calibri" pitchFamily="34" charset="0"/>
                <a:ea typeface="Calibri" pitchFamily="34" charset="-122"/>
                <a:cs typeface="Calibri" pitchFamily="34" charset="-120"/>
              </a:rPr>
              <a:t>Match the orchestration pattern to the task; orchestrator–workers carries non-trivial, multi-step jobs.</a:t>
            </a:r>
            <a:endParaRPr lang="en-US" sz="1300" dirty="0"/>
          </a:p>
          <a:p>
            <a:pPr marL="177800" indent="-177800">
              <a:lnSpc>
                <a:spcPts val="1600"/>
              </a:lnSpc>
              <a:spcAft>
                <a:spcPts val="700"/>
              </a:spcAft>
              <a:buSzPct val="100000"/>
              <a:buChar char="•"/>
            </a:pPr>
            <a:r>
              <a:rPr lang="en-US" sz="1300" dirty="0">
                <a:solidFill>
                  <a:srgbClr val="E7DECF"/>
                </a:solidFill>
                <a:latin typeface="Calibri" pitchFamily="34" charset="0"/>
                <a:ea typeface="Calibri" pitchFamily="34" charset="-122"/>
                <a:cs typeface="Calibri" pitchFamily="34" charset="-120"/>
              </a:rPr>
              <a:t>Right-size the model, cache stable prefixes, and keep the context window lean.</a:t>
            </a:r>
            <a:endParaRPr lang="en-US" sz="1300" dirty="0"/>
          </a:p>
          <a:p>
            <a:pPr marL="177800" indent="-177800">
              <a:lnSpc>
                <a:spcPts val="1600"/>
              </a:lnSpc>
              <a:spcAft>
                <a:spcPts val="700"/>
              </a:spcAft>
              <a:buSzPct val="100000"/>
              <a:buChar char="•"/>
            </a:pPr>
            <a:r>
              <a:rPr lang="en-US" sz="1300" dirty="0">
                <a:solidFill>
                  <a:srgbClr val="E7DECF"/>
                </a:solidFill>
                <a:latin typeface="Calibri" pitchFamily="34" charset="0"/>
                <a:ea typeface="Calibri" pitchFamily="34" charset="-122"/>
                <a:cs typeface="Calibri" pitchFamily="34" charset="-120"/>
              </a:rPr>
              <a:t>Measure tokens first, then cap spend with routing, limits, and batching.</a:t>
            </a:r>
            <a:endParaRPr lang="en-US" sz="1300" dirty="0"/>
          </a:p>
        </p:txBody>
      </p:sp>
      <p:sp>
        <p:nvSpPr>
          <p:cNvPr id="8" name="Shape 4"/>
          <p:cNvSpPr/>
          <p:nvPr/>
        </p:nvSpPr>
        <p:spPr>
          <a:xfrm>
            <a:off x="6903720" y="2011680"/>
            <a:ext cx="4754880" cy="4251960"/>
          </a:xfrm>
          <a:prstGeom prst="roundRect">
            <a:avLst>
              <a:gd name="adj" fmla="val 1720"/>
            </a:avLst>
          </a:prstGeom>
          <a:solidFill>
            <a:srgbClr val="31302C"/>
          </a:solidFill>
          <a:ln w="15875">
            <a:solidFill>
              <a:srgbClr val="D97757"/>
            </a:solidFill>
            <a:prstDash val="solid"/>
          </a:ln>
        </p:spPr>
        <p:txBody>
          <a:bodyPr/>
          <a:lstStyle/>
          <a:p>
            <a:endParaRPr lang="en-IN"/>
          </a:p>
        </p:txBody>
      </p:sp>
      <p:sp>
        <p:nvSpPr>
          <p:cNvPr id="9" name="Text 5"/>
          <p:cNvSpPr/>
          <p:nvPr/>
        </p:nvSpPr>
        <p:spPr>
          <a:xfrm>
            <a:off x="7269480" y="2212848"/>
            <a:ext cx="4023360" cy="320040"/>
          </a:xfrm>
          <a:prstGeom prst="rect">
            <a:avLst/>
          </a:prstGeom>
          <a:noFill/>
          <a:ln/>
        </p:spPr>
        <p:txBody>
          <a:bodyPr wrap="square" lIns="0" tIns="0" rIns="0" bIns="0" rtlCol="0" anchor="ctr"/>
          <a:lstStyle/>
          <a:p>
            <a:pPr marL="0" indent="0">
              <a:buNone/>
            </a:pPr>
            <a:r>
              <a:rPr lang="en-US" sz="1250" b="1" kern="0" spc="150" dirty="0">
                <a:solidFill>
                  <a:srgbClr val="D97757"/>
                </a:solidFill>
                <a:latin typeface="Calibri" pitchFamily="34" charset="0"/>
                <a:ea typeface="Calibri" pitchFamily="34" charset="-122"/>
                <a:cs typeface="Calibri" pitchFamily="34" charset="-120"/>
              </a:rPr>
              <a:t>TRAINER'S NOTES</a:t>
            </a:r>
            <a:endParaRPr lang="en-US" sz="1250" dirty="0"/>
          </a:p>
        </p:txBody>
      </p:sp>
      <p:sp>
        <p:nvSpPr>
          <p:cNvPr id="10" name="Text 6"/>
          <p:cNvSpPr/>
          <p:nvPr/>
        </p:nvSpPr>
        <p:spPr>
          <a:xfrm>
            <a:off x="7269480" y="2578608"/>
            <a:ext cx="4023360" cy="713232"/>
          </a:xfrm>
          <a:prstGeom prst="rect">
            <a:avLst/>
          </a:prstGeom>
          <a:noFill/>
          <a:ln/>
        </p:spPr>
        <p:txBody>
          <a:bodyPr wrap="square" lIns="0" tIns="0" rIns="0" bIns="0" rtlCol="0" anchor="t"/>
          <a:lstStyle/>
          <a:p>
            <a:pPr marL="0" indent="0">
              <a:lnSpc>
                <a:spcPts val="1450"/>
              </a:lnSpc>
              <a:buNone/>
            </a:pPr>
            <a:r>
              <a:rPr lang="en-US" sz="1180" b="1" dirty="0">
                <a:solidFill>
                  <a:srgbClr val="F0C7B3"/>
                </a:solidFill>
                <a:latin typeface="Calibri" pitchFamily="34" charset="0"/>
                <a:ea typeface="Calibri" pitchFamily="34" charset="-122"/>
                <a:cs typeface="Calibri" pitchFamily="34" charset="-120"/>
              </a:rPr>
              <a:t>Timing:  </a:t>
            </a:r>
            <a:r>
              <a:rPr lang="en-US" sz="1180" dirty="0">
                <a:solidFill>
                  <a:srgbClr val="DCD3C5"/>
                </a:solidFill>
                <a:latin typeface="Calibri" pitchFamily="34" charset="0"/>
                <a:ea typeface="Calibri" pitchFamily="34" charset="-122"/>
                <a:cs typeface="Calibri" pitchFamily="34" charset="-120"/>
              </a:rPr>
              <a:t>~45 min content + 15 min Q&amp;A. Spend the most time on slides 6, 10, and 11 — the highest-impact decisions.</a:t>
            </a:r>
            <a:endParaRPr lang="en-US" sz="1180" dirty="0"/>
          </a:p>
        </p:txBody>
      </p:sp>
      <p:sp>
        <p:nvSpPr>
          <p:cNvPr id="11" name="Text 7"/>
          <p:cNvSpPr/>
          <p:nvPr/>
        </p:nvSpPr>
        <p:spPr>
          <a:xfrm>
            <a:off x="7269480" y="3310128"/>
            <a:ext cx="4023360" cy="713232"/>
          </a:xfrm>
          <a:prstGeom prst="rect">
            <a:avLst/>
          </a:prstGeom>
          <a:noFill/>
          <a:ln/>
        </p:spPr>
        <p:txBody>
          <a:bodyPr wrap="square" lIns="0" tIns="0" rIns="0" bIns="0" rtlCol="0" anchor="t"/>
          <a:lstStyle/>
          <a:p>
            <a:pPr marL="0" indent="0">
              <a:lnSpc>
                <a:spcPts val="1450"/>
              </a:lnSpc>
              <a:buNone/>
            </a:pPr>
            <a:r>
              <a:rPr lang="en-US" sz="1180" b="1" dirty="0">
                <a:solidFill>
                  <a:srgbClr val="F0C7B3"/>
                </a:solidFill>
                <a:latin typeface="Calibri" pitchFamily="34" charset="0"/>
                <a:ea typeface="Calibri" pitchFamily="34" charset="-122"/>
                <a:cs typeface="Calibri" pitchFamily="34" charset="-120"/>
              </a:rPr>
              <a:t>Engage:  </a:t>
            </a:r>
            <a:r>
              <a:rPr lang="en-US" sz="1180" dirty="0">
                <a:solidFill>
                  <a:srgbClr val="DCD3C5"/>
                </a:solidFill>
                <a:latin typeface="Calibri" pitchFamily="34" charset="0"/>
                <a:ea typeface="Calibri" pitchFamily="34" charset="-122"/>
                <a:cs typeface="Calibri" pitchFamily="34" charset="-120"/>
              </a:rPr>
              <a:t>Ask attendees where a single agent broke for them, and what their current model-routing default is.</a:t>
            </a:r>
            <a:endParaRPr lang="en-US" sz="1180" dirty="0"/>
          </a:p>
        </p:txBody>
      </p:sp>
      <p:sp>
        <p:nvSpPr>
          <p:cNvPr id="12" name="Text 8"/>
          <p:cNvSpPr/>
          <p:nvPr/>
        </p:nvSpPr>
        <p:spPr>
          <a:xfrm>
            <a:off x="7269480" y="4041648"/>
            <a:ext cx="4023360" cy="713232"/>
          </a:xfrm>
          <a:prstGeom prst="rect">
            <a:avLst/>
          </a:prstGeom>
          <a:noFill/>
          <a:ln/>
        </p:spPr>
        <p:txBody>
          <a:bodyPr wrap="square" lIns="0" tIns="0" rIns="0" bIns="0" rtlCol="0" anchor="t"/>
          <a:lstStyle/>
          <a:p>
            <a:pPr marL="0" indent="0">
              <a:lnSpc>
                <a:spcPts val="1450"/>
              </a:lnSpc>
              <a:buNone/>
            </a:pPr>
            <a:r>
              <a:rPr lang="en-US" sz="1180" b="1" dirty="0">
                <a:solidFill>
                  <a:srgbClr val="F0C7B3"/>
                </a:solidFill>
                <a:latin typeface="Calibri" pitchFamily="34" charset="0"/>
                <a:ea typeface="Calibri" pitchFamily="34" charset="-122"/>
                <a:cs typeface="Calibri" pitchFamily="34" charset="-120"/>
              </a:rPr>
              <a:t>Exercise:  </a:t>
            </a:r>
            <a:r>
              <a:rPr lang="en-US" sz="1180" dirty="0">
                <a:solidFill>
                  <a:srgbClr val="DCD3C5"/>
                </a:solidFill>
                <a:latin typeface="Calibri" pitchFamily="34" charset="0"/>
                <a:ea typeface="Calibri" pitchFamily="34" charset="-122"/>
                <a:cs typeface="Calibri" pitchFamily="34" charset="-120"/>
              </a:rPr>
              <a:t>Have pairs map one real workflow to a pattern and name its model tier per step.</a:t>
            </a:r>
            <a:endParaRPr lang="en-US" sz="1180" dirty="0"/>
          </a:p>
        </p:txBody>
      </p:sp>
      <p:sp>
        <p:nvSpPr>
          <p:cNvPr id="13" name="Text 9"/>
          <p:cNvSpPr/>
          <p:nvPr/>
        </p:nvSpPr>
        <p:spPr>
          <a:xfrm>
            <a:off x="7269480" y="4773168"/>
            <a:ext cx="4023360" cy="713232"/>
          </a:xfrm>
          <a:prstGeom prst="rect">
            <a:avLst/>
          </a:prstGeom>
          <a:noFill/>
          <a:ln/>
        </p:spPr>
        <p:txBody>
          <a:bodyPr wrap="square" lIns="0" tIns="0" rIns="0" bIns="0" rtlCol="0" anchor="t"/>
          <a:lstStyle/>
          <a:p>
            <a:pPr marL="0" indent="0">
              <a:lnSpc>
                <a:spcPts val="1450"/>
              </a:lnSpc>
              <a:buNone/>
            </a:pPr>
            <a:r>
              <a:rPr lang="en-US" sz="1180" b="1" dirty="0">
                <a:solidFill>
                  <a:srgbClr val="F0C7B3"/>
                </a:solidFill>
                <a:latin typeface="Calibri" pitchFamily="34" charset="0"/>
                <a:ea typeface="Calibri" pitchFamily="34" charset="-122"/>
                <a:cs typeface="Calibri" pitchFamily="34" charset="-120"/>
              </a:rPr>
              <a:t>Caveat:  </a:t>
            </a:r>
            <a:r>
              <a:rPr lang="en-US" sz="1180" dirty="0">
                <a:solidFill>
                  <a:srgbClr val="DCD3C5"/>
                </a:solidFill>
                <a:latin typeface="Calibri" pitchFamily="34" charset="0"/>
                <a:ea typeface="Calibri" pitchFamily="34" charset="-122"/>
                <a:cs typeface="Calibri" pitchFamily="34" charset="-120"/>
              </a:rPr>
              <a:t>Pricing &amp; TTLs change — point to the live pricing page; treat figures here as 2026 snapshots.</a:t>
            </a:r>
            <a:endParaRPr lang="en-US" sz="1180" dirty="0"/>
          </a:p>
        </p:txBody>
      </p:sp>
      <p:sp>
        <p:nvSpPr>
          <p:cNvPr id="14" name="Text 10"/>
          <p:cNvSpPr/>
          <p:nvPr/>
        </p:nvSpPr>
        <p:spPr>
          <a:xfrm>
            <a:off x="7269480" y="5504688"/>
            <a:ext cx="4023360" cy="713232"/>
          </a:xfrm>
          <a:prstGeom prst="rect">
            <a:avLst/>
          </a:prstGeom>
          <a:noFill/>
          <a:ln/>
        </p:spPr>
        <p:txBody>
          <a:bodyPr wrap="square" lIns="0" tIns="0" rIns="0" bIns="0" rtlCol="0" anchor="t"/>
          <a:lstStyle/>
          <a:p>
            <a:pPr marL="0" indent="0">
              <a:lnSpc>
                <a:spcPts val="1450"/>
              </a:lnSpc>
              <a:buNone/>
            </a:pPr>
            <a:r>
              <a:rPr lang="en-US" sz="1180" b="1" dirty="0">
                <a:solidFill>
                  <a:srgbClr val="F0C7B3"/>
                </a:solidFill>
                <a:latin typeface="Calibri" pitchFamily="34" charset="0"/>
                <a:ea typeface="Calibri" pitchFamily="34" charset="-122"/>
                <a:cs typeface="Calibri" pitchFamily="34" charset="-120"/>
              </a:rPr>
              <a:t>Close on:  </a:t>
            </a:r>
            <a:r>
              <a:rPr lang="en-US" sz="1180" dirty="0">
                <a:solidFill>
                  <a:srgbClr val="DCD3C5"/>
                </a:solidFill>
                <a:latin typeface="Calibri" pitchFamily="34" charset="0"/>
                <a:ea typeface="Calibri" pitchFamily="34" charset="-122"/>
                <a:cs typeface="Calibri" pitchFamily="34" charset="-120"/>
              </a:rPr>
              <a:t>“Measure, right-size, cache, cap.” — the four habits that keep agents affordable.</a:t>
            </a:r>
            <a:endParaRPr lang="en-US" sz="1180" dirty="0"/>
          </a:p>
        </p:txBody>
      </p:sp>
      <p:sp>
        <p:nvSpPr>
          <p:cNvPr id="15" name="Text 11"/>
          <p:cNvSpPr/>
          <p:nvPr/>
        </p:nvSpPr>
        <p:spPr>
          <a:xfrm>
            <a:off x="640080" y="6400800"/>
            <a:ext cx="10972800" cy="292608"/>
          </a:xfrm>
          <a:prstGeom prst="rect">
            <a:avLst/>
          </a:prstGeom>
          <a:noFill/>
          <a:ln/>
        </p:spPr>
        <p:txBody>
          <a:bodyPr wrap="square" lIns="0" tIns="0" rIns="0" bIns="0" rtlCol="0" anchor="ctr"/>
          <a:lstStyle/>
          <a:p>
            <a:pPr marL="0" indent="0">
              <a:buNone/>
            </a:pPr>
            <a:r>
              <a:rPr lang="en-US" sz="1050" dirty="0">
                <a:solidFill>
                  <a:srgbClr val="8C8579"/>
                </a:solidFill>
                <a:latin typeface="Calibri" pitchFamily="34" charset="0"/>
                <a:ea typeface="Calibri" pitchFamily="34" charset="-122"/>
                <a:cs typeface="Calibri" pitchFamily="34" charset="-120"/>
              </a:rPr>
              <a:t>Claude Engineering Training  ·  Multi-Agent Orchestration &amp; Cost-Optimization Practices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3909</Words>
  <Application>Microsoft Office PowerPoint</Application>
  <PresentationFormat>Widescreen</PresentationFormat>
  <Paragraphs>414</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1</cp:revision>
  <dcterms:created xsi:type="dcterms:W3CDTF">2026-06-28T09:55:45Z</dcterms:created>
  <dcterms:modified xsi:type="dcterms:W3CDTF">2026-06-28T10:20:04Z</dcterms:modified>
</cp:coreProperties>
</file>