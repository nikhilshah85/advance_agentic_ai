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68" d="100"/>
          <a:sy n="68" d="100"/>
        </p:scale>
        <p:origin x="713" y="78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Open by framing the session around a single question every leader is asking: 'Is this worth it, and is it safe?' Set expectations: this module is decision-focused, not a coding tutorial. Run time ~35-45 min. Tell the room the four themes map directly to budget approval, vendor risk review, and the build/buy decision they will each face. Ask up front: who here already has an AI line item in their budget? Use the show of hands to calibrate depth.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Walk the four numbers quickly; do not teach content here. Emphasize that themes 1-2 are about money and themes 3-4 are about trust, and that leaders fail when they optimize one and ignore the other. Promise a one-page takeaway at the end (the summary slide). Park deep technical questions for theme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The single most useful mental model for a non-technical leader: a token is the unit of cost, like a kWh for electricity. Stress the asymmetry — output is ~5x input — because it explains why 'make it write a 10-page report' is expensive. Then stress the hidden cost: in a long chat the entire history is re-sent every turn, so cost grows with conversation length even if the new question is short. Analogy: paying to re-read the whole book aloud each time you ask one more question. This sets up why caching (theme 2) matters.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Do the arithmetic live; it demystifies the bill and builds trust. Land two points: (1) per-request cost looks trivially small, which is the trap — volume is what creates the invoice; (2) benchmarks ($13/active day, $150-250/month per developer) come from real enterprise Claude Code deployments and are good planning anchors, with 90% of users under $30/active day. Encourage leaders to run a small pilot to get their own baseline before scaling. Numbers are mid-2026 list prices; remind them to check current pricing.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This makes the abstract levers concrete. Walk the 'before' math first so the $2,100 feels earned, then reveal that most of the 4,000 input tokens per ticket are the SAME knowledge base and instructions re-sent every time — which is exactly what caching is for. Stress the punchline: ~57% saved with no change to customer experience or answer quality, just smarter plumbing. Be explicit that the numbers are illustrative round figures, not a quote; the point is the shape of the saving. Invite the room to picture their own highest-volume workflow here — it sets up the workshop.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Frame model tiers like staffing: you don't put your most senior expert on every routine ticket. Opus dropped ~67% in price over the past year ($15/$75 → $5/$25), which changes the calculus but the discipline still holds. The actionable ask for leaders: require teams to declare a default tier and an escalation rule, not 'always use the biggest model.' Sonnet covering ~80% of workloads is the headline. Prices are mid-2026 list; verify before quoting in a budget.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These two levers stack with model-tier selection for compounding savings. Caching analogy: pay full price to read the briefing once, then a tiny fee to remember it — so structure prompts with the unchanging material at the top. Context hygiene is the behavioral half and is the one leaders can drive through policy and training, not engineering. Mention spend caps and role-based access as governance tools that keep a shared consumption pool predictable. Combined, caching + batch can push effective cost to ~10% of naive baseline.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This is the slide your security and legal stakeholders care about most. Two headlines to repeat: (1) on enterprise/API, your data is not used for training by default and it's contractual; (2) the consumer Free/Pro tier is different, so shadow use of personal accounts is the real exposure risk. Pivot to the controls a leader can mandate this quarter: SSO, RBAC, ZDR where eligible, and a data-classification rule of 'what would I not email externally?' before pasting into any AI tool. Note the left bars are intentional card markers; keep focus on the message.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Move leaders from 'is the model safe?' to 'is our process around it safe?' Safety in the model (Constitutional AI, the safety→ethics→compliance→helpfulness order) reduces risk but does not remove the organization's accountability. The durable principle: AI drafts, humans decide on anything consequential. Ask the room to name one workflow where they'd require human sign-off and one where autonomy is acceptable — this makes the policy concrete. Tie back to audit/logging from the security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Stress that this is rarely all-or-nothing; most organizations run a portfolio — buy for commodity tasks, partner for specialised needs, build only true differentiators. The classic failure modes: spending 18 months building what you could have bought, or locking into a vendor that can't handle your real use case. Decision questions to leave them with: Is this core to our edge? Do we have the talent and time? What's the cost of being wrong? Connect to earlier themes — whichever path, the token economics and security controls still apply.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Leaders often want to jump straight to 'Scale.' Use this slide to slow them down: the failure pattern is scaling before governance, which creates runaway spend and uncontrolled data exposure. Emphasize that 'Pilot' must produce a real cost baseline (tie back to the $13/active-day benchmark) — opinions don't approve budgets, data does. 'Optimise' is deliberately ongoing because pricing, models, and your use-case mix all keep changing. Ask each leader which phase their organization is honestly in today.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This is the heart of the session — protect the time for it. Break into groups of 3-5, ideally mixing functions. Assign each group a real use case from their own work, not a hypothetical. Walk the room and prompt with the day's content: remind them output is ~5x input, that caching rewards stable context, and that consumer tiers differ on data use. The deliverable is deliberately small — one committed next step per group — so momentum survives the meeting. Capture the commitments on a flip chart or shared doc and revisit at the next checkpoint.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 — This is the one-page takeaway promised at the start; give the room a moment to photograph it. Recap the four levers as a checklist, then make the ask explicit: each leader commits to one concrete next step before they leave. Reinforce that pricing and model tiers are mid-2026 list figures and should be re-checked, and that responsible adoption is an ongoing governance habit, not a one-time setup. End by inviting their hardest current use case for a live build/buy/partner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228734"/>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4"/>
          <a:stretch>
            <a:fillRect/>
          </a:stretch>
        </p:blipFill>
        <p:spPr>
          <a:xfrm>
            <a:off x="777240" y="1024128"/>
            <a:ext cx="658368" cy="658368"/>
          </a:xfrm>
          <a:prstGeom prst="rect">
            <a:avLst/>
          </a:prstGeom>
        </p:spPr>
      </p:pic>
      <p:sp>
        <p:nvSpPr>
          <p:cNvPr id="3" name="Text 0"/>
          <p:cNvSpPr/>
          <p:nvPr/>
        </p:nvSpPr>
        <p:spPr>
          <a:xfrm>
            <a:off x="822960" y="1783080"/>
            <a:ext cx="7315200" cy="274320"/>
          </a:xfrm>
          <a:prstGeom prst="rect">
            <a:avLst/>
          </a:prstGeom>
          <a:noFill/>
          <a:ln/>
        </p:spPr>
        <p:txBody>
          <a:bodyPr wrap="square" lIns="0" tIns="0" rIns="0" bIns="0" rtlCol="0" anchor="ctr"/>
          <a:lstStyle/>
          <a:p>
            <a:pPr marL="0" indent="0">
              <a:buNone/>
            </a:pPr>
            <a:r>
              <a:rPr lang="en-US" sz="1300" b="1" kern="0" spc="400" dirty="0">
                <a:solidFill>
                  <a:srgbClr val="A24E30"/>
                </a:solidFill>
                <a:latin typeface="Calibri" pitchFamily="34" charset="0"/>
                <a:ea typeface="Calibri" pitchFamily="34" charset="-122"/>
                <a:cs typeface="Calibri" pitchFamily="34" charset="-120"/>
              </a:rPr>
              <a:t>CLAUDE ENTERPRISE TRAINING</a:t>
            </a:r>
            <a:endParaRPr lang="en-US" sz="1300" dirty="0"/>
          </a:p>
        </p:txBody>
      </p:sp>
      <p:sp>
        <p:nvSpPr>
          <p:cNvPr id="4" name="Text 1"/>
          <p:cNvSpPr/>
          <p:nvPr/>
        </p:nvSpPr>
        <p:spPr>
          <a:xfrm>
            <a:off x="777240" y="2084832"/>
            <a:ext cx="7680960" cy="1371600"/>
          </a:xfrm>
          <a:prstGeom prst="rect">
            <a:avLst/>
          </a:prstGeom>
          <a:noFill/>
          <a:ln/>
        </p:spPr>
        <p:txBody>
          <a:bodyPr wrap="square" lIns="0" tIns="0" rIns="0" bIns="0" rtlCol="0" anchor="ctr"/>
          <a:lstStyle/>
          <a:p>
            <a:pPr marL="0" indent="0">
              <a:lnSpc>
                <a:spcPct val="98000"/>
              </a:lnSpc>
              <a:buNone/>
            </a:pPr>
            <a:r>
              <a:rPr lang="en-US" sz="4200" b="1" dirty="0">
                <a:solidFill>
                  <a:srgbClr val="26231E"/>
                </a:solidFill>
                <a:latin typeface="Georgia" pitchFamily="34" charset="0"/>
                <a:ea typeface="Georgia" pitchFamily="34" charset="-122"/>
                <a:cs typeface="Georgia" pitchFamily="34" charset="-120"/>
              </a:rPr>
              <a:t>Economics, Risk &amp;</a:t>
            </a:r>
            <a:endParaRPr lang="en-US" sz="4200" dirty="0"/>
          </a:p>
          <a:p>
            <a:pPr marL="0" indent="0">
              <a:lnSpc>
                <a:spcPct val="98000"/>
              </a:lnSpc>
              <a:buNone/>
            </a:pPr>
            <a:r>
              <a:rPr lang="en-US" sz="4200" b="1" dirty="0">
                <a:solidFill>
                  <a:srgbClr val="26231E"/>
                </a:solidFill>
                <a:latin typeface="Georgia" pitchFamily="34" charset="0"/>
                <a:ea typeface="Georgia" pitchFamily="34" charset="-122"/>
                <a:cs typeface="Georgia" pitchFamily="34" charset="-120"/>
              </a:rPr>
              <a:t>Responsible Adoption</a:t>
            </a:r>
            <a:endParaRPr lang="en-US" sz="4200" dirty="0"/>
          </a:p>
        </p:txBody>
      </p:sp>
      <p:sp>
        <p:nvSpPr>
          <p:cNvPr id="5" name="Text 2"/>
          <p:cNvSpPr/>
          <p:nvPr/>
        </p:nvSpPr>
        <p:spPr>
          <a:xfrm>
            <a:off x="822960" y="3611880"/>
            <a:ext cx="6766560" cy="640080"/>
          </a:xfrm>
          <a:prstGeom prst="rect">
            <a:avLst/>
          </a:prstGeom>
          <a:noFill/>
          <a:ln/>
        </p:spPr>
        <p:txBody>
          <a:bodyPr wrap="square" lIns="0" tIns="0" rIns="0" bIns="0" rtlCol="0" anchor="ctr"/>
          <a:lstStyle/>
          <a:p>
            <a:pPr marL="0" indent="0">
              <a:buNone/>
            </a:pPr>
            <a:r>
              <a:rPr lang="en-US" sz="1450" dirty="0">
                <a:solidFill>
                  <a:srgbClr val="6E665C"/>
                </a:solidFill>
                <a:latin typeface="Calibri" pitchFamily="34" charset="0"/>
                <a:ea typeface="Calibri" pitchFamily="34" charset="-122"/>
                <a:cs typeface="Calibri" pitchFamily="34" charset="-120"/>
              </a:rPr>
              <a:t>A practical guide for business and operations leaders — what AI costs, what it risks, and how to adopt it responsibly.</a:t>
            </a:r>
            <a:endParaRPr lang="en-US" sz="1450" dirty="0"/>
          </a:p>
        </p:txBody>
      </p:sp>
      <p:sp>
        <p:nvSpPr>
          <p:cNvPr id="6" name="Text 3"/>
          <p:cNvSpPr/>
          <p:nvPr/>
        </p:nvSpPr>
        <p:spPr>
          <a:xfrm>
            <a:off x="822960" y="4617720"/>
            <a:ext cx="7863840" cy="274320"/>
          </a:xfrm>
          <a:prstGeom prst="rect">
            <a:avLst/>
          </a:prstGeom>
          <a:noFill/>
          <a:ln/>
        </p:spPr>
        <p:txBody>
          <a:bodyPr wrap="square" lIns="0" tIns="0" rIns="0" bIns="0" rtlCol="0" anchor="ctr"/>
          <a:lstStyle/>
          <a:p>
            <a:pPr marL="0" indent="0">
              <a:buNone/>
            </a:pPr>
            <a:r>
              <a:rPr lang="en-US" sz="1050" b="1" dirty="0">
                <a:solidFill>
                  <a:srgbClr val="A24E30"/>
                </a:solidFill>
                <a:latin typeface="Calibri" pitchFamily="34" charset="0"/>
                <a:ea typeface="Calibri" pitchFamily="34" charset="-122"/>
                <a:cs typeface="Calibri" pitchFamily="34" charset="-120"/>
              </a:rPr>
              <a:t>Module focus:  Cost levers  ·  Privacy &amp; security  ·  Responsible AI  ·  Build vs Buy vs Partner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WHAT WE'LL COVER</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Four levers that decide AI value and risk</a:t>
            </a:r>
            <a:endParaRPr lang="en-US" sz="2800" dirty="0"/>
          </a:p>
        </p:txBody>
      </p:sp>
      <p:sp>
        <p:nvSpPr>
          <p:cNvPr id="5" name="Shape 2"/>
          <p:cNvSpPr/>
          <p:nvPr/>
        </p:nvSpPr>
        <p:spPr>
          <a:xfrm>
            <a:off x="640080" y="1627632"/>
            <a:ext cx="566928" cy="566928"/>
          </a:xfrm>
          <a:prstGeom prst="ellipse">
            <a:avLst/>
          </a:prstGeom>
          <a:solidFill>
            <a:srgbClr val="C8633F"/>
          </a:solidFill>
          <a:ln/>
        </p:spPr>
        <p:txBody>
          <a:bodyPr/>
          <a:lstStyle/>
          <a:p>
            <a:endParaRPr lang="en-IN"/>
          </a:p>
        </p:txBody>
      </p:sp>
      <p:sp>
        <p:nvSpPr>
          <p:cNvPr id="6" name="Text 3"/>
          <p:cNvSpPr/>
          <p:nvPr/>
        </p:nvSpPr>
        <p:spPr>
          <a:xfrm>
            <a:off x="640080" y="1627632"/>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01</a:t>
            </a:r>
            <a:endParaRPr lang="en-US" sz="1700" dirty="0"/>
          </a:p>
        </p:txBody>
      </p:sp>
      <p:sp>
        <p:nvSpPr>
          <p:cNvPr id="7" name="Text 4"/>
          <p:cNvSpPr/>
          <p:nvPr/>
        </p:nvSpPr>
        <p:spPr>
          <a:xfrm>
            <a:off x="1417320" y="1591056"/>
            <a:ext cx="7223760" cy="329184"/>
          </a:xfrm>
          <a:prstGeom prst="rect">
            <a:avLst/>
          </a:prstGeom>
          <a:noFill/>
          <a:ln/>
        </p:spPr>
        <p:txBody>
          <a:bodyPr wrap="square" lIns="0" tIns="0" rIns="0" bIns="0" rtlCol="0" anchor="ctr"/>
          <a:lstStyle/>
          <a:p>
            <a:pPr marL="0" indent="0">
              <a:buNone/>
            </a:pPr>
            <a:r>
              <a:rPr lang="en-US" sz="1700" b="1" dirty="0">
                <a:solidFill>
                  <a:srgbClr val="26231E"/>
                </a:solidFill>
                <a:latin typeface="Georgia" pitchFamily="34" charset="0"/>
                <a:ea typeface="Georgia" pitchFamily="34" charset="-122"/>
                <a:cs typeface="Georgia" pitchFamily="34" charset="-120"/>
              </a:rPr>
              <a:t>The economics of tokens</a:t>
            </a:r>
            <a:endParaRPr lang="en-US" sz="1700" dirty="0"/>
          </a:p>
        </p:txBody>
      </p:sp>
      <p:sp>
        <p:nvSpPr>
          <p:cNvPr id="8" name="Text 5"/>
          <p:cNvSpPr/>
          <p:nvPr/>
        </p:nvSpPr>
        <p:spPr>
          <a:xfrm>
            <a:off x="1417320" y="1920240"/>
            <a:ext cx="7132320" cy="365760"/>
          </a:xfrm>
          <a:prstGeom prst="rect">
            <a:avLst/>
          </a:prstGeom>
          <a:noFill/>
          <a:ln/>
        </p:spPr>
        <p:txBody>
          <a:bodyPr wrap="square" lIns="0" tIns="0" rIns="0" bIns="0" rtlCol="0" anchor="t"/>
          <a:lstStyle/>
          <a:p>
            <a:pPr marL="0" indent="0">
              <a:buNone/>
            </a:pPr>
            <a:r>
              <a:rPr lang="en-US" sz="1250" dirty="0">
                <a:solidFill>
                  <a:srgbClr val="6E665C"/>
                </a:solidFill>
                <a:latin typeface="Calibri" pitchFamily="34" charset="0"/>
                <a:ea typeface="Calibri" pitchFamily="34" charset="-122"/>
                <a:cs typeface="Calibri" pitchFamily="34" charset="-120"/>
              </a:rPr>
              <a:t>How input, output, and context windows turn usage into a bill you can forecast.</a:t>
            </a:r>
            <a:endParaRPr lang="en-US" sz="1250" dirty="0"/>
          </a:p>
        </p:txBody>
      </p:sp>
      <p:sp>
        <p:nvSpPr>
          <p:cNvPr id="9" name="Shape 6"/>
          <p:cNvSpPr/>
          <p:nvPr/>
        </p:nvSpPr>
        <p:spPr>
          <a:xfrm>
            <a:off x="640080" y="2386584"/>
            <a:ext cx="566928" cy="566928"/>
          </a:xfrm>
          <a:prstGeom prst="ellipse">
            <a:avLst/>
          </a:prstGeom>
          <a:solidFill>
            <a:srgbClr val="C8633F"/>
          </a:solidFill>
          <a:ln/>
        </p:spPr>
        <p:txBody>
          <a:bodyPr/>
          <a:lstStyle/>
          <a:p>
            <a:endParaRPr lang="en-IN"/>
          </a:p>
        </p:txBody>
      </p:sp>
      <p:sp>
        <p:nvSpPr>
          <p:cNvPr id="10" name="Text 7"/>
          <p:cNvSpPr/>
          <p:nvPr/>
        </p:nvSpPr>
        <p:spPr>
          <a:xfrm>
            <a:off x="640080" y="2386584"/>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02</a:t>
            </a:r>
            <a:endParaRPr lang="en-US" sz="1700" dirty="0"/>
          </a:p>
        </p:txBody>
      </p:sp>
      <p:sp>
        <p:nvSpPr>
          <p:cNvPr id="11" name="Text 8"/>
          <p:cNvSpPr/>
          <p:nvPr/>
        </p:nvSpPr>
        <p:spPr>
          <a:xfrm>
            <a:off x="1417320" y="2350008"/>
            <a:ext cx="7223760" cy="329184"/>
          </a:xfrm>
          <a:prstGeom prst="rect">
            <a:avLst/>
          </a:prstGeom>
          <a:noFill/>
          <a:ln/>
        </p:spPr>
        <p:txBody>
          <a:bodyPr wrap="square" lIns="0" tIns="0" rIns="0" bIns="0" rtlCol="0" anchor="ctr"/>
          <a:lstStyle/>
          <a:p>
            <a:pPr marL="0" indent="0">
              <a:buNone/>
            </a:pPr>
            <a:r>
              <a:rPr lang="en-US" sz="1700" b="1" dirty="0">
                <a:solidFill>
                  <a:srgbClr val="26231E"/>
                </a:solidFill>
                <a:latin typeface="Georgia" pitchFamily="34" charset="0"/>
                <a:ea typeface="Georgia" pitchFamily="34" charset="-122"/>
                <a:cs typeface="Georgia" pitchFamily="34" charset="-120"/>
              </a:rPr>
              <a:t>Cost levers you control</a:t>
            </a:r>
            <a:endParaRPr lang="en-US" sz="1700" dirty="0"/>
          </a:p>
        </p:txBody>
      </p:sp>
      <p:sp>
        <p:nvSpPr>
          <p:cNvPr id="12" name="Text 9"/>
          <p:cNvSpPr/>
          <p:nvPr/>
        </p:nvSpPr>
        <p:spPr>
          <a:xfrm>
            <a:off x="1417320" y="2679192"/>
            <a:ext cx="7132320" cy="365760"/>
          </a:xfrm>
          <a:prstGeom prst="rect">
            <a:avLst/>
          </a:prstGeom>
          <a:noFill/>
          <a:ln/>
        </p:spPr>
        <p:txBody>
          <a:bodyPr wrap="square" lIns="0" tIns="0" rIns="0" bIns="0" rtlCol="0" anchor="t"/>
          <a:lstStyle/>
          <a:p>
            <a:pPr marL="0" indent="0">
              <a:buNone/>
            </a:pPr>
            <a:r>
              <a:rPr lang="en-US" sz="1250" dirty="0">
                <a:solidFill>
                  <a:srgbClr val="6E665C"/>
                </a:solidFill>
                <a:latin typeface="Calibri" pitchFamily="34" charset="0"/>
                <a:ea typeface="Calibri" pitchFamily="34" charset="-122"/>
                <a:cs typeface="Calibri" pitchFamily="34" charset="-120"/>
              </a:rPr>
              <a:t>Model-tier selection, prompt caching, and context hygiene to cut spend without losing quality.</a:t>
            </a:r>
            <a:endParaRPr lang="en-US" sz="1250" dirty="0"/>
          </a:p>
        </p:txBody>
      </p:sp>
      <p:sp>
        <p:nvSpPr>
          <p:cNvPr id="13" name="Shape 10"/>
          <p:cNvSpPr/>
          <p:nvPr/>
        </p:nvSpPr>
        <p:spPr>
          <a:xfrm>
            <a:off x="640080" y="3145536"/>
            <a:ext cx="566928" cy="566928"/>
          </a:xfrm>
          <a:prstGeom prst="ellipse">
            <a:avLst/>
          </a:prstGeom>
          <a:solidFill>
            <a:srgbClr val="C8633F"/>
          </a:solidFill>
          <a:ln/>
        </p:spPr>
        <p:txBody>
          <a:bodyPr/>
          <a:lstStyle/>
          <a:p>
            <a:endParaRPr lang="en-IN"/>
          </a:p>
        </p:txBody>
      </p:sp>
      <p:sp>
        <p:nvSpPr>
          <p:cNvPr id="14" name="Text 11"/>
          <p:cNvSpPr/>
          <p:nvPr/>
        </p:nvSpPr>
        <p:spPr>
          <a:xfrm>
            <a:off x="640080" y="3145536"/>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03</a:t>
            </a:r>
            <a:endParaRPr lang="en-US" sz="1700" dirty="0"/>
          </a:p>
        </p:txBody>
      </p:sp>
      <p:sp>
        <p:nvSpPr>
          <p:cNvPr id="15" name="Text 12"/>
          <p:cNvSpPr/>
          <p:nvPr/>
        </p:nvSpPr>
        <p:spPr>
          <a:xfrm>
            <a:off x="1417320" y="3108960"/>
            <a:ext cx="7223760" cy="329184"/>
          </a:xfrm>
          <a:prstGeom prst="rect">
            <a:avLst/>
          </a:prstGeom>
          <a:noFill/>
          <a:ln/>
        </p:spPr>
        <p:txBody>
          <a:bodyPr wrap="square" lIns="0" tIns="0" rIns="0" bIns="0" rtlCol="0" anchor="ctr"/>
          <a:lstStyle/>
          <a:p>
            <a:pPr marL="0" indent="0">
              <a:buNone/>
            </a:pPr>
            <a:r>
              <a:rPr lang="en-US" sz="1700" b="1" dirty="0">
                <a:solidFill>
                  <a:srgbClr val="26231E"/>
                </a:solidFill>
                <a:latin typeface="Georgia" pitchFamily="34" charset="0"/>
                <a:ea typeface="Georgia" pitchFamily="34" charset="-122"/>
                <a:cs typeface="Georgia" pitchFamily="34" charset="-120"/>
              </a:rPr>
              <a:t>Privacy, IP &amp; security</a:t>
            </a:r>
            <a:endParaRPr lang="en-US" sz="1700" dirty="0"/>
          </a:p>
        </p:txBody>
      </p:sp>
      <p:sp>
        <p:nvSpPr>
          <p:cNvPr id="16" name="Text 13"/>
          <p:cNvSpPr/>
          <p:nvPr/>
        </p:nvSpPr>
        <p:spPr>
          <a:xfrm>
            <a:off x="1417320" y="3438144"/>
            <a:ext cx="7132320" cy="365760"/>
          </a:xfrm>
          <a:prstGeom prst="rect">
            <a:avLst/>
          </a:prstGeom>
          <a:noFill/>
          <a:ln/>
        </p:spPr>
        <p:txBody>
          <a:bodyPr wrap="square" lIns="0" tIns="0" rIns="0" bIns="0" rtlCol="0" anchor="t"/>
          <a:lstStyle/>
          <a:p>
            <a:pPr marL="0" indent="0">
              <a:buNone/>
            </a:pPr>
            <a:r>
              <a:rPr lang="en-US" sz="1250" dirty="0">
                <a:solidFill>
                  <a:srgbClr val="6E665C"/>
                </a:solidFill>
                <a:latin typeface="Calibri" pitchFamily="34" charset="0"/>
                <a:ea typeface="Calibri" pitchFamily="34" charset="-122"/>
                <a:cs typeface="Calibri" pitchFamily="34" charset="-120"/>
              </a:rPr>
              <a:t>What leaves your walls, how it is protected, and the controls to put in place first.</a:t>
            </a:r>
            <a:endParaRPr lang="en-US" sz="1250" dirty="0"/>
          </a:p>
        </p:txBody>
      </p:sp>
      <p:sp>
        <p:nvSpPr>
          <p:cNvPr id="17" name="Shape 14"/>
          <p:cNvSpPr/>
          <p:nvPr/>
        </p:nvSpPr>
        <p:spPr>
          <a:xfrm>
            <a:off x="640080" y="3904488"/>
            <a:ext cx="566928" cy="566928"/>
          </a:xfrm>
          <a:prstGeom prst="ellipse">
            <a:avLst/>
          </a:prstGeom>
          <a:solidFill>
            <a:srgbClr val="C8633F"/>
          </a:solidFill>
          <a:ln/>
        </p:spPr>
        <p:txBody>
          <a:bodyPr/>
          <a:lstStyle/>
          <a:p>
            <a:endParaRPr lang="en-IN"/>
          </a:p>
        </p:txBody>
      </p:sp>
      <p:sp>
        <p:nvSpPr>
          <p:cNvPr id="18" name="Text 15"/>
          <p:cNvSpPr/>
          <p:nvPr/>
        </p:nvSpPr>
        <p:spPr>
          <a:xfrm>
            <a:off x="640080" y="3904488"/>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04</a:t>
            </a:r>
            <a:endParaRPr lang="en-US" sz="1700" dirty="0"/>
          </a:p>
        </p:txBody>
      </p:sp>
      <p:sp>
        <p:nvSpPr>
          <p:cNvPr id="19" name="Text 16"/>
          <p:cNvSpPr/>
          <p:nvPr/>
        </p:nvSpPr>
        <p:spPr>
          <a:xfrm>
            <a:off x="1417320" y="3867912"/>
            <a:ext cx="7223760" cy="329184"/>
          </a:xfrm>
          <a:prstGeom prst="rect">
            <a:avLst/>
          </a:prstGeom>
          <a:noFill/>
          <a:ln/>
        </p:spPr>
        <p:txBody>
          <a:bodyPr wrap="square" lIns="0" tIns="0" rIns="0" bIns="0" rtlCol="0" anchor="ctr"/>
          <a:lstStyle/>
          <a:p>
            <a:pPr marL="0" indent="0">
              <a:buNone/>
            </a:pPr>
            <a:r>
              <a:rPr lang="en-US" sz="1700" b="1" dirty="0">
                <a:solidFill>
                  <a:srgbClr val="26231E"/>
                </a:solidFill>
                <a:latin typeface="Georgia" pitchFamily="34" charset="0"/>
                <a:ea typeface="Georgia" pitchFamily="34" charset="-122"/>
                <a:cs typeface="Georgia" pitchFamily="34" charset="-120"/>
              </a:rPr>
              <a:t>Responsible adoption</a:t>
            </a:r>
            <a:endParaRPr lang="en-US" sz="1700" dirty="0"/>
          </a:p>
        </p:txBody>
      </p:sp>
      <p:sp>
        <p:nvSpPr>
          <p:cNvPr id="20" name="Text 17"/>
          <p:cNvSpPr/>
          <p:nvPr/>
        </p:nvSpPr>
        <p:spPr>
          <a:xfrm>
            <a:off x="1417320" y="4197096"/>
            <a:ext cx="7132320" cy="365760"/>
          </a:xfrm>
          <a:prstGeom prst="rect">
            <a:avLst/>
          </a:prstGeom>
          <a:noFill/>
          <a:ln/>
        </p:spPr>
        <p:txBody>
          <a:bodyPr wrap="square" lIns="0" tIns="0" rIns="0" bIns="0" rtlCol="0" anchor="t"/>
          <a:lstStyle/>
          <a:p>
            <a:pPr marL="0" indent="0">
              <a:buNone/>
            </a:pPr>
            <a:r>
              <a:rPr lang="en-US" sz="1250" dirty="0">
                <a:solidFill>
                  <a:srgbClr val="6E665C"/>
                </a:solidFill>
                <a:latin typeface="Calibri" pitchFamily="34" charset="0"/>
                <a:ea typeface="Calibri" pitchFamily="34" charset="-122"/>
                <a:cs typeface="Calibri" pitchFamily="34" charset="-120"/>
              </a:rPr>
              <a:t>Human oversight, governance in practice, and the build vs buy vs partner decision.</a:t>
            </a:r>
            <a:endParaRPr lang="en-US" sz="1250" dirty="0"/>
          </a:p>
        </p:txBody>
      </p:sp>
      <p:sp>
        <p:nvSpPr>
          <p:cNvPr id="21" name="Text 18"/>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22" name="Text 19"/>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THEME 1 · THE ECONOMICS OF TOKENS</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How token consumption drives cost</a:t>
            </a:r>
            <a:endParaRPr lang="en-US" sz="2800" dirty="0"/>
          </a:p>
        </p:txBody>
      </p:sp>
      <p:sp>
        <p:nvSpPr>
          <p:cNvPr id="5" name="Text 2"/>
          <p:cNvSpPr/>
          <p:nvPr/>
        </p:nvSpPr>
        <p:spPr>
          <a:xfrm>
            <a:off x="1024128" y="1371600"/>
            <a:ext cx="7589520" cy="457200"/>
          </a:xfrm>
          <a:prstGeom prst="rect">
            <a:avLst/>
          </a:prstGeom>
          <a:noFill/>
          <a:ln/>
        </p:spPr>
        <p:txBody>
          <a:bodyPr wrap="square" lIns="0" tIns="0" rIns="0" bIns="0" rtlCol="0" anchor="ctr"/>
          <a:lstStyle/>
          <a:p>
            <a:pPr marL="0" indent="0">
              <a:buNone/>
            </a:pPr>
            <a:r>
              <a:rPr lang="en-US" sz="1350" dirty="0">
                <a:solidFill>
                  <a:srgbClr val="6E665C"/>
                </a:solidFill>
                <a:latin typeface="Calibri" pitchFamily="34" charset="0"/>
                <a:ea typeface="Calibri" pitchFamily="34" charset="-122"/>
                <a:cs typeface="Calibri" pitchFamily="34" charset="-120"/>
              </a:rPr>
              <a:t>AI is billed by the token — small chunks of text, roughly ¾ of a word. Every request pays for what goes in and what comes out.</a:t>
            </a:r>
            <a:endParaRPr lang="en-US" sz="1350" dirty="0"/>
          </a:p>
        </p:txBody>
      </p:sp>
      <p:sp>
        <p:nvSpPr>
          <p:cNvPr id="6" name="Shape 3"/>
          <p:cNvSpPr/>
          <p:nvPr/>
        </p:nvSpPr>
        <p:spPr>
          <a:xfrm>
            <a:off x="502920" y="1993392"/>
            <a:ext cx="2715768" cy="233172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7" name="Shape 4"/>
          <p:cNvSpPr/>
          <p:nvPr/>
        </p:nvSpPr>
        <p:spPr>
          <a:xfrm>
            <a:off x="502920" y="1993392"/>
            <a:ext cx="2715768" cy="64008"/>
          </a:xfrm>
          <a:prstGeom prst="rect">
            <a:avLst/>
          </a:prstGeom>
          <a:solidFill>
            <a:srgbClr val="C8633F"/>
          </a:solidFill>
          <a:ln/>
        </p:spPr>
        <p:txBody>
          <a:bodyPr/>
          <a:lstStyle/>
          <a:p>
            <a:endParaRPr lang="en-IN"/>
          </a:p>
        </p:txBody>
      </p:sp>
      <p:sp>
        <p:nvSpPr>
          <p:cNvPr id="8" name="Text 5"/>
          <p:cNvSpPr/>
          <p:nvPr/>
        </p:nvSpPr>
        <p:spPr>
          <a:xfrm>
            <a:off x="722376" y="2249424"/>
            <a:ext cx="2276856" cy="365760"/>
          </a:xfrm>
          <a:prstGeom prst="rect">
            <a:avLst/>
          </a:prstGeom>
          <a:noFill/>
          <a:ln/>
        </p:spPr>
        <p:txBody>
          <a:bodyPr wrap="square" lIns="0" tIns="0" rIns="0" bIns="0" rtlCol="0" anchor="ctr"/>
          <a:lstStyle/>
          <a:p>
            <a:pPr marL="0" indent="0">
              <a:buNone/>
            </a:pPr>
            <a:r>
              <a:rPr lang="en-US" sz="1800" b="1" dirty="0">
                <a:solidFill>
                  <a:srgbClr val="26231E"/>
                </a:solidFill>
                <a:latin typeface="Georgia" pitchFamily="34" charset="0"/>
                <a:ea typeface="Georgia" pitchFamily="34" charset="-122"/>
                <a:cs typeface="Georgia" pitchFamily="34" charset="-120"/>
              </a:rPr>
              <a:t>Input tokens</a:t>
            </a:r>
            <a:endParaRPr lang="en-US" sz="1800" dirty="0"/>
          </a:p>
        </p:txBody>
      </p:sp>
      <p:sp>
        <p:nvSpPr>
          <p:cNvPr id="9" name="Text 6"/>
          <p:cNvSpPr/>
          <p:nvPr/>
        </p:nvSpPr>
        <p:spPr>
          <a:xfrm>
            <a:off x="722376" y="2651760"/>
            <a:ext cx="2276856" cy="274320"/>
          </a:xfrm>
          <a:prstGeom prst="rect">
            <a:avLst/>
          </a:prstGeom>
          <a:noFill/>
          <a:ln/>
        </p:spPr>
        <p:txBody>
          <a:bodyPr wrap="square" lIns="0" tIns="0" rIns="0" bIns="0" rtlCol="0" anchor="ctr"/>
          <a:lstStyle/>
          <a:p>
            <a:pPr marL="0" indent="0">
              <a:buNone/>
            </a:pPr>
            <a:r>
              <a:rPr lang="en-US" sz="1200" b="1" dirty="0">
                <a:solidFill>
                  <a:srgbClr val="C8633F"/>
                </a:solidFill>
                <a:latin typeface="Calibri" pitchFamily="34" charset="0"/>
                <a:ea typeface="Calibri" pitchFamily="34" charset="-122"/>
                <a:cs typeface="Calibri" pitchFamily="34" charset="-120"/>
              </a:rPr>
              <a:t>Everything you send</a:t>
            </a:r>
            <a:endParaRPr lang="en-US" sz="1200" dirty="0"/>
          </a:p>
        </p:txBody>
      </p:sp>
      <p:sp>
        <p:nvSpPr>
          <p:cNvPr id="10" name="Text 7"/>
          <p:cNvSpPr/>
          <p:nvPr/>
        </p:nvSpPr>
        <p:spPr>
          <a:xfrm>
            <a:off x="722376" y="2999232"/>
            <a:ext cx="2276856" cy="1143000"/>
          </a:xfrm>
          <a:prstGeom prst="rect">
            <a:avLst/>
          </a:prstGeom>
          <a:noFill/>
          <a:ln/>
        </p:spPr>
        <p:txBody>
          <a:bodyPr wrap="square" lIns="0" tIns="0" rIns="0" bIns="0" rtlCol="0" anchor="t"/>
          <a:lstStyle/>
          <a:p>
            <a:pPr marL="0" indent="0">
              <a:buNone/>
            </a:pPr>
            <a:r>
              <a:rPr lang="en-US" sz="1200" dirty="0">
                <a:solidFill>
                  <a:srgbClr val="6E665C"/>
                </a:solidFill>
                <a:latin typeface="Calibri" pitchFamily="34" charset="0"/>
                <a:ea typeface="Calibri" pitchFamily="34" charset="-122"/>
                <a:cs typeface="Calibri" pitchFamily="34" charset="-120"/>
              </a:rPr>
              <a:t>Your prompt, instructions, files, and the full conversation history — all re-sent and re-billed on every turn.</a:t>
            </a:r>
            <a:endParaRPr lang="en-US" sz="1200" dirty="0"/>
          </a:p>
        </p:txBody>
      </p:sp>
      <p:sp>
        <p:nvSpPr>
          <p:cNvPr id="11" name="Shape 8"/>
          <p:cNvSpPr/>
          <p:nvPr/>
        </p:nvSpPr>
        <p:spPr>
          <a:xfrm>
            <a:off x="3383280" y="1993392"/>
            <a:ext cx="2715768" cy="233172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2" name="Shape 9"/>
          <p:cNvSpPr/>
          <p:nvPr/>
        </p:nvSpPr>
        <p:spPr>
          <a:xfrm>
            <a:off x="3383280" y="1993392"/>
            <a:ext cx="2715768" cy="64008"/>
          </a:xfrm>
          <a:prstGeom prst="rect">
            <a:avLst/>
          </a:prstGeom>
          <a:solidFill>
            <a:srgbClr val="C8633F"/>
          </a:solidFill>
          <a:ln/>
        </p:spPr>
        <p:txBody>
          <a:bodyPr/>
          <a:lstStyle/>
          <a:p>
            <a:endParaRPr lang="en-IN"/>
          </a:p>
        </p:txBody>
      </p:sp>
      <p:sp>
        <p:nvSpPr>
          <p:cNvPr id="13" name="Text 10"/>
          <p:cNvSpPr/>
          <p:nvPr/>
        </p:nvSpPr>
        <p:spPr>
          <a:xfrm>
            <a:off x="3602736" y="2249424"/>
            <a:ext cx="2276856" cy="365760"/>
          </a:xfrm>
          <a:prstGeom prst="rect">
            <a:avLst/>
          </a:prstGeom>
          <a:noFill/>
          <a:ln/>
        </p:spPr>
        <p:txBody>
          <a:bodyPr wrap="square" lIns="0" tIns="0" rIns="0" bIns="0" rtlCol="0" anchor="ctr"/>
          <a:lstStyle/>
          <a:p>
            <a:pPr marL="0" indent="0">
              <a:buNone/>
            </a:pPr>
            <a:r>
              <a:rPr lang="en-US" sz="1800" b="1" dirty="0">
                <a:solidFill>
                  <a:srgbClr val="26231E"/>
                </a:solidFill>
                <a:latin typeface="Georgia" pitchFamily="34" charset="0"/>
                <a:ea typeface="Georgia" pitchFamily="34" charset="-122"/>
                <a:cs typeface="Georgia" pitchFamily="34" charset="-120"/>
              </a:rPr>
              <a:t>Output tokens</a:t>
            </a:r>
            <a:endParaRPr lang="en-US" sz="1800" dirty="0"/>
          </a:p>
        </p:txBody>
      </p:sp>
      <p:sp>
        <p:nvSpPr>
          <p:cNvPr id="14" name="Text 11"/>
          <p:cNvSpPr/>
          <p:nvPr/>
        </p:nvSpPr>
        <p:spPr>
          <a:xfrm>
            <a:off x="3602736" y="2651760"/>
            <a:ext cx="2276856" cy="274320"/>
          </a:xfrm>
          <a:prstGeom prst="rect">
            <a:avLst/>
          </a:prstGeom>
          <a:noFill/>
          <a:ln/>
        </p:spPr>
        <p:txBody>
          <a:bodyPr wrap="square" lIns="0" tIns="0" rIns="0" bIns="0" rtlCol="0" anchor="ctr"/>
          <a:lstStyle/>
          <a:p>
            <a:pPr marL="0" indent="0">
              <a:buNone/>
            </a:pPr>
            <a:r>
              <a:rPr lang="en-US" sz="1200" b="1" dirty="0">
                <a:solidFill>
                  <a:srgbClr val="C8633F"/>
                </a:solidFill>
                <a:latin typeface="Calibri" pitchFamily="34" charset="0"/>
                <a:ea typeface="Calibri" pitchFamily="34" charset="-122"/>
                <a:cs typeface="Calibri" pitchFamily="34" charset="-120"/>
              </a:rPr>
              <a:t>What Claude generates</a:t>
            </a:r>
            <a:endParaRPr lang="en-US" sz="1200" dirty="0"/>
          </a:p>
        </p:txBody>
      </p:sp>
      <p:sp>
        <p:nvSpPr>
          <p:cNvPr id="15" name="Text 12"/>
          <p:cNvSpPr/>
          <p:nvPr/>
        </p:nvSpPr>
        <p:spPr>
          <a:xfrm>
            <a:off x="3602736" y="2999232"/>
            <a:ext cx="2276856" cy="1143000"/>
          </a:xfrm>
          <a:prstGeom prst="rect">
            <a:avLst/>
          </a:prstGeom>
          <a:noFill/>
          <a:ln/>
        </p:spPr>
        <p:txBody>
          <a:bodyPr wrap="square" lIns="0" tIns="0" rIns="0" bIns="0" rtlCol="0" anchor="t"/>
          <a:lstStyle/>
          <a:p>
            <a:pPr marL="0" indent="0">
              <a:buNone/>
            </a:pPr>
            <a:r>
              <a:rPr lang="en-US" sz="1200" dirty="0">
                <a:solidFill>
                  <a:srgbClr val="6E665C"/>
                </a:solidFill>
                <a:latin typeface="Calibri" pitchFamily="34" charset="0"/>
                <a:ea typeface="Calibri" pitchFamily="34" charset="-122"/>
                <a:cs typeface="Calibri" pitchFamily="34" charset="-120"/>
              </a:rPr>
              <a:t>The reply. Priced about 5× higher than input, so long, verbose answers cost the most per token.</a:t>
            </a:r>
            <a:endParaRPr lang="en-US" sz="1200" dirty="0"/>
          </a:p>
        </p:txBody>
      </p:sp>
      <p:sp>
        <p:nvSpPr>
          <p:cNvPr id="16" name="Shape 13"/>
          <p:cNvSpPr/>
          <p:nvPr/>
        </p:nvSpPr>
        <p:spPr>
          <a:xfrm>
            <a:off x="6263640" y="1993392"/>
            <a:ext cx="2715768" cy="233172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7" name="Shape 14"/>
          <p:cNvSpPr/>
          <p:nvPr/>
        </p:nvSpPr>
        <p:spPr>
          <a:xfrm>
            <a:off x="6263640" y="1993392"/>
            <a:ext cx="2715768" cy="64008"/>
          </a:xfrm>
          <a:prstGeom prst="rect">
            <a:avLst/>
          </a:prstGeom>
          <a:solidFill>
            <a:srgbClr val="C8633F"/>
          </a:solidFill>
          <a:ln/>
        </p:spPr>
        <p:txBody>
          <a:bodyPr/>
          <a:lstStyle/>
          <a:p>
            <a:endParaRPr lang="en-IN"/>
          </a:p>
        </p:txBody>
      </p:sp>
      <p:sp>
        <p:nvSpPr>
          <p:cNvPr id="18" name="Text 15"/>
          <p:cNvSpPr/>
          <p:nvPr/>
        </p:nvSpPr>
        <p:spPr>
          <a:xfrm>
            <a:off x="6483096" y="2249424"/>
            <a:ext cx="2276856" cy="365760"/>
          </a:xfrm>
          <a:prstGeom prst="rect">
            <a:avLst/>
          </a:prstGeom>
          <a:noFill/>
          <a:ln/>
        </p:spPr>
        <p:txBody>
          <a:bodyPr wrap="square" lIns="0" tIns="0" rIns="0" bIns="0" rtlCol="0" anchor="ctr"/>
          <a:lstStyle/>
          <a:p>
            <a:pPr marL="0" indent="0">
              <a:buNone/>
            </a:pPr>
            <a:r>
              <a:rPr lang="en-US" sz="1800" b="1" dirty="0">
                <a:solidFill>
                  <a:srgbClr val="26231E"/>
                </a:solidFill>
                <a:latin typeface="Georgia" pitchFamily="34" charset="0"/>
                <a:ea typeface="Georgia" pitchFamily="34" charset="-122"/>
                <a:cs typeface="Georgia" pitchFamily="34" charset="-120"/>
              </a:rPr>
              <a:t>Context window</a:t>
            </a:r>
            <a:endParaRPr lang="en-US" sz="1800" dirty="0"/>
          </a:p>
        </p:txBody>
      </p:sp>
      <p:sp>
        <p:nvSpPr>
          <p:cNvPr id="19" name="Text 16"/>
          <p:cNvSpPr/>
          <p:nvPr/>
        </p:nvSpPr>
        <p:spPr>
          <a:xfrm>
            <a:off x="6483096" y="2651760"/>
            <a:ext cx="2276856" cy="274320"/>
          </a:xfrm>
          <a:prstGeom prst="rect">
            <a:avLst/>
          </a:prstGeom>
          <a:noFill/>
          <a:ln/>
        </p:spPr>
        <p:txBody>
          <a:bodyPr wrap="square" lIns="0" tIns="0" rIns="0" bIns="0" rtlCol="0" anchor="ctr"/>
          <a:lstStyle/>
          <a:p>
            <a:pPr marL="0" indent="0">
              <a:buNone/>
            </a:pPr>
            <a:r>
              <a:rPr lang="en-US" sz="1200" b="1" dirty="0">
                <a:solidFill>
                  <a:srgbClr val="C8633F"/>
                </a:solidFill>
                <a:latin typeface="Calibri" pitchFamily="34" charset="0"/>
                <a:ea typeface="Calibri" pitchFamily="34" charset="-122"/>
                <a:cs typeface="Calibri" pitchFamily="34" charset="-120"/>
              </a:rPr>
              <a:t>The working memory</a:t>
            </a:r>
            <a:endParaRPr lang="en-US" sz="1200" dirty="0"/>
          </a:p>
        </p:txBody>
      </p:sp>
      <p:sp>
        <p:nvSpPr>
          <p:cNvPr id="20" name="Text 17"/>
          <p:cNvSpPr/>
          <p:nvPr/>
        </p:nvSpPr>
        <p:spPr>
          <a:xfrm>
            <a:off x="6483096" y="2999232"/>
            <a:ext cx="2276856" cy="1143000"/>
          </a:xfrm>
          <a:prstGeom prst="rect">
            <a:avLst/>
          </a:prstGeom>
          <a:noFill/>
          <a:ln/>
        </p:spPr>
        <p:txBody>
          <a:bodyPr wrap="square" lIns="0" tIns="0" rIns="0" bIns="0" rtlCol="0" anchor="t"/>
          <a:lstStyle/>
          <a:p>
            <a:pPr marL="0" indent="0">
              <a:buNone/>
            </a:pPr>
            <a:r>
              <a:rPr lang="en-US" sz="1200" dirty="0">
                <a:solidFill>
                  <a:srgbClr val="6E665C"/>
                </a:solidFill>
                <a:latin typeface="Calibri" pitchFamily="34" charset="0"/>
                <a:ea typeface="Calibri" pitchFamily="34" charset="-122"/>
                <a:cs typeface="Calibri" pitchFamily="34" charset="-120"/>
              </a:rPr>
              <a:t>Up to 200K tokens (1M in beta). Bigger context means more capability — and more tokens billed each call.</a:t>
            </a:r>
            <a:endParaRPr lang="en-US" sz="1200" dirty="0"/>
          </a:p>
        </p:txBody>
      </p:sp>
      <p:sp>
        <p:nvSpPr>
          <p:cNvPr id="21" name="Text 18"/>
          <p:cNvSpPr/>
          <p:nvPr/>
        </p:nvSpPr>
        <p:spPr>
          <a:xfrm>
            <a:off x="502920" y="4443984"/>
            <a:ext cx="8138160" cy="274320"/>
          </a:xfrm>
          <a:prstGeom prst="rect">
            <a:avLst/>
          </a:prstGeom>
          <a:noFill/>
          <a:ln/>
        </p:spPr>
        <p:txBody>
          <a:bodyPr wrap="square" lIns="0" tIns="0" rIns="0" bIns="0" rtlCol="0" anchor="ctr"/>
          <a:lstStyle/>
          <a:p>
            <a:pPr marL="0" indent="0">
              <a:buNone/>
            </a:pPr>
            <a:r>
              <a:rPr lang="en-US" sz="1200" b="1" i="1" dirty="0">
                <a:solidFill>
                  <a:srgbClr val="A24E30"/>
                </a:solidFill>
                <a:latin typeface="Calibri" pitchFamily="34" charset="0"/>
                <a:ea typeface="Calibri" pitchFamily="34" charset="-122"/>
                <a:cs typeface="Calibri" pitchFamily="34" charset="-120"/>
              </a:rPr>
              <a:t>Takeaway:  cost = tokens in + tokens out. Longer prompts, bigger context, and chattier outputs all push the meter — predictably.</a:t>
            </a:r>
            <a:endParaRPr lang="en-US" sz="1200" dirty="0"/>
          </a:p>
        </p:txBody>
      </p:sp>
      <p:sp>
        <p:nvSpPr>
          <p:cNvPr id="22" name="Text 19"/>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23" name="Text 20"/>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THEME 1 · COST MATH</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From tokens to a number you can budget</a:t>
            </a:r>
            <a:endParaRPr lang="en-US" sz="2800" dirty="0"/>
          </a:p>
        </p:txBody>
      </p:sp>
      <p:sp>
        <p:nvSpPr>
          <p:cNvPr id="5" name="Shape 2"/>
          <p:cNvSpPr/>
          <p:nvPr/>
        </p:nvSpPr>
        <p:spPr>
          <a:xfrm>
            <a:off x="502920" y="1463040"/>
            <a:ext cx="3977640" cy="214884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6" name="Text 3"/>
          <p:cNvSpPr/>
          <p:nvPr/>
        </p:nvSpPr>
        <p:spPr>
          <a:xfrm>
            <a:off x="731520" y="1627632"/>
            <a:ext cx="3566160" cy="274320"/>
          </a:xfrm>
          <a:prstGeom prst="rect">
            <a:avLst/>
          </a:prstGeom>
          <a:noFill/>
          <a:ln/>
        </p:spPr>
        <p:txBody>
          <a:bodyPr wrap="square" lIns="0" tIns="0" rIns="0" bIns="0" rtlCol="0" anchor="ctr"/>
          <a:lstStyle/>
          <a:p>
            <a:pPr marL="0" indent="0">
              <a:buNone/>
            </a:pPr>
            <a:r>
              <a:rPr lang="en-US" sz="1200" b="1" kern="0" spc="200" dirty="0">
                <a:solidFill>
                  <a:srgbClr val="C8633F"/>
                </a:solidFill>
                <a:latin typeface="Calibri" pitchFamily="34" charset="0"/>
                <a:ea typeface="Calibri" pitchFamily="34" charset="-122"/>
                <a:cs typeface="Calibri" pitchFamily="34" charset="-120"/>
              </a:rPr>
              <a:t>The formula</a:t>
            </a:r>
            <a:endParaRPr lang="en-US" sz="1200" dirty="0"/>
          </a:p>
        </p:txBody>
      </p:sp>
      <p:sp>
        <p:nvSpPr>
          <p:cNvPr id="7" name="Text 4"/>
          <p:cNvSpPr/>
          <p:nvPr/>
        </p:nvSpPr>
        <p:spPr>
          <a:xfrm>
            <a:off x="731520" y="1920240"/>
            <a:ext cx="3566160" cy="640080"/>
          </a:xfrm>
          <a:prstGeom prst="rect">
            <a:avLst/>
          </a:prstGeom>
          <a:noFill/>
          <a:ln/>
        </p:spPr>
        <p:txBody>
          <a:bodyPr wrap="square" lIns="0" tIns="0" rIns="0" bIns="0" rtlCol="0" anchor="ctr"/>
          <a:lstStyle/>
          <a:p>
            <a:pPr marL="0" indent="0">
              <a:lnSpc>
                <a:spcPct val="110000"/>
              </a:lnSpc>
              <a:buNone/>
            </a:pPr>
            <a:r>
              <a:rPr lang="en-US" sz="1350" b="1" dirty="0">
                <a:solidFill>
                  <a:srgbClr val="26231E"/>
                </a:solidFill>
                <a:latin typeface="Georgia" pitchFamily="34" charset="0"/>
                <a:ea typeface="Georgia" pitchFamily="34" charset="-122"/>
                <a:cs typeface="Georgia" pitchFamily="34" charset="-120"/>
              </a:rPr>
              <a:t>Cost  =  (input ÷ 1M × input price)</a:t>
            </a:r>
            <a:endParaRPr lang="en-US" sz="1350" dirty="0"/>
          </a:p>
          <a:p>
            <a:pPr marL="0" indent="0">
              <a:lnSpc>
                <a:spcPct val="110000"/>
              </a:lnSpc>
              <a:buNone/>
            </a:pPr>
            <a:r>
              <a:rPr lang="en-US" sz="1350" b="1" dirty="0">
                <a:solidFill>
                  <a:srgbClr val="26231E"/>
                </a:solidFill>
                <a:latin typeface="Georgia" pitchFamily="34" charset="0"/>
                <a:ea typeface="Georgia" pitchFamily="34" charset="-122"/>
                <a:cs typeface="Georgia" pitchFamily="34" charset="-120"/>
              </a:rPr>
              <a:t>           +  (output ÷ 1M × output price)</a:t>
            </a:r>
            <a:endParaRPr lang="en-US" sz="1350" dirty="0"/>
          </a:p>
        </p:txBody>
      </p:sp>
      <p:sp>
        <p:nvSpPr>
          <p:cNvPr id="8" name="Text 5"/>
          <p:cNvSpPr/>
          <p:nvPr/>
        </p:nvSpPr>
        <p:spPr>
          <a:xfrm>
            <a:off x="731520" y="2697480"/>
            <a:ext cx="3566160" cy="868680"/>
          </a:xfrm>
          <a:prstGeom prst="rect">
            <a:avLst/>
          </a:prstGeom>
          <a:noFill/>
          <a:ln/>
        </p:spPr>
        <p:txBody>
          <a:bodyPr wrap="square" lIns="0" tIns="0" rIns="0" bIns="0" rtlCol="0" anchor="ctr"/>
          <a:lstStyle/>
          <a:p>
            <a:pPr marL="0" indent="0">
              <a:lnSpc>
                <a:spcPct val="108000"/>
              </a:lnSpc>
              <a:buNone/>
            </a:pPr>
            <a:r>
              <a:rPr lang="en-US" sz="1150" b="1" dirty="0">
                <a:solidFill>
                  <a:srgbClr val="26231E"/>
                </a:solidFill>
                <a:latin typeface="Calibri" pitchFamily="34" charset="0"/>
                <a:ea typeface="Calibri" pitchFamily="34" charset="-122"/>
                <a:cs typeface="Calibri" pitchFamily="34" charset="-120"/>
              </a:rPr>
              <a:t>Worked example — Sonnet at $3 / $15 per 1M
</a:t>
            </a:r>
            <a:r>
              <a:rPr lang="en-US" sz="1150" dirty="0">
                <a:solidFill>
                  <a:srgbClr val="6E665C"/>
                </a:solidFill>
                <a:latin typeface="Calibri" pitchFamily="34" charset="0"/>
                <a:ea typeface="Calibri" pitchFamily="34" charset="-122"/>
                <a:cs typeface="Calibri" pitchFamily="34" charset="-120"/>
              </a:rPr>
              <a:t>50,000 input tokens  →  $0.150
3,000 output tokens  →  $0.045
</a:t>
            </a:r>
            <a:r>
              <a:rPr lang="en-US" sz="1150" b="1" dirty="0">
                <a:solidFill>
                  <a:srgbClr val="A24E30"/>
                </a:solidFill>
                <a:latin typeface="Calibri" pitchFamily="34" charset="0"/>
                <a:ea typeface="Calibri" pitchFamily="34" charset="-122"/>
                <a:cs typeface="Calibri" pitchFamily="34" charset="-120"/>
              </a:rPr>
              <a:t>One request  ≈  $0.20</a:t>
            </a:r>
            <a:endParaRPr lang="en-US" sz="1150" dirty="0"/>
          </a:p>
        </p:txBody>
      </p:sp>
      <p:sp>
        <p:nvSpPr>
          <p:cNvPr id="9" name="Shape 6"/>
          <p:cNvSpPr/>
          <p:nvPr/>
        </p:nvSpPr>
        <p:spPr>
          <a:xfrm>
            <a:off x="4709160" y="1463040"/>
            <a:ext cx="3931920" cy="676656"/>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0" name="Text 7"/>
          <p:cNvSpPr/>
          <p:nvPr/>
        </p:nvSpPr>
        <p:spPr>
          <a:xfrm>
            <a:off x="4892040" y="1463040"/>
            <a:ext cx="1417320" cy="676656"/>
          </a:xfrm>
          <a:prstGeom prst="rect">
            <a:avLst/>
          </a:prstGeom>
          <a:noFill/>
          <a:ln/>
        </p:spPr>
        <p:txBody>
          <a:bodyPr wrap="square" lIns="0" tIns="0" rIns="0" bIns="0" rtlCol="0" anchor="ctr"/>
          <a:lstStyle/>
          <a:p>
            <a:pPr marL="0" indent="0" algn="ctr">
              <a:buNone/>
            </a:pPr>
            <a:r>
              <a:rPr lang="en-US" sz="2600" b="1" dirty="0">
                <a:solidFill>
                  <a:srgbClr val="C8633F"/>
                </a:solidFill>
                <a:latin typeface="Georgia" pitchFamily="34" charset="0"/>
                <a:ea typeface="Georgia" pitchFamily="34" charset="-122"/>
                <a:cs typeface="Georgia" pitchFamily="34" charset="-120"/>
              </a:rPr>
              <a:t>~5×</a:t>
            </a:r>
            <a:endParaRPr lang="en-US" sz="2600" dirty="0"/>
          </a:p>
        </p:txBody>
      </p:sp>
      <p:sp>
        <p:nvSpPr>
          <p:cNvPr id="11" name="Text 8"/>
          <p:cNvSpPr/>
          <p:nvPr/>
        </p:nvSpPr>
        <p:spPr>
          <a:xfrm>
            <a:off x="6400800" y="1463040"/>
            <a:ext cx="2057400" cy="676656"/>
          </a:xfrm>
          <a:prstGeom prst="rect">
            <a:avLst/>
          </a:prstGeom>
          <a:noFill/>
          <a:ln/>
        </p:spPr>
        <p:txBody>
          <a:bodyPr wrap="square" lIns="0" tIns="0" rIns="0" bIns="0" rtlCol="0" anchor="ctr"/>
          <a:lstStyle/>
          <a:p>
            <a:pPr marL="0" indent="0">
              <a:buNone/>
            </a:pPr>
            <a:r>
              <a:rPr lang="en-US" sz="1150" dirty="0">
                <a:solidFill>
                  <a:srgbClr val="26231E"/>
                </a:solidFill>
                <a:latin typeface="Calibri" pitchFamily="34" charset="0"/>
                <a:ea typeface="Calibri" pitchFamily="34" charset="-122"/>
                <a:cs typeface="Calibri" pitchFamily="34" charset="-120"/>
              </a:rPr>
              <a:t>Output tokens cost roughly five times input tokens</a:t>
            </a:r>
            <a:endParaRPr lang="en-US" sz="1150" dirty="0"/>
          </a:p>
        </p:txBody>
      </p:sp>
      <p:sp>
        <p:nvSpPr>
          <p:cNvPr id="12" name="Shape 9"/>
          <p:cNvSpPr/>
          <p:nvPr/>
        </p:nvSpPr>
        <p:spPr>
          <a:xfrm>
            <a:off x="4709160" y="2258568"/>
            <a:ext cx="3931920" cy="676656"/>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3" name="Text 10"/>
          <p:cNvSpPr/>
          <p:nvPr/>
        </p:nvSpPr>
        <p:spPr>
          <a:xfrm>
            <a:off x="4892040" y="2258568"/>
            <a:ext cx="1417320" cy="676656"/>
          </a:xfrm>
          <a:prstGeom prst="rect">
            <a:avLst/>
          </a:prstGeom>
          <a:noFill/>
          <a:ln/>
        </p:spPr>
        <p:txBody>
          <a:bodyPr wrap="square" lIns="0" tIns="0" rIns="0" bIns="0" rtlCol="0" anchor="ctr"/>
          <a:lstStyle/>
          <a:p>
            <a:pPr marL="0" indent="0" algn="ctr">
              <a:buNone/>
            </a:pPr>
            <a:r>
              <a:rPr lang="en-US" sz="2600" b="1" dirty="0">
                <a:solidFill>
                  <a:srgbClr val="C8633F"/>
                </a:solidFill>
                <a:latin typeface="Georgia" pitchFamily="34" charset="0"/>
                <a:ea typeface="Georgia" pitchFamily="34" charset="-122"/>
                <a:cs typeface="Georgia" pitchFamily="34" charset="-120"/>
              </a:rPr>
              <a:t>$13</a:t>
            </a:r>
            <a:endParaRPr lang="en-US" sz="2600" dirty="0"/>
          </a:p>
        </p:txBody>
      </p:sp>
      <p:sp>
        <p:nvSpPr>
          <p:cNvPr id="14" name="Text 11"/>
          <p:cNvSpPr/>
          <p:nvPr/>
        </p:nvSpPr>
        <p:spPr>
          <a:xfrm>
            <a:off x="6400800" y="2258568"/>
            <a:ext cx="2057400" cy="676656"/>
          </a:xfrm>
          <a:prstGeom prst="rect">
            <a:avLst/>
          </a:prstGeom>
          <a:noFill/>
          <a:ln/>
        </p:spPr>
        <p:txBody>
          <a:bodyPr wrap="square" lIns="0" tIns="0" rIns="0" bIns="0" rtlCol="0" anchor="ctr"/>
          <a:lstStyle/>
          <a:p>
            <a:pPr marL="0" indent="0">
              <a:buNone/>
            </a:pPr>
            <a:r>
              <a:rPr lang="en-US" sz="1150" dirty="0">
                <a:solidFill>
                  <a:srgbClr val="26231E"/>
                </a:solidFill>
                <a:latin typeface="Calibri" pitchFamily="34" charset="0"/>
                <a:ea typeface="Calibri" pitchFamily="34" charset="-122"/>
                <a:cs typeface="Calibri" pitchFamily="34" charset="-120"/>
              </a:rPr>
              <a:t>Typical spend per developer on an active day (Claude Code)</a:t>
            </a:r>
            <a:endParaRPr lang="en-US" sz="1150" dirty="0"/>
          </a:p>
        </p:txBody>
      </p:sp>
      <p:sp>
        <p:nvSpPr>
          <p:cNvPr id="15" name="Shape 12"/>
          <p:cNvSpPr/>
          <p:nvPr/>
        </p:nvSpPr>
        <p:spPr>
          <a:xfrm>
            <a:off x="4709160" y="3054096"/>
            <a:ext cx="3931920" cy="676656"/>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6" name="Text 13"/>
          <p:cNvSpPr/>
          <p:nvPr/>
        </p:nvSpPr>
        <p:spPr>
          <a:xfrm>
            <a:off x="4892040" y="3054096"/>
            <a:ext cx="1417320" cy="676656"/>
          </a:xfrm>
          <a:prstGeom prst="rect">
            <a:avLst/>
          </a:prstGeom>
          <a:noFill/>
          <a:ln/>
        </p:spPr>
        <p:txBody>
          <a:bodyPr wrap="square" lIns="0" tIns="0" rIns="0" bIns="0" rtlCol="0" anchor="ctr"/>
          <a:lstStyle/>
          <a:p>
            <a:pPr marL="0" indent="0" algn="ctr">
              <a:buNone/>
            </a:pPr>
            <a:r>
              <a:rPr lang="en-US" sz="2600" b="1" dirty="0">
                <a:solidFill>
                  <a:srgbClr val="C8633F"/>
                </a:solidFill>
                <a:latin typeface="Georgia" pitchFamily="34" charset="0"/>
                <a:ea typeface="Georgia" pitchFamily="34" charset="-122"/>
                <a:cs typeface="Georgia" pitchFamily="34" charset="-120"/>
              </a:rPr>
              <a:t>$150–250</a:t>
            </a:r>
            <a:endParaRPr lang="en-US" sz="2600" dirty="0"/>
          </a:p>
        </p:txBody>
      </p:sp>
      <p:sp>
        <p:nvSpPr>
          <p:cNvPr id="17" name="Text 14"/>
          <p:cNvSpPr/>
          <p:nvPr/>
        </p:nvSpPr>
        <p:spPr>
          <a:xfrm>
            <a:off x="6400800" y="3054096"/>
            <a:ext cx="2057400" cy="676656"/>
          </a:xfrm>
          <a:prstGeom prst="rect">
            <a:avLst/>
          </a:prstGeom>
          <a:noFill/>
          <a:ln/>
        </p:spPr>
        <p:txBody>
          <a:bodyPr wrap="square" lIns="0" tIns="0" rIns="0" bIns="0" rtlCol="0" anchor="ctr"/>
          <a:lstStyle/>
          <a:p>
            <a:pPr marL="0" indent="0">
              <a:buNone/>
            </a:pPr>
            <a:r>
              <a:rPr lang="en-US" sz="1150" dirty="0">
                <a:solidFill>
                  <a:srgbClr val="26231E"/>
                </a:solidFill>
                <a:latin typeface="Calibri" pitchFamily="34" charset="0"/>
                <a:ea typeface="Calibri" pitchFamily="34" charset="-122"/>
                <a:cs typeface="Calibri" pitchFamily="34" charset="-120"/>
              </a:rPr>
              <a:t>Typical monthly cost per active developer</a:t>
            </a:r>
            <a:endParaRPr lang="en-US" sz="1150" dirty="0"/>
          </a:p>
        </p:txBody>
      </p:sp>
      <p:sp>
        <p:nvSpPr>
          <p:cNvPr id="18" name="Text 15"/>
          <p:cNvSpPr/>
          <p:nvPr/>
        </p:nvSpPr>
        <p:spPr>
          <a:xfrm>
            <a:off x="502920" y="4160520"/>
            <a:ext cx="8138160" cy="457200"/>
          </a:xfrm>
          <a:prstGeom prst="rect">
            <a:avLst/>
          </a:prstGeom>
          <a:noFill/>
          <a:ln/>
        </p:spPr>
        <p:txBody>
          <a:bodyPr wrap="square" lIns="0" tIns="0" rIns="0" bIns="0" rtlCol="0" anchor="ctr"/>
          <a:lstStyle/>
          <a:p>
            <a:pPr marL="0" indent="0">
              <a:buNone/>
            </a:pPr>
            <a:r>
              <a:rPr lang="en-US" sz="1200" b="1" i="1" dirty="0">
                <a:solidFill>
                  <a:srgbClr val="A24E30"/>
                </a:solidFill>
                <a:latin typeface="Calibri" pitchFamily="34" charset="0"/>
                <a:ea typeface="Calibri" pitchFamily="34" charset="-122"/>
                <a:cs typeface="Calibri" pitchFamily="34" charset="-120"/>
              </a:rPr>
              <a:t>Scale a single-request cost across users, sessions, and automations — that product, not the headline price, is your real bill.</a:t>
            </a:r>
            <a:endParaRPr lang="en-US" sz="1200" dirty="0"/>
          </a:p>
        </p:txBody>
      </p:sp>
      <p:sp>
        <p:nvSpPr>
          <p:cNvPr id="19" name="Text 16"/>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20" name="Text 17"/>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THEME 1 · CASE STUDY</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Cost scenario: scaling customer support</a:t>
            </a:r>
            <a:endParaRPr lang="en-US" sz="2800" dirty="0"/>
          </a:p>
        </p:txBody>
      </p:sp>
      <p:sp>
        <p:nvSpPr>
          <p:cNvPr id="5" name="Text 2"/>
          <p:cNvSpPr/>
          <p:nvPr/>
        </p:nvSpPr>
        <p:spPr>
          <a:xfrm>
            <a:off x="1024128" y="1371600"/>
            <a:ext cx="7589520" cy="411480"/>
          </a:xfrm>
          <a:prstGeom prst="rect">
            <a:avLst/>
          </a:prstGeom>
          <a:noFill/>
          <a:ln/>
        </p:spPr>
        <p:txBody>
          <a:bodyPr wrap="square" lIns="0" tIns="0" rIns="0" bIns="0" rtlCol="0" anchor="ctr"/>
          <a:lstStyle/>
          <a:p>
            <a:pPr marL="0" indent="0">
              <a:buNone/>
            </a:pPr>
            <a:r>
              <a:rPr lang="en-US" sz="1250" dirty="0">
                <a:solidFill>
                  <a:srgbClr val="6E665C"/>
                </a:solidFill>
                <a:latin typeface="Calibri" pitchFamily="34" charset="0"/>
                <a:ea typeface="Calibri" pitchFamily="34" charset="-122"/>
                <a:cs typeface="Calibri" pitchFamily="34" charset="-120"/>
              </a:rPr>
              <a:t>An illustrative example — 100,000 support conversations a month, each ~4,000 input + 600 output tokens on Sonnet ($3 / $15 per 1M).</a:t>
            </a:r>
            <a:endParaRPr lang="en-US" sz="1250" dirty="0"/>
          </a:p>
        </p:txBody>
      </p:sp>
      <p:sp>
        <p:nvSpPr>
          <p:cNvPr id="6" name="Shape 3"/>
          <p:cNvSpPr/>
          <p:nvPr/>
        </p:nvSpPr>
        <p:spPr>
          <a:xfrm>
            <a:off x="502920" y="1920240"/>
            <a:ext cx="3703320" cy="233172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7" name="Shape 4"/>
          <p:cNvSpPr/>
          <p:nvPr/>
        </p:nvSpPr>
        <p:spPr>
          <a:xfrm>
            <a:off x="502920" y="1920240"/>
            <a:ext cx="3703320" cy="457200"/>
          </a:xfrm>
          <a:prstGeom prst="rect">
            <a:avLst/>
          </a:prstGeom>
          <a:solidFill>
            <a:srgbClr val="262320"/>
          </a:solidFill>
          <a:ln/>
        </p:spPr>
        <p:txBody>
          <a:bodyPr/>
          <a:lstStyle/>
          <a:p>
            <a:endParaRPr lang="en-IN"/>
          </a:p>
        </p:txBody>
      </p:sp>
      <p:sp>
        <p:nvSpPr>
          <p:cNvPr id="8" name="Text 5"/>
          <p:cNvSpPr/>
          <p:nvPr/>
        </p:nvSpPr>
        <p:spPr>
          <a:xfrm>
            <a:off x="685800" y="1920240"/>
            <a:ext cx="3383280" cy="457200"/>
          </a:xfrm>
          <a:prstGeom prst="rect">
            <a:avLst/>
          </a:prstGeom>
          <a:noFill/>
          <a:ln/>
        </p:spPr>
        <p:txBody>
          <a:bodyPr wrap="square" lIns="0" tIns="0" rIns="0" bIns="0" rtlCol="0" anchor="ctr"/>
          <a:lstStyle/>
          <a:p>
            <a:pPr marL="0" indent="0">
              <a:buNone/>
            </a:pPr>
            <a:r>
              <a:rPr lang="en-US" sz="1200" b="1" kern="0" spc="100" dirty="0">
                <a:solidFill>
                  <a:srgbClr val="F4F1E8"/>
                </a:solidFill>
                <a:latin typeface="Calibri" pitchFamily="34" charset="0"/>
                <a:ea typeface="Calibri" pitchFamily="34" charset="-122"/>
                <a:cs typeface="Calibri" pitchFamily="34" charset="-120"/>
              </a:rPr>
              <a:t>BEFORE — pay full price every call</a:t>
            </a:r>
            <a:endParaRPr lang="en-US" sz="1200" dirty="0"/>
          </a:p>
        </p:txBody>
      </p:sp>
      <p:sp>
        <p:nvSpPr>
          <p:cNvPr id="9" name="Text 6"/>
          <p:cNvSpPr/>
          <p:nvPr/>
        </p:nvSpPr>
        <p:spPr>
          <a:xfrm>
            <a:off x="713232" y="2542032"/>
            <a:ext cx="3291840" cy="1371600"/>
          </a:xfrm>
          <a:prstGeom prst="rect">
            <a:avLst/>
          </a:prstGeom>
          <a:noFill/>
          <a:ln/>
        </p:spPr>
        <p:txBody>
          <a:bodyPr wrap="square" lIns="0" tIns="0" rIns="0" bIns="0" rtlCol="0" anchor="t"/>
          <a:lstStyle/>
          <a:p>
            <a:pPr marL="0" indent="0">
              <a:spcAft>
                <a:spcPts val="400"/>
              </a:spcAft>
              <a:buNone/>
            </a:pPr>
            <a:r>
              <a:rPr lang="en-US" sz="1250" dirty="0">
                <a:solidFill>
                  <a:srgbClr val="26231E"/>
                </a:solidFill>
                <a:latin typeface="Calibri" pitchFamily="34" charset="0"/>
                <a:ea typeface="Calibri" pitchFamily="34" charset="-122"/>
                <a:cs typeface="Calibri" pitchFamily="34" charset="-120"/>
              </a:rPr>
              <a:t>Input  ·  400M tokens / mo</a:t>
            </a:r>
            <a:endParaRPr lang="en-US" sz="1250" dirty="0"/>
          </a:p>
          <a:p>
            <a:pPr marL="0" indent="0">
              <a:spcAft>
                <a:spcPts val="400"/>
              </a:spcAft>
              <a:buNone/>
            </a:pPr>
            <a:r>
              <a:rPr lang="en-US" sz="1250" b="1" dirty="0">
                <a:solidFill>
                  <a:srgbClr val="A24E30"/>
                </a:solidFill>
                <a:latin typeface="Calibri" pitchFamily="34" charset="0"/>
                <a:ea typeface="Calibri" pitchFamily="34" charset="-122"/>
                <a:cs typeface="Calibri" pitchFamily="34" charset="-120"/>
              </a:rPr>
              <a:t>$1,200</a:t>
            </a:r>
            <a:endParaRPr lang="en-US" sz="1250" dirty="0"/>
          </a:p>
          <a:p>
            <a:pPr marL="0" indent="0">
              <a:spcAft>
                <a:spcPts val="400"/>
              </a:spcAft>
              <a:buNone/>
            </a:pPr>
            <a:r>
              <a:rPr lang="en-US" sz="1250" dirty="0">
                <a:solidFill>
                  <a:srgbClr val="26231E"/>
                </a:solidFill>
                <a:latin typeface="Calibri" pitchFamily="34" charset="0"/>
                <a:ea typeface="Calibri" pitchFamily="34" charset="-122"/>
                <a:cs typeface="Calibri" pitchFamily="34" charset="-120"/>
              </a:rPr>
              <a:t>Output  ·  60M tokens / mo</a:t>
            </a:r>
            <a:endParaRPr lang="en-US" sz="1250" dirty="0"/>
          </a:p>
          <a:p>
            <a:pPr marL="0" indent="0">
              <a:spcAft>
                <a:spcPts val="400"/>
              </a:spcAft>
              <a:buNone/>
            </a:pPr>
            <a:r>
              <a:rPr lang="en-US" sz="1250" b="1" dirty="0">
                <a:solidFill>
                  <a:srgbClr val="A24E30"/>
                </a:solidFill>
                <a:latin typeface="Calibri" pitchFamily="34" charset="0"/>
                <a:ea typeface="Calibri" pitchFamily="34" charset="-122"/>
                <a:cs typeface="Calibri" pitchFamily="34" charset="-120"/>
              </a:rPr>
              <a:t>$900</a:t>
            </a:r>
            <a:endParaRPr lang="en-US" sz="1250" dirty="0"/>
          </a:p>
          <a:p>
            <a:pPr marL="0" indent="0">
              <a:spcAft>
                <a:spcPts val="400"/>
              </a:spcAft>
              <a:buNone/>
            </a:pPr>
            <a:r>
              <a:rPr lang="en-US" sz="1250" i="1" dirty="0">
                <a:solidFill>
                  <a:srgbClr val="6E665C"/>
                </a:solidFill>
                <a:latin typeface="Calibri" pitchFamily="34" charset="0"/>
                <a:ea typeface="Calibri" pitchFamily="34" charset="-122"/>
                <a:cs typeface="Calibri" pitchFamily="34" charset="-120"/>
              </a:rPr>
              <a:t>Whole knowledge base re-sent on every ticket.</a:t>
            </a:r>
            <a:endParaRPr lang="en-US" sz="1250" dirty="0"/>
          </a:p>
        </p:txBody>
      </p:sp>
      <p:sp>
        <p:nvSpPr>
          <p:cNvPr id="10" name="Text 7"/>
          <p:cNvSpPr/>
          <p:nvPr/>
        </p:nvSpPr>
        <p:spPr>
          <a:xfrm>
            <a:off x="713232" y="3822192"/>
            <a:ext cx="3291840" cy="329184"/>
          </a:xfrm>
          <a:prstGeom prst="rect">
            <a:avLst/>
          </a:prstGeom>
          <a:noFill/>
          <a:ln/>
        </p:spPr>
        <p:txBody>
          <a:bodyPr wrap="square" lIns="0" tIns="0" rIns="0" bIns="0" rtlCol="0" anchor="ctr"/>
          <a:lstStyle/>
          <a:p>
            <a:pPr marL="0" indent="0">
              <a:buNone/>
            </a:pPr>
            <a:r>
              <a:rPr lang="en-US" sz="1700" b="1" dirty="0">
                <a:solidFill>
                  <a:srgbClr val="26231E"/>
                </a:solidFill>
                <a:latin typeface="Georgia" pitchFamily="34" charset="0"/>
                <a:ea typeface="Georgia" pitchFamily="34" charset="-122"/>
                <a:cs typeface="Georgia" pitchFamily="34" charset="-120"/>
              </a:rPr>
              <a:t>≈ $2,100 / month</a:t>
            </a:r>
            <a:endParaRPr lang="en-US" sz="1700" dirty="0"/>
          </a:p>
        </p:txBody>
      </p:sp>
      <p:sp>
        <p:nvSpPr>
          <p:cNvPr id="11" name="Shape 8"/>
          <p:cNvSpPr/>
          <p:nvPr/>
        </p:nvSpPr>
        <p:spPr>
          <a:xfrm>
            <a:off x="4937760" y="1920240"/>
            <a:ext cx="3703320" cy="233172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2" name="Shape 9"/>
          <p:cNvSpPr/>
          <p:nvPr/>
        </p:nvSpPr>
        <p:spPr>
          <a:xfrm>
            <a:off x="4937760" y="1920240"/>
            <a:ext cx="3703320" cy="457200"/>
          </a:xfrm>
          <a:prstGeom prst="rect">
            <a:avLst/>
          </a:prstGeom>
          <a:solidFill>
            <a:srgbClr val="C8633F"/>
          </a:solidFill>
          <a:ln/>
        </p:spPr>
        <p:txBody>
          <a:bodyPr/>
          <a:lstStyle/>
          <a:p>
            <a:endParaRPr lang="en-IN"/>
          </a:p>
        </p:txBody>
      </p:sp>
      <p:sp>
        <p:nvSpPr>
          <p:cNvPr id="13" name="Text 10"/>
          <p:cNvSpPr/>
          <p:nvPr/>
        </p:nvSpPr>
        <p:spPr>
          <a:xfrm>
            <a:off x="5120640" y="1920240"/>
            <a:ext cx="3383280" cy="457200"/>
          </a:xfrm>
          <a:prstGeom prst="rect">
            <a:avLst/>
          </a:prstGeom>
          <a:noFill/>
          <a:ln/>
        </p:spPr>
        <p:txBody>
          <a:bodyPr wrap="square" lIns="0" tIns="0" rIns="0" bIns="0" rtlCol="0" anchor="ctr"/>
          <a:lstStyle/>
          <a:p>
            <a:pPr marL="0" indent="0">
              <a:buNone/>
            </a:pPr>
            <a:r>
              <a:rPr lang="en-US" sz="1200" b="1" kern="0" spc="100" dirty="0">
                <a:solidFill>
                  <a:srgbClr val="FFF3EC"/>
                </a:solidFill>
                <a:latin typeface="Calibri" pitchFamily="34" charset="0"/>
                <a:ea typeface="Calibri" pitchFamily="34" charset="-122"/>
                <a:cs typeface="Calibri" pitchFamily="34" charset="-120"/>
              </a:rPr>
              <a:t>AFTER — pull the cost levers</a:t>
            </a:r>
            <a:endParaRPr lang="en-US" sz="1200" dirty="0"/>
          </a:p>
        </p:txBody>
      </p:sp>
      <p:sp>
        <p:nvSpPr>
          <p:cNvPr id="14" name="Text 11"/>
          <p:cNvSpPr/>
          <p:nvPr/>
        </p:nvSpPr>
        <p:spPr>
          <a:xfrm>
            <a:off x="5138928" y="2505456"/>
            <a:ext cx="333756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31E"/>
                </a:solidFill>
                <a:latin typeface="Calibri" pitchFamily="34" charset="0"/>
                <a:ea typeface="Calibri" pitchFamily="34" charset="-122"/>
                <a:cs typeface="Calibri" pitchFamily="34" charset="-120"/>
              </a:rPr>
              <a:t>Cache the system prompt + knowledge base  →  ~90% off the stable input.</a:t>
            </a:r>
            <a:endParaRPr lang="en-US" sz="1200" dirty="0"/>
          </a:p>
          <a:p>
            <a:pPr marL="342900" indent="-342900">
              <a:spcAft>
                <a:spcPts val="600"/>
              </a:spcAft>
              <a:buSzPct val="100000"/>
              <a:buChar char="•"/>
            </a:pPr>
            <a:r>
              <a:rPr lang="en-US" sz="1200" dirty="0">
                <a:solidFill>
                  <a:srgbClr val="26231E"/>
                </a:solidFill>
                <a:latin typeface="Calibri" pitchFamily="34" charset="0"/>
                <a:ea typeface="Calibri" pitchFamily="34" charset="-122"/>
                <a:cs typeface="Calibri" pitchFamily="34" charset="-120"/>
              </a:rPr>
              <a:t>Route simple, repetitive tickets to Haiku ($1 / $5).</a:t>
            </a:r>
            <a:endParaRPr lang="en-US" sz="1200" dirty="0"/>
          </a:p>
          <a:p>
            <a:pPr marL="342900" indent="-342900">
              <a:spcAft>
                <a:spcPts val="600"/>
              </a:spcAft>
              <a:buSzPct val="100000"/>
              <a:buChar char="•"/>
            </a:pPr>
            <a:r>
              <a:rPr lang="en-US" sz="1200" dirty="0">
                <a:solidFill>
                  <a:srgbClr val="26231E"/>
                </a:solidFill>
                <a:latin typeface="Calibri" pitchFamily="34" charset="0"/>
                <a:ea typeface="Calibri" pitchFamily="34" charset="-122"/>
                <a:cs typeface="Calibri" pitchFamily="34" charset="-120"/>
              </a:rPr>
              <a:t>Trim history; keep replies concise.</a:t>
            </a:r>
            <a:endParaRPr lang="en-US" sz="1200" dirty="0"/>
          </a:p>
        </p:txBody>
      </p:sp>
      <p:sp>
        <p:nvSpPr>
          <p:cNvPr id="15" name="Text 12"/>
          <p:cNvSpPr/>
          <p:nvPr/>
        </p:nvSpPr>
        <p:spPr>
          <a:xfrm>
            <a:off x="5138928" y="3822192"/>
            <a:ext cx="3291840" cy="329184"/>
          </a:xfrm>
          <a:prstGeom prst="rect">
            <a:avLst/>
          </a:prstGeom>
          <a:noFill/>
          <a:ln/>
        </p:spPr>
        <p:txBody>
          <a:bodyPr wrap="square" lIns="0" tIns="0" rIns="0" bIns="0" rtlCol="0" anchor="ctr"/>
          <a:lstStyle/>
          <a:p>
            <a:pPr marL="0" indent="0">
              <a:buNone/>
            </a:pPr>
            <a:r>
              <a:rPr lang="en-US" sz="1700" b="1" dirty="0">
                <a:solidFill>
                  <a:srgbClr val="C8633F"/>
                </a:solidFill>
                <a:latin typeface="Georgia" pitchFamily="34" charset="0"/>
                <a:ea typeface="Georgia" pitchFamily="34" charset="-122"/>
                <a:cs typeface="Georgia" pitchFamily="34" charset="-120"/>
              </a:rPr>
              <a:t>≈ $900 / month</a:t>
            </a:r>
            <a:endParaRPr lang="en-US" sz="1700" dirty="0"/>
          </a:p>
        </p:txBody>
      </p:sp>
      <p:sp>
        <p:nvSpPr>
          <p:cNvPr id="16" name="Text 13"/>
          <p:cNvSpPr/>
          <p:nvPr/>
        </p:nvSpPr>
        <p:spPr>
          <a:xfrm>
            <a:off x="502920" y="4407408"/>
            <a:ext cx="8138160" cy="274320"/>
          </a:xfrm>
          <a:prstGeom prst="rect">
            <a:avLst/>
          </a:prstGeom>
          <a:noFill/>
          <a:ln/>
        </p:spPr>
        <p:txBody>
          <a:bodyPr wrap="square" lIns="0" tIns="0" rIns="0" bIns="0" rtlCol="0" anchor="ctr"/>
          <a:lstStyle/>
          <a:p>
            <a:pPr marL="0" indent="0">
              <a:buNone/>
            </a:pPr>
            <a:r>
              <a:rPr lang="en-US" sz="1150" b="1" i="1" dirty="0">
                <a:solidFill>
                  <a:srgbClr val="A24E30"/>
                </a:solidFill>
                <a:latin typeface="Calibri" pitchFamily="34" charset="0"/>
                <a:ea typeface="Calibri" pitchFamily="34" charset="-122"/>
                <a:cs typeface="Calibri" pitchFamily="34" charset="-120"/>
              </a:rPr>
              <a:t>Same workload, ~57% lower cost — without changing what the customer experiences. Figures are illustrative.</a:t>
            </a:r>
            <a:endParaRPr lang="en-US" sz="1150" dirty="0"/>
          </a:p>
        </p:txBody>
      </p:sp>
      <p:sp>
        <p:nvSpPr>
          <p:cNvPr id="17" name="Text 14"/>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18" name="Text 15"/>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THEME 2 · COST LEVER #1</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Model-tier selection: right-size every task</a:t>
            </a:r>
            <a:endParaRPr lang="en-US" sz="2800" dirty="0"/>
          </a:p>
        </p:txBody>
      </p:sp>
      <p:sp>
        <p:nvSpPr>
          <p:cNvPr id="5" name="Text 2"/>
          <p:cNvSpPr/>
          <p:nvPr/>
        </p:nvSpPr>
        <p:spPr>
          <a:xfrm>
            <a:off x="1024128" y="1371600"/>
            <a:ext cx="7589520" cy="457200"/>
          </a:xfrm>
          <a:prstGeom prst="rect">
            <a:avLst/>
          </a:prstGeom>
          <a:noFill/>
          <a:ln/>
        </p:spPr>
        <p:txBody>
          <a:bodyPr wrap="square" lIns="0" tIns="0" rIns="0" bIns="0" rtlCol="0" anchor="ctr"/>
          <a:lstStyle/>
          <a:p>
            <a:pPr marL="0" indent="0">
              <a:buNone/>
            </a:pPr>
            <a:r>
              <a:rPr lang="en-US" sz="1350" dirty="0">
                <a:solidFill>
                  <a:srgbClr val="6E665C"/>
                </a:solidFill>
                <a:latin typeface="Calibri" pitchFamily="34" charset="0"/>
                <a:ea typeface="Calibri" pitchFamily="34" charset="-122"/>
                <a:cs typeface="Calibri" pitchFamily="34" charset="-120"/>
              </a:rPr>
              <a:t>Three tiers, one API. The biggest cost lever is matching model power to task difficulty instead of defaulting to the largest.</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938528"/>
          <a:ext cx="8138160" cy="914400"/>
        </p:xfrm>
        <a:graphic>
          <a:graphicData uri="http://schemas.openxmlformats.org/drawingml/2006/table">
            <a:tbl>
              <a:tblPr/>
              <a:tblGrid>
                <a:gridCol w="3200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Tier</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C8633F"/>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Input / Output (per 1M)</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C8633F"/>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Best for</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C8633F"/>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26231E"/>
                          </a:solidFill>
                          <a:latin typeface="Calibri" pitchFamily="34" charset="0"/>
                          <a:ea typeface="Calibri" pitchFamily="34" charset="-122"/>
                          <a:cs typeface="Calibri" pitchFamily="34" charset="-120"/>
                        </a:rPr>
                        <a:t>Opus — maximum intelligence</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FBFAF6"/>
                    </a:solidFill>
                  </a:tcPr>
                </a:tc>
                <a:tc>
                  <a:txBody>
                    <a:bodyPr/>
                    <a:lstStyle/>
                    <a:p>
                      <a:pPr marL="0" indent="0">
                        <a:buNone/>
                      </a:pPr>
                      <a:r>
                        <a:rPr lang="en-US" sz="1250" dirty="0">
                          <a:solidFill>
                            <a:srgbClr val="26231E"/>
                          </a:solidFill>
                          <a:latin typeface="Calibri" pitchFamily="34" charset="0"/>
                          <a:ea typeface="Calibri" pitchFamily="34" charset="-122"/>
                          <a:cs typeface="Calibri" pitchFamily="34" charset="-120"/>
                        </a:rPr>
                        <a:t>$5  /  $25</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FBFAF6"/>
                    </a:solidFill>
                  </a:tcPr>
                </a:tc>
                <a:tc>
                  <a:txBody>
                    <a:bodyPr/>
                    <a:lstStyle/>
                    <a:p>
                      <a:pPr marL="0" indent="0">
                        <a:buNone/>
                      </a:pPr>
                      <a:r>
                        <a:rPr lang="en-US" sz="1250" dirty="0">
                          <a:solidFill>
                            <a:srgbClr val="26231E"/>
                          </a:solidFill>
                          <a:latin typeface="Calibri" pitchFamily="34" charset="0"/>
                          <a:ea typeface="Calibri" pitchFamily="34" charset="-122"/>
                          <a:cs typeface="Calibri" pitchFamily="34" charset="-120"/>
                        </a:rPr>
                        <a:t>Hardest reasoning, novel analysis, high-stakes work</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26231E"/>
                          </a:solidFill>
                          <a:latin typeface="Calibri" pitchFamily="34" charset="0"/>
                          <a:ea typeface="Calibri" pitchFamily="34" charset="-122"/>
                          <a:cs typeface="Calibri" pitchFamily="34" charset="-120"/>
                        </a:rPr>
                        <a:t>Sonnet — the workhorse</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FBFAF6"/>
                    </a:solidFill>
                  </a:tcPr>
                </a:tc>
                <a:tc>
                  <a:txBody>
                    <a:bodyPr/>
                    <a:lstStyle/>
                    <a:p>
                      <a:pPr marL="0" indent="0">
                        <a:buNone/>
                      </a:pPr>
                      <a:r>
                        <a:rPr lang="en-US" sz="1250" dirty="0">
                          <a:solidFill>
                            <a:srgbClr val="26231E"/>
                          </a:solidFill>
                          <a:latin typeface="Calibri" pitchFamily="34" charset="0"/>
                          <a:ea typeface="Calibri" pitchFamily="34" charset="-122"/>
                          <a:cs typeface="Calibri" pitchFamily="34" charset="-120"/>
                        </a:rPr>
                        <a:t>$3  /  $15</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FBFAF6"/>
                    </a:solidFill>
                  </a:tcPr>
                </a:tc>
                <a:tc>
                  <a:txBody>
                    <a:bodyPr/>
                    <a:lstStyle/>
                    <a:p>
                      <a:pPr marL="0" indent="0">
                        <a:buNone/>
                      </a:pPr>
                      <a:r>
                        <a:rPr lang="en-US" sz="1250" dirty="0">
                          <a:solidFill>
                            <a:srgbClr val="26231E"/>
                          </a:solidFill>
                          <a:latin typeface="Calibri" pitchFamily="34" charset="0"/>
                          <a:ea typeface="Calibri" pitchFamily="34" charset="-122"/>
                          <a:cs typeface="Calibri" pitchFamily="34" charset="-120"/>
                        </a:rPr>
                        <a:t>~80% of production workloads; the sensible default</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FBFAF6"/>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26231E"/>
                          </a:solidFill>
                          <a:latin typeface="Calibri" pitchFamily="34" charset="0"/>
                          <a:ea typeface="Calibri" pitchFamily="34" charset="-122"/>
                          <a:cs typeface="Calibri" pitchFamily="34" charset="-120"/>
                        </a:rPr>
                        <a:t>Haiku — speed &amp; volume</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FBFAF6"/>
                    </a:solidFill>
                  </a:tcPr>
                </a:tc>
                <a:tc>
                  <a:txBody>
                    <a:bodyPr/>
                    <a:lstStyle/>
                    <a:p>
                      <a:pPr marL="0" indent="0">
                        <a:buNone/>
                      </a:pPr>
                      <a:r>
                        <a:rPr lang="en-US" sz="1250" dirty="0">
                          <a:solidFill>
                            <a:srgbClr val="26231E"/>
                          </a:solidFill>
                          <a:latin typeface="Calibri" pitchFamily="34" charset="0"/>
                          <a:ea typeface="Calibri" pitchFamily="34" charset="-122"/>
                          <a:cs typeface="Calibri" pitchFamily="34" charset="-120"/>
                        </a:rPr>
                        <a:t>$1  /  $5</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FBFAF6"/>
                    </a:solidFill>
                  </a:tcPr>
                </a:tc>
                <a:tc>
                  <a:txBody>
                    <a:bodyPr/>
                    <a:lstStyle/>
                    <a:p>
                      <a:pPr marL="0" indent="0">
                        <a:buNone/>
                      </a:pPr>
                      <a:r>
                        <a:rPr lang="en-US" sz="1250" dirty="0">
                          <a:solidFill>
                            <a:srgbClr val="26231E"/>
                          </a:solidFill>
                          <a:latin typeface="Calibri" pitchFamily="34" charset="0"/>
                          <a:ea typeface="Calibri" pitchFamily="34" charset="-122"/>
                          <a:cs typeface="Calibri" pitchFamily="34" charset="-120"/>
                        </a:rPr>
                        <a:t>High-volume, simple, latency-sensitive tasks</a:t>
                      </a:r>
                      <a:endParaRPr lang="en-US" sz="1250" dirty="0">
                        <a:latin typeface="Calibri" charset="0"/>
                        <a:ea typeface="Calibri" charset="0"/>
                        <a:cs typeface="Calibri" charset="0"/>
                      </a:endParaRPr>
                    </a:p>
                  </a:txBody>
                  <a:tcPr marL="76200" marR="76200" marT="38100" marB="38100" anchor="ctr">
                    <a:lnL w="9525" cap="flat" cmpd="sng" algn="ctr">
                      <a:solidFill>
                        <a:srgbClr val="DAD3C5"/>
                      </a:solidFill>
                      <a:prstDash val="solid"/>
                      <a:round/>
                      <a:headEnd type="none" w="med" len="med"/>
                      <a:tailEnd type="none" w="med" len="med"/>
                    </a:lnL>
                    <a:lnR w="9525" cap="flat" cmpd="sng" algn="ctr">
                      <a:solidFill>
                        <a:srgbClr val="DAD3C5"/>
                      </a:solidFill>
                      <a:prstDash val="solid"/>
                      <a:round/>
                      <a:headEnd type="none" w="med" len="med"/>
                      <a:tailEnd type="none" w="med" len="med"/>
                    </a:lnR>
                    <a:lnT w="9525" cap="flat" cmpd="sng" algn="ctr">
                      <a:solidFill>
                        <a:srgbClr val="DAD3C5"/>
                      </a:solidFill>
                      <a:prstDash val="solid"/>
                      <a:round/>
                      <a:headEnd type="none" w="med" len="med"/>
                      <a:tailEnd type="none" w="med" len="med"/>
                    </a:lnT>
                    <a:lnB w="9525" cap="flat" cmpd="sng" algn="ctr">
                      <a:solidFill>
                        <a:srgbClr val="DAD3C5"/>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bl>
          </a:graphicData>
        </a:graphic>
      </p:graphicFrame>
      <p:sp>
        <p:nvSpPr>
          <p:cNvPr id="6" name="Text 3"/>
          <p:cNvSpPr/>
          <p:nvPr/>
        </p:nvSpPr>
        <p:spPr>
          <a:xfrm>
            <a:off x="502920" y="4160520"/>
            <a:ext cx="8138160" cy="548640"/>
          </a:xfrm>
          <a:prstGeom prst="rect">
            <a:avLst/>
          </a:prstGeom>
          <a:noFill/>
          <a:ln/>
        </p:spPr>
        <p:txBody>
          <a:bodyPr wrap="square" lIns="0" tIns="0" rIns="0" bIns="0" rtlCol="0" anchor="ctr"/>
          <a:lstStyle/>
          <a:p>
            <a:pPr marL="0" indent="0">
              <a:buNone/>
            </a:pPr>
            <a:r>
              <a:rPr lang="en-US" sz="1200" b="1" dirty="0">
                <a:solidFill>
                  <a:srgbClr val="A24E30"/>
                </a:solidFill>
                <a:latin typeface="Calibri" pitchFamily="34" charset="0"/>
                <a:ea typeface="Calibri" pitchFamily="34" charset="-122"/>
                <a:cs typeface="Calibri" pitchFamily="34" charset="-120"/>
              </a:rPr>
              <a:t>Route, don't default.  </a:t>
            </a:r>
            <a:r>
              <a:rPr lang="en-US" sz="1200" dirty="0">
                <a:solidFill>
                  <a:srgbClr val="6E665C"/>
                </a:solidFill>
                <a:latin typeface="Calibri" pitchFamily="34" charset="0"/>
                <a:ea typeface="Calibri" pitchFamily="34" charset="-122"/>
                <a:cs typeface="Calibri" pitchFamily="34" charset="-120"/>
              </a:rPr>
              <a:t>Start on Sonnet, escalate to Opus only when quality demands it, and push bulk or simple work down to Haiku. A tiered routing policy is often the single largest line-item saving.</a:t>
            </a:r>
            <a:endParaRPr lang="en-US" sz="1200" dirty="0"/>
          </a:p>
        </p:txBody>
      </p:sp>
      <p:sp>
        <p:nvSpPr>
          <p:cNvPr id="8" name="Text 4"/>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9" name="Text 5"/>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THEME 2 · COST LEVER #2</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Prompt caching &amp; context hygiene</a:t>
            </a:r>
            <a:endParaRPr lang="en-US" sz="2800" dirty="0"/>
          </a:p>
        </p:txBody>
      </p:sp>
      <p:sp>
        <p:nvSpPr>
          <p:cNvPr id="5" name="Shape 2"/>
          <p:cNvSpPr/>
          <p:nvPr/>
        </p:nvSpPr>
        <p:spPr>
          <a:xfrm>
            <a:off x="502920" y="1481328"/>
            <a:ext cx="3977640" cy="301752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6" name="Text 3"/>
          <p:cNvSpPr/>
          <p:nvPr/>
        </p:nvSpPr>
        <p:spPr>
          <a:xfrm>
            <a:off x="731520" y="1664208"/>
            <a:ext cx="3566160" cy="329184"/>
          </a:xfrm>
          <a:prstGeom prst="rect">
            <a:avLst/>
          </a:prstGeom>
          <a:noFill/>
          <a:ln/>
        </p:spPr>
        <p:txBody>
          <a:bodyPr wrap="square" lIns="0" tIns="0" rIns="0" bIns="0" rtlCol="0" anchor="ctr"/>
          <a:lstStyle/>
          <a:p>
            <a:pPr marL="0" indent="0">
              <a:buNone/>
            </a:pPr>
            <a:r>
              <a:rPr lang="en-US" sz="1800" b="1" dirty="0">
                <a:solidFill>
                  <a:srgbClr val="26231E"/>
                </a:solidFill>
                <a:latin typeface="Georgia" pitchFamily="34" charset="0"/>
                <a:ea typeface="Georgia" pitchFamily="34" charset="-122"/>
                <a:cs typeface="Georgia" pitchFamily="34" charset="-120"/>
              </a:rPr>
              <a:t>Prompt caching</a:t>
            </a:r>
            <a:endParaRPr lang="en-US" sz="1800" dirty="0"/>
          </a:p>
        </p:txBody>
      </p:sp>
      <p:sp>
        <p:nvSpPr>
          <p:cNvPr id="7" name="Text 4"/>
          <p:cNvSpPr/>
          <p:nvPr/>
        </p:nvSpPr>
        <p:spPr>
          <a:xfrm>
            <a:off x="731520" y="2029968"/>
            <a:ext cx="3566160" cy="457200"/>
          </a:xfrm>
          <a:prstGeom prst="rect">
            <a:avLst/>
          </a:prstGeom>
          <a:noFill/>
          <a:ln/>
        </p:spPr>
        <p:txBody>
          <a:bodyPr wrap="square" lIns="0" tIns="0" rIns="0" bIns="0" rtlCol="0" anchor="ctr"/>
          <a:lstStyle/>
          <a:p>
            <a:pPr marL="0" indent="0">
              <a:buNone/>
            </a:pPr>
            <a:r>
              <a:rPr lang="en-US" sz="1200" dirty="0">
                <a:solidFill>
                  <a:srgbClr val="6E665C"/>
                </a:solidFill>
                <a:latin typeface="Calibri" pitchFamily="34" charset="0"/>
                <a:ea typeface="Calibri" pitchFamily="34" charset="-122"/>
                <a:cs typeface="Calibri" pitchFamily="34" charset="-120"/>
              </a:rPr>
              <a:t>Reuse the stable parts of a prompt instead of re-paying for them every call.</a:t>
            </a:r>
            <a:endParaRPr lang="en-US" sz="1200" dirty="0"/>
          </a:p>
        </p:txBody>
      </p:sp>
      <p:sp>
        <p:nvSpPr>
          <p:cNvPr id="8" name="Text 5"/>
          <p:cNvSpPr/>
          <p:nvPr/>
        </p:nvSpPr>
        <p:spPr>
          <a:xfrm>
            <a:off x="777240" y="2542032"/>
            <a:ext cx="3520440" cy="1828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6231E"/>
                </a:solidFill>
                <a:latin typeface="Calibri" pitchFamily="34" charset="0"/>
                <a:ea typeface="Calibri" pitchFamily="34" charset="-122"/>
                <a:cs typeface="Calibri" pitchFamily="34" charset="-120"/>
              </a:rPr>
              <a:t>Up to 90% cheaper on cached input — a cache hit costs about a tenth of the base rate (e.g. Opus $5 → ~$0.50).</a:t>
            </a:r>
            <a:endParaRPr lang="en-US" sz="1200" dirty="0"/>
          </a:p>
          <a:p>
            <a:pPr marL="342900" indent="-342900">
              <a:spcAft>
                <a:spcPts val="800"/>
              </a:spcAft>
              <a:buSzPct val="100000"/>
              <a:buChar char="•"/>
            </a:pPr>
            <a:r>
              <a:rPr lang="en-US" sz="1200" dirty="0">
                <a:solidFill>
                  <a:srgbClr val="26231E"/>
                </a:solidFill>
                <a:latin typeface="Calibri" pitchFamily="34" charset="0"/>
                <a:ea typeface="Calibri" pitchFamily="34" charset="-122"/>
                <a:cs typeface="Calibri" pitchFamily="34" charset="-120"/>
              </a:rPr>
              <a:t>Put stable content first: system prompt, instructions, RAG context, and tool definitions.</a:t>
            </a:r>
            <a:endParaRPr lang="en-US" sz="1200" dirty="0"/>
          </a:p>
          <a:p>
            <a:pPr marL="342900" indent="-342900">
              <a:spcAft>
                <a:spcPts val="800"/>
              </a:spcAft>
              <a:buSzPct val="100000"/>
              <a:buChar char="•"/>
            </a:pPr>
            <a:r>
              <a:rPr lang="en-US" sz="1200" dirty="0">
                <a:solidFill>
                  <a:srgbClr val="26231E"/>
                </a:solidFill>
                <a:latin typeface="Calibri" pitchFamily="34" charset="0"/>
                <a:ea typeface="Calibri" pitchFamily="34" charset="-122"/>
                <a:cs typeface="Calibri" pitchFamily="34" charset="-120"/>
              </a:rPr>
              <a:t>Stack the Batch API for non-urgent work to save another ~50%.</a:t>
            </a:r>
            <a:endParaRPr lang="en-US" sz="1200" dirty="0"/>
          </a:p>
        </p:txBody>
      </p:sp>
      <p:sp>
        <p:nvSpPr>
          <p:cNvPr id="9" name="Shape 6"/>
          <p:cNvSpPr/>
          <p:nvPr/>
        </p:nvSpPr>
        <p:spPr>
          <a:xfrm>
            <a:off x="4663440" y="1481328"/>
            <a:ext cx="3977640" cy="301752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0" name="Text 7"/>
          <p:cNvSpPr/>
          <p:nvPr/>
        </p:nvSpPr>
        <p:spPr>
          <a:xfrm>
            <a:off x="4892040" y="1664208"/>
            <a:ext cx="3566160" cy="329184"/>
          </a:xfrm>
          <a:prstGeom prst="rect">
            <a:avLst/>
          </a:prstGeom>
          <a:noFill/>
          <a:ln/>
        </p:spPr>
        <p:txBody>
          <a:bodyPr wrap="square" lIns="0" tIns="0" rIns="0" bIns="0" rtlCol="0" anchor="ctr"/>
          <a:lstStyle/>
          <a:p>
            <a:pPr marL="0" indent="0">
              <a:buNone/>
            </a:pPr>
            <a:r>
              <a:rPr lang="en-US" sz="1800" b="1" dirty="0">
                <a:solidFill>
                  <a:srgbClr val="26231E"/>
                </a:solidFill>
                <a:latin typeface="Georgia" pitchFamily="34" charset="0"/>
                <a:ea typeface="Georgia" pitchFamily="34" charset="-122"/>
                <a:cs typeface="Georgia" pitchFamily="34" charset="-120"/>
              </a:rPr>
              <a:t>Context hygiene</a:t>
            </a:r>
            <a:endParaRPr lang="en-US" sz="1800" dirty="0"/>
          </a:p>
        </p:txBody>
      </p:sp>
      <p:sp>
        <p:nvSpPr>
          <p:cNvPr id="11" name="Text 8"/>
          <p:cNvSpPr/>
          <p:nvPr/>
        </p:nvSpPr>
        <p:spPr>
          <a:xfrm>
            <a:off x="4892040" y="2029968"/>
            <a:ext cx="3566160" cy="457200"/>
          </a:xfrm>
          <a:prstGeom prst="rect">
            <a:avLst/>
          </a:prstGeom>
          <a:noFill/>
          <a:ln/>
        </p:spPr>
        <p:txBody>
          <a:bodyPr wrap="square" lIns="0" tIns="0" rIns="0" bIns="0" rtlCol="0" anchor="ctr"/>
          <a:lstStyle/>
          <a:p>
            <a:pPr marL="0" indent="0">
              <a:buNone/>
            </a:pPr>
            <a:r>
              <a:rPr lang="en-US" sz="1200" dirty="0">
                <a:solidFill>
                  <a:srgbClr val="6E665C"/>
                </a:solidFill>
                <a:latin typeface="Calibri" pitchFamily="34" charset="0"/>
                <a:ea typeface="Calibri" pitchFamily="34" charset="-122"/>
                <a:cs typeface="Calibri" pitchFamily="34" charset="-120"/>
              </a:rPr>
              <a:t>Send only what the task needs — clean context is cheaper and sharper.</a:t>
            </a:r>
            <a:endParaRPr lang="en-US" sz="1200" dirty="0"/>
          </a:p>
        </p:txBody>
      </p:sp>
      <p:sp>
        <p:nvSpPr>
          <p:cNvPr id="12" name="Text 9"/>
          <p:cNvSpPr/>
          <p:nvPr/>
        </p:nvSpPr>
        <p:spPr>
          <a:xfrm>
            <a:off x="4937760" y="2542032"/>
            <a:ext cx="3520440" cy="1828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6231E"/>
                </a:solidFill>
                <a:latin typeface="Calibri" pitchFamily="34" charset="0"/>
                <a:ea typeface="Calibri" pitchFamily="34" charset="-122"/>
                <a:cs typeface="Calibri" pitchFamily="34" charset="-120"/>
              </a:rPr>
              <a:t>Keep prompts short and specific; trim filler and restated history.</a:t>
            </a:r>
            <a:endParaRPr lang="en-US" sz="1200" dirty="0"/>
          </a:p>
          <a:p>
            <a:pPr marL="342900" indent="-342900">
              <a:spcAft>
                <a:spcPts val="800"/>
              </a:spcAft>
              <a:buSzPct val="100000"/>
              <a:buChar char="•"/>
            </a:pPr>
            <a:r>
              <a:rPr lang="en-US" sz="1200" dirty="0">
                <a:solidFill>
                  <a:srgbClr val="26231E"/>
                </a:solidFill>
                <a:latin typeface="Calibri" pitchFamily="34" charset="0"/>
                <a:ea typeface="Calibri" pitchFamily="34" charset="-122"/>
                <a:cs typeface="Calibri" pitchFamily="34" charset="-120"/>
              </a:rPr>
              <a:t>Summarise or compact long conversations instead of carrying every turn.</a:t>
            </a:r>
            <a:endParaRPr lang="en-US" sz="1200" dirty="0"/>
          </a:p>
          <a:p>
            <a:pPr marL="342900" indent="-342900">
              <a:spcAft>
                <a:spcPts val="800"/>
              </a:spcAft>
              <a:buSzPct val="100000"/>
              <a:buChar char="•"/>
            </a:pPr>
            <a:r>
              <a:rPr lang="en-US" sz="1200" dirty="0">
                <a:solidFill>
                  <a:srgbClr val="26231E"/>
                </a:solidFill>
                <a:latin typeface="Calibri" pitchFamily="34" charset="0"/>
                <a:ea typeface="Calibri" pitchFamily="34" charset="-122"/>
                <a:cs typeface="Calibri" pitchFamily="34" charset="-120"/>
              </a:rPr>
              <a:t>Scope file uploads to the relevant sections, not whole documents.</a:t>
            </a:r>
            <a:endParaRPr lang="en-US" sz="1200" dirty="0"/>
          </a:p>
          <a:p>
            <a:pPr marL="342900" indent="-342900">
              <a:spcAft>
                <a:spcPts val="800"/>
              </a:spcAft>
              <a:buSzPct val="100000"/>
              <a:buChar char="•"/>
            </a:pPr>
            <a:r>
              <a:rPr lang="en-US" sz="1200" dirty="0">
                <a:solidFill>
                  <a:srgbClr val="26231E"/>
                </a:solidFill>
                <a:latin typeface="Calibri" pitchFamily="34" charset="0"/>
                <a:ea typeface="Calibri" pitchFamily="34" charset="-122"/>
                <a:cs typeface="Calibri" pitchFamily="34" charset="-120"/>
              </a:rPr>
              <a:t>Set spend caps and educate users on high-intensity surfaces.</a:t>
            </a:r>
            <a:endParaRPr lang="en-US" sz="1200" dirty="0"/>
          </a:p>
        </p:txBody>
      </p:sp>
      <p:sp>
        <p:nvSpPr>
          <p:cNvPr id="13" name="Text 10"/>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14" name="Text 11"/>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THEME 3 · TRUST</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Data privacy, IP exposure &amp; security</a:t>
            </a:r>
            <a:endParaRPr lang="en-US" sz="2800" dirty="0"/>
          </a:p>
        </p:txBody>
      </p:sp>
      <p:sp>
        <p:nvSpPr>
          <p:cNvPr id="5" name="Shape 2"/>
          <p:cNvSpPr/>
          <p:nvPr/>
        </p:nvSpPr>
        <p:spPr>
          <a:xfrm>
            <a:off x="502920" y="1536192"/>
            <a:ext cx="3977640" cy="91440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6" name="Shape 3"/>
          <p:cNvSpPr/>
          <p:nvPr/>
        </p:nvSpPr>
        <p:spPr>
          <a:xfrm>
            <a:off x="502920" y="1536192"/>
            <a:ext cx="64008" cy="914400"/>
          </a:xfrm>
          <a:prstGeom prst="rect">
            <a:avLst/>
          </a:prstGeom>
          <a:solidFill>
            <a:srgbClr val="C8633F"/>
          </a:solidFill>
          <a:ln/>
        </p:spPr>
        <p:txBody>
          <a:bodyPr/>
          <a:lstStyle/>
          <a:p>
            <a:endParaRPr lang="en-IN"/>
          </a:p>
        </p:txBody>
      </p:sp>
      <p:sp>
        <p:nvSpPr>
          <p:cNvPr id="7" name="Text 4"/>
          <p:cNvSpPr/>
          <p:nvPr/>
        </p:nvSpPr>
        <p:spPr>
          <a:xfrm>
            <a:off x="722376" y="1645920"/>
            <a:ext cx="3575304" cy="274320"/>
          </a:xfrm>
          <a:prstGeom prst="rect">
            <a:avLst/>
          </a:prstGeom>
          <a:noFill/>
          <a:ln/>
        </p:spPr>
        <p:txBody>
          <a:bodyPr wrap="square" lIns="0" tIns="0" rIns="0" bIns="0" rtlCol="0" anchor="ctr"/>
          <a:lstStyle/>
          <a:p>
            <a:pPr marL="0" indent="0">
              <a:buNone/>
            </a:pPr>
            <a:r>
              <a:rPr lang="en-US" sz="1400" b="1" dirty="0">
                <a:solidFill>
                  <a:srgbClr val="26231E"/>
                </a:solidFill>
                <a:latin typeface="Georgia" pitchFamily="34" charset="0"/>
                <a:ea typeface="Georgia" pitchFamily="34" charset="-122"/>
                <a:cs typeface="Georgia" pitchFamily="34" charset="-120"/>
              </a:rPr>
              <a:t>No training on your data</a:t>
            </a:r>
            <a:endParaRPr lang="en-US" sz="1400" dirty="0"/>
          </a:p>
        </p:txBody>
      </p:sp>
      <p:sp>
        <p:nvSpPr>
          <p:cNvPr id="8" name="Text 5"/>
          <p:cNvSpPr/>
          <p:nvPr/>
        </p:nvSpPr>
        <p:spPr>
          <a:xfrm>
            <a:off x="722376" y="1938528"/>
            <a:ext cx="3575304" cy="457200"/>
          </a:xfrm>
          <a:prstGeom prst="rect">
            <a:avLst/>
          </a:prstGeom>
          <a:noFill/>
          <a:ln/>
        </p:spPr>
        <p:txBody>
          <a:bodyPr wrap="square" lIns="0" tIns="0" rIns="0" bIns="0" rtlCol="0" anchor="t"/>
          <a:lstStyle/>
          <a:p>
            <a:pPr marL="0" indent="0">
              <a:buNone/>
            </a:pPr>
            <a:r>
              <a:rPr lang="en-US" sz="1080" dirty="0">
                <a:solidFill>
                  <a:srgbClr val="6E665C"/>
                </a:solidFill>
                <a:latin typeface="Calibri" pitchFamily="34" charset="0"/>
                <a:ea typeface="Calibri" pitchFamily="34" charset="-122"/>
                <a:cs typeface="Calibri" pitchFamily="34" charset="-120"/>
              </a:rPr>
              <a:t>By default, enterprise and API data is not used to train models — a contractual commitment via your DPA, not a toggle.</a:t>
            </a:r>
            <a:endParaRPr lang="en-US" sz="1080" dirty="0"/>
          </a:p>
        </p:txBody>
      </p:sp>
      <p:sp>
        <p:nvSpPr>
          <p:cNvPr id="9" name="Shape 6"/>
          <p:cNvSpPr/>
          <p:nvPr/>
        </p:nvSpPr>
        <p:spPr>
          <a:xfrm>
            <a:off x="4645152" y="1536192"/>
            <a:ext cx="3977640" cy="91440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0" name="Shape 7"/>
          <p:cNvSpPr/>
          <p:nvPr/>
        </p:nvSpPr>
        <p:spPr>
          <a:xfrm>
            <a:off x="4645152" y="1536192"/>
            <a:ext cx="64008" cy="914400"/>
          </a:xfrm>
          <a:prstGeom prst="rect">
            <a:avLst/>
          </a:prstGeom>
          <a:solidFill>
            <a:srgbClr val="C8633F"/>
          </a:solidFill>
          <a:ln/>
        </p:spPr>
        <p:txBody>
          <a:bodyPr/>
          <a:lstStyle/>
          <a:p>
            <a:endParaRPr lang="en-IN"/>
          </a:p>
        </p:txBody>
      </p:sp>
      <p:sp>
        <p:nvSpPr>
          <p:cNvPr id="11" name="Text 8"/>
          <p:cNvSpPr/>
          <p:nvPr/>
        </p:nvSpPr>
        <p:spPr>
          <a:xfrm>
            <a:off x="4864608" y="1645920"/>
            <a:ext cx="3575304" cy="274320"/>
          </a:xfrm>
          <a:prstGeom prst="rect">
            <a:avLst/>
          </a:prstGeom>
          <a:noFill/>
          <a:ln/>
        </p:spPr>
        <p:txBody>
          <a:bodyPr wrap="square" lIns="0" tIns="0" rIns="0" bIns="0" rtlCol="0" anchor="ctr"/>
          <a:lstStyle/>
          <a:p>
            <a:pPr marL="0" indent="0">
              <a:buNone/>
            </a:pPr>
            <a:r>
              <a:rPr lang="en-US" sz="1400" b="1" dirty="0">
                <a:solidFill>
                  <a:srgbClr val="26231E"/>
                </a:solidFill>
                <a:latin typeface="Georgia" pitchFamily="34" charset="0"/>
                <a:ea typeface="Georgia" pitchFamily="34" charset="-122"/>
                <a:cs typeface="Georgia" pitchFamily="34" charset="-120"/>
              </a:rPr>
              <a:t>Zero Data Retention</a:t>
            </a:r>
            <a:endParaRPr lang="en-US" sz="1400" dirty="0"/>
          </a:p>
        </p:txBody>
      </p:sp>
      <p:sp>
        <p:nvSpPr>
          <p:cNvPr id="12" name="Text 9"/>
          <p:cNvSpPr/>
          <p:nvPr/>
        </p:nvSpPr>
        <p:spPr>
          <a:xfrm>
            <a:off x="4864608" y="1938528"/>
            <a:ext cx="3575304" cy="457200"/>
          </a:xfrm>
          <a:prstGeom prst="rect">
            <a:avLst/>
          </a:prstGeom>
          <a:noFill/>
          <a:ln/>
        </p:spPr>
        <p:txBody>
          <a:bodyPr wrap="square" lIns="0" tIns="0" rIns="0" bIns="0" rtlCol="0" anchor="t"/>
          <a:lstStyle/>
          <a:p>
            <a:pPr marL="0" indent="0">
              <a:buNone/>
            </a:pPr>
            <a:r>
              <a:rPr lang="en-US" sz="1080" dirty="0">
                <a:solidFill>
                  <a:srgbClr val="6E665C"/>
                </a:solidFill>
                <a:latin typeface="Calibri" pitchFamily="34" charset="0"/>
                <a:ea typeface="Calibri" pitchFamily="34" charset="-122"/>
                <a:cs typeface="Calibri" pitchFamily="34" charset="-120"/>
              </a:rPr>
              <a:t>ZDR options mean prompts and outputs aren't stored after the response is returned, for eligible workloads.</a:t>
            </a:r>
            <a:endParaRPr lang="en-US" sz="1080" dirty="0"/>
          </a:p>
        </p:txBody>
      </p:sp>
      <p:sp>
        <p:nvSpPr>
          <p:cNvPr id="13" name="Shape 10"/>
          <p:cNvSpPr/>
          <p:nvPr/>
        </p:nvSpPr>
        <p:spPr>
          <a:xfrm>
            <a:off x="502920" y="2596896"/>
            <a:ext cx="3977640" cy="91440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4" name="Shape 11"/>
          <p:cNvSpPr/>
          <p:nvPr/>
        </p:nvSpPr>
        <p:spPr>
          <a:xfrm>
            <a:off x="502920" y="2596896"/>
            <a:ext cx="64008" cy="914400"/>
          </a:xfrm>
          <a:prstGeom prst="rect">
            <a:avLst/>
          </a:prstGeom>
          <a:solidFill>
            <a:srgbClr val="C8633F"/>
          </a:solidFill>
          <a:ln/>
        </p:spPr>
        <p:txBody>
          <a:bodyPr/>
          <a:lstStyle/>
          <a:p>
            <a:endParaRPr lang="en-IN"/>
          </a:p>
        </p:txBody>
      </p:sp>
      <p:sp>
        <p:nvSpPr>
          <p:cNvPr id="15" name="Text 12"/>
          <p:cNvSpPr/>
          <p:nvPr/>
        </p:nvSpPr>
        <p:spPr>
          <a:xfrm>
            <a:off x="722376" y="2706624"/>
            <a:ext cx="3575304" cy="274320"/>
          </a:xfrm>
          <a:prstGeom prst="rect">
            <a:avLst/>
          </a:prstGeom>
          <a:noFill/>
          <a:ln/>
        </p:spPr>
        <p:txBody>
          <a:bodyPr wrap="square" lIns="0" tIns="0" rIns="0" bIns="0" rtlCol="0" anchor="ctr"/>
          <a:lstStyle/>
          <a:p>
            <a:pPr marL="0" indent="0">
              <a:buNone/>
            </a:pPr>
            <a:r>
              <a:rPr lang="en-US" sz="1400" b="1" dirty="0">
                <a:solidFill>
                  <a:srgbClr val="26231E"/>
                </a:solidFill>
                <a:latin typeface="Georgia" pitchFamily="34" charset="0"/>
                <a:ea typeface="Georgia" pitchFamily="34" charset="-122"/>
                <a:cs typeface="Georgia" pitchFamily="34" charset="-120"/>
              </a:rPr>
              <a:t>Encrypted &amp; certified</a:t>
            </a:r>
            <a:endParaRPr lang="en-US" sz="1400" dirty="0"/>
          </a:p>
        </p:txBody>
      </p:sp>
      <p:sp>
        <p:nvSpPr>
          <p:cNvPr id="16" name="Text 13"/>
          <p:cNvSpPr/>
          <p:nvPr/>
        </p:nvSpPr>
        <p:spPr>
          <a:xfrm>
            <a:off x="722376" y="2999232"/>
            <a:ext cx="3575304" cy="457200"/>
          </a:xfrm>
          <a:prstGeom prst="rect">
            <a:avLst/>
          </a:prstGeom>
          <a:noFill/>
          <a:ln/>
        </p:spPr>
        <p:txBody>
          <a:bodyPr wrap="square" lIns="0" tIns="0" rIns="0" bIns="0" rtlCol="0" anchor="t"/>
          <a:lstStyle/>
          <a:p>
            <a:pPr marL="0" indent="0">
              <a:buNone/>
            </a:pPr>
            <a:r>
              <a:rPr lang="en-US" sz="1080" dirty="0">
                <a:solidFill>
                  <a:srgbClr val="6E665C"/>
                </a:solidFill>
                <a:latin typeface="Calibri" pitchFamily="34" charset="0"/>
                <a:ea typeface="Calibri" pitchFamily="34" charset="-122"/>
                <a:cs typeface="Calibri" pitchFamily="34" charset="-120"/>
              </a:rPr>
              <a:t>Data encrypted in transit and at rest, with SOC 2-aligned controls and audit logging for vendor reviews.</a:t>
            </a:r>
            <a:endParaRPr lang="en-US" sz="1080" dirty="0"/>
          </a:p>
        </p:txBody>
      </p:sp>
      <p:sp>
        <p:nvSpPr>
          <p:cNvPr id="17" name="Shape 14"/>
          <p:cNvSpPr/>
          <p:nvPr/>
        </p:nvSpPr>
        <p:spPr>
          <a:xfrm>
            <a:off x="4645152" y="2596896"/>
            <a:ext cx="3977640" cy="91440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8" name="Shape 15"/>
          <p:cNvSpPr/>
          <p:nvPr/>
        </p:nvSpPr>
        <p:spPr>
          <a:xfrm>
            <a:off x="4645152" y="2596896"/>
            <a:ext cx="64008" cy="914400"/>
          </a:xfrm>
          <a:prstGeom prst="rect">
            <a:avLst/>
          </a:prstGeom>
          <a:solidFill>
            <a:srgbClr val="C8633F"/>
          </a:solidFill>
          <a:ln/>
        </p:spPr>
        <p:txBody>
          <a:bodyPr/>
          <a:lstStyle/>
          <a:p>
            <a:endParaRPr lang="en-IN"/>
          </a:p>
        </p:txBody>
      </p:sp>
      <p:sp>
        <p:nvSpPr>
          <p:cNvPr id="19" name="Text 16"/>
          <p:cNvSpPr/>
          <p:nvPr/>
        </p:nvSpPr>
        <p:spPr>
          <a:xfrm>
            <a:off x="4864608" y="2706624"/>
            <a:ext cx="3575304" cy="274320"/>
          </a:xfrm>
          <a:prstGeom prst="rect">
            <a:avLst/>
          </a:prstGeom>
          <a:noFill/>
          <a:ln/>
        </p:spPr>
        <p:txBody>
          <a:bodyPr wrap="square" lIns="0" tIns="0" rIns="0" bIns="0" rtlCol="0" anchor="ctr"/>
          <a:lstStyle/>
          <a:p>
            <a:pPr marL="0" indent="0">
              <a:buNone/>
            </a:pPr>
            <a:r>
              <a:rPr lang="en-US" sz="1400" b="1" dirty="0">
                <a:solidFill>
                  <a:srgbClr val="26231E"/>
                </a:solidFill>
                <a:latin typeface="Georgia" pitchFamily="34" charset="0"/>
                <a:ea typeface="Georgia" pitchFamily="34" charset="-122"/>
                <a:cs typeface="Georgia" pitchFamily="34" charset="-120"/>
              </a:rPr>
              <a:t>Identity &amp; access</a:t>
            </a:r>
            <a:endParaRPr lang="en-US" sz="1400" dirty="0"/>
          </a:p>
        </p:txBody>
      </p:sp>
      <p:sp>
        <p:nvSpPr>
          <p:cNvPr id="20" name="Text 17"/>
          <p:cNvSpPr/>
          <p:nvPr/>
        </p:nvSpPr>
        <p:spPr>
          <a:xfrm>
            <a:off x="4864608" y="2999232"/>
            <a:ext cx="3575304" cy="457200"/>
          </a:xfrm>
          <a:prstGeom prst="rect">
            <a:avLst/>
          </a:prstGeom>
          <a:noFill/>
          <a:ln/>
        </p:spPr>
        <p:txBody>
          <a:bodyPr wrap="square" lIns="0" tIns="0" rIns="0" bIns="0" rtlCol="0" anchor="t"/>
          <a:lstStyle/>
          <a:p>
            <a:pPr marL="0" indent="0">
              <a:buNone/>
            </a:pPr>
            <a:r>
              <a:rPr lang="en-US" sz="1080" dirty="0">
                <a:solidFill>
                  <a:srgbClr val="6E665C"/>
                </a:solidFill>
                <a:latin typeface="Calibri" pitchFamily="34" charset="0"/>
                <a:ea typeface="Calibri" pitchFamily="34" charset="-122"/>
                <a:cs typeface="Calibri" pitchFamily="34" charset="-120"/>
              </a:rPr>
              <a:t>SSO via SAML 2.0 / OIDC, role-based access, and just-in-time provisioning keep access governed.</a:t>
            </a:r>
            <a:endParaRPr lang="en-US" sz="1080" dirty="0"/>
          </a:p>
        </p:txBody>
      </p:sp>
      <p:sp>
        <p:nvSpPr>
          <p:cNvPr id="21" name="Shape 18"/>
          <p:cNvSpPr/>
          <p:nvPr/>
        </p:nvSpPr>
        <p:spPr>
          <a:xfrm>
            <a:off x="502920" y="3657600"/>
            <a:ext cx="3977640" cy="91440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22" name="Shape 19"/>
          <p:cNvSpPr/>
          <p:nvPr/>
        </p:nvSpPr>
        <p:spPr>
          <a:xfrm>
            <a:off x="502920" y="3657600"/>
            <a:ext cx="64008" cy="914400"/>
          </a:xfrm>
          <a:prstGeom prst="rect">
            <a:avLst/>
          </a:prstGeom>
          <a:solidFill>
            <a:srgbClr val="C8633F"/>
          </a:solidFill>
          <a:ln/>
        </p:spPr>
        <p:txBody>
          <a:bodyPr/>
          <a:lstStyle/>
          <a:p>
            <a:endParaRPr lang="en-IN"/>
          </a:p>
        </p:txBody>
      </p:sp>
      <p:sp>
        <p:nvSpPr>
          <p:cNvPr id="23" name="Text 20"/>
          <p:cNvSpPr/>
          <p:nvPr/>
        </p:nvSpPr>
        <p:spPr>
          <a:xfrm>
            <a:off x="722376" y="3767328"/>
            <a:ext cx="3575304" cy="274320"/>
          </a:xfrm>
          <a:prstGeom prst="rect">
            <a:avLst/>
          </a:prstGeom>
          <a:noFill/>
          <a:ln/>
        </p:spPr>
        <p:txBody>
          <a:bodyPr wrap="square" lIns="0" tIns="0" rIns="0" bIns="0" rtlCol="0" anchor="ctr"/>
          <a:lstStyle/>
          <a:p>
            <a:pPr marL="0" indent="0">
              <a:buNone/>
            </a:pPr>
            <a:r>
              <a:rPr lang="en-US" sz="1400" b="1" dirty="0">
                <a:solidFill>
                  <a:srgbClr val="26231E"/>
                </a:solidFill>
                <a:latin typeface="Georgia" pitchFamily="34" charset="0"/>
                <a:ea typeface="Georgia" pitchFamily="34" charset="-122"/>
                <a:cs typeface="Georgia" pitchFamily="34" charset="-120"/>
              </a:rPr>
              <a:t>Classify before you send</a:t>
            </a:r>
            <a:endParaRPr lang="en-US" sz="1400" dirty="0"/>
          </a:p>
        </p:txBody>
      </p:sp>
      <p:sp>
        <p:nvSpPr>
          <p:cNvPr id="24" name="Text 21"/>
          <p:cNvSpPr/>
          <p:nvPr/>
        </p:nvSpPr>
        <p:spPr>
          <a:xfrm>
            <a:off x="722376" y="4059936"/>
            <a:ext cx="3575304" cy="457200"/>
          </a:xfrm>
          <a:prstGeom prst="rect">
            <a:avLst/>
          </a:prstGeom>
          <a:noFill/>
          <a:ln/>
        </p:spPr>
        <p:txBody>
          <a:bodyPr wrap="square" lIns="0" tIns="0" rIns="0" bIns="0" rtlCol="0" anchor="t"/>
          <a:lstStyle/>
          <a:p>
            <a:pPr marL="0" indent="0">
              <a:buNone/>
            </a:pPr>
            <a:r>
              <a:rPr lang="en-US" sz="1080" dirty="0">
                <a:solidFill>
                  <a:srgbClr val="6E665C"/>
                </a:solidFill>
                <a:latin typeface="Calibri" pitchFamily="34" charset="0"/>
                <a:ea typeface="Calibri" pitchFamily="34" charset="-122"/>
                <a:cs typeface="Calibri" pitchFamily="34" charset="-120"/>
              </a:rPr>
              <a:t>Treat prompts as data leaving your walls. Mask or withhold PII, secrets, and crown-jewel IP.</a:t>
            </a:r>
            <a:endParaRPr lang="en-US" sz="1080" dirty="0"/>
          </a:p>
        </p:txBody>
      </p:sp>
      <p:sp>
        <p:nvSpPr>
          <p:cNvPr id="25" name="Shape 22"/>
          <p:cNvSpPr/>
          <p:nvPr/>
        </p:nvSpPr>
        <p:spPr>
          <a:xfrm>
            <a:off x="4645152" y="3657600"/>
            <a:ext cx="3977640" cy="91440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26" name="Shape 23"/>
          <p:cNvSpPr/>
          <p:nvPr/>
        </p:nvSpPr>
        <p:spPr>
          <a:xfrm>
            <a:off x="4645152" y="3657600"/>
            <a:ext cx="64008" cy="914400"/>
          </a:xfrm>
          <a:prstGeom prst="rect">
            <a:avLst/>
          </a:prstGeom>
          <a:solidFill>
            <a:srgbClr val="C8633F"/>
          </a:solidFill>
          <a:ln/>
        </p:spPr>
        <p:txBody>
          <a:bodyPr/>
          <a:lstStyle/>
          <a:p>
            <a:endParaRPr lang="en-IN"/>
          </a:p>
        </p:txBody>
      </p:sp>
      <p:sp>
        <p:nvSpPr>
          <p:cNvPr id="27" name="Text 24"/>
          <p:cNvSpPr/>
          <p:nvPr/>
        </p:nvSpPr>
        <p:spPr>
          <a:xfrm>
            <a:off x="4864608" y="3767328"/>
            <a:ext cx="3575304" cy="274320"/>
          </a:xfrm>
          <a:prstGeom prst="rect">
            <a:avLst/>
          </a:prstGeom>
          <a:noFill/>
          <a:ln/>
        </p:spPr>
        <p:txBody>
          <a:bodyPr wrap="square" lIns="0" tIns="0" rIns="0" bIns="0" rtlCol="0" anchor="ctr"/>
          <a:lstStyle/>
          <a:p>
            <a:pPr marL="0" indent="0">
              <a:buNone/>
            </a:pPr>
            <a:r>
              <a:rPr lang="en-US" sz="1400" b="1" dirty="0">
                <a:solidFill>
                  <a:srgbClr val="26231E"/>
                </a:solidFill>
                <a:latin typeface="Georgia" pitchFamily="34" charset="0"/>
                <a:ea typeface="Georgia" pitchFamily="34" charset="-122"/>
                <a:cs typeface="Georgia" pitchFamily="34" charset="-120"/>
              </a:rPr>
              <a:t>Mind the tier</a:t>
            </a:r>
            <a:endParaRPr lang="en-US" sz="1400" dirty="0"/>
          </a:p>
        </p:txBody>
      </p:sp>
      <p:sp>
        <p:nvSpPr>
          <p:cNvPr id="28" name="Text 25"/>
          <p:cNvSpPr/>
          <p:nvPr/>
        </p:nvSpPr>
        <p:spPr>
          <a:xfrm>
            <a:off x="4864608" y="4059936"/>
            <a:ext cx="3575304" cy="457200"/>
          </a:xfrm>
          <a:prstGeom prst="rect">
            <a:avLst/>
          </a:prstGeom>
          <a:noFill/>
          <a:ln/>
        </p:spPr>
        <p:txBody>
          <a:bodyPr wrap="square" lIns="0" tIns="0" rIns="0" bIns="0" rtlCol="0" anchor="t"/>
          <a:lstStyle/>
          <a:p>
            <a:pPr marL="0" indent="0">
              <a:buNone/>
            </a:pPr>
            <a:r>
              <a:rPr lang="en-US" sz="1080" dirty="0">
                <a:solidFill>
                  <a:srgbClr val="6E665C"/>
                </a:solidFill>
                <a:latin typeface="Calibri" pitchFamily="34" charset="0"/>
                <a:ea typeface="Calibri" pitchFamily="34" charset="-122"/>
                <a:cs typeface="Calibri" pitchFamily="34" charset="-120"/>
              </a:rPr>
              <a:t>Consumer Free/Pro tiers may use chats to improve models — keep sensitive work on enterprise or API.</a:t>
            </a:r>
            <a:endParaRPr lang="en-US" sz="1080" dirty="0"/>
          </a:p>
        </p:txBody>
      </p:sp>
      <p:sp>
        <p:nvSpPr>
          <p:cNvPr id="29" name="Text 26"/>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30" name="Text 27"/>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THEME 4 · TRUST</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Responsible AI in practice</a:t>
            </a:r>
            <a:endParaRPr lang="en-US" sz="2800" dirty="0"/>
          </a:p>
        </p:txBody>
      </p:sp>
      <p:sp>
        <p:nvSpPr>
          <p:cNvPr id="5" name="Shape 2"/>
          <p:cNvSpPr/>
          <p:nvPr/>
        </p:nvSpPr>
        <p:spPr>
          <a:xfrm>
            <a:off x="502920" y="1481328"/>
            <a:ext cx="3520440" cy="301752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6" name="Text 3"/>
          <p:cNvSpPr/>
          <p:nvPr/>
        </p:nvSpPr>
        <p:spPr>
          <a:xfrm>
            <a:off x="713232" y="1664208"/>
            <a:ext cx="3108960" cy="548640"/>
          </a:xfrm>
          <a:prstGeom prst="rect">
            <a:avLst/>
          </a:prstGeom>
          <a:noFill/>
          <a:ln/>
        </p:spPr>
        <p:txBody>
          <a:bodyPr wrap="square" lIns="0" tIns="0" rIns="0" bIns="0" rtlCol="0" anchor="ctr"/>
          <a:lstStyle/>
          <a:p>
            <a:pPr marL="0" indent="0">
              <a:buNone/>
            </a:pPr>
            <a:r>
              <a:rPr lang="en-US" sz="1600" b="1" dirty="0">
                <a:solidFill>
                  <a:srgbClr val="26231E"/>
                </a:solidFill>
                <a:latin typeface="Georgia" pitchFamily="34" charset="0"/>
                <a:ea typeface="Georgia" pitchFamily="34" charset="-122"/>
                <a:cs typeface="Georgia" pitchFamily="34" charset="-120"/>
              </a:rPr>
              <a:t>Safety is built in, not bolted on</a:t>
            </a:r>
            <a:endParaRPr lang="en-US" sz="1600" dirty="0"/>
          </a:p>
        </p:txBody>
      </p:sp>
      <p:sp>
        <p:nvSpPr>
          <p:cNvPr id="7" name="Text 4"/>
          <p:cNvSpPr/>
          <p:nvPr/>
        </p:nvSpPr>
        <p:spPr>
          <a:xfrm>
            <a:off x="713232" y="2212848"/>
            <a:ext cx="3108960" cy="548640"/>
          </a:xfrm>
          <a:prstGeom prst="rect">
            <a:avLst/>
          </a:prstGeom>
          <a:noFill/>
          <a:ln/>
        </p:spPr>
        <p:txBody>
          <a:bodyPr wrap="square" lIns="0" tIns="0" rIns="0" bIns="0" rtlCol="0" anchor="ctr"/>
          <a:lstStyle/>
          <a:p>
            <a:pPr marL="0" indent="0">
              <a:buNone/>
            </a:pPr>
            <a:r>
              <a:rPr lang="en-US" sz="1150" dirty="0">
                <a:solidFill>
                  <a:srgbClr val="6E665C"/>
                </a:solidFill>
                <a:latin typeface="Calibri" pitchFamily="34" charset="0"/>
                <a:ea typeface="Calibri" pitchFamily="34" charset="-122"/>
                <a:cs typeface="Calibri" pitchFamily="34" charset="-120"/>
              </a:rPr>
              <a:t>Constitutional AI trains the model against a published set of principles, with a clear priority order:</a:t>
            </a:r>
            <a:endParaRPr lang="en-US" sz="1150" dirty="0"/>
          </a:p>
        </p:txBody>
      </p:sp>
      <p:sp>
        <p:nvSpPr>
          <p:cNvPr id="8" name="Shape 5"/>
          <p:cNvSpPr/>
          <p:nvPr/>
        </p:nvSpPr>
        <p:spPr>
          <a:xfrm>
            <a:off x="713232" y="2852928"/>
            <a:ext cx="3108960" cy="329184"/>
          </a:xfrm>
          <a:prstGeom prst="rect">
            <a:avLst/>
          </a:prstGeom>
          <a:solidFill>
            <a:srgbClr val="C8633F"/>
          </a:solidFill>
          <a:ln/>
        </p:spPr>
        <p:txBody>
          <a:bodyPr/>
          <a:lstStyle/>
          <a:p>
            <a:endParaRPr lang="en-IN"/>
          </a:p>
        </p:txBody>
      </p:sp>
      <p:sp>
        <p:nvSpPr>
          <p:cNvPr id="9" name="Text 6"/>
          <p:cNvSpPr/>
          <p:nvPr/>
        </p:nvSpPr>
        <p:spPr>
          <a:xfrm>
            <a:off x="868680" y="2852928"/>
            <a:ext cx="2834640" cy="32918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  Safety</a:t>
            </a:r>
            <a:endParaRPr lang="en-US" sz="1200" dirty="0"/>
          </a:p>
        </p:txBody>
      </p:sp>
      <p:sp>
        <p:nvSpPr>
          <p:cNvPr id="10" name="Shape 7"/>
          <p:cNvSpPr/>
          <p:nvPr/>
        </p:nvSpPr>
        <p:spPr>
          <a:xfrm>
            <a:off x="713232" y="3255264"/>
            <a:ext cx="3108960" cy="329184"/>
          </a:xfrm>
          <a:prstGeom prst="rect">
            <a:avLst/>
          </a:prstGeom>
          <a:solidFill>
            <a:srgbClr val="EDE7D9"/>
          </a:solidFill>
          <a:ln/>
        </p:spPr>
        <p:txBody>
          <a:bodyPr/>
          <a:lstStyle/>
          <a:p>
            <a:endParaRPr lang="en-IN"/>
          </a:p>
        </p:txBody>
      </p:sp>
      <p:sp>
        <p:nvSpPr>
          <p:cNvPr id="11" name="Text 8"/>
          <p:cNvSpPr/>
          <p:nvPr/>
        </p:nvSpPr>
        <p:spPr>
          <a:xfrm>
            <a:off x="868680" y="3255264"/>
            <a:ext cx="2834640" cy="329184"/>
          </a:xfrm>
          <a:prstGeom prst="rect">
            <a:avLst/>
          </a:prstGeom>
          <a:noFill/>
          <a:ln/>
        </p:spPr>
        <p:txBody>
          <a:bodyPr wrap="square" lIns="0" tIns="0" rIns="0" bIns="0" rtlCol="0" anchor="ctr"/>
          <a:lstStyle/>
          <a:p>
            <a:pPr marL="0" indent="0">
              <a:buNone/>
            </a:pPr>
            <a:r>
              <a:rPr lang="en-US" sz="1200" b="1" dirty="0">
                <a:solidFill>
                  <a:srgbClr val="26231E"/>
                </a:solidFill>
                <a:latin typeface="Calibri" pitchFamily="34" charset="0"/>
                <a:ea typeface="Calibri" pitchFamily="34" charset="-122"/>
                <a:cs typeface="Calibri" pitchFamily="34" charset="-120"/>
              </a:rPr>
              <a:t>2.  Ethics</a:t>
            </a:r>
            <a:endParaRPr lang="en-US" sz="1200" dirty="0"/>
          </a:p>
        </p:txBody>
      </p:sp>
      <p:sp>
        <p:nvSpPr>
          <p:cNvPr id="12" name="Shape 9"/>
          <p:cNvSpPr/>
          <p:nvPr/>
        </p:nvSpPr>
        <p:spPr>
          <a:xfrm>
            <a:off x="713232" y="3657600"/>
            <a:ext cx="3108960" cy="329184"/>
          </a:xfrm>
          <a:prstGeom prst="rect">
            <a:avLst/>
          </a:prstGeom>
          <a:solidFill>
            <a:srgbClr val="EDE7D9"/>
          </a:solidFill>
          <a:ln/>
        </p:spPr>
        <p:txBody>
          <a:bodyPr/>
          <a:lstStyle/>
          <a:p>
            <a:endParaRPr lang="en-IN"/>
          </a:p>
        </p:txBody>
      </p:sp>
      <p:sp>
        <p:nvSpPr>
          <p:cNvPr id="13" name="Text 10"/>
          <p:cNvSpPr/>
          <p:nvPr/>
        </p:nvSpPr>
        <p:spPr>
          <a:xfrm>
            <a:off x="868680" y="3657600"/>
            <a:ext cx="2834640" cy="329184"/>
          </a:xfrm>
          <a:prstGeom prst="rect">
            <a:avLst/>
          </a:prstGeom>
          <a:noFill/>
          <a:ln/>
        </p:spPr>
        <p:txBody>
          <a:bodyPr wrap="square" lIns="0" tIns="0" rIns="0" bIns="0" rtlCol="0" anchor="ctr"/>
          <a:lstStyle/>
          <a:p>
            <a:pPr marL="0" indent="0">
              <a:buNone/>
            </a:pPr>
            <a:r>
              <a:rPr lang="en-US" sz="1200" b="1" dirty="0">
                <a:solidFill>
                  <a:srgbClr val="26231E"/>
                </a:solidFill>
                <a:latin typeface="Calibri" pitchFamily="34" charset="0"/>
                <a:ea typeface="Calibri" pitchFamily="34" charset="-122"/>
                <a:cs typeface="Calibri" pitchFamily="34" charset="-120"/>
              </a:rPr>
              <a:t>3.  Compliance</a:t>
            </a:r>
            <a:endParaRPr lang="en-US" sz="1200" dirty="0"/>
          </a:p>
        </p:txBody>
      </p:sp>
      <p:sp>
        <p:nvSpPr>
          <p:cNvPr id="14" name="Shape 11"/>
          <p:cNvSpPr/>
          <p:nvPr/>
        </p:nvSpPr>
        <p:spPr>
          <a:xfrm>
            <a:off x="713232" y="4059936"/>
            <a:ext cx="3108960" cy="329184"/>
          </a:xfrm>
          <a:prstGeom prst="rect">
            <a:avLst/>
          </a:prstGeom>
          <a:solidFill>
            <a:srgbClr val="EDE7D9"/>
          </a:solidFill>
          <a:ln/>
        </p:spPr>
        <p:txBody>
          <a:bodyPr/>
          <a:lstStyle/>
          <a:p>
            <a:endParaRPr lang="en-IN"/>
          </a:p>
        </p:txBody>
      </p:sp>
      <p:sp>
        <p:nvSpPr>
          <p:cNvPr id="15" name="Text 12"/>
          <p:cNvSpPr/>
          <p:nvPr/>
        </p:nvSpPr>
        <p:spPr>
          <a:xfrm>
            <a:off x="868680" y="4059936"/>
            <a:ext cx="2834640" cy="329184"/>
          </a:xfrm>
          <a:prstGeom prst="rect">
            <a:avLst/>
          </a:prstGeom>
          <a:noFill/>
          <a:ln/>
        </p:spPr>
        <p:txBody>
          <a:bodyPr wrap="square" lIns="0" tIns="0" rIns="0" bIns="0" rtlCol="0" anchor="ctr"/>
          <a:lstStyle/>
          <a:p>
            <a:pPr marL="0" indent="0">
              <a:buNone/>
            </a:pPr>
            <a:r>
              <a:rPr lang="en-US" sz="1200" b="1" dirty="0">
                <a:solidFill>
                  <a:srgbClr val="26231E"/>
                </a:solidFill>
                <a:latin typeface="Calibri" pitchFamily="34" charset="0"/>
                <a:ea typeface="Calibri" pitchFamily="34" charset="-122"/>
                <a:cs typeface="Calibri" pitchFamily="34" charset="-120"/>
              </a:rPr>
              <a:t>4.  Helpfulness</a:t>
            </a:r>
            <a:endParaRPr lang="en-US" sz="1200" dirty="0"/>
          </a:p>
        </p:txBody>
      </p:sp>
      <p:sp>
        <p:nvSpPr>
          <p:cNvPr id="16" name="Shape 13"/>
          <p:cNvSpPr/>
          <p:nvPr/>
        </p:nvSpPr>
        <p:spPr>
          <a:xfrm>
            <a:off x="4206240" y="1481328"/>
            <a:ext cx="4434840" cy="301752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7" name="Text 14"/>
          <p:cNvSpPr/>
          <p:nvPr/>
        </p:nvSpPr>
        <p:spPr>
          <a:xfrm>
            <a:off x="4434840" y="1664208"/>
            <a:ext cx="4023360" cy="329184"/>
          </a:xfrm>
          <a:prstGeom prst="rect">
            <a:avLst/>
          </a:prstGeom>
          <a:noFill/>
          <a:ln/>
        </p:spPr>
        <p:txBody>
          <a:bodyPr wrap="square" lIns="0" tIns="0" rIns="0" bIns="0" rtlCol="0" anchor="ctr"/>
          <a:lstStyle/>
          <a:p>
            <a:pPr marL="0" indent="0">
              <a:buNone/>
            </a:pPr>
            <a:r>
              <a:rPr lang="en-US" sz="1600" b="1" dirty="0">
                <a:solidFill>
                  <a:srgbClr val="26231E"/>
                </a:solidFill>
                <a:latin typeface="Georgia" pitchFamily="34" charset="0"/>
                <a:ea typeface="Georgia" pitchFamily="34" charset="-122"/>
                <a:cs typeface="Georgia" pitchFamily="34" charset="-120"/>
              </a:rPr>
              <a:t>Put oversight around it</a:t>
            </a:r>
            <a:endParaRPr lang="en-US" sz="1600" dirty="0"/>
          </a:p>
        </p:txBody>
      </p:sp>
      <p:sp>
        <p:nvSpPr>
          <p:cNvPr id="18" name="Text 15"/>
          <p:cNvSpPr/>
          <p:nvPr/>
        </p:nvSpPr>
        <p:spPr>
          <a:xfrm>
            <a:off x="4480560" y="2121408"/>
            <a:ext cx="3977640" cy="2240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26231E"/>
                </a:solidFill>
                <a:latin typeface="Calibri" pitchFamily="34" charset="0"/>
                <a:ea typeface="Calibri" pitchFamily="34" charset="-122"/>
                <a:cs typeface="Calibri" pitchFamily="34" charset="-120"/>
              </a:rPr>
              <a:t>Keep a human in the loop for consequential decisions — AI drafts, people approve.</a:t>
            </a:r>
            <a:endParaRPr lang="en-US" sz="1250" dirty="0"/>
          </a:p>
          <a:p>
            <a:pPr marL="342900" indent="-342900">
              <a:spcAft>
                <a:spcPts val="900"/>
              </a:spcAft>
              <a:buSzPct val="100000"/>
              <a:buChar char="•"/>
            </a:pPr>
            <a:r>
              <a:rPr lang="en-US" sz="1250" dirty="0">
                <a:solidFill>
                  <a:srgbClr val="26231E"/>
                </a:solidFill>
                <a:latin typeface="Calibri" pitchFamily="34" charset="0"/>
                <a:ea typeface="Calibri" pitchFamily="34" charset="-122"/>
                <a:cs typeface="Calibri" pitchFamily="34" charset="-120"/>
              </a:rPr>
              <a:t>Define where AI may act autonomously and where sign-off is mandatory.</a:t>
            </a:r>
            <a:endParaRPr lang="en-US" sz="1250" dirty="0"/>
          </a:p>
          <a:p>
            <a:pPr marL="342900" indent="-342900">
              <a:spcAft>
                <a:spcPts val="900"/>
              </a:spcAft>
              <a:buSzPct val="100000"/>
              <a:buChar char="•"/>
            </a:pPr>
            <a:r>
              <a:rPr lang="en-US" sz="1250" dirty="0">
                <a:solidFill>
                  <a:srgbClr val="26231E"/>
                </a:solidFill>
                <a:latin typeface="Calibri" pitchFamily="34" charset="0"/>
                <a:ea typeface="Calibri" pitchFamily="34" charset="-122"/>
                <a:cs typeface="Calibri" pitchFamily="34" charset="-120"/>
              </a:rPr>
              <a:t>Disclose AI use, and check outputs for accuracy and bias before they ship.</a:t>
            </a:r>
            <a:endParaRPr lang="en-US" sz="1250" dirty="0"/>
          </a:p>
          <a:p>
            <a:pPr marL="342900" indent="-342900">
              <a:spcAft>
                <a:spcPts val="900"/>
              </a:spcAft>
              <a:buSzPct val="100000"/>
              <a:buChar char="•"/>
            </a:pPr>
            <a:r>
              <a:rPr lang="en-US" sz="1250" dirty="0">
                <a:solidFill>
                  <a:srgbClr val="26231E"/>
                </a:solidFill>
                <a:latin typeface="Calibri" pitchFamily="34" charset="0"/>
                <a:ea typeface="Calibri" pitchFamily="34" charset="-122"/>
                <a:cs typeface="Calibri" pitchFamily="34" charset="-120"/>
              </a:rPr>
              <a:t>Log decisions and keep an audit trail for accountability.</a:t>
            </a:r>
            <a:endParaRPr lang="en-US" sz="1250" dirty="0"/>
          </a:p>
          <a:p>
            <a:pPr marL="342900" indent="-342900">
              <a:spcAft>
                <a:spcPts val="900"/>
              </a:spcAft>
              <a:buSzPct val="100000"/>
              <a:buChar char="•"/>
            </a:pPr>
            <a:r>
              <a:rPr lang="en-US" sz="1250" dirty="0">
                <a:solidFill>
                  <a:srgbClr val="26231E"/>
                </a:solidFill>
                <a:latin typeface="Calibri" pitchFamily="34" charset="0"/>
                <a:ea typeface="Calibri" pitchFamily="34" charset="-122"/>
                <a:cs typeface="Calibri" pitchFamily="34" charset="-120"/>
              </a:rPr>
              <a:t>Lean on transparency resources and clear usage policies your teams can follow.</a:t>
            </a:r>
            <a:endParaRPr lang="en-US" sz="1250" dirty="0"/>
          </a:p>
        </p:txBody>
      </p:sp>
      <p:sp>
        <p:nvSpPr>
          <p:cNvPr id="19" name="Text 16"/>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20" name="Text 17"/>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THEME 4 · THE DECISION</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Build vs Buy vs Partner</a:t>
            </a:r>
            <a:endParaRPr lang="en-US" sz="2800" dirty="0"/>
          </a:p>
        </p:txBody>
      </p:sp>
      <p:sp>
        <p:nvSpPr>
          <p:cNvPr id="5" name="Text 2"/>
          <p:cNvSpPr/>
          <p:nvPr/>
        </p:nvSpPr>
        <p:spPr>
          <a:xfrm>
            <a:off x="1024128" y="1371600"/>
            <a:ext cx="7589520" cy="457200"/>
          </a:xfrm>
          <a:prstGeom prst="rect">
            <a:avLst/>
          </a:prstGeom>
          <a:noFill/>
          <a:ln/>
        </p:spPr>
        <p:txBody>
          <a:bodyPr wrap="square" lIns="0" tIns="0" rIns="0" bIns="0" rtlCol="0" anchor="ctr"/>
          <a:lstStyle/>
          <a:p>
            <a:pPr marL="0" indent="0">
              <a:buNone/>
            </a:pPr>
            <a:r>
              <a:rPr lang="en-US" sz="1350" dirty="0">
                <a:solidFill>
                  <a:srgbClr val="6E665C"/>
                </a:solidFill>
                <a:latin typeface="Calibri" pitchFamily="34" charset="0"/>
                <a:ea typeface="Calibri" pitchFamily="34" charset="-122"/>
                <a:cs typeface="Calibri" pitchFamily="34" charset="-120"/>
              </a:rPr>
              <a:t>The most expensive choice on the roadmap. Match the path to how differentiating, mature, and risky the use case is.</a:t>
            </a:r>
            <a:endParaRPr lang="en-US" sz="1350" dirty="0"/>
          </a:p>
        </p:txBody>
      </p:sp>
      <p:sp>
        <p:nvSpPr>
          <p:cNvPr id="6" name="Shape 3"/>
          <p:cNvSpPr/>
          <p:nvPr/>
        </p:nvSpPr>
        <p:spPr>
          <a:xfrm>
            <a:off x="502920" y="1938528"/>
            <a:ext cx="2715768" cy="246888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7" name="Shape 4"/>
          <p:cNvSpPr/>
          <p:nvPr/>
        </p:nvSpPr>
        <p:spPr>
          <a:xfrm>
            <a:off x="502920" y="1938528"/>
            <a:ext cx="2715768" cy="566928"/>
          </a:xfrm>
          <a:prstGeom prst="rect">
            <a:avLst/>
          </a:prstGeom>
          <a:solidFill>
            <a:srgbClr val="262320"/>
          </a:solidFill>
          <a:ln/>
        </p:spPr>
        <p:txBody>
          <a:bodyPr/>
          <a:lstStyle/>
          <a:p>
            <a:endParaRPr lang="en-IN"/>
          </a:p>
        </p:txBody>
      </p:sp>
      <p:sp>
        <p:nvSpPr>
          <p:cNvPr id="8" name="Text 5"/>
          <p:cNvSpPr/>
          <p:nvPr/>
        </p:nvSpPr>
        <p:spPr>
          <a:xfrm>
            <a:off x="502920" y="1993392"/>
            <a:ext cx="2715768" cy="310896"/>
          </a:xfrm>
          <a:prstGeom prst="rect">
            <a:avLst/>
          </a:prstGeom>
          <a:noFill/>
          <a:ln/>
        </p:spPr>
        <p:txBody>
          <a:bodyPr wrap="square" lIns="0" tIns="0" rIns="0" bIns="0" rtlCol="0" anchor="ctr"/>
          <a:lstStyle/>
          <a:p>
            <a:pPr marL="0" indent="0" algn="ctr">
              <a:buNone/>
            </a:pPr>
            <a:r>
              <a:rPr lang="en-US" sz="1900" b="1" dirty="0">
                <a:solidFill>
                  <a:srgbClr val="FFFFFF"/>
                </a:solidFill>
                <a:latin typeface="Georgia" pitchFamily="34" charset="0"/>
                <a:ea typeface="Georgia" pitchFamily="34" charset="-122"/>
                <a:cs typeface="Georgia" pitchFamily="34" charset="-120"/>
              </a:rPr>
              <a:t>Build</a:t>
            </a:r>
            <a:endParaRPr lang="en-US" sz="1900" dirty="0"/>
          </a:p>
        </p:txBody>
      </p:sp>
      <p:sp>
        <p:nvSpPr>
          <p:cNvPr id="9" name="Text 6"/>
          <p:cNvSpPr/>
          <p:nvPr/>
        </p:nvSpPr>
        <p:spPr>
          <a:xfrm>
            <a:off x="502920" y="2286000"/>
            <a:ext cx="2715768" cy="201168"/>
          </a:xfrm>
          <a:prstGeom prst="rect">
            <a:avLst/>
          </a:prstGeom>
          <a:noFill/>
          <a:ln/>
        </p:spPr>
        <p:txBody>
          <a:bodyPr wrap="square" lIns="0" tIns="0" rIns="0" bIns="0" rtlCol="0" anchor="ctr"/>
          <a:lstStyle/>
          <a:p>
            <a:pPr marL="0" indent="0" algn="ctr">
              <a:buNone/>
            </a:pPr>
            <a:r>
              <a:rPr lang="en-US" sz="1000" dirty="0">
                <a:solidFill>
                  <a:srgbClr val="F2E6DD"/>
                </a:solidFill>
                <a:latin typeface="Calibri" pitchFamily="34" charset="0"/>
                <a:ea typeface="Calibri" pitchFamily="34" charset="-122"/>
                <a:cs typeface="Calibri" pitchFamily="34" charset="-120"/>
              </a:rPr>
              <a:t>Own it end-to-end</a:t>
            </a:r>
            <a:endParaRPr lang="en-US" sz="1000" dirty="0"/>
          </a:p>
        </p:txBody>
      </p:sp>
      <p:sp>
        <p:nvSpPr>
          <p:cNvPr id="10" name="Text 7"/>
          <p:cNvSpPr/>
          <p:nvPr/>
        </p:nvSpPr>
        <p:spPr>
          <a:xfrm>
            <a:off x="704088" y="2651760"/>
            <a:ext cx="2313432" cy="640080"/>
          </a:xfrm>
          <a:prstGeom prst="rect">
            <a:avLst/>
          </a:prstGeom>
          <a:noFill/>
          <a:ln/>
        </p:spPr>
        <p:txBody>
          <a:bodyPr wrap="square" lIns="0" tIns="0" rIns="0" bIns="0" rtlCol="0" anchor="t"/>
          <a:lstStyle/>
          <a:p>
            <a:pPr marL="0" indent="0">
              <a:buNone/>
            </a:pPr>
            <a:r>
              <a:rPr lang="en-US" sz="1150" i="1" dirty="0">
                <a:solidFill>
                  <a:srgbClr val="26231E"/>
                </a:solidFill>
                <a:latin typeface="Calibri" pitchFamily="34" charset="0"/>
                <a:ea typeface="Calibri" pitchFamily="34" charset="-122"/>
                <a:cs typeface="Calibri" pitchFamily="34" charset="-120"/>
              </a:rPr>
              <a:t>When it's a true differentiator and you have the talent.</a:t>
            </a:r>
            <a:endParaRPr lang="en-US" sz="1150" dirty="0"/>
          </a:p>
        </p:txBody>
      </p:sp>
      <p:sp>
        <p:nvSpPr>
          <p:cNvPr id="11" name="Text 8"/>
          <p:cNvSpPr/>
          <p:nvPr/>
        </p:nvSpPr>
        <p:spPr>
          <a:xfrm>
            <a:off x="704088" y="3310128"/>
            <a:ext cx="2313432" cy="1005840"/>
          </a:xfrm>
          <a:prstGeom prst="rect">
            <a:avLst/>
          </a:prstGeom>
          <a:noFill/>
          <a:ln/>
        </p:spPr>
        <p:txBody>
          <a:bodyPr wrap="square" lIns="0" tIns="0" rIns="0" bIns="0" rtlCol="0" anchor="t"/>
          <a:lstStyle/>
          <a:p>
            <a:pPr marL="0" indent="0">
              <a:lnSpc>
                <a:spcPct val="100000"/>
              </a:lnSpc>
              <a:buNone/>
            </a:pPr>
            <a:r>
              <a:rPr lang="en-US" sz="1050" b="1" dirty="0">
                <a:solidFill>
                  <a:srgbClr val="A24E30"/>
                </a:solidFill>
                <a:latin typeface="Calibri" pitchFamily="34" charset="0"/>
                <a:ea typeface="Calibri" pitchFamily="34" charset="-122"/>
                <a:cs typeface="Calibri" pitchFamily="34" charset="-120"/>
              </a:rPr>
              <a:t>Strength
</a:t>
            </a:r>
            <a:r>
              <a:rPr lang="en-US" sz="1100" dirty="0">
                <a:solidFill>
                  <a:srgbClr val="6E665C"/>
                </a:solidFill>
                <a:latin typeface="Calibri" pitchFamily="34" charset="0"/>
                <a:ea typeface="Calibri" pitchFamily="34" charset="-122"/>
                <a:cs typeface="Calibri" pitchFamily="34" charset="-120"/>
              </a:rPr>
              <a:t>Maximum control &amp; IP
</a:t>
            </a:r>
            <a:r>
              <a:rPr lang="en-US" sz="1050" b="1" dirty="0">
                <a:solidFill>
                  <a:srgbClr val="A24E30"/>
                </a:solidFill>
                <a:latin typeface="Calibri" pitchFamily="34" charset="0"/>
                <a:ea typeface="Calibri" pitchFamily="34" charset="-122"/>
                <a:cs typeface="Calibri" pitchFamily="34" charset="-120"/>
              </a:rPr>
              <a:t>Watch-out
</a:t>
            </a:r>
            <a:r>
              <a:rPr lang="en-US" sz="1100" dirty="0">
                <a:solidFill>
                  <a:srgbClr val="6E665C"/>
                </a:solidFill>
                <a:latin typeface="Calibri" pitchFamily="34" charset="0"/>
                <a:ea typeface="Calibri" pitchFamily="34" charset="-122"/>
                <a:cs typeface="Calibri" pitchFamily="34" charset="-120"/>
              </a:rPr>
              <a:t>Slowest, costly, needs scarce expertise</a:t>
            </a:r>
            <a:endParaRPr lang="en-US" sz="1050" dirty="0"/>
          </a:p>
        </p:txBody>
      </p:sp>
      <p:sp>
        <p:nvSpPr>
          <p:cNvPr id="12" name="Shape 9"/>
          <p:cNvSpPr/>
          <p:nvPr/>
        </p:nvSpPr>
        <p:spPr>
          <a:xfrm>
            <a:off x="3383280" y="1938528"/>
            <a:ext cx="2715768" cy="246888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3" name="Shape 10"/>
          <p:cNvSpPr/>
          <p:nvPr/>
        </p:nvSpPr>
        <p:spPr>
          <a:xfrm>
            <a:off x="3383280" y="1938528"/>
            <a:ext cx="2715768" cy="566928"/>
          </a:xfrm>
          <a:prstGeom prst="rect">
            <a:avLst/>
          </a:prstGeom>
          <a:solidFill>
            <a:srgbClr val="C8633F"/>
          </a:solidFill>
          <a:ln/>
        </p:spPr>
        <p:txBody>
          <a:bodyPr/>
          <a:lstStyle/>
          <a:p>
            <a:endParaRPr lang="en-IN"/>
          </a:p>
        </p:txBody>
      </p:sp>
      <p:sp>
        <p:nvSpPr>
          <p:cNvPr id="14" name="Text 11"/>
          <p:cNvSpPr/>
          <p:nvPr/>
        </p:nvSpPr>
        <p:spPr>
          <a:xfrm>
            <a:off x="3383280" y="1993392"/>
            <a:ext cx="2715768" cy="310896"/>
          </a:xfrm>
          <a:prstGeom prst="rect">
            <a:avLst/>
          </a:prstGeom>
          <a:noFill/>
          <a:ln/>
        </p:spPr>
        <p:txBody>
          <a:bodyPr wrap="square" lIns="0" tIns="0" rIns="0" bIns="0" rtlCol="0" anchor="ctr"/>
          <a:lstStyle/>
          <a:p>
            <a:pPr marL="0" indent="0" algn="ctr">
              <a:buNone/>
            </a:pPr>
            <a:r>
              <a:rPr lang="en-US" sz="1900" b="1" dirty="0">
                <a:solidFill>
                  <a:srgbClr val="FFFFFF"/>
                </a:solidFill>
                <a:latin typeface="Georgia" pitchFamily="34" charset="0"/>
                <a:ea typeface="Georgia" pitchFamily="34" charset="-122"/>
                <a:cs typeface="Georgia" pitchFamily="34" charset="-120"/>
              </a:rPr>
              <a:t>Buy</a:t>
            </a:r>
            <a:endParaRPr lang="en-US" sz="1900" dirty="0"/>
          </a:p>
        </p:txBody>
      </p:sp>
      <p:sp>
        <p:nvSpPr>
          <p:cNvPr id="15" name="Text 12"/>
          <p:cNvSpPr/>
          <p:nvPr/>
        </p:nvSpPr>
        <p:spPr>
          <a:xfrm>
            <a:off x="3383280" y="2286000"/>
            <a:ext cx="2715768" cy="201168"/>
          </a:xfrm>
          <a:prstGeom prst="rect">
            <a:avLst/>
          </a:prstGeom>
          <a:noFill/>
          <a:ln/>
        </p:spPr>
        <p:txBody>
          <a:bodyPr wrap="square" lIns="0" tIns="0" rIns="0" bIns="0" rtlCol="0" anchor="ctr"/>
          <a:lstStyle/>
          <a:p>
            <a:pPr marL="0" indent="0" algn="ctr">
              <a:buNone/>
            </a:pPr>
            <a:r>
              <a:rPr lang="en-US" sz="1000" dirty="0">
                <a:solidFill>
                  <a:srgbClr val="F2E6DD"/>
                </a:solidFill>
                <a:latin typeface="Calibri" pitchFamily="34" charset="0"/>
                <a:ea typeface="Calibri" pitchFamily="34" charset="-122"/>
                <a:cs typeface="Calibri" pitchFamily="34" charset="-120"/>
              </a:rPr>
              <a:t>Adopt off-the-shelf</a:t>
            </a:r>
            <a:endParaRPr lang="en-US" sz="1000" dirty="0"/>
          </a:p>
        </p:txBody>
      </p:sp>
      <p:sp>
        <p:nvSpPr>
          <p:cNvPr id="16" name="Text 13"/>
          <p:cNvSpPr/>
          <p:nvPr/>
        </p:nvSpPr>
        <p:spPr>
          <a:xfrm>
            <a:off x="3584448" y="2651760"/>
            <a:ext cx="2313432" cy="640080"/>
          </a:xfrm>
          <a:prstGeom prst="rect">
            <a:avLst/>
          </a:prstGeom>
          <a:noFill/>
          <a:ln/>
        </p:spPr>
        <p:txBody>
          <a:bodyPr wrap="square" lIns="0" tIns="0" rIns="0" bIns="0" rtlCol="0" anchor="t"/>
          <a:lstStyle/>
          <a:p>
            <a:pPr marL="0" indent="0">
              <a:buNone/>
            </a:pPr>
            <a:r>
              <a:rPr lang="en-US" sz="1150" i="1" dirty="0">
                <a:solidFill>
                  <a:srgbClr val="26231E"/>
                </a:solidFill>
                <a:latin typeface="Calibri" pitchFamily="34" charset="0"/>
                <a:ea typeface="Calibri" pitchFamily="34" charset="-122"/>
                <a:cs typeface="Calibri" pitchFamily="34" charset="-120"/>
              </a:rPr>
              <a:t>When the task is a commodity and speed matters most.</a:t>
            </a:r>
            <a:endParaRPr lang="en-US" sz="1150" dirty="0"/>
          </a:p>
        </p:txBody>
      </p:sp>
      <p:sp>
        <p:nvSpPr>
          <p:cNvPr id="17" name="Text 14"/>
          <p:cNvSpPr/>
          <p:nvPr/>
        </p:nvSpPr>
        <p:spPr>
          <a:xfrm>
            <a:off x="3584448" y="3310128"/>
            <a:ext cx="2313432" cy="1005840"/>
          </a:xfrm>
          <a:prstGeom prst="rect">
            <a:avLst/>
          </a:prstGeom>
          <a:noFill/>
          <a:ln/>
        </p:spPr>
        <p:txBody>
          <a:bodyPr wrap="square" lIns="0" tIns="0" rIns="0" bIns="0" rtlCol="0" anchor="t"/>
          <a:lstStyle/>
          <a:p>
            <a:pPr marL="0" indent="0">
              <a:lnSpc>
                <a:spcPct val="100000"/>
              </a:lnSpc>
              <a:buNone/>
            </a:pPr>
            <a:r>
              <a:rPr lang="en-US" sz="1050" b="1" dirty="0">
                <a:solidFill>
                  <a:srgbClr val="A24E30"/>
                </a:solidFill>
                <a:latin typeface="Calibri" pitchFamily="34" charset="0"/>
                <a:ea typeface="Calibri" pitchFamily="34" charset="-122"/>
                <a:cs typeface="Calibri" pitchFamily="34" charset="-120"/>
              </a:rPr>
              <a:t>Strength
</a:t>
            </a:r>
            <a:r>
              <a:rPr lang="en-US" sz="1100" dirty="0">
                <a:solidFill>
                  <a:srgbClr val="6E665C"/>
                </a:solidFill>
                <a:latin typeface="Calibri" pitchFamily="34" charset="0"/>
                <a:ea typeface="Calibri" pitchFamily="34" charset="-122"/>
                <a:cs typeface="Calibri" pitchFamily="34" charset="-120"/>
              </a:rPr>
              <a:t>Fast, low upfront cost
</a:t>
            </a:r>
            <a:r>
              <a:rPr lang="en-US" sz="1050" b="1" dirty="0">
                <a:solidFill>
                  <a:srgbClr val="A24E30"/>
                </a:solidFill>
                <a:latin typeface="Calibri" pitchFamily="34" charset="0"/>
                <a:ea typeface="Calibri" pitchFamily="34" charset="-122"/>
                <a:cs typeface="Calibri" pitchFamily="34" charset="-120"/>
              </a:rPr>
              <a:t>Watch-out
</a:t>
            </a:r>
            <a:r>
              <a:rPr lang="en-US" sz="1100" dirty="0">
                <a:solidFill>
                  <a:srgbClr val="6E665C"/>
                </a:solidFill>
                <a:latin typeface="Calibri" pitchFamily="34" charset="0"/>
                <a:ea typeface="Calibri" pitchFamily="34" charset="-122"/>
                <a:cs typeface="Calibri" pitchFamily="34" charset="-120"/>
              </a:rPr>
              <a:t>Less control; vendor lock-in risk</a:t>
            </a:r>
            <a:endParaRPr lang="en-US" sz="1050" dirty="0"/>
          </a:p>
        </p:txBody>
      </p:sp>
      <p:sp>
        <p:nvSpPr>
          <p:cNvPr id="18" name="Shape 15"/>
          <p:cNvSpPr/>
          <p:nvPr/>
        </p:nvSpPr>
        <p:spPr>
          <a:xfrm>
            <a:off x="6263640" y="1938528"/>
            <a:ext cx="2715768" cy="246888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9" name="Shape 16"/>
          <p:cNvSpPr/>
          <p:nvPr/>
        </p:nvSpPr>
        <p:spPr>
          <a:xfrm>
            <a:off x="6263640" y="1938528"/>
            <a:ext cx="2715768" cy="566928"/>
          </a:xfrm>
          <a:prstGeom prst="rect">
            <a:avLst/>
          </a:prstGeom>
          <a:solidFill>
            <a:srgbClr val="262320"/>
          </a:solidFill>
          <a:ln/>
        </p:spPr>
        <p:txBody>
          <a:bodyPr/>
          <a:lstStyle/>
          <a:p>
            <a:endParaRPr lang="en-IN"/>
          </a:p>
        </p:txBody>
      </p:sp>
      <p:sp>
        <p:nvSpPr>
          <p:cNvPr id="20" name="Text 17"/>
          <p:cNvSpPr/>
          <p:nvPr/>
        </p:nvSpPr>
        <p:spPr>
          <a:xfrm>
            <a:off x="6263640" y="1993392"/>
            <a:ext cx="2715768" cy="310896"/>
          </a:xfrm>
          <a:prstGeom prst="rect">
            <a:avLst/>
          </a:prstGeom>
          <a:noFill/>
          <a:ln/>
        </p:spPr>
        <p:txBody>
          <a:bodyPr wrap="square" lIns="0" tIns="0" rIns="0" bIns="0" rtlCol="0" anchor="ctr"/>
          <a:lstStyle/>
          <a:p>
            <a:pPr marL="0" indent="0" algn="ctr">
              <a:buNone/>
            </a:pPr>
            <a:r>
              <a:rPr lang="en-US" sz="1900" b="1" dirty="0">
                <a:solidFill>
                  <a:srgbClr val="FFFFFF"/>
                </a:solidFill>
                <a:latin typeface="Georgia" pitchFamily="34" charset="0"/>
                <a:ea typeface="Georgia" pitchFamily="34" charset="-122"/>
                <a:cs typeface="Georgia" pitchFamily="34" charset="-120"/>
              </a:rPr>
              <a:t>Partner</a:t>
            </a:r>
            <a:endParaRPr lang="en-US" sz="1900" dirty="0"/>
          </a:p>
        </p:txBody>
      </p:sp>
      <p:sp>
        <p:nvSpPr>
          <p:cNvPr id="21" name="Text 18"/>
          <p:cNvSpPr/>
          <p:nvPr/>
        </p:nvSpPr>
        <p:spPr>
          <a:xfrm>
            <a:off x="6263640" y="2286000"/>
            <a:ext cx="2715768" cy="201168"/>
          </a:xfrm>
          <a:prstGeom prst="rect">
            <a:avLst/>
          </a:prstGeom>
          <a:noFill/>
          <a:ln/>
        </p:spPr>
        <p:txBody>
          <a:bodyPr wrap="square" lIns="0" tIns="0" rIns="0" bIns="0" rtlCol="0" anchor="ctr"/>
          <a:lstStyle/>
          <a:p>
            <a:pPr marL="0" indent="0" algn="ctr">
              <a:buNone/>
            </a:pPr>
            <a:r>
              <a:rPr lang="en-US" sz="1000" dirty="0">
                <a:solidFill>
                  <a:srgbClr val="F2E6DD"/>
                </a:solidFill>
                <a:latin typeface="Calibri" pitchFamily="34" charset="0"/>
                <a:ea typeface="Calibri" pitchFamily="34" charset="-122"/>
                <a:cs typeface="Calibri" pitchFamily="34" charset="-120"/>
              </a:rPr>
              <a:t>Co-develop with experts</a:t>
            </a:r>
            <a:endParaRPr lang="en-US" sz="1000" dirty="0"/>
          </a:p>
        </p:txBody>
      </p:sp>
      <p:sp>
        <p:nvSpPr>
          <p:cNvPr id="22" name="Text 19"/>
          <p:cNvSpPr/>
          <p:nvPr/>
        </p:nvSpPr>
        <p:spPr>
          <a:xfrm>
            <a:off x="6464808" y="2651760"/>
            <a:ext cx="2313432" cy="640080"/>
          </a:xfrm>
          <a:prstGeom prst="rect">
            <a:avLst/>
          </a:prstGeom>
          <a:noFill/>
          <a:ln/>
        </p:spPr>
        <p:txBody>
          <a:bodyPr wrap="square" lIns="0" tIns="0" rIns="0" bIns="0" rtlCol="0" anchor="t"/>
          <a:lstStyle/>
          <a:p>
            <a:pPr marL="0" indent="0">
              <a:buNone/>
            </a:pPr>
            <a:r>
              <a:rPr lang="en-US" sz="1150" i="1" dirty="0">
                <a:solidFill>
                  <a:srgbClr val="26231E"/>
                </a:solidFill>
                <a:latin typeface="Calibri" pitchFamily="34" charset="0"/>
                <a:ea typeface="Calibri" pitchFamily="34" charset="-122"/>
                <a:cs typeface="Calibri" pitchFamily="34" charset="-120"/>
              </a:rPr>
              <a:t>When the need is specialised but not yet core.</a:t>
            </a:r>
            <a:endParaRPr lang="en-US" sz="1150" dirty="0"/>
          </a:p>
        </p:txBody>
      </p:sp>
      <p:sp>
        <p:nvSpPr>
          <p:cNvPr id="23" name="Text 20"/>
          <p:cNvSpPr/>
          <p:nvPr/>
        </p:nvSpPr>
        <p:spPr>
          <a:xfrm>
            <a:off x="6464808" y="3310128"/>
            <a:ext cx="2313432" cy="1005840"/>
          </a:xfrm>
          <a:prstGeom prst="rect">
            <a:avLst/>
          </a:prstGeom>
          <a:noFill/>
          <a:ln/>
        </p:spPr>
        <p:txBody>
          <a:bodyPr wrap="square" lIns="0" tIns="0" rIns="0" bIns="0" rtlCol="0" anchor="t"/>
          <a:lstStyle/>
          <a:p>
            <a:pPr marL="0" indent="0">
              <a:lnSpc>
                <a:spcPct val="100000"/>
              </a:lnSpc>
              <a:buNone/>
            </a:pPr>
            <a:r>
              <a:rPr lang="en-US" sz="1050" b="1" dirty="0">
                <a:solidFill>
                  <a:srgbClr val="A24E30"/>
                </a:solidFill>
                <a:latin typeface="Calibri" pitchFamily="34" charset="0"/>
                <a:ea typeface="Calibri" pitchFamily="34" charset="-122"/>
                <a:cs typeface="Calibri" pitchFamily="34" charset="-120"/>
              </a:rPr>
              <a:t>Strength
</a:t>
            </a:r>
            <a:r>
              <a:rPr lang="en-US" sz="1100" dirty="0">
                <a:solidFill>
                  <a:srgbClr val="6E665C"/>
                </a:solidFill>
                <a:latin typeface="Calibri" pitchFamily="34" charset="0"/>
                <a:ea typeface="Calibri" pitchFamily="34" charset="-122"/>
                <a:cs typeface="Calibri" pitchFamily="34" charset="-120"/>
              </a:rPr>
              <a:t>Balance of speed &amp; fit
</a:t>
            </a:r>
            <a:r>
              <a:rPr lang="en-US" sz="1050" b="1" dirty="0">
                <a:solidFill>
                  <a:srgbClr val="A24E30"/>
                </a:solidFill>
                <a:latin typeface="Calibri" pitchFamily="34" charset="0"/>
                <a:ea typeface="Calibri" pitchFamily="34" charset="-122"/>
                <a:cs typeface="Calibri" pitchFamily="34" charset="-120"/>
              </a:rPr>
              <a:t>Watch-out
</a:t>
            </a:r>
            <a:r>
              <a:rPr lang="en-US" sz="1100" dirty="0">
                <a:solidFill>
                  <a:srgbClr val="6E665C"/>
                </a:solidFill>
                <a:latin typeface="Calibri" pitchFamily="34" charset="0"/>
                <a:ea typeface="Calibri" pitchFamily="34" charset="-122"/>
                <a:cs typeface="Calibri" pitchFamily="34" charset="-120"/>
              </a:rPr>
              <a:t>Shared roadmap; manage dependency</a:t>
            </a:r>
            <a:endParaRPr lang="en-US" sz="1050" dirty="0"/>
          </a:p>
        </p:txBody>
      </p:sp>
      <p:sp>
        <p:nvSpPr>
          <p:cNvPr id="24" name="Text 21"/>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25" name="Text 22"/>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8"/>
        </a:solidFill>
        <a:effectLst/>
      </p:bgPr>
    </p:bg>
    <p:spTree>
      <p:nvGrpSpPr>
        <p:cNvPr id="1" name=""/>
        <p:cNvGrpSpPr/>
        <p:nvPr/>
      </p:nvGrpSpPr>
      <p:grpSpPr>
        <a:xfrm>
          <a:off x="0" y="0"/>
          <a:ext cx="0" cy="0"/>
          <a:chOff x="0" y="0"/>
          <a:chExt cx="0" cy="0"/>
        </a:xfrm>
      </p:grpSpPr>
      <p:pic>
        <p:nvPicPr>
          <p:cNvPr id="2" name="Image 0" descr="/agent/turn1/workspace/images/claude_logo_clay.png"/>
          <p:cNvPicPr>
            <a:picLocks noChangeAspect="1"/>
          </p:cNvPicPr>
          <p:nvPr/>
        </p:nvPicPr>
        <p:blipFill>
          <a:blip r:embed="rId3"/>
          <a:stretch>
            <a:fillRect/>
          </a:stretch>
        </p:blipFill>
        <p:spPr>
          <a:xfrm>
            <a:off x="502920" y="384048"/>
            <a:ext cx="384048" cy="384048"/>
          </a:xfrm>
          <a:prstGeom prst="rect">
            <a:avLst/>
          </a:prstGeom>
        </p:spPr>
      </p:pic>
      <p:sp>
        <p:nvSpPr>
          <p:cNvPr id="3" name="Text 0"/>
          <p:cNvSpPr/>
          <p:nvPr/>
        </p:nvSpPr>
        <p:spPr>
          <a:xfrm>
            <a:off x="1024128" y="365760"/>
            <a:ext cx="7589520" cy="274320"/>
          </a:xfrm>
          <a:prstGeom prst="rect">
            <a:avLst/>
          </a:prstGeom>
          <a:noFill/>
          <a:ln/>
        </p:spPr>
        <p:txBody>
          <a:bodyPr wrap="square" lIns="0" tIns="0" rIns="0" bIns="0" rtlCol="0" anchor="ctr"/>
          <a:lstStyle/>
          <a:p>
            <a:pPr marL="0" indent="0" algn="l">
              <a:buNone/>
            </a:pPr>
            <a:r>
              <a:rPr lang="en-US" sz="1100" b="1" kern="0" spc="300" dirty="0">
                <a:solidFill>
                  <a:srgbClr val="C8633F"/>
                </a:solidFill>
                <a:latin typeface="Calibri" pitchFamily="34" charset="0"/>
                <a:ea typeface="Calibri" pitchFamily="34" charset="-122"/>
                <a:cs typeface="Calibri" pitchFamily="34" charset="-120"/>
              </a:rPr>
              <a:t>PUTTING IT TOGETHER</a:t>
            </a:r>
            <a:endParaRPr lang="en-US" sz="1100" dirty="0"/>
          </a:p>
        </p:txBody>
      </p:sp>
      <p:sp>
        <p:nvSpPr>
          <p:cNvPr id="4" name="Text 1"/>
          <p:cNvSpPr/>
          <p:nvPr/>
        </p:nvSpPr>
        <p:spPr>
          <a:xfrm>
            <a:off x="1024128" y="603504"/>
            <a:ext cx="7680960" cy="822960"/>
          </a:xfrm>
          <a:prstGeom prst="rect">
            <a:avLst/>
          </a:prstGeom>
          <a:noFill/>
          <a:ln/>
        </p:spPr>
        <p:txBody>
          <a:bodyPr wrap="square" lIns="0" tIns="0" rIns="0" bIns="0" rtlCol="0" anchor="t"/>
          <a:lstStyle/>
          <a:p>
            <a:pPr marL="0" indent="0" algn="l">
              <a:buNone/>
            </a:pPr>
            <a:r>
              <a:rPr lang="en-US" sz="2800" b="1" dirty="0">
                <a:solidFill>
                  <a:srgbClr val="26231E"/>
                </a:solidFill>
                <a:latin typeface="Georgia" pitchFamily="34" charset="0"/>
                <a:ea typeface="Georgia" pitchFamily="34" charset="-122"/>
                <a:cs typeface="Georgia" pitchFamily="34" charset="-120"/>
              </a:rPr>
              <a:t>A phased path to responsible scale</a:t>
            </a:r>
            <a:endParaRPr lang="en-US" sz="2800" dirty="0"/>
          </a:p>
        </p:txBody>
      </p:sp>
      <p:sp>
        <p:nvSpPr>
          <p:cNvPr id="5" name="Text 2"/>
          <p:cNvSpPr/>
          <p:nvPr/>
        </p:nvSpPr>
        <p:spPr>
          <a:xfrm>
            <a:off x="1024128" y="1371600"/>
            <a:ext cx="7589520" cy="411480"/>
          </a:xfrm>
          <a:prstGeom prst="rect">
            <a:avLst/>
          </a:prstGeom>
          <a:noFill/>
          <a:ln/>
        </p:spPr>
        <p:txBody>
          <a:bodyPr wrap="square" lIns="0" tIns="0" rIns="0" bIns="0" rtlCol="0" anchor="ctr"/>
          <a:lstStyle/>
          <a:p>
            <a:pPr marL="0" indent="0">
              <a:buNone/>
            </a:pPr>
            <a:r>
              <a:rPr lang="en-US" sz="1300" dirty="0">
                <a:solidFill>
                  <a:srgbClr val="6E665C"/>
                </a:solidFill>
                <a:latin typeface="Calibri" pitchFamily="34" charset="0"/>
                <a:ea typeface="Calibri" pitchFamily="34" charset="-122"/>
                <a:cs typeface="Calibri" pitchFamily="34" charset="-120"/>
              </a:rPr>
              <a:t>Don't go from zero to enterprise-wide. Sequence adoption so cost control and governance grow alongside usage.</a:t>
            </a:r>
            <a:endParaRPr lang="en-US" sz="1300" dirty="0"/>
          </a:p>
        </p:txBody>
      </p:sp>
      <p:sp>
        <p:nvSpPr>
          <p:cNvPr id="6" name="Shape 3"/>
          <p:cNvSpPr/>
          <p:nvPr/>
        </p:nvSpPr>
        <p:spPr>
          <a:xfrm>
            <a:off x="502920" y="1993392"/>
            <a:ext cx="2011680" cy="242316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7" name="Shape 4"/>
          <p:cNvSpPr/>
          <p:nvPr/>
        </p:nvSpPr>
        <p:spPr>
          <a:xfrm>
            <a:off x="502920" y="1993392"/>
            <a:ext cx="2011680" cy="566928"/>
          </a:xfrm>
          <a:prstGeom prst="rect">
            <a:avLst/>
          </a:prstGeom>
          <a:solidFill>
            <a:srgbClr val="C8633F"/>
          </a:solidFill>
          <a:ln/>
        </p:spPr>
        <p:txBody>
          <a:bodyPr/>
          <a:lstStyle/>
          <a:p>
            <a:endParaRPr lang="en-IN"/>
          </a:p>
        </p:txBody>
      </p:sp>
      <p:sp>
        <p:nvSpPr>
          <p:cNvPr id="8" name="Text 5"/>
          <p:cNvSpPr/>
          <p:nvPr/>
        </p:nvSpPr>
        <p:spPr>
          <a:xfrm>
            <a:off x="667512" y="2066544"/>
            <a:ext cx="1280160" cy="411480"/>
          </a:xfrm>
          <a:prstGeom prst="rect">
            <a:avLst/>
          </a:prstGeom>
          <a:noFill/>
          <a:ln/>
        </p:spPr>
        <p:txBody>
          <a:bodyPr wrap="square" lIns="0" tIns="0" rIns="0" bIns="0" rtlCol="0" anchor="ctr"/>
          <a:lstStyle/>
          <a:p>
            <a:pPr marL="0" indent="0">
              <a:buNone/>
            </a:pPr>
            <a:r>
              <a:rPr lang="en-US" sz="2200" b="1" dirty="0">
                <a:solidFill>
                  <a:srgbClr val="FFF3EC"/>
                </a:solidFill>
                <a:latin typeface="Georgia" pitchFamily="34" charset="0"/>
                <a:ea typeface="Georgia" pitchFamily="34" charset="-122"/>
                <a:cs typeface="Georgia" pitchFamily="34" charset="-120"/>
              </a:rPr>
              <a:t>01</a:t>
            </a:r>
            <a:endParaRPr lang="en-US" sz="2200" dirty="0"/>
          </a:p>
        </p:txBody>
      </p:sp>
      <p:sp>
        <p:nvSpPr>
          <p:cNvPr id="9" name="Text 6"/>
          <p:cNvSpPr/>
          <p:nvPr/>
        </p:nvSpPr>
        <p:spPr>
          <a:xfrm>
            <a:off x="667512" y="2670048"/>
            <a:ext cx="1682496" cy="310896"/>
          </a:xfrm>
          <a:prstGeom prst="rect">
            <a:avLst/>
          </a:prstGeom>
          <a:noFill/>
          <a:ln/>
        </p:spPr>
        <p:txBody>
          <a:bodyPr wrap="square" lIns="0" tIns="0" rIns="0" bIns="0" rtlCol="0" anchor="ctr"/>
          <a:lstStyle/>
          <a:p>
            <a:pPr marL="0" indent="0">
              <a:buNone/>
            </a:pPr>
            <a:r>
              <a:rPr lang="en-US" sz="1600" b="1" dirty="0">
                <a:solidFill>
                  <a:srgbClr val="26231E"/>
                </a:solidFill>
                <a:latin typeface="Georgia" pitchFamily="34" charset="0"/>
                <a:ea typeface="Georgia" pitchFamily="34" charset="-122"/>
                <a:cs typeface="Georgia" pitchFamily="34" charset="-120"/>
              </a:rPr>
              <a:t>Pilot</a:t>
            </a:r>
            <a:endParaRPr lang="en-US" sz="1600" dirty="0"/>
          </a:p>
        </p:txBody>
      </p:sp>
      <p:sp>
        <p:nvSpPr>
          <p:cNvPr id="10" name="Text 7"/>
          <p:cNvSpPr/>
          <p:nvPr/>
        </p:nvSpPr>
        <p:spPr>
          <a:xfrm>
            <a:off x="667512" y="2980944"/>
            <a:ext cx="1682496" cy="256032"/>
          </a:xfrm>
          <a:prstGeom prst="rect">
            <a:avLst/>
          </a:prstGeom>
          <a:noFill/>
          <a:ln/>
        </p:spPr>
        <p:txBody>
          <a:bodyPr wrap="square" lIns="0" tIns="0" rIns="0" bIns="0" rtlCol="0" anchor="ctr"/>
          <a:lstStyle/>
          <a:p>
            <a:pPr marL="0" indent="0">
              <a:buNone/>
            </a:pPr>
            <a:r>
              <a:rPr lang="en-US" sz="1050" b="1" dirty="0">
                <a:solidFill>
                  <a:srgbClr val="C8633F"/>
                </a:solidFill>
                <a:latin typeface="Calibri" pitchFamily="34" charset="0"/>
                <a:ea typeface="Calibri" pitchFamily="34" charset="-122"/>
                <a:cs typeface="Calibri" pitchFamily="34" charset="-120"/>
              </a:rPr>
              <a:t>Prove value</a:t>
            </a:r>
            <a:endParaRPr lang="en-US" sz="1050" dirty="0"/>
          </a:p>
        </p:txBody>
      </p:sp>
      <p:sp>
        <p:nvSpPr>
          <p:cNvPr id="11" name="Text 8"/>
          <p:cNvSpPr/>
          <p:nvPr/>
        </p:nvSpPr>
        <p:spPr>
          <a:xfrm>
            <a:off x="667512" y="3291840"/>
            <a:ext cx="1682496" cy="1005840"/>
          </a:xfrm>
          <a:prstGeom prst="rect">
            <a:avLst/>
          </a:prstGeom>
          <a:noFill/>
          <a:ln/>
        </p:spPr>
        <p:txBody>
          <a:bodyPr wrap="square" lIns="0" tIns="0" rIns="0" bIns="0" rtlCol="0" anchor="t"/>
          <a:lstStyle/>
          <a:p>
            <a:pPr marL="0" indent="0">
              <a:buNone/>
            </a:pPr>
            <a:r>
              <a:rPr lang="en-US" sz="1100" dirty="0">
                <a:solidFill>
                  <a:srgbClr val="6E665C"/>
                </a:solidFill>
                <a:latin typeface="Calibri" pitchFamily="34" charset="0"/>
                <a:ea typeface="Calibri" pitchFamily="34" charset="-122"/>
                <a:cs typeface="Calibri" pitchFamily="34" charset="-120"/>
              </a:rPr>
              <a:t>Pick one contained, high-value use case. Baseline real cost with a small group before scaling.</a:t>
            </a:r>
            <a:endParaRPr lang="en-US" sz="1100" dirty="0"/>
          </a:p>
        </p:txBody>
      </p:sp>
      <p:sp>
        <p:nvSpPr>
          <p:cNvPr id="12" name="Shape 9"/>
          <p:cNvSpPr/>
          <p:nvPr/>
        </p:nvSpPr>
        <p:spPr>
          <a:xfrm>
            <a:off x="2679192" y="1993392"/>
            <a:ext cx="2011680" cy="242316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3" name="Shape 10"/>
          <p:cNvSpPr/>
          <p:nvPr/>
        </p:nvSpPr>
        <p:spPr>
          <a:xfrm>
            <a:off x="2679192" y="1993392"/>
            <a:ext cx="2011680" cy="566928"/>
          </a:xfrm>
          <a:prstGeom prst="rect">
            <a:avLst/>
          </a:prstGeom>
          <a:solidFill>
            <a:srgbClr val="C8633F"/>
          </a:solidFill>
          <a:ln/>
        </p:spPr>
        <p:txBody>
          <a:bodyPr/>
          <a:lstStyle/>
          <a:p>
            <a:endParaRPr lang="en-IN"/>
          </a:p>
        </p:txBody>
      </p:sp>
      <p:sp>
        <p:nvSpPr>
          <p:cNvPr id="14" name="Text 11"/>
          <p:cNvSpPr/>
          <p:nvPr/>
        </p:nvSpPr>
        <p:spPr>
          <a:xfrm>
            <a:off x="2843784" y="2066544"/>
            <a:ext cx="1280160" cy="411480"/>
          </a:xfrm>
          <a:prstGeom prst="rect">
            <a:avLst/>
          </a:prstGeom>
          <a:noFill/>
          <a:ln/>
        </p:spPr>
        <p:txBody>
          <a:bodyPr wrap="square" lIns="0" tIns="0" rIns="0" bIns="0" rtlCol="0" anchor="ctr"/>
          <a:lstStyle/>
          <a:p>
            <a:pPr marL="0" indent="0">
              <a:buNone/>
            </a:pPr>
            <a:r>
              <a:rPr lang="en-US" sz="2200" b="1" dirty="0">
                <a:solidFill>
                  <a:srgbClr val="FFF3EC"/>
                </a:solidFill>
                <a:latin typeface="Georgia" pitchFamily="34" charset="0"/>
                <a:ea typeface="Georgia" pitchFamily="34" charset="-122"/>
                <a:cs typeface="Georgia" pitchFamily="34" charset="-120"/>
              </a:rPr>
              <a:t>02</a:t>
            </a:r>
            <a:endParaRPr lang="en-US" sz="2200" dirty="0"/>
          </a:p>
        </p:txBody>
      </p:sp>
      <p:sp>
        <p:nvSpPr>
          <p:cNvPr id="15" name="Text 12"/>
          <p:cNvSpPr/>
          <p:nvPr/>
        </p:nvSpPr>
        <p:spPr>
          <a:xfrm>
            <a:off x="2843784" y="2670048"/>
            <a:ext cx="1682496" cy="310896"/>
          </a:xfrm>
          <a:prstGeom prst="rect">
            <a:avLst/>
          </a:prstGeom>
          <a:noFill/>
          <a:ln/>
        </p:spPr>
        <p:txBody>
          <a:bodyPr wrap="square" lIns="0" tIns="0" rIns="0" bIns="0" rtlCol="0" anchor="ctr"/>
          <a:lstStyle/>
          <a:p>
            <a:pPr marL="0" indent="0">
              <a:buNone/>
            </a:pPr>
            <a:r>
              <a:rPr lang="en-US" sz="1600" b="1" dirty="0">
                <a:solidFill>
                  <a:srgbClr val="26231E"/>
                </a:solidFill>
                <a:latin typeface="Georgia" pitchFamily="34" charset="0"/>
                <a:ea typeface="Georgia" pitchFamily="34" charset="-122"/>
                <a:cs typeface="Georgia" pitchFamily="34" charset="-120"/>
              </a:rPr>
              <a:t>Govern</a:t>
            </a:r>
            <a:endParaRPr lang="en-US" sz="1600" dirty="0"/>
          </a:p>
        </p:txBody>
      </p:sp>
      <p:sp>
        <p:nvSpPr>
          <p:cNvPr id="16" name="Text 13"/>
          <p:cNvSpPr/>
          <p:nvPr/>
        </p:nvSpPr>
        <p:spPr>
          <a:xfrm>
            <a:off x="2843784" y="2980944"/>
            <a:ext cx="1682496" cy="256032"/>
          </a:xfrm>
          <a:prstGeom prst="rect">
            <a:avLst/>
          </a:prstGeom>
          <a:noFill/>
          <a:ln/>
        </p:spPr>
        <p:txBody>
          <a:bodyPr wrap="square" lIns="0" tIns="0" rIns="0" bIns="0" rtlCol="0" anchor="ctr"/>
          <a:lstStyle/>
          <a:p>
            <a:pPr marL="0" indent="0">
              <a:buNone/>
            </a:pPr>
            <a:r>
              <a:rPr lang="en-US" sz="1050" b="1" dirty="0">
                <a:solidFill>
                  <a:srgbClr val="C8633F"/>
                </a:solidFill>
                <a:latin typeface="Calibri" pitchFamily="34" charset="0"/>
                <a:ea typeface="Calibri" pitchFamily="34" charset="-122"/>
                <a:cs typeface="Calibri" pitchFamily="34" charset="-120"/>
              </a:rPr>
              <a:t>Set the guardrails</a:t>
            </a:r>
            <a:endParaRPr lang="en-US" sz="1050" dirty="0"/>
          </a:p>
        </p:txBody>
      </p:sp>
      <p:sp>
        <p:nvSpPr>
          <p:cNvPr id="17" name="Text 14"/>
          <p:cNvSpPr/>
          <p:nvPr/>
        </p:nvSpPr>
        <p:spPr>
          <a:xfrm>
            <a:off x="2843784" y="3291840"/>
            <a:ext cx="1682496" cy="1005840"/>
          </a:xfrm>
          <a:prstGeom prst="rect">
            <a:avLst/>
          </a:prstGeom>
          <a:noFill/>
          <a:ln/>
        </p:spPr>
        <p:txBody>
          <a:bodyPr wrap="square" lIns="0" tIns="0" rIns="0" bIns="0" rtlCol="0" anchor="t"/>
          <a:lstStyle/>
          <a:p>
            <a:pPr marL="0" indent="0">
              <a:buNone/>
            </a:pPr>
            <a:r>
              <a:rPr lang="en-US" sz="1100" dirty="0">
                <a:solidFill>
                  <a:srgbClr val="6E665C"/>
                </a:solidFill>
                <a:latin typeface="Calibri" pitchFamily="34" charset="0"/>
                <a:ea typeface="Calibri" pitchFamily="34" charset="-122"/>
                <a:cs typeface="Calibri" pitchFamily="34" charset="-120"/>
              </a:rPr>
              <a:t>Define default model tier, spend caps, data-classification rules, SSO and role-based access.</a:t>
            </a:r>
            <a:endParaRPr lang="en-US" sz="1100" dirty="0"/>
          </a:p>
        </p:txBody>
      </p:sp>
      <p:sp>
        <p:nvSpPr>
          <p:cNvPr id="18" name="Shape 15"/>
          <p:cNvSpPr/>
          <p:nvPr/>
        </p:nvSpPr>
        <p:spPr>
          <a:xfrm>
            <a:off x="4855464" y="1993392"/>
            <a:ext cx="2011680" cy="242316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19" name="Shape 16"/>
          <p:cNvSpPr/>
          <p:nvPr/>
        </p:nvSpPr>
        <p:spPr>
          <a:xfrm>
            <a:off x="4855464" y="1993392"/>
            <a:ext cx="2011680" cy="566928"/>
          </a:xfrm>
          <a:prstGeom prst="rect">
            <a:avLst/>
          </a:prstGeom>
          <a:solidFill>
            <a:srgbClr val="C8633F"/>
          </a:solidFill>
          <a:ln/>
        </p:spPr>
        <p:txBody>
          <a:bodyPr/>
          <a:lstStyle/>
          <a:p>
            <a:endParaRPr lang="en-IN"/>
          </a:p>
        </p:txBody>
      </p:sp>
      <p:sp>
        <p:nvSpPr>
          <p:cNvPr id="20" name="Text 17"/>
          <p:cNvSpPr/>
          <p:nvPr/>
        </p:nvSpPr>
        <p:spPr>
          <a:xfrm>
            <a:off x="5020056" y="2066544"/>
            <a:ext cx="1280160" cy="411480"/>
          </a:xfrm>
          <a:prstGeom prst="rect">
            <a:avLst/>
          </a:prstGeom>
          <a:noFill/>
          <a:ln/>
        </p:spPr>
        <p:txBody>
          <a:bodyPr wrap="square" lIns="0" tIns="0" rIns="0" bIns="0" rtlCol="0" anchor="ctr"/>
          <a:lstStyle/>
          <a:p>
            <a:pPr marL="0" indent="0">
              <a:buNone/>
            </a:pPr>
            <a:r>
              <a:rPr lang="en-US" sz="2200" b="1" dirty="0">
                <a:solidFill>
                  <a:srgbClr val="FFF3EC"/>
                </a:solidFill>
                <a:latin typeface="Georgia" pitchFamily="34" charset="0"/>
                <a:ea typeface="Georgia" pitchFamily="34" charset="-122"/>
                <a:cs typeface="Georgia" pitchFamily="34" charset="-120"/>
              </a:rPr>
              <a:t>03</a:t>
            </a:r>
            <a:endParaRPr lang="en-US" sz="2200" dirty="0"/>
          </a:p>
        </p:txBody>
      </p:sp>
      <p:sp>
        <p:nvSpPr>
          <p:cNvPr id="21" name="Text 18"/>
          <p:cNvSpPr/>
          <p:nvPr/>
        </p:nvSpPr>
        <p:spPr>
          <a:xfrm>
            <a:off x="5020056" y="2670048"/>
            <a:ext cx="1682496" cy="310896"/>
          </a:xfrm>
          <a:prstGeom prst="rect">
            <a:avLst/>
          </a:prstGeom>
          <a:noFill/>
          <a:ln/>
        </p:spPr>
        <p:txBody>
          <a:bodyPr wrap="square" lIns="0" tIns="0" rIns="0" bIns="0" rtlCol="0" anchor="ctr"/>
          <a:lstStyle/>
          <a:p>
            <a:pPr marL="0" indent="0">
              <a:buNone/>
            </a:pPr>
            <a:r>
              <a:rPr lang="en-US" sz="1600" b="1" dirty="0">
                <a:solidFill>
                  <a:srgbClr val="26231E"/>
                </a:solidFill>
                <a:latin typeface="Georgia" pitchFamily="34" charset="0"/>
                <a:ea typeface="Georgia" pitchFamily="34" charset="-122"/>
                <a:cs typeface="Georgia" pitchFamily="34" charset="-120"/>
              </a:rPr>
              <a:t>Scale</a:t>
            </a:r>
            <a:endParaRPr lang="en-US" sz="1600" dirty="0"/>
          </a:p>
        </p:txBody>
      </p:sp>
      <p:sp>
        <p:nvSpPr>
          <p:cNvPr id="22" name="Text 19"/>
          <p:cNvSpPr/>
          <p:nvPr/>
        </p:nvSpPr>
        <p:spPr>
          <a:xfrm>
            <a:off x="5020056" y="2980944"/>
            <a:ext cx="1682496" cy="256032"/>
          </a:xfrm>
          <a:prstGeom prst="rect">
            <a:avLst/>
          </a:prstGeom>
          <a:noFill/>
          <a:ln/>
        </p:spPr>
        <p:txBody>
          <a:bodyPr wrap="square" lIns="0" tIns="0" rIns="0" bIns="0" rtlCol="0" anchor="ctr"/>
          <a:lstStyle/>
          <a:p>
            <a:pPr marL="0" indent="0">
              <a:buNone/>
            </a:pPr>
            <a:r>
              <a:rPr lang="en-US" sz="1050" b="1" dirty="0">
                <a:solidFill>
                  <a:srgbClr val="C8633F"/>
                </a:solidFill>
                <a:latin typeface="Calibri" pitchFamily="34" charset="0"/>
                <a:ea typeface="Calibri" pitchFamily="34" charset="-122"/>
                <a:cs typeface="Calibri" pitchFamily="34" charset="-120"/>
              </a:rPr>
              <a:t>Roll out with levers on</a:t>
            </a:r>
            <a:endParaRPr lang="en-US" sz="1050" dirty="0"/>
          </a:p>
        </p:txBody>
      </p:sp>
      <p:sp>
        <p:nvSpPr>
          <p:cNvPr id="23" name="Text 20"/>
          <p:cNvSpPr/>
          <p:nvPr/>
        </p:nvSpPr>
        <p:spPr>
          <a:xfrm>
            <a:off x="5020056" y="3291840"/>
            <a:ext cx="1682496" cy="1005840"/>
          </a:xfrm>
          <a:prstGeom prst="rect">
            <a:avLst/>
          </a:prstGeom>
          <a:noFill/>
          <a:ln/>
        </p:spPr>
        <p:txBody>
          <a:bodyPr wrap="square" lIns="0" tIns="0" rIns="0" bIns="0" rtlCol="0" anchor="t"/>
          <a:lstStyle/>
          <a:p>
            <a:pPr marL="0" indent="0">
              <a:buNone/>
            </a:pPr>
            <a:r>
              <a:rPr lang="en-US" sz="1100" dirty="0">
                <a:solidFill>
                  <a:srgbClr val="6E665C"/>
                </a:solidFill>
                <a:latin typeface="Calibri" pitchFamily="34" charset="0"/>
                <a:ea typeface="Calibri" pitchFamily="34" charset="-122"/>
                <a:cs typeface="Calibri" pitchFamily="34" charset="-120"/>
              </a:rPr>
              <a:t>Deploy with caching and tiered routing. Keep humans in the loop on consequential decisions.</a:t>
            </a:r>
            <a:endParaRPr lang="en-US" sz="1100" dirty="0"/>
          </a:p>
        </p:txBody>
      </p:sp>
      <p:sp>
        <p:nvSpPr>
          <p:cNvPr id="24" name="Shape 21"/>
          <p:cNvSpPr/>
          <p:nvPr/>
        </p:nvSpPr>
        <p:spPr>
          <a:xfrm>
            <a:off x="7031736" y="1993392"/>
            <a:ext cx="2011680" cy="2423160"/>
          </a:xfrm>
          <a:prstGeom prst="rect">
            <a:avLst/>
          </a:prstGeom>
          <a:solidFill>
            <a:srgbClr val="FBFAF6"/>
          </a:solidFill>
          <a:ln w="9525">
            <a:solidFill>
              <a:srgbClr val="DAD3C5"/>
            </a:solidFill>
            <a:prstDash val="solid"/>
          </a:ln>
          <a:effectLst>
            <a:outerShdw blurRad="114300" dist="38100" dir="8100000" algn="bl" rotWithShape="0">
              <a:srgbClr val="8C7B66">
                <a:alpha val="22000"/>
              </a:srgbClr>
            </a:outerShdw>
          </a:effectLst>
        </p:spPr>
        <p:txBody>
          <a:bodyPr/>
          <a:lstStyle/>
          <a:p>
            <a:endParaRPr lang="en-IN"/>
          </a:p>
        </p:txBody>
      </p:sp>
      <p:sp>
        <p:nvSpPr>
          <p:cNvPr id="25" name="Shape 22"/>
          <p:cNvSpPr/>
          <p:nvPr/>
        </p:nvSpPr>
        <p:spPr>
          <a:xfrm>
            <a:off x="7031736" y="1993392"/>
            <a:ext cx="2011680" cy="566928"/>
          </a:xfrm>
          <a:prstGeom prst="rect">
            <a:avLst/>
          </a:prstGeom>
          <a:solidFill>
            <a:srgbClr val="C8633F"/>
          </a:solidFill>
          <a:ln/>
        </p:spPr>
        <p:txBody>
          <a:bodyPr/>
          <a:lstStyle/>
          <a:p>
            <a:endParaRPr lang="en-IN"/>
          </a:p>
        </p:txBody>
      </p:sp>
      <p:sp>
        <p:nvSpPr>
          <p:cNvPr id="26" name="Text 23"/>
          <p:cNvSpPr/>
          <p:nvPr/>
        </p:nvSpPr>
        <p:spPr>
          <a:xfrm>
            <a:off x="7196328" y="2066544"/>
            <a:ext cx="1280160" cy="411480"/>
          </a:xfrm>
          <a:prstGeom prst="rect">
            <a:avLst/>
          </a:prstGeom>
          <a:noFill/>
          <a:ln/>
        </p:spPr>
        <p:txBody>
          <a:bodyPr wrap="square" lIns="0" tIns="0" rIns="0" bIns="0" rtlCol="0" anchor="ctr"/>
          <a:lstStyle/>
          <a:p>
            <a:pPr marL="0" indent="0">
              <a:buNone/>
            </a:pPr>
            <a:r>
              <a:rPr lang="en-US" sz="2200" b="1" dirty="0">
                <a:solidFill>
                  <a:srgbClr val="FFF3EC"/>
                </a:solidFill>
                <a:latin typeface="Georgia" pitchFamily="34" charset="0"/>
                <a:ea typeface="Georgia" pitchFamily="34" charset="-122"/>
                <a:cs typeface="Georgia" pitchFamily="34" charset="-120"/>
              </a:rPr>
              <a:t>04</a:t>
            </a:r>
            <a:endParaRPr lang="en-US" sz="2200" dirty="0"/>
          </a:p>
        </p:txBody>
      </p:sp>
      <p:sp>
        <p:nvSpPr>
          <p:cNvPr id="27" name="Text 24"/>
          <p:cNvSpPr/>
          <p:nvPr/>
        </p:nvSpPr>
        <p:spPr>
          <a:xfrm>
            <a:off x="7196328" y="2670048"/>
            <a:ext cx="1682496" cy="310896"/>
          </a:xfrm>
          <a:prstGeom prst="rect">
            <a:avLst/>
          </a:prstGeom>
          <a:noFill/>
          <a:ln/>
        </p:spPr>
        <p:txBody>
          <a:bodyPr wrap="square" lIns="0" tIns="0" rIns="0" bIns="0" rtlCol="0" anchor="ctr"/>
          <a:lstStyle/>
          <a:p>
            <a:pPr marL="0" indent="0">
              <a:buNone/>
            </a:pPr>
            <a:r>
              <a:rPr lang="en-US" sz="1600" b="1" dirty="0">
                <a:solidFill>
                  <a:srgbClr val="26231E"/>
                </a:solidFill>
                <a:latin typeface="Georgia" pitchFamily="34" charset="0"/>
                <a:ea typeface="Georgia" pitchFamily="34" charset="-122"/>
                <a:cs typeface="Georgia" pitchFamily="34" charset="-120"/>
              </a:rPr>
              <a:t>Optimise</a:t>
            </a:r>
            <a:endParaRPr lang="en-US" sz="1600" dirty="0"/>
          </a:p>
        </p:txBody>
      </p:sp>
      <p:sp>
        <p:nvSpPr>
          <p:cNvPr id="28" name="Text 25"/>
          <p:cNvSpPr/>
          <p:nvPr/>
        </p:nvSpPr>
        <p:spPr>
          <a:xfrm>
            <a:off x="7196328" y="2980944"/>
            <a:ext cx="1682496" cy="256032"/>
          </a:xfrm>
          <a:prstGeom prst="rect">
            <a:avLst/>
          </a:prstGeom>
          <a:noFill/>
          <a:ln/>
        </p:spPr>
        <p:txBody>
          <a:bodyPr wrap="square" lIns="0" tIns="0" rIns="0" bIns="0" rtlCol="0" anchor="ctr"/>
          <a:lstStyle/>
          <a:p>
            <a:pPr marL="0" indent="0">
              <a:buNone/>
            </a:pPr>
            <a:r>
              <a:rPr lang="en-US" sz="1050" b="1" dirty="0">
                <a:solidFill>
                  <a:srgbClr val="C8633F"/>
                </a:solidFill>
                <a:latin typeface="Calibri" pitchFamily="34" charset="0"/>
                <a:ea typeface="Calibri" pitchFamily="34" charset="-122"/>
                <a:cs typeface="Calibri" pitchFamily="34" charset="-120"/>
              </a:rPr>
              <a:t>Review &amp; refine</a:t>
            </a:r>
            <a:endParaRPr lang="en-US" sz="1050" dirty="0"/>
          </a:p>
        </p:txBody>
      </p:sp>
      <p:sp>
        <p:nvSpPr>
          <p:cNvPr id="29" name="Text 26"/>
          <p:cNvSpPr/>
          <p:nvPr/>
        </p:nvSpPr>
        <p:spPr>
          <a:xfrm>
            <a:off x="7196328" y="3291840"/>
            <a:ext cx="1682496" cy="1005840"/>
          </a:xfrm>
          <a:prstGeom prst="rect">
            <a:avLst/>
          </a:prstGeom>
          <a:noFill/>
          <a:ln/>
        </p:spPr>
        <p:txBody>
          <a:bodyPr wrap="square" lIns="0" tIns="0" rIns="0" bIns="0" rtlCol="0" anchor="t"/>
          <a:lstStyle/>
          <a:p>
            <a:pPr marL="0" indent="0">
              <a:buNone/>
            </a:pPr>
            <a:r>
              <a:rPr lang="en-US" sz="1100" dirty="0">
                <a:solidFill>
                  <a:srgbClr val="6E665C"/>
                </a:solidFill>
                <a:latin typeface="Calibri" pitchFamily="34" charset="0"/>
                <a:ea typeface="Calibri" pitchFamily="34" charset="-122"/>
                <a:cs typeface="Calibri" pitchFamily="34" charset="-120"/>
              </a:rPr>
              <a:t>Monitor usage, tune prompts, and revisit the build / buy / partner mix every quarter.</a:t>
            </a:r>
            <a:endParaRPr lang="en-US" sz="1100" dirty="0"/>
          </a:p>
        </p:txBody>
      </p:sp>
      <p:sp>
        <p:nvSpPr>
          <p:cNvPr id="30" name="Text 27"/>
          <p:cNvSpPr/>
          <p:nvPr/>
        </p:nvSpPr>
        <p:spPr>
          <a:xfrm>
            <a:off x="502920" y="4572000"/>
            <a:ext cx="8138160" cy="274320"/>
          </a:xfrm>
          <a:prstGeom prst="rect">
            <a:avLst/>
          </a:prstGeom>
          <a:noFill/>
          <a:ln/>
        </p:spPr>
        <p:txBody>
          <a:bodyPr wrap="square" lIns="0" tIns="0" rIns="0" bIns="0" rtlCol="0" anchor="ctr"/>
          <a:lstStyle/>
          <a:p>
            <a:pPr marL="0" indent="0">
              <a:buNone/>
            </a:pPr>
            <a:r>
              <a:rPr lang="en-US" sz="1150" b="1" i="1" dirty="0">
                <a:solidFill>
                  <a:srgbClr val="A24E30"/>
                </a:solidFill>
                <a:latin typeface="Calibri" pitchFamily="34" charset="0"/>
                <a:ea typeface="Calibri" pitchFamily="34" charset="-122"/>
                <a:cs typeface="Calibri" pitchFamily="34" charset="-120"/>
              </a:rPr>
              <a:t>Each phase earns the next: value before spend, governance before scale, optimisation forever.</a:t>
            </a:r>
            <a:endParaRPr lang="en-US" sz="1150" dirty="0"/>
          </a:p>
        </p:txBody>
      </p:sp>
      <p:sp>
        <p:nvSpPr>
          <p:cNvPr id="31" name="Text 28"/>
          <p:cNvSpPr/>
          <p:nvPr/>
        </p:nvSpPr>
        <p:spPr>
          <a:xfrm>
            <a:off x="502920" y="4736592"/>
            <a:ext cx="5486400" cy="274320"/>
          </a:xfrm>
          <a:prstGeom prst="rect">
            <a:avLst/>
          </a:prstGeom>
          <a:noFill/>
          <a:ln/>
        </p:spPr>
        <p:txBody>
          <a:bodyPr wrap="square" lIns="0" tIns="0" rIns="0" bIns="0" rtlCol="0" anchor="ctr"/>
          <a:lstStyle/>
          <a:p>
            <a:pPr marL="0" indent="0">
              <a:buNone/>
            </a:pPr>
            <a:r>
              <a:rPr lang="en-US" sz="900" b="1" dirty="0">
                <a:solidFill>
                  <a:srgbClr val="C8633F"/>
                </a:solidFill>
                <a:latin typeface="Calibri" pitchFamily="34" charset="0"/>
                <a:ea typeface="Calibri" pitchFamily="34" charset="-122"/>
                <a:cs typeface="Calibri" pitchFamily="34" charset="-120"/>
              </a:rPr>
              <a:t>Anthropic</a:t>
            </a:r>
            <a:r>
              <a:rPr lang="en-US" sz="900" dirty="0">
                <a:solidFill>
                  <a:srgbClr val="6E665C"/>
                </a:solidFill>
                <a:latin typeface="Calibri" pitchFamily="34" charset="0"/>
                <a:ea typeface="Calibri" pitchFamily="34" charset="-122"/>
                <a:cs typeface="Calibri" pitchFamily="34" charset="-120"/>
              </a:rPr>
              <a:t>  ·  Claude Enterprise Training</a:t>
            </a:r>
            <a:endParaRPr lang="en-US" sz="900" dirty="0"/>
          </a:p>
        </p:txBody>
      </p:sp>
      <p:sp>
        <p:nvSpPr>
          <p:cNvPr id="32" name="Text 29"/>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6E665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62320"/>
        </a:solidFill>
        <a:effectLst/>
      </p:bgPr>
    </p:bg>
    <p:spTree>
      <p:nvGrpSpPr>
        <p:cNvPr id="1" name=""/>
        <p:cNvGrpSpPr/>
        <p:nvPr/>
      </p:nvGrpSpPr>
      <p:grpSpPr>
        <a:xfrm>
          <a:off x="0" y="0"/>
          <a:ext cx="0" cy="0"/>
          <a:chOff x="0" y="0"/>
          <a:chExt cx="0" cy="0"/>
        </a:xfrm>
      </p:grpSpPr>
      <p:pic>
        <p:nvPicPr>
          <p:cNvPr id="2" name="Image 0" descr="/agent/turn1/workspace/images/claude_logo_cream.png"/>
          <p:cNvPicPr>
            <a:picLocks noChangeAspect="1"/>
          </p:cNvPicPr>
          <p:nvPr/>
        </p:nvPicPr>
        <p:blipFill>
          <a:blip r:embed="rId3"/>
          <a:stretch>
            <a:fillRect/>
          </a:stretch>
        </p:blipFill>
        <p:spPr>
          <a:xfrm>
            <a:off x="502920" y="420624"/>
            <a:ext cx="457200" cy="457200"/>
          </a:xfrm>
          <a:prstGeom prst="rect">
            <a:avLst/>
          </a:prstGeom>
        </p:spPr>
      </p:pic>
      <p:sp>
        <p:nvSpPr>
          <p:cNvPr id="3" name="Text 0"/>
          <p:cNvSpPr/>
          <p:nvPr/>
        </p:nvSpPr>
        <p:spPr>
          <a:xfrm>
            <a:off x="1078992" y="438912"/>
            <a:ext cx="6400800" cy="274320"/>
          </a:xfrm>
          <a:prstGeom prst="rect">
            <a:avLst/>
          </a:prstGeom>
          <a:noFill/>
          <a:ln/>
        </p:spPr>
        <p:txBody>
          <a:bodyPr wrap="square" lIns="0" tIns="0" rIns="0" bIns="0" rtlCol="0" anchor="ctr"/>
          <a:lstStyle/>
          <a:p>
            <a:pPr marL="0" indent="0">
              <a:buNone/>
            </a:pPr>
            <a:r>
              <a:rPr lang="en-US" sz="1150" b="1" kern="0" spc="200" dirty="0">
                <a:solidFill>
                  <a:srgbClr val="C8633F"/>
                </a:solidFill>
                <a:latin typeface="Calibri" pitchFamily="34" charset="0"/>
                <a:ea typeface="Calibri" pitchFamily="34" charset="-122"/>
                <a:cs typeface="Calibri" pitchFamily="34" charset="-120"/>
              </a:rPr>
              <a:t>INTERACTIVE  ·  15 MINUTES IN SMALL GROUPS</a:t>
            </a:r>
            <a:endParaRPr lang="en-US" sz="1150" dirty="0"/>
          </a:p>
        </p:txBody>
      </p:sp>
      <p:sp>
        <p:nvSpPr>
          <p:cNvPr id="4" name="Text 1"/>
          <p:cNvSpPr/>
          <p:nvPr/>
        </p:nvSpPr>
        <p:spPr>
          <a:xfrm>
            <a:off x="1078992" y="713232"/>
            <a:ext cx="7498080" cy="502920"/>
          </a:xfrm>
          <a:prstGeom prst="rect">
            <a:avLst/>
          </a:prstGeom>
          <a:noFill/>
          <a:ln/>
        </p:spPr>
        <p:txBody>
          <a:bodyPr wrap="square" lIns="0" tIns="0" rIns="0" bIns="0" rtlCol="0" anchor="ctr"/>
          <a:lstStyle/>
          <a:p>
            <a:pPr marL="0" indent="0">
              <a:buNone/>
            </a:pPr>
            <a:r>
              <a:rPr lang="en-US" sz="2600" b="1" dirty="0">
                <a:solidFill>
                  <a:srgbClr val="F4F1E8"/>
                </a:solidFill>
                <a:latin typeface="Georgia" pitchFamily="34" charset="0"/>
                <a:ea typeface="Georgia" pitchFamily="34" charset="-122"/>
                <a:cs typeface="Georgia" pitchFamily="34" charset="-120"/>
              </a:rPr>
              <a:t>Workshop: apply it to your use case</a:t>
            </a:r>
            <a:endParaRPr lang="en-US" sz="2600" dirty="0"/>
          </a:p>
        </p:txBody>
      </p:sp>
      <p:sp>
        <p:nvSpPr>
          <p:cNvPr id="5" name="Shape 2"/>
          <p:cNvSpPr/>
          <p:nvPr/>
        </p:nvSpPr>
        <p:spPr>
          <a:xfrm>
            <a:off x="502920" y="1481328"/>
            <a:ext cx="3977640" cy="1078992"/>
          </a:xfrm>
          <a:prstGeom prst="rect">
            <a:avLst/>
          </a:prstGeom>
          <a:solidFill>
            <a:srgbClr val="32302C"/>
          </a:solidFill>
          <a:ln w="9525">
            <a:solidFill>
              <a:srgbClr val="4A463F"/>
            </a:solidFill>
            <a:prstDash val="solid"/>
          </a:ln>
        </p:spPr>
        <p:txBody>
          <a:bodyPr/>
          <a:lstStyle/>
          <a:p>
            <a:endParaRPr lang="en-IN"/>
          </a:p>
        </p:txBody>
      </p:sp>
      <p:sp>
        <p:nvSpPr>
          <p:cNvPr id="6" name="Shape 3"/>
          <p:cNvSpPr/>
          <p:nvPr/>
        </p:nvSpPr>
        <p:spPr>
          <a:xfrm>
            <a:off x="685800" y="1682496"/>
            <a:ext cx="457200" cy="457200"/>
          </a:xfrm>
          <a:prstGeom prst="ellipse">
            <a:avLst/>
          </a:prstGeom>
          <a:solidFill>
            <a:srgbClr val="C8633F"/>
          </a:solidFill>
          <a:ln/>
        </p:spPr>
        <p:txBody>
          <a:bodyPr/>
          <a:lstStyle/>
          <a:p>
            <a:endParaRPr lang="en-IN"/>
          </a:p>
        </p:txBody>
      </p:sp>
      <p:sp>
        <p:nvSpPr>
          <p:cNvPr id="7" name="Text 4"/>
          <p:cNvSpPr/>
          <p:nvPr/>
        </p:nvSpPr>
        <p:spPr>
          <a:xfrm>
            <a:off x="685800" y="16824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Text 5"/>
          <p:cNvSpPr/>
          <p:nvPr/>
        </p:nvSpPr>
        <p:spPr>
          <a:xfrm>
            <a:off x="1280160" y="1627632"/>
            <a:ext cx="3017520" cy="292608"/>
          </a:xfrm>
          <a:prstGeom prst="rect">
            <a:avLst/>
          </a:prstGeom>
          <a:noFill/>
          <a:ln/>
        </p:spPr>
        <p:txBody>
          <a:bodyPr wrap="square" lIns="0" tIns="0" rIns="0" bIns="0" rtlCol="0" anchor="ctr"/>
          <a:lstStyle/>
          <a:p>
            <a:pPr marL="0" indent="0">
              <a:buNone/>
            </a:pPr>
            <a:r>
              <a:rPr lang="en-US" sz="1500" b="1" dirty="0">
                <a:solidFill>
                  <a:srgbClr val="C8633F"/>
                </a:solidFill>
                <a:latin typeface="Georgia" pitchFamily="34" charset="0"/>
                <a:ea typeface="Georgia" pitchFamily="34" charset="-122"/>
                <a:cs typeface="Georgia" pitchFamily="34" charset="-120"/>
              </a:rPr>
              <a:t>Economics</a:t>
            </a:r>
            <a:endParaRPr lang="en-US" sz="1500" dirty="0"/>
          </a:p>
        </p:txBody>
      </p:sp>
      <p:sp>
        <p:nvSpPr>
          <p:cNvPr id="9" name="Text 6"/>
          <p:cNvSpPr/>
          <p:nvPr/>
        </p:nvSpPr>
        <p:spPr>
          <a:xfrm>
            <a:off x="1280160" y="1920240"/>
            <a:ext cx="3017520" cy="548640"/>
          </a:xfrm>
          <a:prstGeom prst="rect">
            <a:avLst/>
          </a:prstGeom>
          <a:noFill/>
          <a:ln/>
        </p:spPr>
        <p:txBody>
          <a:bodyPr wrap="square" lIns="0" tIns="0" rIns="0" bIns="0" rtlCol="0" anchor="t"/>
          <a:lstStyle/>
          <a:p>
            <a:pPr marL="0" indent="0">
              <a:buNone/>
            </a:pPr>
            <a:r>
              <a:rPr lang="en-US" sz="1150" dirty="0">
                <a:solidFill>
                  <a:srgbClr val="E8E2D6"/>
                </a:solidFill>
                <a:latin typeface="Calibri" pitchFamily="34" charset="0"/>
                <a:ea typeface="Calibri" pitchFamily="34" charset="-122"/>
                <a:cs typeface="Calibri" pitchFamily="34" charset="-120"/>
              </a:rPr>
              <a:t>What's your highest-volume use case — and roughly what would a single request cost?</a:t>
            </a:r>
            <a:endParaRPr lang="en-US" sz="1150" dirty="0"/>
          </a:p>
        </p:txBody>
      </p:sp>
      <p:sp>
        <p:nvSpPr>
          <p:cNvPr id="10" name="Shape 7"/>
          <p:cNvSpPr/>
          <p:nvPr/>
        </p:nvSpPr>
        <p:spPr>
          <a:xfrm>
            <a:off x="4645152" y="1481328"/>
            <a:ext cx="3977640" cy="1078992"/>
          </a:xfrm>
          <a:prstGeom prst="rect">
            <a:avLst/>
          </a:prstGeom>
          <a:solidFill>
            <a:srgbClr val="32302C"/>
          </a:solidFill>
          <a:ln w="9525">
            <a:solidFill>
              <a:srgbClr val="4A463F"/>
            </a:solidFill>
            <a:prstDash val="solid"/>
          </a:ln>
        </p:spPr>
        <p:txBody>
          <a:bodyPr/>
          <a:lstStyle/>
          <a:p>
            <a:endParaRPr lang="en-IN"/>
          </a:p>
        </p:txBody>
      </p:sp>
      <p:sp>
        <p:nvSpPr>
          <p:cNvPr id="11" name="Shape 8"/>
          <p:cNvSpPr/>
          <p:nvPr/>
        </p:nvSpPr>
        <p:spPr>
          <a:xfrm>
            <a:off x="4828032" y="1682496"/>
            <a:ext cx="457200" cy="457200"/>
          </a:xfrm>
          <a:prstGeom prst="ellipse">
            <a:avLst/>
          </a:prstGeom>
          <a:solidFill>
            <a:srgbClr val="C8633F"/>
          </a:solidFill>
          <a:ln/>
        </p:spPr>
        <p:txBody>
          <a:bodyPr/>
          <a:lstStyle/>
          <a:p>
            <a:endParaRPr lang="en-IN"/>
          </a:p>
        </p:txBody>
      </p:sp>
      <p:sp>
        <p:nvSpPr>
          <p:cNvPr id="12" name="Text 9"/>
          <p:cNvSpPr/>
          <p:nvPr/>
        </p:nvSpPr>
        <p:spPr>
          <a:xfrm>
            <a:off x="4828032" y="16824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0"/>
          <p:cNvSpPr/>
          <p:nvPr/>
        </p:nvSpPr>
        <p:spPr>
          <a:xfrm>
            <a:off x="5422392" y="1627632"/>
            <a:ext cx="3017520" cy="292608"/>
          </a:xfrm>
          <a:prstGeom prst="rect">
            <a:avLst/>
          </a:prstGeom>
          <a:noFill/>
          <a:ln/>
        </p:spPr>
        <p:txBody>
          <a:bodyPr wrap="square" lIns="0" tIns="0" rIns="0" bIns="0" rtlCol="0" anchor="ctr"/>
          <a:lstStyle/>
          <a:p>
            <a:pPr marL="0" indent="0">
              <a:buNone/>
            </a:pPr>
            <a:r>
              <a:rPr lang="en-US" sz="1500" b="1" dirty="0">
                <a:solidFill>
                  <a:srgbClr val="C8633F"/>
                </a:solidFill>
                <a:latin typeface="Georgia" pitchFamily="34" charset="0"/>
                <a:ea typeface="Georgia" pitchFamily="34" charset="-122"/>
                <a:cs typeface="Georgia" pitchFamily="34" charset="-120"/>
              </a:rPr>
              <a:t>Cost levers</a:t>
            </a:r>
            <a:endParaRPr lang="en-US" sz="1500" dirty="0"/>
          </a:p>
        </p:txBody>
      </p:sp>
      <p:sp>
        <p:nvSpPr>
          <p:cNvPr id="14" name="Text 11"/>
          <p:cNvSpPr/>
          <p:nvPr/>
        </p:nvSpPr>
        <p:spPr>
          <a:xfrm>
            <a:off x="5422392" y="1920240"/>
            <a:ext cx="3017520" cy="548640"/>
          </a:xfrm>
          <a:prstGeom prst="rect">
            <a:avLst/>
          </a:prstGeom>
          <a:noFill/>
          <a:ln/>
        </p:spPr>
        <p:txBody>
          <a:bodyPr wrap="square" lIns="0" tIns="0" rIns="0" bIns="0" rtlCol="0" anchor="t"/>
          <a:lstStyle/>
          <a:p>
            <a:pPr marL="0" indent="0">
              <a:buNone/>
            </a:pPr>
            <a:r>
              <a:rPr lang="en-US" sz="1150" dirty="0">
                <a:solidFill>
                  <a:srgbClr val="E8E2D6"/>
                </a:solidFill>
                <a:latin typeface="Calibri" pitchFamily="34" charset="0"/>
                <a:ea typeface="Calibri" pitchFamily="34" charset="-122"/>
                <a:cs typeface="Calibri" pitchFamily="34" charset="-120"/>
              </a:rPr>
              <a:t>Which model tier fits, and what stable context could you cache to cut the bill?</a:t>
            </a:r>
            <a:endParaRPr lang="en-US" sz="1150" dirty="0"/>
          </a:p>
        </p:txBody>
      </p:sp>
      <p:sp>
        <p:nvSpPr>
          <p:cNvPr id="15" name="Shape 12"/>
          <p:cNvSpPr/>
          <p:nvPr/>
        </p:nvSpPr>
        <p:spPr>
          <a:xfrm>
            <a:off x="502920" y="2706624"/>
            <a:ext cx="3977640" cy="1078992"/>
          </a:xfrm>
          <a:prstGeom prst="rect">
            <a:avLst/>
          </a:prstGeom>
          <a:solidFill>
            <a:srgbClr val="32302C"/>
          </a:solidFill>
          <a:ln w="9525">
            <a:solidFill>
              <a:srgbClr val="4A463F"/>
            </a:solidFill>
            <a:prstDash val="solid"/>
          </a:ln>
        </p:spPr>
        <p:txBody>
          <a:bodyPr/>
          <a:lstStyle/>
          <a:p>
            <a:endParaRPr lang="en-IN"/>
          </a:p>
        </p:txBody>
      </p:sp>
      <p:sp>
        <p:nvSpPr>
          <p:cNvPr id="16" name="Shape 13"/>
          <p:cNvSpPr/>
          <p:nvPr/>
        </p:nvSpPr>
        <p:spPr>
          <a:xfrm>
            <a:off x="685800" y="2907792"/>
            <a:ext cx="457200" cy="457200"/>
          </a:xfrm>
          <a:prstGeom prst="ellipse">
            <a:avLst/>
          </a:prstGeom>
          <a:solidFill>
            <a:srgbClr val="C8633F"/>
          </a:solidFill>
          <a:ln/>
        </p:spPr>
        <p:txBody>
          <a:bodyPr/>
          <a:lstStyle/>
          <a:p>
            <a:endParaRPr lang="en-IN"/>
          </a:p>
        </p:txBody>
      </p:sp>
      <p:sp>
        <p:nvSpPr>
          <p:cNvPr id="17" name="Text 14"/>
          <p:cNvSpPr/>
          <p:nvPr/>
        </p:nvSpPr>
        <p:spPr>
          <a:xfrm>
            <a:off x="685800" y="29077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8" name="Text 15"/>
          <p:cNvSpPr/>
          <p:nvPr/>
        </p:nvSpPr>
        <p:spPr>
          <a:xfrm>
            <a:off x="1280160" y="2852928"/>
            <a:ext cx="3017520" cy="292608"/>
          </a:xfrm>
          <a:prstGeom prst="rect">
            <a:avLst/>
          </a:prstGeom>
          <a:noFill/>
          <a:ln/>
        </p:spPr>
        <p:txBody>
          <a:bodyPr wrap="square" lIns="0" tIns="0" rIns="0" bIns="0" rtlCol="0" anchor="ctr"/>
          <a:lstStyle/>
          <a:p>
            <a:pPr marL="0" indent="0">
              <a:buNone/>
            </a:pPr>
            <a:r>
              <a:rPr lang="en-US" sz="1500" b="1" dirty="0">
                <a:solidFill>
                  <a:srgbClr val="C8633F"/>
                </a:solidFill>
                <a:latin typeface="Georgia" pitchFamily="34" charset="0"/>
                <a:ea typeface="Georgia" pitchFamily="34" charset="-122"/>
                <a:cs typeface="Georgia" pitchFamily="34" charset="-120"/>
              </a:rPr>
              <a:t>Risk</a:t>
            </a:r>
            <a:endParaRPr lang="en-US" sz="1500" dirty="0"/>
          </a:p>
        </p:txBody>
      </p:sp>
      <p:sp>
        <p:nvSpPr>
          <p:cNvPr id="19" name="Text 16"/>
          <p:cNvSpPr/>
          <p:nvPr/>
        </p:nvSpPr>
        <p:spPr>
          <a:xfrm>
            <a:off x="1280160" y="3145536"/>
            <a:ext cx="3017520" cy="548640"/>
          </a:xfrm>
          <a:prstGeom prst="rect">
            <a:avLst/>
          </a:prstGeom>
          <a:noFill/>
          <a:ln/>
        </p:spPr>
        <p:txBody>
          <a:bodyPr wrap="square" lIns="0" tIns="0" rIns="0" bIns="0" rtlCol="0" anchor="t"/>
          <a:lstStyle/>
          <a:p>
            <a:pPr marL="0" indent="0">
              <a:buNone/>
            </a:pPr>
            <a:r>
              <a:rPr lang="en-US" sz="1150" dirty="0">
                <a:solidFill>
                  <a:srgbClr val="E8E2D6"/>
                </a:solidFill>
                <a:latin typeface="Calibri" pitchFamily="34" charset="0"/>
                <a:ea typeface="Calibri" pitchFamily="34" charset="-122"/>
                <a:cs typeface="Calibri" pitchFamily="34" charset="-120"/>
              </a:rPr>
              <a:t>What data would this touch? What must never leave your walls?</a:t>
            </a:r>
            <a:endParaRPr lang="en-US" sz="1150" dirty="0"/>
          </a:p>
        </p:txBody>
      </p:sp>
      <p:sp>
        <p:nvSpPr>
          <p:cNvPr id="20" name="Shape 17"/>
          <p:cNvSpPr/>
          <p:nvPr/>
        </p:nvSpPr>
        <p:spPr>
          <a:xfrm>
            <a:off x="4645152" y="2706624"/>
            <a:ext cx="3977640" cy="1078992"/>
          </a:xfrm>
          <a:prstGeom prst="rect">
            <a:avLst/>
          </a:prstGeom>
          <a:solidFill>
            <a:srgbClr val="32302C"/>
          </a:solidFill>
          <a:ln w="9525">
            <a:solidFill>
              <a:srgbClr val="4A463F"/>
            </a:solidFill>
            <a:prstDash val="solid"/>
          </a:ln>
        </p:spPr>
        <p:txBody>
          <a:bodyPr/>
          <a:lstStyle/>
          <a:p>
            <a:endParaRPr lang="en-IN"/>
          </a:p>
        </p:txBody>
      </p:sp>
      <p:sp>
        <p:nvSpPr>
          <p:cNvPr id="21" name="Shape 18"/>
          <p:cNvSpPr/>
          <p:nvPr/>
        </p:nvSpPr>
        <p:spPr>
          <a:xfrm>
            <a:off x="4828032" y="2907792"/>
            <a:ext cx="457200" cy="457200"/>
          </a:xfrm>
          <a:prstGeom prst="ellipse">
            <a:avLst/>
          </a:prstGeom>
          <a:solidFill>
            <a:srgbClr val="C8633F"/>
          </a:solidFill>
          <a:ln/>
        </p:spPr>
        <p:txBody>
          <a:bodyPr/>
          <a:lstStyle/>
          <a:p>
            <a:endParaRPr lang="en-IN"/>
          </a:p>
        </p:txBody>
      </p:sp>
      <p:sp>
        <p:nvSpPr>
          <p:cNvPr id="22" name="Text 19"/>
          <p:cNvSpPr/>
          <p:nvPr/>
        </p:nvSpPr>
        <p:spPr>
          <a:xfrm>
            <a:off x="4828032" y="29077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3" name="Text 20"/>
          <p:cNvSpPr/>
          <p:nvPr/>
        </p:nvSpPr>
        <p:spPr>
          <a:xfrm>
            <a:off x="5422392" y="2852928"/>
            <a:ext cx="3017520" cy="292608"/>
          </a:xfrm>
          <a:prstGeom prst="rect">
            <a:avLst/>
          </a:prstGeom>
          <a:noFill/>
          <a:ln/>
        </p:spPr>
        <p:txBody>
          <a:bodyPr wrap="square" lIns="0" tIns="0" rIns="0" bIns="0" rtlCol="0" anchor="ctr"/>
          <a:lstStyle/>
          <a:p>
            <a:pPr marL="0" indent="0">
              <a:buNone/>
            </a:pPr>
            <a:r>
              <a:rPr lang="en-US" sz="1500" b="1" dirty="0">
                <a:solidFill>
                  <a:srgbClr val="C8633F"/>
                </a:solidFill>
                <a:latin typeface="Georgia" pitchFamily="34" charset="0"/>
                <a:ea typeface="Georgia" pitchFamily="34" charset="-122"/>
                <a:cs typeface="Georgia" pitchFamily="34" charset="-120"/>
              </a:rPr>
              <a:t>Adoption</a:t>
            </a:r>
            <a:endParaRPr lang="en-US" sz="1500" dirty="0"/>
          </a:p>
        </p:txBody>
      </p:sp>
      <p:sp>
        <p:nvSpPr>
          <p:cNvPr id="24" name="Text 21"/>
          <p:cNvSpPr/>
          <p:nvPr/>
        </p:nvSpPr>
        <p:spPr>
          <a:xfrm>
            <a:off x="5422392" y="3145536"/>
            <a:ext cx="3017520" cy="548640"/>
          </a:xfrm>
          <a:prstGeom prst="rect">
            <a:avLst/>
          </a:prstGeom>
          <a:noFill/>
          <a:ln/>
        </p:spPr>
        <p:txBody>
          <a:bodyPr wrap="square" lIns="0" tIns="0" rIns="0" bIns="0" rtlCol="0" anchor="t"/>
          <a:lstStyle/>
          <a:p>
            <a:pPr marL="0" indent="0">
              <a:buNone/>
            </a:pPr>
            <a:r>
              <a:rPr lang="en-US" sz="1150" dirty="0">
                <a:solidFill>
                  <a:srgbClr val="E8E2D6"/>
                </a:solidFill>
                <a:latin typeface="Calibri" pitchFamily="34" charset="0"/>
                <a:ea typeface="Calibri" pitchFamily="34" charset="-122"/>
                <a:cs typeface="Calibri" pitchFamily="34" charset="-120"/>
              </a:rPr>
              <a:t>Build, buy, or partner — and where does a human stay in the loop?</a:t>
            </a:r>
            <a:endParaRPr lang="en-US" sz="1150" dirty="0"/>
          </a:p>
        </p:txBody>
      </p:sp>
      <p:sp>
        <p:nvSpPr>
          <p:cNvPr id="25" name="Shape 22"/>
          <p:cNvSpPr/>
          <p:nvPr/>
        </p:nvSpPr>
        <p:spPr>
          <a:xfrm>
            <a:off x="502920" y="4114800"/>
            <a:ext cx="8138160" cy="512064"/>
          </a:xfrm>
          <a:prstGeom prst="rect">
            <a:avLst/>
          </a:prstGeom>
          <a:solidFill>
            <a:srgbClr val="C8633F"/>
          </a:solidFill>
          <a:ln/>
        </p:spPr>
        <p:txBody>
          <a:bodyPr/>
          <a:lstStyle/>
          <a:p>
            <a:endParaRPr lang="en-IN"/>
          </a:p>
        </p:txBody>
      </p:sp>
      <p:sp>
        <p:nvSpPr>
          <p:cNvPr id="26" name="Text 23"/>
          <p:cNvSpPr/>
          <p:nvPr/>
        </p:nvSpPr>
        <p:spPr>
          <a:xfrm>
            <a:off x="502920" y="4114800"/>
            <a:ext cx="8138160" cy="512064"/>
          </a:xfrm>
          <a:prstGeom prst="rect">
            <a:avLst/>
          </a:prstGeom>
          <a:noFill/>
          <a:ln/>
        </p:spPr>
        <p:txBody>
          <a:bodyPr wrap="square" lIns="0" tIns="0" rIns="0" bIns="0" rtlCol="0" anchor="ctr"/>
          <a:lstStyle/>
          <a:p>
            <a:pPr marL="0" indent="0" algn="ctr">
              <a:buNone/>
            </a:pPr>
            <a:r>
              <a:rPr lang="en-US" sz="1300" b="1" dirty="0">
                <a:solidFill>
                  <a:srgbClr val="FFF6F0"/>
                </a:solidFill>
                <a:latin typeface="Calibri" pitchFamily="34" charset="0"/>
                <a:ea typeface="Calibri" pitchFamily="34" charset="-122"/>
                <a:cs typeface="Calibri" pitchFamily="34" charset="-120"/>
              </a:rPr>
              <a:t>Share back:  each group names ONE next step it would commit to.</a:t>
            </a:r>
            <a:endParaRPr lang="en-US" sz="1300" dirty="0"/>
          </a:p>
        </p:txBody>
      </p:sp>
      <p:sp>
        <p:nvSpPr>
          <p:cNvPr id="27" name="Text 24"/>
          <p:cNvSpPr/>
          <p:nvPr/>
        </p:nvSpPr>
        <p:spPr>
          <a:xfrm>
            <a:off x="502920" y="4736592"/>
            <a:ext cx="5486400" cy="274320"/>
          </a:xfrm>
          <a:prstGeom prst="rect">
            <a:avLst/>
          </a:prstGeom>
          <a:noFill/>
          <a:ln/>
        </p:spPr>
        <p:txBody>
          <a:bodyPr wrap="square" lIns="0" tIns="0" rIns="0" bIns="0" rtlCol="0" anchor="ctr"/>
          <a:lstStyle/>
          <a:p>
            <a:pPr marL="0" indent="0">
              <a:buNone/>
            </a:pPr>
            <a:r>
              <a:rPr lang="en-US" sz="900" dirty="0">
                <a:solidFill>
                  <a:srgbClr val="9A9288"/>
                </a:solidFill>
                <a:latin typeface="Calibri" pitchFamily="34" charset="0"/>
                <a:ea typeface="Calibri" pitchFamily="34" charset="-122"/>
                <a:cs typeface="Calibri" pitchFamily="34" charset="-120"/>
              </a:rPr>
              <a:t>Anthropic  ·  Claude Enterprise Training</a:t>
            </a:r>
            <a:endParaRPr lang="en-US" sz="900" dirty="0"/>
          </a:p>
        </p:txBody>
      </p:sp>
      <p:sp>
        <p:nvSpPr>
          <p:cNvPr id="28" name="Text 25"/>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9A928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320"/>
        </a:solidFill>
        <a:effectLst/>
      </p:bgPr>
    </p:bg>
    <p:spTree>
      <p:nvGrpSpPr>
        <p:cNvPr id="1" name=""/>
        <p:cNvGrpSpPr/>
        <p:nvPr/>
      </p:nvGrpSpPr>
      <p:grpSpPr>
        <a:xfrm>
          <a:off x="0" y="0"/>
          <a:ext cx="0" cy="0"/>
          <a:chOff x="0" y="0"/>
          <a:chExt cx="0" cy="0"/>
        </a:xfrm>
      </p:grpSpPr>
      <p:pic>
        <p:nvPicPr>
          <p:cNvPr id="2" name="Image 0" descr="/agent/turn1/workspace/images/claude_logo_cream.png"/>
          <p:cNvPicPr>
            <a:picLocks noChangeAspect="1"/>
          </p:cNvPicPr>
          <p:nvPr/>
        </p:nvPicPr>
        <p:blipFill>
          <a:blip r:embed="rId3"/>
          <a:stretch>
            <a:fillRect/>
          </a:stretch>
        </p:blipFill>
        <p:spPr>
          <a:xfrm>
            <a:off x="502920" y="457200"/>
            <a:ext cx="457200" cy="457200"/>
          </a:xfrm>
          <a:prstGeom prst="rect">
            <a:avLst/>
          </a:prstGeom>
        </p:spPr>
      </p:pic>
      <p:sp>
        <p:nvSpPr>
          <p:cNvPr id="3" name="Text 0"/>
          <p:cNvSpPr/>
          <p:nvPr/>
        </p:nvSpPr>
        <p:spPr>
          <a:xfrm>
            <a:off x="1078992" y="475488"/>
            <a:ext cx="5486400" cy="274320"/>
          </a:xfrm>
          <a:prstGeom prst="rect">
            <a:avLst/>
          </a:prstGeom>
          <a:noFill/>
          <a:ln/>
        </p:spPr>
        <p:txBody>
          <a:bodyPr wrap="square" lIns="0" tIns="0" rIns="0" bIns="0" rtlCol="0" anchor="ctr"/>
          <a:lstStyle/>
          <a:p>
            <a:pPr marL="0" indent="0">
              <a:buNone/>
            </a:pPr>
            <a:r>
              <a:rPr lang="en-US" sz="1200" b="1" kern="0" spc="300" dirty="0">
                <a:solidFill>
                  <a:srgbClr val="C8633F"/>
                </a:solidFill>
                <a:latin typeface="Calibri" pitchFamily="34" charset="0"/>
                <a:ea typeface="Calibri" pitchFamily="34" charset="-122"/>
                <a:cs typeface="Calibri" pitchFamily="34" charset="-120"/>
              </a:rPr>
              <a:t>SESSION SUMMARY</a:t>
            </a:r>
            <a:endParaRPr lang="en-US" sz="1200" dirty="0"/>
          </a:p>
        </p:txBody>
      </p:sp>
      <p:sp>
        <p:nvSpPr>
          <p:cNvPr id="4" name="Text 1"/>
          <p:cNvSpPr/>
          <p:nvPr/>
        </p:nvSpPr>
        <p:spPr>
          <a:xfrm>
            <a:off x="1078992" y="731520"/>
            <a:ext cx="7315200" cy="502920"/>
          </a:xfrm>
          <a:prstGeom prst="rect">
            <a:avLst/>
          </a:prstGeom>
          <a:noFill/>
          <a:ln/>
        </p:spPr>
        <p:txBody>
          <a:bodyPr wrap="square" lIns="0" tIns="0" rIns="0" bIns="0" rtlCol="0" anchor="ctr"/>
          <a:lstStyle/>
          <a:p>
            <a:pPr marL="0" indent="0">
              <a:buNone/>
            </a:pPr>
            <a:r>
              <a:rPr lang="en-US" sz="2600" b="1" dirty="0">
                <a:solidFill>
                  <a:srgbClr val="F4F1E8"/>
                </a:solidFill>
                <a:latin typeface="Georgia" pitchFamily="34" charset="0"/>
                <a:ea typeface="Georgia" pitchFamily="34" charset="-122"/>
                <a:cs typeface="Georgia" pitchFamily="34" charset="-120"/>
              </a:rPr>
              <a:t>What good adoption looks like</a:t>
            </a:r>
            <a:endParaRPr lang="en-US" sz="2600" dirty="0"/>
          </a:p>
        </p:txBody>
      </p:sp>
      <p:sp>
        <p:nvSpPr>
          <p:cNvPr id="5" name="Shape 2"/>
          <p:cNvSpPr/>
          <p:nvPr/>
        </p:nvSpPr>
        <p:spPr>
          <a:xfrm>
            <a:off x="502920" y="1463040"/>
            <a:ext cx="3977640" cy="841248"/>
          </a:xfrm>
          <a:prstGeom prst="rect">
            <a:avLst/>
          </a:prstGeom>
          <a:solidFill>
            <a:srgbClr val="32302C"/>
          </a:solidFill>
          <a:ln w="9525">
            <a:solidFill>
              <a:srgbClr val="4A463F"/>
            </a:solidFill>
            <a:prstDash val="solid"/>
          </a:ln>
        </p:spPr>
        <p:txBody>
          <a:bodyPr/>
          <a:lstStyle/>
          <a:p>
            <a:endParaRPr lang="en-IN"/>
          </a:p>
        </p:txBody>
      </p:sp>
      <p:sp>
        <p:nvSpPr>
          <p:cNvPr id="6" name="Text 3"/>
          <p:cNvSpPr/>
          <p:nvPr/>
        </p:nvSpPr>
        <p:spPr>
          <a:xfrm>
            <a:off x="667512" y="1572768"/>
            <a:ext cx="640080" cy="457200"/>
          </a:xfrm>
          <a:prstGeom prst="rect">
            <a:avLst/>
          </a:prstGeom>
          <a:noFill/>
          <a:ln/>
        </p:spPr>
        <p:txBody>
          <a:bodyPr wrap="square" lIns="0" tIns="0" rIns="0" bIns="0" rtlCol="0" anchor="ctr"/>
          <a:lstStyle/>
          <a:p>
            <a:pPr marL="0" indent="0">
              <a:buNone/>
            </a:pPr>
            <a:r>
              <a:rPr lang="en-US" sz="2200" b="1" dirty="0">
                <a:solidFill>
                  <a:srgbClr val="C8633F"/>
                </a:solidFill>
                <a:latin typeface="Georgia" pitchFamily="34" charset="0"/>
                <a:ea typeface="Georgia" pitchFamily="34" charset="-122"/>
                <a:cs typeface="Georgia" pitchFamily="34" charset="-120"/>
              </a:rPr>
              <a:t>01</a:t>
            </a:r>
            <a:endParaRPr lang="en-US" sz="2200" dirty="0"/>
          </a:p>
        </p:txBody>
      </p:sp>
      <p:sp>
        <p:nvSpPr>
          <p:cNvPr id="7" name="Text 4"/>
          <p:cNvSpPr/>
          <p:nvPr/>
        </p:nvSpPr>
        <p:spPr>
          <a:xfrm>
            <a:off x="1280160" y="1572768"/>
            <a:ext cx="3063240" cy="274320"/>
          </a:xfrm>
          <a:prstGeom prst="rect">
            <a:avLst/>
          </a:prstGeom>
          <a:noFill/>
          <a:ln/>
        </p:spPr>
        <p:txBody>
          <a:bodyPr wrap="square" lIns="0" tIns="0" rIns="0" bIns="0" rtlCol="0" anchor="ctr"/>
          <a:lstStyle/>
          <a:p>
            <a:pPr marL="0" indent="0">
              <a:buNone/>
            </a:pPr>
            <a:r>
              <a:rPr lang="en-US" sz="1400" b="1" dirty="0">
                <a:solidFill>
                  <a:srgbClr val="F4F1E8"/>
                </a:solidFill>
                <a:latin typeface="Georgia" pitchFamily="34" charset="0"/>
                <a:ea typeface="Georgia" pitchFamily="34" charset="-122"/>
                <a:cs typeface="Georgia" pitchFamily="34" charset="-120"/>
              </a:rPr>
              <a:t>Forecast the spend</a:t>
            </a:r>
            <a:endParaRPr lang="en-US" sz="1400" dirty="0"/>
          </a:p>
        </p:txBody>
      </p:sp>
      <p:sp>
        <p:nvSpPr>
          <p:cNvPr id="8" name="Text 5"/>
          <p:cNvSpPr/>
          <p:nvPr/>
        </p:nvSpPr>
        <p:spPr>
          <a:xfrm>
            <a:off x="1280160" y="1847088"/>
            <a:ext cx="3063240" cy="411480"/>
          </a:xfrm>
          <a:prstGeom prst="rect">
            <a:avLst/>
          </a:prstGeom>
          <a:noFill/>
          <a:ln/>
        </p:spPr>
        <p:txBody>
          <a:bodyPr wrap="square" lIns="0" tIns="0" rIns="0" bIns="0" rtlCol="0" anchor="t"/>
          <a:lstStyle/>
          <a:p>
            <a:pPr marL="0" indent="0">
              <a:buNone/>
            </a:pPr>
            <a:r>
              <a:rPr lang="en-US" sz="1050" dirty="0">
                <a:solidFill>
                  <a:srgbClr val="C9C1B5"/>
                </a:solidFill>
                <a:latin typeface="Calibri" pitchFamily="34" charset="0"/>
                <a:ea typeface="Calibri" pitchFamily="34" charset="-122"/>
                <a:cs typeface="Calibri" pitchFamily="34" charset="-120"/>
              </a:rPr>
              <a:t>Tokens are the unit of cost; output runs ~5× input and context re-bills each turn.</a:t>
            </a:r>
            <a:endParaRPr lang="en-US" sz="1050" dirty="0"/>
          </a:p>
        </p:txBody>
      </p:sp>
      <p:sp>
        <p:nvSpPr>
          <p:cNvPr id="9" name="Shape 6"/>
          <p:cNvSpPr/>
          <p:nvPr/>
        </p:nvSpPr>
        <p:spPr>
          <a:xfrm>
            <a:off x="4645152" y="1463040"/>
            <a:ext cx="3977640" cy="841248"/>
          </a:xfrm>
          <a:prstGeom prst="rect">
            <a:avLst/>
          </a:prstGeom>
          <a:solidFill>
            <a:srgbClr val="32302C"/>
          </a:solidFill>
          <a:ln w="9525">
            <a:solidFill>
              <a:srgbClr val="4A463F"/>
            </a:solidFill>
            <a:prstDash val="solid"/>
          </a:ln>
        </p:spPr>
        <p:txBody>
          <a:bodyPr/>
          <a:lstStyle/>
          <a:p>
            <a:endParaRPr lang="en-IN"/>
          </a:p>
        </p:txBody>
      </p:sp>
      <p:sp>
        <p:nvSpPr>
          <p:cNvPr id="10" name="Text 7"/>
          <p:cNvSpPr/>
          <p:nvPr/>
        </p:nvSpPr>
        <p:spPr>
          <a:xfrm>
            <a:off x="4809744" y="1572768"/>
            <a:ext cx="640080" cy="457200"/>
          </a:xfrm>
          <a:prstGeom prst="rect">
            <a:avLst/>
          </a:prstGeom>
          <a:noFill/>
          <a:ln/>
        </p:spPr>
        <p:txBody>
          <a:bodyPr wrap="square" lIns="0" tIns="0" rIns="0" bIns="0" rtlCol="0" anchor="ctr"/>
          <a:lstStyle/>
          <a:p>
            <a:pPr marL="0" indent="0">
              <a:buNone/>
            </a:pPr>
            <a:r>
              <a:rPr lang="en-US" sz="2200" b="1" dirty="0">
                <a:solidFill>
                  <a:srgbClr val="C8633F"/>
                </a:solidFill>
                <a:latin typeface="Georgia" pitchFamily="34" charset="0"/>
                <a:ea typeface="Georgia" pitchFamily="34" charset="-122"/>
                <a:cs typeface="Georgia" pitchFamily="34" charset="-120"/>
              </a:rPr>
              <a:t>02</a:t>
            </a:r>
            <a:endParaRPr lang="en-US" sz="2200" dirty="0"/>
          </a:p>
        </p:txBody>
      </p:sp>
      <p:sp>
        <p:nvSpPr>
          <p:cNvPr id="11" name="Text 8"/>
          <p:cNvSpPr/>
          <p:nvPr/>
        </p:nvSpPr>
        <p:spPr>
          <a:xfrm>
            <a:off x="5422392" y="1572768"/>
            <a:ext cx="3063240" cy="274320"/>
          </a:xfrm>
          <a:prstGeom prst="rect">
            <a:avLst/>
          </a:prstGeom>
          <a:noFill/>
          <a:ln/>
        </p:spPr>
        <p:txBody>
          <a:bodyPr wrap="square" lIns="0" tIns="0" rIns="0" bIns="0" rtlCol="0" anchor="ctr"/>
          <a:lstStyle/>
          <a:p>
            <a:pPr marL="0" indent="0">
              <a:buNone/>
            </a:pPr>
            <a:r>
              <a:rPr lang="en-US" sz="1400" b="1" dirty="0">
                <a:solidFill>
                  <a:srgbClr val="F4F1E8"/>
                </a:solidFill>
                <a:latin typeface="Georgia" pitchFamily="34" charset="0"/>
                <a:ea typeface="Georgia" pitchFamily="34" charset="-122"/>
                <a:cs typeface="Georgia" pitchFamily="34" charset="-120"/>
              </a:rPr>
              <a:t>Pull the cost levers</a:t>
            </a:r>
            <a:endParaRPr lang="en-US" sz="1400" dirty="0"/>
          </a:p>
        </p:txBody>
      </p:sp>
      <p:sp>
        <p:nvSpPr>
          <p:cNvPr id="12" name="Text 9"/>
          <p:cNvSpPr/>
          <p:nvPr/>
        </p:nvSpPr>
        <p:spPr>
          <a:xfrm>
            <a:off x="5422392" y="1847088"/>
            <a:ext cx="3063240" cy="411480"/>
          </a:xfrm>
          <a:prstGeom prst="rect">
            <a:avLst/>
          </a:prstGeom>
          <a:noFill/>
          <a:ln/>
        </p:spPr>
        <p:txBody>
          <a:bodyPr wrap="square" lIns="0" tIns="0" rIns="0" bIns="0" rtlCol="0" anchor="t"/>
          <a:lstStyle/>
          <a:p>
            <a:pPr marL="0" indent="0">
              <a:buNone/>
            </a:pPr>
            <a:r>
              <a:rPr lang="en-US" sz="1050" dirty="0">
                <a:solidFill>
                  <a:srgbClr val="C9C1B5"/>
                </a:solidFill>
                <a:latin typeface="Calibri" pitchFamily="34" charset="0"/>
                <a:ea typeface="Calibri" pitchFamily="34" charset="-122"/>
                <a:cs typeface="Calibri" pitchFamily="34" charset="-120"/>
              </a:rPr>
              <a:t>Right-size the model tier, cache stable prompts, and keep context clean.</a:t>
            </a:r>
            <a:endParaRPr lang="en-US" sz="1050" dirty="0"/>
          </a:p>
        </p:txBody>
      </p:sp>
      <p:sp>
        <p:nvSpPr>
          <p:cNvPr id="13" name="Shape 10"/>
          <p:cNvSpPr/>
          <p:nvPr/>
        </p:nvSpPr>
        <p:spPr>
          <a:xfrm>
            <a:off x="502920" y="2450592"/>
            <a:ext cx="3977640" cy="841248"/>
          </a:xfrm>
          <a:prstGeom prst="rect">
            <a:avLst/>
          </a:prstGeom>
          <a:solidFill>
            <a:srgbClr val="32302C"/>
          </a:solidFill>
          <a:ln w="9525">
            <a:solidFill>
              <a:srgbClr val="4A463F"/>
            </a:solidFill>
            <a:prstDash val="solid"/>
          </a:ln>
        </p:spPr>
        <p:txBody>
          <a:bodyPr/>
          <a:lstStyle/>
          <a:p>
            <a:endParaRPr lang="en-IN"/>
          </a:p>
        </p:txBody>
      </p:sp>
      <p:sp>
        <p:nvSpPr>
          <p:cNvPr id="14" name="Text 11"/>
          <p:cNvSpPr/>
          <p:nvPr/>
        </p:nvSpPr>
        <p:spPr>
          <a:xfrm>
            <a:off x="667512" y="2560320"/>
            <a:ext cx="640080" cy="457200"/>
          </a:xfrm>
          <a:prstGeom prst="rect">
            <a:avLst/>
          </a:prstGeom>
          <a:noFill/>
          <a:ln/>
        </p:spPr>
        <p:txBody>
          <a:bodyPr wrap="square" lIns="0" tIns="0" rIns="0" bIns="0" rtlCol="0" anchor="ctr"/>
          <a:lstStyle/>
          <a:p>
            <a:pPr marL="0" indent="0">
              <a:buNone/>
            </a:pPr>
            <a:r>
              <a:rPr lang="en-US" sz="2200" b="1" dirty="0">
                <a:solidFill>
                  <a:srgbClr val="C8633F"/>
                </a:solidFill>
                <a:latin typeface="Georgia" pitchFamily="34" charset="0"/>
                <a:ea typeface="Georgia" pitchFamily="34" charset="-122"/>
                <a:cs typeface="Georgia" pitchFamily="34" charset="-120"/>
              </a:rPr>
              <a:t>03</a:t>
            </a:r>
            <a:endParaRPr lang="en-US" sz="2200" dirty="0"/>
          </a:p>
        </p:txBody>
      </p:sp>
      <p:sp>
        <p:nvSpPr>
          <p:cNvPr id="15" name="Text 12"/>
          <p:cNvSpPr/>
          <p:nvPr/>
        </p:nvSpPr>
        <p:spPr>
          <a:xfrm>
            <a:off x="1280160" y="2560320"/>
            <a:ext cx="3063240" cy="274320"/>
          </a:xfrm>
          <a:prstGeom prst="rect">
            <a:avLst/>
          </a:prstGeom>
          <a:noFill/>
          <a:ln/>
        </p:spPr>
        <p:txBody>
          <a:bodyPr wrap="square" lIns="0" tIns="0" rIns="0" bIns="0" rtlCol="0" anchor="ctr"/>
          <a:lstStyle/>
          <a:p>
            <a:pPr marL="0" indent="0">
              <a:buNone/>
            </a:pPr>
            <a:r>
              <a:rPr lang="en-US" sz="1400" b="1" dirty="0">
                <a:solidFill>
                  <a:srgbClr val="F4F1E8"/>
                </a:solidFill>
                <a:latin typeface="Georgia" pitchFamily="34" charset="0"/>
                <a:ea typeface="Georgia" pitchFamily="34" charset="-122"/>
                <a:cs typeface="Georgia" pitchFamily="34" charset="-120"/>
              </a:rPr>
              <a:t>Protect what matters</a:t>
            </a:r>
            <a:endParaRPr lang="en-US" sz="1400" dirty="0"/>
          </a:p>
        </p:txBody>
      </p:sp>
      <p:sp>
        <p:nvSpPr>
          <p:cNvPr id="16" name="Text 13"/>
          <p:cNvSpPr/>
          <p:nvPr/>
        </p:nvSpPr>
        <p:spPr>
          <a:xfrm>
            <a:off x="1280160" y="2834640"/>
            <a:ext cx="3063240" cy="411480"/>
          </a:xfrm>
          <a:prstGeom prst="rect">
            <a:avLst/>
          </a:prstGeom>
          <a:noFill/>
          <a:ln/>
        </p:spPr>
        <p:txBody>
          <a:bodyPr wrap="square" lIns="0" tIns="0" rIns="0" bIns="0" rtlCol="0" anchor="t"/>
          <a:lstStyle/>
          <a:p>
            <a:pPr marL="0" indent="0">
              <a:buNone/>
            </a:pPr>
            <a:r>
              <a:rPr lang="en-US" sz="1050" dirty="0">
                <a:solidFill>
                  <a:srgbClr val="C9C1B5"/>
                </a:solidFill>
                <a:latin typeface="Calibri" pitchFamily="34" charset="0"/>
                <a:ea typeface="Calibri" pitchFamily="34" charset="-122"/>
                <a:cs typeface="Calibri" pitchFamily="34" charset="-120"/>
              </a:rPr>
              <a:t>No training by default, ZDR, SSO/RBAC — and classify data before it leaves.</a:t>
            </a:r>
            <a:endParaRPr lang="en-US" sz="1050" dirty="0"/>
          </a:p>
        </p:txBody>
      </p:sp>
      <p:sp>
        <p:nvSpPr>
          <p:cNvPr id="17" name="Shape 14"/>
          <p:cNvSpPr/>
          <p:nvPr/>
        </p:nvSpPr>
        <p:spPr>
          <a:xfrm>
            <a:off x="4645152" y="2450592"/>
            <a:ext cx="3977640" cy="841248"/>
          </a:xfrm>
          <a:prstGeom prst="rect">
            <a:avLst/>
          </a:prstGeom>
          <a:solidFill>
            <a:srgbClr val="32302C"/>
          </a:solidFill>
          <a:ln w="9525">
            <a:solidFill>
              <a:srgbClr val="4A463F"/>
            </a:solidFill>
            <a:prstDash val="solid"/>
          </a:ln>
        </p:spPr>
        <p:txBody>
          <a:bodyPr/>
          <a:lstStyle/>
          <a:p>
            <a:endParaRPr lang="en-IN"/>
          </a:p>
        </p:txBody>
      </p:sp>
      <p:sp>
        <p:nvSpPr>
          <p:cNvPr id="18" name="Text 15"/>
          <p:cNvSpPr/>
          <p:nvPr/>
        </p:nvSpPr>
        <p:spPr>
          <a:xfrm>
            <a:off x="4809744" y="2560320"/>
            <a:ext cx="640080" cy="457200"/>
          </a:xfrm>
          <a:prstGeom prst="rect">
            <a:avLst/>
          </a:prstGeom>
          <a:noFill/>
          <a:ln/>
        </p:spPr>
        <p:txBody>
          <a:bodyPr wrap="square" lIns="0" tIns="0" rIns="0" bIns="0" rtlCol="0" anchor="ctr"/>
          <a:lstStyle/>
          <a:p>
            <a:pPr marL="0" indent="0">
              <a:buNone/>
            </a:pPr>
            <a:r>
              <a:rPr lang="en-US" sz="2200" b="1" dirty="0">
                <a:solidFill>
                  <a:srgbClr val="C8633F"/>
                </a:solidFill>
                <a:latin typeface="Georgia" pitchFamily="34" charset="0"/>
                <a:ea typeface="Georgia" pitchFamily="34" charset="-122"/>
                <a:cs typeface="Georgia" pitchFamily="34" charset="-120"/>
              </a:rPr>
              <a:t>04</a:t>
            </a:r>
            <a:endParaRPr lang="en-US" sz="2200" dirty="0"/>
          </a:p>
        </p:txBody>
      </p:sp>
      <p:sp>
        <p:nvSpPr>
          <p:cNvPr id="19" name="Text 16"/>
          <p:cNvSpPr/>
          <p:nvPr/>
        </p:nvSpPr>
        <p:spPr>
          <a:xfrm>
            <a:off x="5422392" y="2560320"/>
            <a:ext cx="3063240" cy="274320"/>
          </a:xfrm>
          <a:prstGeom prst="rect">
            <a:avLst/>
          </a:prstGeom>
          <a:noFill/>
          <a:ln/>
        </p:spPr>
        <p:txBody>
          <a:bodyPr wrap="square" lIns="0" tIns="0" rIns="0" bIns="0" rtlCol="0" anchor="ctr"/>
          <a:lstStyle/>
          <a:p>
            <a:pPr marL="0" indent="0">
              <a:buNone/>
            </a:pPr>
            <a:r>
              <a:rPr lang="en-US" sz="1400" b="1" dirty="0">
                <a:solidFill>
                  <a:srgbClr val="F4F1E8"/>
                </a:solidFill>
                <a:latin typeface="Georgia" pitchFamily="34" charset="0"/>
                <a:ea typeface="Georgia" pitchFamily="34" charset="-122"/>
                <a:cs typeface="Georgia" pitchFamily="34" charset="-120"/>
              </a:rPr>
              <a:t>Adopt responsibly</a:t>
            </a:r>
            <a:endParaRPr lang="en-US" sz="1400" dirty="0"/>
          </a:p>
        </p:txBody>
      </p:sp>
      <p:sp>
        <p:nvSpPr>
          <p:cNvPr id="20" name="Text 17"/>
          <p:cNvSpPr/>
          <p:nvPr/>
        </p:nvSpPr>
        <p:spPr>
          <a:xfrm>
            <a:off x="5422392" y="2834640"/>
            <a:ext cx="3063240" cy="411480"/>
          </a:xfrm>
          <a:prstGeom prst="rect">
            <a:avLst/>
          </a:prstGeom>
          <a:noFill/>
          <a:ln/>
        </p:spPr>
        <p:txBody>
          <a:bodyPr wrap="square" lIns="0" tIns="0" rIns="0" bIns="0" rtlCol="0" anchor="t"/>
          <a:lstStyle/>
          <a:p>
            <a:pPr marL="0" indent="0">
              <a:buNone/>
            </a:pPr>
            <a:r>
              <a:rPr lang="en-US" sz="1050" dirty="0">
                <a:solidFill>
                  <a:srgbClr val="C9C1B5"/>
                </a:solidFill>
                <a:latin typeface="Calibri" pitchFamily="34" charset="0"/>
                <a:ea typeface="Calibri" pitchFamily="34" charset="-122"/>
                <a:cs typeface="Calibri" pitchFamily="34" charset="-120"/>
              </a:rPr>
              <a:t>Human oversight on consequential calls; choose build, buy, or partner deliberately.</a:t>
            </a:r>
            <a:endParaRPr lang="en-US" sz="1050" dirty="0"/>
          </a:p>
        </p:txBody>
      </p:sp>
      <p:sp>
        <p:nvSpPr>
          <p:cNvPr id="21" name="Shape 18"/>
          <p:cNvSpPr/>
          <p:nvPr/>
        </p:nvSpPr>
        <p:spPr>
          <a:xfrm>
            <a:off x="502920" y="3456432"/>
            <a:ext cx="8138160" cy="1170432"/>
          </a:xfrm>
          <a:prstGeom prst="rect">
            <a:avLst/>
          </a:prstGeom>
          <a:solidFill>
            <a:srgbClr val="C8633F"/>
          </a:solidFill>
          <a:ln/>
        </p:spPr>
        <p:txBody>
          <a:bodyPr/>
          <a:lstStyle/>
          <a:p>
            <a:endParaRPr lang="en-IN"/>
          </a:p>
        </p:txBody>
      </p:sp>
      <p:sp>
        <p:nvSpPr>
          <p:cNvPr id="22" name="Text 19"/>
          <p:cNvSpPr/>
          <p:nvPr/>
        </p:nvSpPr>
        <p:spPr>
          <a:xfrm>
            <a:off x="713232" y="3566160"/>
            <a:ext cx="3657600" cy="274320"/>
          </a:xfrm>
          <a:prstGeom prst="rect">
            <a:avLst/>
          </a:prstGeom>
          <a:noFill/>
          <a:ln/>
        </p:spPr>
        <p:txBody>
          <a:bodyPr wrap="square" lIns="0" tIns="0" rIns="0" bIns="0" rtlCol="0" anchor="ctr"/>
          <a:lstStyle/>
          <a:p>
            <a:pPr marL="0" indent="0">
              <a:buNone/>
            </a:pPr>
            <a:r>
              <a:rPr lang="en-US" sz="1200" b="1" kern="0" spc="200" dirty="0">
                <a:solidFill>
                  <a:srgbClr val="FFF3EC"/>
                </a:solidFill>
                <a:latin typeface="Calibri" pitchFamily="34" charset="0"/>
                <a:ea typeface="Calibri" pitchFamily="34" charset="-122"/>
                <a:cs typeface="Calibri" pitchFamily="34" charset="-120"/>
              </a:rPr>
              <a:t>TRAINER'S NOTES</a:t>
            </a:r>
            <a:endParaRPr lang="en-US" sz="1200" dirty="0"/>
          </a:p>
        </p:txBody>
      </p:sp>
      <p:sp>
        <p:nvSpPr>
          <p:cNvPr id="23" name="Text 20"/>
          <p:cNvSpPr/>
          <p:nvPr/>
        </p:nvSpPr>
        <p:spPr>
          <a:xfrm>
            <a:off x="713232" y="3840480"/>
            <a:ext cx="7726680" cy="731520"/>
          </a:xfrm>
          <a:prstGeom prst="rect">
            <a:avLst/>
          </a:prstGeom>
          <a:noFill/>
          <a:ln/>
        </p:spPr>
        <p:txBody>
          <a:bodyPr wrap="square" lIns="0" tIns="0" rIns="0" bIns="0" rtlCol="0" anchor="t"/>
          <a:lstStyle/>
          <a:p>
            <a:pPr marL="0" indent="0">
              <a:lnSpc>
                <a:spcPct val="102000"/>
              </a:lnSpc>
              <a:buNone/>
            </a:pPr>
            <a:r>
              <a:rPr lang="en-US" sz="1100" b="1" dirty="0">
                <a:solidFill>
                  <a:srgbClr val="FFF6F0"/>
                </a:solidFill>
                <a:latin typeface="Calibri" pitchFamily="34" charset="0"/>
                <a:ea typeface="Calibri" pitchFamily="34" charset="-122"/>
                <a:cs typeface="Calibri" pitchFamily="34" charset="-120"/>
              </a:rPr>
              <a:t>Close on the through-line: economics and trust are two halves of the same decision. </a:t>
            </a:r>
            <a:r>
              <a:rPr lang="en-US" sz="1100" dirty="0">
                <a:solidFill>
                  <a:srgbClr val="FFF6F0"/>
                </a:solidFill>
                <a:latin typeface="Calibri" pitchFamily="34" charset="0"/>
                <a:ea typeface="Calibri" pitchFamily="34" charset="-122"/>
                <a:cs typeface="Calibri" pitchFamily="34" charset="-120"/>
              </a:rPr>
              <a:t>Send leaders away with one action each — set a default model tier, turn on caching, mandate data classification, or define where humans must sign off. Encourage a small pilot to baseline real cost before scaling, and revisit pricing (mid-2026 list) and policy quarterly. Open the floor for their highest-stakes use case.</a:t>
            </a:r>
            <a:endParaRPr lang="en-US" sz="1100" dirty="0"/>
          </a:p>
        </p:txBody>
      </p:sp>
      <p:sp>
        <p:nvSpPr>
          <p:cNvPr id="24" name="Text 21"/>
          <p:cNvSpPr/>
          <p:nvPr/>
        </p:nvSpPr>
        <p:spPr>
          <a:xfrm>
            <a:off x="502920" y="4736592"/>
            <a:ext cx="5486400" cy="274320"/>
          </a:xfrm>
          <a:prstGeom prst="rect">
            <a:avLst/>
          </a:prstGeom>
          <a:noFill/>
          <a:ln/>
        </p:spPr>
        <p:txBody>
          <a:bodyPr wrap="square" lIns="0" tIns="0" rIns="0" bIns="0" rtlCol="0" anchor="ctr"/>
          <a:lstStyle/>
          <a:p>
            <a:pPr marL="0" indent="0">
              <a:buNone/>
            </a:pPr>
            <a:r>
              <a:rPr lang="en-US" sz="900" dirty="0">
                <a:solidFill>
                  <a:srgbClr val="9A9288"/>
                </a:solidFill>
                <a:latin typeface="Calibri" pitchFamily="34" charset="0"/>
                <a:ea typeface="Calibri" pitchFamily="34" charset="-122"/>
                <a:cs typeface="Calibri" pitchFamily="34" charset="-120"/>
              </a:rPr>
              <a:t>Anthropic  ·  Claude Enterprise Training</a:t>
            </a:r>
            <a:endParaRPr lang="en-US" sz="900" dirty="0"/>
          </a:p>
        </p:txBody>
      </p:sp>
      <p:sp>
        <p:nvSpPr>
          <p:cNvPr id="25" name="Text 22"/>
          <p:cNvSpPr/>
          <p:nvPr/>
        </p:nvSpPr>
        <p:spPr>
          <a:xfrm>
            <a:off x="8321040" y="4736592"/>
            <a:ext cx="365760" cy="274320"/>
          </a:xfrm>
          <a:prstGeom prst="rect">
            <a:avLst/>
          </a:prstGeom>
          <a:noFill/>
          <a:ln/>
        </p:spPr>
        <p:txBody>
          <a:bodyPr wrap="square" lIns="0" tIns="0" rIns="0" bIns="0" rtlCol="0" anchor="ctr"/>
          <a:lstStyle/>
          <a:p>
            <a:pPr marL="0" indent="0" algn="r">
              <a:buNone/>
            </a:pPr>
            <a:r>
              <a:rPr lang="en-US" sz="900" dirty="0">
                <a:solidFill>
                  <a:srgbClr val="9A928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3057</Words>
  <Application>Microsoft Office PowerPoint</Application>
  <PresentationFormat>On-screen Show (16:9)</PresentationFormat>
  <Paragraphs>234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Shah</dc:creator>
  <cp:lastModifiedBy>Nikhil Shah</cp:lastModifiedBy>
  <cp:revision>1</cp:revision>
  <dcterms:created xsi:type="dcterms:W3CDTF">2026-06-28T08:01:29Z</dcterms:created>
  <dcterms:modified xsi:type="dcterms:W3CDTF">2026-06-28T08:08:08Z</dcterms:modified>
</cp:coreProperties>
</file>