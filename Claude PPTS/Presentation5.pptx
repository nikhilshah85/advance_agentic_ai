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4660"/>
  </p:normalViewPr>
  <p:slideViewPr>
    <p:cSldViewPr snapToGrid="0">
      <p:cViewPr varScale="1">
        <p:scale>
          <a:sx n="68" d="100"/>
          <a:sy n="68" d="100"/>
        </p:scale>
        <p:origin x="62" y="4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Revenue ($k)</c:v>
                </c:pt>
              </c:strCache>
            </c:strRef>
          </c:tx>
          <c:spPr>
            <a:solidFill>
              <a:srgbClr val="C15F3C">
                <a:alpha val="100000"/>
              </a:srgbClr>
            </a:solidFill>
            <a:effectLst/>
          </c:spPr>
          <c:invertIfNegative val="0"/>
          <c:cat>
            <c:strRef>
              <c:f>Sheet1!$A$2:$A$9</c:f>
              <c:strCache>
                <c:ptCount val="8"/>
                <c:pt idx="0">
                  <c:v>W1</c:v>
                </c:pt>
                <c:pt idx="1">
                  <c:v>W2</c:v>
                </c:pt>
                <c:pt idx="2">
                  <c:v>W3</c:v>
                </c:pt>
                <c:pt idx="3">
                  <c:v>W4</c:v>
                </c:pt>
                <c:pt idx="4">
                  <c:v>W5</c:v>
                </c:pt>
                <c:pt idx="5">
                  <c:v>W6</c:v>
                </c:pt>
                <c:pt idx="6">
                  <c:v>W7</c:v>
                </c:pt>
                <c:pt idx="7">
                  <c:v>W8</c:v>
                </c:pt>
              </c:strCache>
            </c:strRef>
          </c:cat>
          <c:val>
            <c:numRef>
              <c:f>Sheet1!$B$2:$B$9</c:f>
              <c:numCache>
                <c:formatCode>General</c:formatCode>
                <c:ptCount val="8"/>
                <c:pt idx="0">
                  <c:v>108</c:v>
                </c:pt>
                <c:pt idx="1">
                  <c:v>116</c:v>
                </c:pt>
                <c:pt idx="2">
                  <c:v>112</c:v>
                </c:pt>
                <c:pt idx="3">
                  <c:v>124</c:v>
                </c:pt>
                <c:pt idx="4">
                  <c:v>121</c:v>
                </c:pt>
                <c:pt idx="5">
                  <c:v>130</c:v>
                </c:pt>
                <c:pt idx="6">
                  <c:v>134</c:v>
                </c:pt>
                <c:pt idx="7">
                  <c:v>142</c:v>
                </c:pt>
              </c:numCache>
            </c:numRef>
          </c:val>
          <c:extLst>
            <c:ext xmlns:c16="http://schemas.microsoft.com/office/drawing/2014/chart" uri="{C3380CC4-5D6E-409C-BE32-E72D297353CC}">
              <c16:uniqueId val="{00000000-E363-4FBF-9F54-AC46D40A896C}"/>
            </c:ext>
          </c:extLst>
        </c:ser>
        <c:dLbls>
          <c:showLegendKey val="0"/>
          <c:showVal val="0"/>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E6656"/>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4DDC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E6656"/>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solidFill>
      <a:srgbClr val="FBF9F4"/>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6/28/2026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and framing (≈2 min). This session covers Claude Cowork — Anthropic's agentic desktop assistant that extends Claude Code's power to everyday knowledge work — and the Model Context Protocol (MCP), the open standard that connects it to enterprise systems. Set expectations: this is a mixed audience of end users and admins, so we'll move from 'what it does' to 'how to connect, manage, and govern it.' Trainer tip: ask the room who has used chat-based AI vs. an agent that completes a whole task end to end — this primes the Chat-vs-Cowork distinction coming up. Note the dates: Cowork launched January 2026; MCP was open-sourced by Anthropic in November 2024.</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walk-through (≈2 min). Preview the arc of the session: we start with what Cowork is, then how it connects to your systems via MCP, then the controls that keep it safe, and finally hands-on scenarios. Tell learners the four cards map one-to-one to the four sections of the deck. Trainer tip: ask each person to pick the one card most relevant to their role — end users usually gravitate to 1 and 4, admins to 2 and 3 — and promise that everyone gets something actionable. Keep this slide brief; it's a signpost, not a teaching moment.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mental model (≈4 min). This is the single most important distinction in the session: Chat returns information; Cowork returns completed work. With Cowork you describe the outcome ('prepare the weekly report') and the cadence ('every Friday'), and it executes the steps for you. Emphasize the phrase Anthropic uses: 'from delegation to deliverables.' Trainer tip: give a concrete contrast — in Chat you'd ask 'how do I summarize these 12 PDFs?' and then do it; in Cowork you say 'summarize these 12 PDFs into a one-page brief' and it produces the file. Watch for the misconception that Cowork is 'just a smarter chatbot' — it isn't; it takes actions on your machine.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it actually works (≈4 min). Three points to land: (1) Cowork lives on the desktop, the surface where most knowledge work happens, so it can move between local files, folders, and everyday apps. (2) It runs inside a sandboxed virtual machine in Claude Desktop with code execution — that sandbox is a security boundary, which we'll revisit in the governance section. (3) Scheduled tasks turn one-off help into standing automation. Use the visual: messy inputs on the left become a single finished deliverable on the right. Trainer tip: ask the group to name one repetitive weekly task they'd hand off — you'll reuse those answers in the scenarios section.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matters for non-technical teams (≈3 min). Tell the origin story: marketing and data teams at Anthropic bypassed the chat interface and reached for Claude Code because it could do real multi-step work — build tools, mine data. Cowork packages that power in an approachable experience, so people with no coding background get the same leverage. Mention plug-ins (launched late January 2026) that tailor Cowork to a department's specialized tasks, and that the Enterprise tier gives admins control over access, spend, and usage. Trainer tip: reassure non-technical attendees explicitly — 'if you can describe the result you want, you can use this.'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Introducing MCP (≈3 min). Frame the problem MCP solves: even the best models are limited when they're isolated from your data behind information silos, and historically every new data source meant its own custom integration. MCP replaces that fragmentation with a single, universal, two-way standard — Anthropic open-sourced it in November 2024. Stress 'open': it's not a proprietary lock-in; there are public SDKs (TypeScript and Python) and a broad ecosystem. Trainer tip: analogy — MCP is like USB-C for AI tools: one standard port instead of a drawer full of adapters. This sets up the architecture slide next.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architecture (≈4 min). Keep it conceptual for the mixed audience. Two roles: clients (AI applications like Claude) and servers (which expose data and actions). A server can run locally — on your own device, good for desktop integrations and local tools — or remotely, hosted on the internet for web services and cloud apps. Then introduce the three building blocks every server can offer: Tools (actions — search, create, modify), Resources (data — files, documents, records), and Prompts (predefined interaction templates). Use the hub diagram: Claude at the center, systems on the spokes. Trainer tip: for admins, flag the local-vs-remote split now — it affects where data flows and how you govern each, which we cover in section 3.</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Connecting to real systems (≈4 min). Make it concrete: connectors give Cowork context from the tools your teams already use — Slack, Salesforce, Microsoft 365, Jira, Google Drive, internal systems — and crucially they're two-way, so Claude can write back (update a ticket, draft a reply, post to a channel, save a file), not just read. End users enable connectors from the Customize panel in the left sidebar and authorize once. For admins: highlight Enterprise-Managed Authorization (EMA), launched June 2026 in beta for Team and Enterprise, which provisions connectors through your identity provider like Okta — employees inherit access on first login with no individual consent screens, and access is revoked via the normal joiner-mover-leaver lifecycle. Trainer tip: this is the slide where IT leans in — connect EMA to your existing identity governance.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Managing servers (≈4 min). The key admin truth: out of the box, anyone can connect any MCP server, and while Anthropic reviews connectors for its Directory it does not security-audit or manage them — responsibility for what runs sits with your organization. Walk the four levers from least to most restrictive: (1) users enable/disable tools per session in the Customize panel; (2) allowlists and denylists filter what can be added; (3) a managed configuration pushes a fixed, approved set to everyone; (4) you can disable MCP entirely, and always monitor actual usage. Trainer tip: recommend starting restrictive — a small fixed set — then expanding as teams prove need. Note the small accent bars are deliberate card markers, not the topic.</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Permissions and context (≈4 min). MCP's security model centers on user control. Four points: (1) you authenticate each connector individually and can disconnect any time; (2) connector permissions mirror your existing access on the external service — Claude never gets more than you have; (3) admins choose read-only versus write authorization per connector, a great way to start safely; (4) tool hints — readOnlyHint and destructiveHint — let Claude and the user understand whether an action just reads data or could modify or delete it. Finally, scoping context: toggle which tools are active in a session so Claude only sees what the task needs. Trainer tip: 'least privilege' is the mantra — read-only first, write only when the workflow truly requires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and governance (≈4 min). Reframe Cowork for security-minded attendees: because it has local file access, code execution, browser sessions, scheduled tasks, and connectors, treat it like a privileged endpoint agent, not a chat window. Governance works in layers — organization (policies, allowlists, data residency), team (connector categories, write access), user (per-connector authorization), and plugin/server (sandboxing and review). Then the risk checklist: broad folder grants, prompt injection through browser or document content, plugin and MCP supply-chain exposure, and incomplete audit coverage. Note that connector auth uses OAuth 2.0 and, on Enterprise, conversation data isn't used to train models and audit logs attribute every action. Trainer tip: give one mitigation per risk so the slide feels actionable, not alarming.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overview (≈2 min). These four buckets cover most real Cowork usage: documents, spreadsheets, research, and multi-step tasks. The common thread is that they're high-effort and repeatable — exactly the work people tend to skip or rush. Tie back to the exercise from slide 4: map the tasks attendees named into these four buckets. Trainer tip: keep this slide short; it's a menu. The next two slides walk two of these end to end so people see the full agentic loop, not just a feature list.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 walkthrough (≈4 min). Narrate the full agentic loop so people see more than a single answer. The brand-audit example (powered by Claude Opus 4.7) shows Claude reading a large folder of image exports at full resolution, comparing them to brand guidelines, and returning a categorized list of violations — off-brand colors, outdated logos, missing legal copy — each with a confidence rating. Emphasize the four moves: point, read, detect, deliver. Offer the variants on the slide: adapting a textbook page to multiple reading levels, or reorganizing and renaming a cluttered Downloads folder. Trainer tip: ask 'how long would this take you by hand?' to make the time savings visceral.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Spreadsheet &amp; scheduling walkthrough (≈4 min). This is the scenario that makes scheduled tasks click. The instruction — 'pull my metrics from the analytics dashboard and drop them into the weekly report template every Friday' — is given once; Cowork then runs it on cadence, moving data from one app into another and returning a finished report. Point to the live-looking metrics and the 8-week revenue trend as the kind of output it assembles. Stress the three reasons it's a perfect Cowork fit: it spans multiple apps, it repeats, and it ends in a deliverable rather than a chat reply. The down arrow on conversions (-8.2%) is a good moment to note Claude can also flag and comment on anomalies. Trainer tip: invite attendees to name their own 'every-Friday' task to schedule first.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Hands-on lab (≈15 min of doing + 3 min debrief). This is the practice moment — get everyone's hands on the product. Set it up: each person turns a small folder of raw notes or PDFs into a filed one-page brief using Cowork plus exactly one MCP connector. Walk the five steps live first, then let them go: (1) point Claude at a folder of 3–5 files; (2) enable a single connector — Google Drive, Slack, or Jira — in the Customize panel and authorize once; (3) prompt 'summarize these into a one-page brief and save it to [tool]'; (4) review the plan Claude proposes and approve the write action when prompted — reinforce that writes ask for approval; (5) refine the scope or set a weekly cadence and re-run. Point to the 'Done when' checklist as the success bar: a generated brief, saved back through a tool (not copy-pasted), with tools scoped to just the task. Trainer tips: pre-stage a sample folder for anyone without handy files; circulate to help with the first connector authorization, which is where people get stuck; for read-only environments, have them stop at the brief and describe where it would be filed. Debrief by asking two or three people what they delegated and what surprised them — this bridges straight into the rollout best practices next.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Rollout best practices (≈3 min). This is the 'what do I do Monday' slide. Six habits: (1) start scoped — specific folders, a small approved connector set; (2) read-only first, adding write access only where needed; (3) govern centrally via managed configuration and identity-provider provisioning; (4) review plugins and servers before approving, since Anthropic doesn't security-audit them for you; (5) automate the routine, repetitive work first for fast wins; (6) monitor usage and route logs to your existing tooling. Trainer tip: encourage each attendee to leave with one concrete next step — a folder to scope, a connector to request, or a weekly task to schedule.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WRAP-UP (≈3 min) — read this as your closing script. Recap the four pillars on screen: (1) Cowork is an agentic desktop assistant that completes multi-step knowledge work end to end, going well beyond coding and beyond chat. (2) MCP is the open standard — created by Anthropic, open-sourced November 2024 — that connects Claude to enterprise systems and data through a single, two-way interface, with local and remote servers exposing Tools, Resources, and Prompts. (3) Control stays with you and your admins: authorize connectors individually, choose read-only vs. write, apply allowlists/denylists or a fixed managed set, lean on tool hints, and provision centrally through your identity provider (e.g., Okta EMA). Treat Cowork as a privileged desktop agent and govern it in layers. (4) The payoff is real and repeatable across documents, spreadsheets, research, and scheduled multi-step tasks. CALL TO ACTION: ask everyone to commit to one next step — end users pick a weekly task to delegate; admins define the initial approved connector set and folder scopes. Leave 3–5 minutes for Q&amp;A. Common questions to anticipate: 'Is our data used for training?' (No on Enterprise.) 'What if a connector is compromised?' (Scope, review, and audit — supply-chain risk is real.) 'Does Claude get more access than me?' (No — permissions mirror your own.) Thank the room and share where to download Claude Desktop and request connector access.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7976848"/>
      </p:ext>
    </p:extLst>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EFE6"/>
        </a:solidFill>
        <a:effectLst/>
      </p:bgPr>
    </p:bg>
    <p:spTree>
      <p:nvGrpSpPr>
        <p:cNvPr id="1" name=""/>
        <p:cNvGrpSpPr/>
        <p:nvPr/>
      </p:nvGrpSpPr>
      <p:grpSpPr>
        <a:xfrm>
          <a:off x="0" y="0"/>
          <a:ext cx="0" cy="0"/>
          <a:chOff x="0" y="0"/>
          <a:chExt cx="0" cy="0"/>
        </a:xfrm>
      </p:grpSpPr>
      <p:pic>
        <p:nvPicPr>
          <p:cNvPr id="2" name="Image 0" descr="/agent/turn2/workspace/images/image-529239c35705b98b0eb3995df5684dd0.jpg"/>
          <p:cNvPicPr>
            <a:picLocks noChangeAspect="1"/>
          </p:cNvPicPr>
          <p:nvPr/>
        </p:nvPicPr>
        <p:blipFill>
          <a:blip r:embed="rId3"/>
          <a:srcRect t="7811" b="7811"/>
          <a:stretch/>
        </p:blipFill>
        <p:spPr>
          <a:xfrm>
            <a:off x="0" y="0"/>
            <a:ext cx="12191695" cy="6858000"/>
          </a:xfrm>
          <a:prstGeom prst="rect">
            <a:avLst/>
          </a:prstGeom>
        </p:spPr>
      </p:pic>
      <p:sp>
        <p:nvSpPr>
          <p:cNvPr id="3" name="Shape 0"/>
          <p:cNvSpPr/>
          <p:nvPr/>
        </p:nvSpPr>
        <p:spPr>
          <a:xfrm>
            <a:off x="0" y="0"/>
            <a:ext cx="6949440" cy="6858000"/>
          </a:xfrm>
          <a:prstGeom prst="rect">
            <a:avLst/>
          </a:prstGeom>
          <a:solidFill>
            <a:srgbClr val="F2EFE6">
              <a:alpha val="82000"/>
            </a:srgbClr>
          </a:solidFill>
          <a:ln/>
        </p:spPr>
        <p:txBody>
          <a:bodyPr/>
          <a:lstStyle/>
          <a:p>
            <a:endParaRPr lang="en-IN"/>
          </a:p>
        </p:txBody>
      </p:sp>
      <p:sp>
        <p:nvSpPr>
          <p:cNvPr id="4" name="Text 1"/>
          <p:cNvSpPr/>
          <p:nvPr/>
        </p:nvSpPr>
        <p:spPr>
          <a:xfrm>
            <a:off x="640080" y="1234440"/>
            <a:ext cx="6400800" cy="320040"/>
          </a:xfrm>
          <a:prstGeom prst="rect">
            <a:avLst/>
          </a:prstGeom>
          <a:noFill/>
          <a:ln/>
        </p:spPr>
        <p:txBody>
          <a:bodyPr wrap="square" lIns="0" tIns="0" rIns="0" bIns="0" rtlCol="0" anchor="ctr"/>
          <a:lstStyle/>
          <a:p>
            <a:pPr marL="0" indent="0">
              <a:buNone/>
            </a:pPr>
            <a:r>
              <a:rPr lang="en-US" sz="1300" b="1" kern="0" spc="400" dirty="0">
                <a:solidFill>
                  <a:srgbClr val="C15F3C"/>
                </a:solidFill>
                <a:latin typeface="Calibri" pitchFamily="34" charset="0"/>
                <a:ea typeface="Calibri" pitchFamily="34" charset="-122"/>
                <a:cs typeface="Calibri" pitchFamily="34" charset="-120"/>
              </a:rPr>
              <a:t>CLAUDE TRAINING</a:t>
            </a:r>
            <a:endParaRPr lang="en-US" sz="1300" dirty="0"/>
          </a:p>
        </p:txBody>
      </p:sp>
      <p:sp>
        <p:nvSpPr>
          <p:cNvPr id="5" name="Text 2"/>
          <p:cNvSpPr/>
          <p:nvPr/>
        </p:nvSpPr>
        <p:spPr>
          <a:xfrm>
            <a:off x="640080" y="1691640"/>
            <a:ext cx="6583680" cy="1828800"/>
          </a:xfrm>
          <a:prstGeom prst="rect">
            <a:avLst/>
          </a:prstGeom>
          <a:noFill/>
          <a:ln/>
        </p:spPr>
        <p:txBody>
          <a:bodyPr wrap="square" lIns="0" tIns="0" rIns="0" bIns="0" rtlCol="0" anchor="ctr"/>
          <a:lstStyle/>
          <a:p>
            <a:pPr marL="0" indent="0">
              <a:lnSpc>
                <a:spcPct val="102000"/>
              </a:lnSpc>
              <a:buNone/>
            </a:pPr>
            <a:r>
              <a:rPr lang="en-US" sz="4600" dirty="0">
                <a:solidFill>
                  <a:srgbClr val="23211C"/>
                </a:solidFill>
                <a:latin typeface="Georgia" pitchFamily="34" charset="0"/>
                <a:ea typeface="Georgia" pitchFamily="34" charset="-122"/>
                <a:cs typeface="Georgia" pitchFamily="34" charset="-120"/>
              </a:rPr>
              <a:t>Claude Cowork &amp; MCP Servers</a:t>
            </a:r>
            <a:endParaRPr lang="en-US" sz="4600" dirty="0"/>
          </a:p>
        </p:txBody>
      </p:sp>
      <p:sp>
        <p:nvSpPr>
          <p:cNvPr id="6" name="Text 3"/>
          <p:cNvSpPr/>
          <p:nvPr/>
        </p:nvSpPr>
        <p:spPr>
          <a:xfrm>
            <a:off x="640080" y="3611880"/>
            <a:ext cx="6126480" cy="1005840"/>
          </a:xfrm>
          <a:prstGeom prst="rect">
            <a:avLst/>
          </a:prstGeom>
          <a:noFill/>
          <a:ln/>
        </p:spPr>
        <p:txBody>
          <a:bodyPr wrap="square" lIns="0" tIns="0" rIns="0" bIns="0" rtlCol="0" anchor="ctr"/>
          <a:lstStyle/>
          <a:p>
            <a:pPr marL="0" indent="0">
              <a:lnSpc>
                <a:spcPct val="112000"/>
              </a:lnSpc>
              <a:buNone/>
            </a:pPr>
            <a:r>
              <a:rPr lang="en-US" sz="1600" dirty="0">
                <a:solidFill>
                  <a:srgbClr val="6E6656"/>
                </a:solidFill>
                <a:latin typeface="Calibri" pitchFamily="34" charset="0"/>
                <a:ea typeface="Calibri" pitchFamily="34" charset="-122"/>
                <a:cs typeface="Calibri" pitchFamily="34" charset="-120"/>
              </a:rPr>
              <a:t>The agentic desktop assistant for knowledge work — and how to connect, manage, and govern it with the Model Context Protocol.</a:t>
            </a:r>
            <a:endParaRPr lang="en-US" sz="1600" dirty="0"/>
          </a:p>
        </p:txBody>
      </p:sp>
      <p:sp>
        <p:nvSpPr>
          <p:cNvPr id="7" name="Text 4"/>
          <p:cNvSpPr/>
          <p:nvPr/>
        </p:nvSpPr>
        <p:spPr>
          <a:xfrm>
            <a:off x="640080" y="4937760"/>
            <a:ext cx="6400800" cy="365760"/>
          </a:xfrm>
          <a:prstGeom prst="rect">
            <a:avLst/>
          </a:prstGeom>
          <a:noFill/>
          <a:ln/>
        </p:spPr>
        <p:txBody>
          <a:bodyPr wrap="square" lIns="0" tIns="0" rIns="0" bIns="0" rtlCol="0" anchor="ctr"/>
          <a:lstStyle/>
          <a:p>
            <a:pPr marL="0" indent="0">
              <a:buNone/>
            </a:pPr>
            <a:r>
              <a:rPr lang="en-US" sz="1300" b="1" dirty="0">
                <a:solidFill>
                  <a:srgbClr val="23211C"/>
                </a:solidFill>
                <a:latin typeface="Calibri" pitchFamily="34" charset="0"/>
                <a:ea typeface="Calibri" pitchFamily="34" charset="-122"/>
                <a:cs typeface="Calibri" pitchFamily="34" charset="-120"/>
              </a:rPr>
              <a:t>Audience: </a:t>
            </a:r>
            <a:r>
              <a:rPr lang="en-US" sz="1300" dirty="0">
                <a:solidFill>
                  <a:srgbClr val="6E6656"/>
                </a:solidFill>
                <a:latin typeface="Calibri" pitchFamily="34" charset="0"/>
                <a:ea typeface="Calibri" pitchFamily="34" charset="-122"/>
                <a:cs typeface="Calibri" pitchFamily="34" charset="-120"/>
              </a:rPr>
              <a:t>Enterprise users &amp; administrators</a:t>
            </a:r>
            <a:r>
              <a:rPr lang="en-US" sz="1300" b="1" dirty="0">
                <a:solidFill>
                  <a:srgbClr val="C15F3C"/>
                </a:solidFill>
                <a:latin typeface="Calibri" pitchFamily="34" charset="0"/>
                <a:ea typeface="Calibri" pitchFamily="34" charset="-122"/>
                <a:cs typeface="Calibri" pitchFamily="34" charset="-120"/>
              </a:rPr>
              <a:t>      June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EFE6"/>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292608"/>
          </a:xfrm>
          <a:prstGeom prst="rect">
            <a:avLst/>
          </a:prstGeom>
          <a:noFill/>
          <a:ln/>
        </p:spPr>
        <p:txBody>
          <a:bodyPr wrap="square" lIns="0" tIns="0" rIns="0" bIns="0" rtlCol="0" anchor="ctr"/>
          <a:lstStyle/>
          <a:p>
            <a:pPr marL="0" indent="0">
              <a:buNone/>
            </a:pPr>
            <a:r>
              <a:rPr lang="en-US" sz="1200" b="1" kern="0" spc="300" dirty="0">
                <a:solidFill>
                  <a:srgbClr val="C15F3C"/>
                </a:solidFill>
                <a:latin typeface="Calibri" pitchFamily="34" charset="0"/>
                <a:ea typeface="Calibri" pitchFamily="34" charset="-122"/>
                <a:cs typeface="Calibri" pitchFamily="34" charset="-120"/>
              </a:rPr>
              <a:t>WHAT WE'LL COVER</a:t>
            </a:r>
            <a:endParaRPr lang="en-US" sz="1200" dirty="0"/>
          </a:p>
        </p:txBody>
      </p:sp>
      <p:sp>
        <p:nvSpPr>
          <p:cNvPr id="3" name="Text 1"/>
          <p:cNvSpPr/>
          <p:nvPr/>
        </p:nvSpPr>
        <p:spPr>
          <a:xfrm>
            <a:off x="548640" y="749808"/>
            <a:ext cx="7498080" cy="914400"/>
          </a:xfrm>
          <a:prstGeom prst="rect">
            <a:avLst/>
          </a:prstGeom>
          <a:noFill/>
          <a:ln/>
        </p:spPr>
        <p:txBody>
          <a:bodyPr wrap="square" lIns="0" tIns="0" rIns="0" bIns="0" rtlCol="0" anchor="t"/>
          <a:lstStyle/>
          <a:p>
            <a:pPr marL="0" indent="0" algn="l">
              <a:lnSpc>
                <a:spcPct val="102000"/>
              </a:lnSpc>
              <a:buNone/>
            </a:pPr>
            <a:r>
              <a:rPr lang="en-US" sz="3200" dirty="0">
                <a:solidFill>
                  <a:srgbClr val="23211C"/>
                </a:solidFill>
                <a:latin typeface="Georgia" pitchFamily="34" charset="0"/>
                <a:ea typeface="Georgia" pitchFamily="34" charset="-122"/>
                <a:cs typeface="Georgia" pitchFamily="34" charset="-120"/>
              </a:rPr>
              <a:t>Four things to take away today</a:t>
            </a:r>
            <a:endParaRPr lang="en-US" sz="3200" dirty="0"/>
          </a:p>
        </p:txBody>
      </p:sp>
      <p:sp>
        <p:nvSpPr>
          <p:cNvPr id="4" name="Shape 2"/>
          <p:cNvSpPr/>
          <p:nvPr/>
        </p:nvSpPr>
        <p:spPr>
          <a:xfrm>
            <a:off x="548640" y="1965960"/>
            <a:ext cx="5394960" cy="1078992"/>
          </a:xfrm>
          <a:prstGeom prst="roundRect">
            <a:avLst>
              <a:gd name="adj" fmla="val 8475"/>
            </a:avLst>
          </a:prstGeom>
          <a:solidFill>
            <a:srgbClr val="FBF9F4"/>
          </a:solidFill>
          <a:ln w="12700">
            <a:solidFill>
              <a:srgbClr val="E4DDCC"/>
            </a:solidFill>
            <a:prstDash val="solid"/>
          </a:ln>
          <a:effectLst>
            <a:outerShdw blurRad="114300" dist="38100" dir="8100000" algn="bl" rotWithShape="0">
              <a:srgbClr val="B8AE99">
                <a:alpha val="35000"/>
              </a:srgbClr>
            </a:outerShdw>
          </a:effectLst>
        </p:spPr>
        <p:txBody>
          <a:bodyPr/>
          <a:lstStyle/>
          <a:p>
            <a:endParaRPr lang="en-IN"/>
          </a:p>
        </p:txBody>
      </p:sp>
      <p:sp>
        <p:nvSpPr>
          <p:cNvPr id="5" name="Shape 3"/>
          <p:cNvSpPr/>
          <p:nvPr/>
        </p:nvSpPr>
        <p:spPr>
          <a:xfrm>
            <a:off x="804672" y="2276856"/>
            <a:ext cx="457200" cy="457200"/>
          </a:xfrm>
          <a:prstGeom prst="ellipse">
            <a:avLst/>
          </a:prstGeom>
          <a:solidFill>
            <a:srgbClr val="C15F3C"/>
          </a:solidFill>
          <a:ln/>
        </p:spPr>
        <p:txBody>
          <a:bodyPr/>
          <a:lstStyle/>
          <a:p>
            <a:endParaRPr lang="en-IN"/>
          </a:p>
        </p:txBody>
      </p:sp>
      <p:sp>
        <p:nvSpPr>
          <p:cNvPr id="6" name="Text 4"/>
          <p:cNvSpPr/>
          <p:nvPr/>
        </p:nvSpPr>
        <p:spPr>
          <a:xfrm>
            <a:off x="804672" y="227685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01</a:t>
            </a:r>
            <a:endParaRPr lang="en-US" sz="1600" dirty="0"/>
          </a:p>
        </p:txBody>
      </p:sp>
      <p:sp>
        <p:nvSpPr>
          <p:cNvPr id="7" name="Text 5"/>
          <p:cNvSpPr/>
          <p:nvPr/>
        </p:nvSpPr>
        <p:spPr>
          <a:xfrm>
            <a:off x="1463040" y="2130552"/>
            <a:ext cx="4297680" cy="365760"/>
          </a:xfrm>
          <a:prstGeom prst="rect">
            <a:avLst/>
          </a:prstGeom>
          <a:noFill/>
          <a:ln/>
        </p:spPr>
        <p:txBody>
          <a:bodyPr wrap="square" lIns="0" tIns="0" rIns="0" bIns="0" rtlCol="0" anchor="ctr"/>
          <a:lstStyle/>
          <a:p>
            <a:pPr marL="0" indent="0">
              <a:buNone/>
            </a:pPr>
            <a:r>
              <a:rPr lang="en-US" sz="1650" b="1" dirty="0">
                <a:solidFill>
                  <a:srgbClr val="23211C"/>
                </a:solidFill>
                <a:latin typeface="Georgia" pitchFamily="34" charset="0"/>
                <a:ea typeface="Georgia" pitchFamily="34" charset="-122"/>
                <a:cs typeface="Georgia" pitchFamily="34" charset="-120"/>
              </a:rPr>
              <a:t>Cowork, the agentic desktop assistant</a:t>
            </a:r>
            <a:endParaRPr lang="en-US" sz="1650" dirty="0"/>
          </a:p>
        </p:txBody>
      </p:sp>
      <p:sp>
        <p:nvSpPr>
          <p:cNvPr id="8" name="Text 6"/>
          <p:cNvSpPr/>
          <p:nvPr/>
        </p:nvSpPr>
        <p:spPr>
          <a:xfrm>
            <a:off x="1463040" y="2496312"/>
            <a:ext cx="4297680" cy="457200"/>
          </a:xfrm>
          <a:prstGeom prst="rect">
            <a:avLst/>
          </a:prstGeom>
          <a:noFill/>
          <a:ln/>
        </p:spPr>
        <p:txBody>
          <a:bodyPr wrap="square" lIns="0" tIns="0" rIns="0" bIns="0" rtlCol="0" anchor="ctr"/>
          <a:lstStyle/>
          <a:p>
            <a:pPr marL="0" indent="0">
              <a:lnSpc>
                <a:spcPct val="105000"/>
              </a:lnSpc>
              <a:buNone/>
            </a:pPr>
            <a:r>
              <a:rPr lang="en-US" sz="1250" dirty="0">
                <a:solidFill>
                  <a:srgbClr val="6E6656"/>
                </a:solidFill>
                <a:latin typeface="Calibri" pitchFamily="34" charset="0"/>
                <a:ea typeface="Calibri" pitchFamily="34" charset="-122"/>
                <a:cs typeface="Calibri" pitchFamily="34" charset="-120"/>
              </a:rPr>
              <a:t>What it is and why it goes beyond coding into everyday knowledge work.</a:t>
            </a:r>
            <a:endParaRPr lang="en-US" sz="1250" dirty="0"/>
          </a:p>
        </p:txBody>
      </p:sp>
      <p:sp>
        <p:nvSpPr>
          <p:cNvPr id="9" name="Shape 7"/>
          <p:cNvSpPr/>
          <p:nvPr/>
        </p:nvSpPr>
        <p:spPr>
          <a:xfrm>
            <a:off x="6236208" y="1965960"/>
            <a:ext cx="5394960" cy="1078992"/>
          </a:xfrm>
          <a:prstGeom prst="roundRect">
            <a:avLst>
              <a:gd name="adj" fmla="val 8475"/>
            </a:avLst>
          </a:prstGeom>
          <a:solidFill>
            <a:srgbClr val="FBF9F4"/>
          </a:solidFill>
          <a:ln w="12700">
            <a:solidFill>
              <a:srgbClr val="E4DDCC"/>
            </a:solidFill>
            <a:prstDash val="solid"/>
          </a:ln>
          <a:effectLst>
            <a:outerShdw blurRad="114300" dist="38100" dir="8100000" algn="bl" rotWithShape="0">
              <a:srgbClr val="B8AE99">
                <a:alpha val="35000"/>
              </a:srgbClr>
            </a:outerShdw>
          </a:effectLst>
        </p:spPr>
        <p:txBody>
          <a:bodyPr/>
          <a:lstStyle/>
          <a:p>
            <a:endParaRPr lang="en-IN"/>
          </a:p>
        </p:txBody>
      </p:sp>
      <p:sp>
        <p:nvSpPr>
          <p:cNvPr id="10" name="Shape 8"/>
          <p:cNvSpPr/>
          <p:nvPr/>
        </p:nvSpPr>
        <p:spPr>
          <a:xfrm>
            <a:off x="6492240" y="2276856"/>
            <a:ext cx="457200" cy="457200"/>
          </a:xfrm>
          <a:prstGeom prst="ellipse">
            <a:avLst/>
          </a:prstGeom>
          <a:solidFill>
            <a:srgbClr val="C15F3C"/>
          </a:solidFill>
          <a:ln/>
        </p:spPr>
        <p:txBody>
          <a:bodyPr/>
          <a:lstStyle/>
          <a:p>
            <a:endParaRPr lang="en-IN"/>
          </a:p>
        </p:txBody>
      </p:sp>
      <p:sp>
        <p:nvSpPr>
          <p:cNvPr id="11" name="Text 9"/>
          <p:cNvSpPr/>
          <p:nvPr/>
        </p:nvSpPr>
        <p:spPr>
          <a:xfrm>
            <a:off x="6492240" y="227685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02</a:t>
            </a:r>
            <a:endParaRPr lang="en-US" sz="1600" dirty="0"/>
          </a:p>
        </p:txBody>
      </p:sp>
      <p:sp>
        <p:nvSpPr>
          <p:cNvPr id="12" name="Text 10"/>
          <p:cNvSpPr/>
          <p:nvPr/>
        </p:nvSpPr>
        <p:spPr>
          <a:xfrm>
            <a:off x="7150608" y="2130552"/>
            <a:ext cx="4297680" cy="365760"/>
          </a:xfrm>
          <a:prstGeom prst="rect">
            <a:avLst/>
          </a:prstGeom>
          <a:noFill/>
          <a:ln/>
        </p:spPr>
        <p:txBody>
          <a:bodyPr wrap="square" lIns="0" tIns="0" rIns="0" bIns="0" rtlCol="0" anchor="ctr"/>
          <a:lstStyle/>
          <a:p>
            <a:pPr marL="0" indent="0">
              <a:buNone/>
            </a:pPr>
            <a:r>
              <a:rPr lang="en-US" sz="1650" b="1" dirty="0">
                <a:solidFill>
                  <a:srgbClr val="23211C"/>
                </a:solidFill>
                <a:latin typeface="Georgia" pitchFamily="34" charset="0"/>
                <a:ea typeface="Georgia" pitchFamily="34" charset="-122"/>
                <a:cs typeface="Georgia" pitchFamily="34" charset="-120"/>
              </a:rPr>
              <a:t>Connecting through MCP servers</a:t>
            </a:r>
            <a:endParaRPr lang="en-US" sz="1650" dirty="0"/>
          </a:p>
        </p:txBody>
      </p:sp>
      <p:sp>
        <p:nvSpPr>
          <p:cNvPr id="13" name="Text 11"/>
          <p:cNvSpPr/>
          <p:nvPr/>
        </p:nvSpPr>
        <p:spPr>
          <a:xfrm>
            <a:off x="7150608" y="2496312"/>
            <a:ext cx="4297680" cy="457200"/>
          </a:xfrm>
          <a:prstGeom prst="rect">
            <a:avLst/>
          </a:prstGeom>
          <a:noFill/>
          <a:ln/>
        </p:spPr>
        <p:txBody>
          <a:bodyPr wrap="square" lIns="0" tIns="0" rIns="0" bIns="0" rtlCol="0" anchor="ctr"/>
          <a:lstStyle/>
          <a:p>
            <a:pPr marL="0" indent="0">
              <a:lnSpc>
                <a:spcPct val="105000"/>
              </a:lnSpc>
              <a:buNone/>
            </a:pPr>
            <a:r>
              <a:rPr lang="en-US" sz="1250" dirty="0">
                <a:solidFill>
                  <a:srgbClr val="6E6656"/>
                </a:solidFill>
                <a:latin typeface="Calibri" pitchFamily="34" charset="0"/>
                <a:ea typeface="Calibri" pitchFamily="34" charset="-122"/>
                <a:cs typeface="Calibri" pitchFamily="34" charset="-120"/>
              </a:rPr>
              <a:t>How MCP links Cowork to your enterprise systems and data.</a:t>
            </a:r>
            <a:endParaRPr lang="en-US" sz="1250" dirty="0"/>
          </a:p>
        </p:txBody>
      </p:sp>
      <p:sp>
        <p:nvSpPr>
          <p:cNvPr id="14" name="Shape 12"/>
          <p:cNvSpPr/>
          <p:nvPr/>
        </p:nvSpPr>
        <p:spPr>
          <a:xfrm>
            <a:off x="548640" y="3300984"/>
            <a:ext cx="5394960" cy="1078992"/>
          </a:xfrm>
          <a:prstGeom prst="roundRect">
            <a:avLst>
              <a:gd name="adj" fmla="val 8475"/>
            </a:avLst>
          </a:prstGeom>
          <a:solidFill>
            <a:srgbClr val="FBF9F4"/>
          </a:solidFill>
          <a:ln w="12700">
            <a:solidFill>
              <a:srgbClr val="E4DDCC"/>
            </a:solidFill>
            <a:prstDash val="solid"/>
          </a:ln>
          <a:effectLst>
            <a:outerShdw blurRad="114300" dist="38100" dir="8100000" algn="bl" rotWithShape="0">
              <a:srgbClr val="B8AE99">
                <a:alpha val="35000"/>
              </a:srgbClr>
            </a:outerShdw>
          </a:effectLst>
        </p:spPr>
        <p:txBody>
          <a:bodyPr/>
          <a:lstStyle/>
          <a:p>
            <a:endParaRPr lang="en-IN"/>
          </a:p>
        </p:txBody>
      </p:sp>
      <p:sp>
        <p:nvSpPr>
          <p:cNvPr id="15" name="Shape 13"/>
          <p:cNvSpPr/>
          <p:nvPr/>
        </p:nvSpPr>
        <p:spPr>
          <a:xfrm>
            <a:off x="804672" y="3611880"/>
            <a:ext cx="457200" cy="457200"/>
          </a:xfrm>
          <a:prstGeom prst="ellipse">
            <a:avLst/>
          </a:prstGeom>
          <a:solidFill>
            <a:srgbClr val="C15F3C"/>
          </a:solidFill>
          <a:ln/>
        </p:spPr>
        <p:txBody>
          <a:bodyPr/>
          <a:lstStyle/>
          <a:p>
            <a:endParaRPr lang="en-IN"/>
          </a:p>
        </p:txBody>
      </p:sp>
      <p:sp>
        <p:nvSpPr>
          <p:cNvPr id="16" name="Text 14"/>
          <p:cNvSpPr/>
          <p:nvPr/>
        </p:nvSpPr>
        <p:spPr>
          <a:xfrm>
            <a:off x="804672" y="36118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03</a:t>
            </a:r>
            <a:endParaRPr lang="en-US" sz="1600" dirty="0"/>
          </a:p>
        </p:txBody>
      </p:sp>
      <p:sp>
        <p:nvSpPr>
          <p:cNvPr id="17" name="Text 15"/>
          <p:cNvSpPr/>
          <p:nvPr/>
        </p:nvSpPr>
        <p:spPr>
          <a:xfrm>
            <a:off x="1463040" y="3465576"/>
            <a:ext cx="4297680" cy="365760"/>
          </a:xfrm>
          <a:prstGeom prst="rect">
            <a:avLst/>
          </a:prstGeom>
          <a:noFill/>
          <a:ln/>
        </p:spPr>
        <p:txBody>
          <a:bodyPr wrap="square" lIns="0" tIns="0" rIns="0" bIns="0" rtlCol="0" anchor="ctr"/>
          <a:lstStyle/>
          <a:p>
            <a:pPr marL="0" indent="0">
              <a:buNone/>
            </a:pPr>
            <a:r>
              <a:rPr lang="en-US" sz="1650" b="1" dirty="0">
                <a:solidFill>
                  <a:srgbClr val="23211C"/>
                </a:solidFill>
                <a:latin typeface="Georgia" pitchFamily="34" charset="0"/>
                <a:ea typeface="Georgia" pitchFamily="34" charset="-122"/>
                <a:cs typeface="Georgia" pitchFamily="34" charset="-120"/>
              </a:rPr>
              <a:t>Managing servers, context &amp; permissions</a:t>
            </a:r>
            <a:endParaRPr lang="en-US" sz="1650" dirty="0"/>
          </a:p>
        </p:txBody>
      </p:sp>
      <p:sp>
        <p:nvSpPr>
          <p:cNvPr id="18" name="Text 16"/>
          <p:cNvSpPr/>
          <p:nvPr/>
        </p:nvSpPr>
        <p:spPr>
          <a:xfrm>
            <a:off x="1463040" y="3831336"/>
            <a:ext cx="4297680" cy="457200"/>
          </a:xfrm>
          <a:prstGeom prst="rect">
            <a:avLst/>
          </a:prstGeom>
          <a:noFill/>
          <a:ln/>
        </p:spPr>
        <p:txBody>
          <a:bodyPr wrap="square" lIns="0" tIns="0" rIns="0" bIns="0" rtlCol="0" anchor="ctr"/>
          <a:lstStyle/>
          <a:p>
            <a:pPr marL="0" indent="0">
              <a:lnSpc>
                <a:spcPct val="105000"/>
              </a:lnSpc>
              <a:buNone/>
            </a:pPr>
            <a:r>
              <a:rPr lang="en-US" sz="1250" dirty="0">
                <a:solidFill>
                  <a:srgbClr val="6E6656"/>
                </a:solidFill>
                <a:latin typeface="Calibri" pitchFamily="34" charset="0"/>
                <a:ea typeface="Calibri" pitchFamily="34" charset="-122"/>
                <a:cs typeface="Calibri" pitchFamily="34" charset="-120"/>
              </a:rPr>
              <a:t>Enabling tools, scoping access, and governing what Claude can do.</a:t>
            </a:r>
            <a:endParaRPr lang="en-US" sz="1250" dirty="0"/>
          </a:p>
        </p:txBody>
      </p:sp>
      <p:sp>
        <p:nvSpPr>
          <p:cNvPr id="19" name="Shape 17"/>
          <p:cNvSpPr/>
          <p:nvPr/>
        </p:nvSpPr>
        <p:spPr>
          <a:xfrm>
            <a:off x="6236208" y="3300984"/>
            <a:ext cx="5394960" cy="1078992"/>
          </a:xfrm>
          <a:prstGeom prst="roundRect">
            <a:avLst>
              <a:gd name="adj" fmla="val 8475"/>
            </a:avLst>
          </a:prstGeom>
          <a:solidFill>
            <a:srgbClr val="FBF9F4"/>
          </a:solidFill>
          <a:ln w="12700">
            <a:solidFill>
              <a:srgbClr val="E4DDCC"/>
            </a:solidFill>
            <a:prstDash val="solid"/>
          </a:ln>
          <a:effectLst>
            <a:outerShdw blurRad="114300" dist="38100" dir="8100000" algn="bl" rotWithShape="0">
              <a:srgbClr val="B8AE99">
                <a:alpha val="35000"/>
              </a:srgbClr>
            </a:outerShdw>
          </a:effectLst>
        </p:spPr>
        <p:txBody>
          <a:bodyPr/>
          <a:lstStyle/>
          <a:p>
            <a:endParaRPr lang="en-IN"/>
          </a:p>
        </p:txBody>
      </p:sp>
      <p:sp>
        <p:nvSpPr>
          <p:cNvPr id="20" name="Shape 18"/>
          <p:cNvSpPr/>
          <p:nvPr/>
        </p:nvSpPr>
        <p:spPr>
          <a:xfrm>
            <a:off x="6492240" y="3611880"/>
            <a:ext cx="457200" cy="457200"/>
          </a:xfrm>
          <a:prstGeom prst="ellipse">
            <a:avLst/>
          </a:prstGeom>
          <a:solidFill>
            <a:srgbClr val="C15F3C"/>
          </a:solidFill>
          <a:ln/>
        </p:spPr>
        <p:txBody>
          <a:bodyPr/>
          <a:lstStyle/>
          <a:p>
            <a:endParaRPr lang="en-IN"/>
          </a:p>
        </p:txBody>
      </p:sp>
      <p:sp>
        <p:nvSpPr>
          <p:cNvPr id="21" name="Text 19"/>
          <p:cNvSpPr/>
          <p:nvPr/>
        </p:nvSpPr>
        <p:spPr>
          <a:xfrm>
            <a:off x="6492240" y="36118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04</a:t>
            </a:r>
            <a:endParaRPr lang="en-US" sz="1600" dirty="0"/>
          </a:p>
        </p:txBody>
      </p:sp>
      <p:sp>
        <p:nvSpPr>
          <p:cNvPr id="22" name="Text 20"/>
          <p:cNvSpPr/>
          <p:nvPr/>
        </p:nvSpPr>
        <p:spPr>
          <a:xfrm>
            <a:off x="7150608" y="3465576"/>
            <a:ext cx="4297680" cy="365760"/>
          </a:xfrm>
          <a:prstGeom prst="rect">
            <a:avLst/>
          </a:prstGeom>
          <a:noFill/>
          <a:ln/>
        </p:spPr>
        <p:txBody>
          <a:bodyPr wrap="square" lIns="0" tIns="0" rIns="0" bIns="0" rtlCol="0" anchor="ctr"/>
          <a:lstStyle/>
          <a:p>
            <a:pPr marL="0" indent="0">
              <a:buNone/>
            </a:pPr>
            <a:r>
              <a:rPr lang="en-US" sz="1650" b="1" dirty="0">
                <a:solidFill>
                  <a:srgbClr val="23211C"/>
                </a:solidFill>
                <a:latin typeface="Georgia" pitchFamily="34" charset="0"/>
                <a:ea typeface="Georgia" pitchFamily="34" charset="-122"/>
                <a:cs typeface="Georgia" pitchFamily="34" charset="-120"/>
              </a:rPr>
              <a:t>Practical scenarios</a:t>
            </a:r>
            <a:endParaRPr lang="en-US" sz="1650" dirty="0"/>
          </a:p>
        </p:txBody>
      </p:sp>
      <p:sp>
        <p:nvSpPr>
          <p:cNvPr id="23" name="Text 21"/>
          <p:cNvSpPr/>
          <p:nvPr/>
        </p:nvSpPr>
        <p:spPr>
          <a:xfrm>
            <a:off x="7150608" y="3831336"/>
            <a:ext cx="4297680" cy="457200"/>
          </a:xfrm>
          <a:prstGeom prst="rect">
            <a:avLst/>
          </a:prstGeom>
          <a:noFill/>
          <a:ln/>
        </p:spPr>
        <p:txBody>
          <a:bodyPr wrap="square" lIns="0" tIns="0" rIns="0" bIns="0" rtlCol="0" anchor="ctr"/>
          <a:lstStyle/>
          <a:p>
            <a:pPr marL="0" indent="0">
              <a:lnSpc>
                <a:spcPct val="105000"/>
              </a:lnSpc>
              <a:buNone/>
            </a:pPr>
            <a:r>
              <a:rPr lang="en-US" sz="1250" dirty="0">
                <a:solidFill>
                  <a:srgbClr val="6E6656"/>
                </a:solidFill>
                <a:latin typeface="Calibri" pitchFamily="34" charset="0"/>
                <a:ea typeface="Calibri" pitchFamily="34" charset="-122"/>
                <a:cs typeface="Calibri" pitchFamily="34" charset="-120"/>
              </a:rPr>
              <a:t>Documents, spreadsheets, research, and multi-step tasks in action.</a:t>
            </a:r>
            <a:endParaRPr lang="en-US" sz="1250" dirty="0"/>
          </a:p>
        </p:txBody>
      </p:sp>
      <p:sp>
        <p:nvSpPr>
          <p:cNvPr id="24" name="Text 22"/>
          <p:cNvSpPr/>
          <p:nvPr/>
        </p:nvSpPr>
        <p:spPr>
          <a:xfrm>
            <a:off x="502920" y="6400800"/>
            <a:ext cx="5486400" cy="274320"/>
          </a:xfrm>
          <a:prstGeom prst="rect">
            <a:avLst/>
          </a:prstGeom>
          <a:noFill/>
          <a:ln/>
        </p:spPr>
        <p:txBody>
          <a:bodyPr wrap="square" lIns="0" tIns="0" rIns="0" bIns="0" rtlCol="0" anchor="ctr"/>
          <a:lstStyle/>
          <a:p>
            <a:pPr marL="0" indent="0" algn="l">
              <a:buNone/>
            </a:pPr>
            <a:r>
              <a:rPr lang="en-US" sz="900" b="1" dirty="0">
                <a:solidFill>
                  <a:srgbClr val="C15F3C"/>
                </a:solidFill>
                <a:latin typeface="Calibri" pitchFamily="34" charset="0"/>
                <a:ea typeface="Calibri" pitchFamily="34" charset="-122"/>
                <a:cs typeface="Calibri" pitchFamily="34" charset="-120"/>
              </a:rPr>
              <a:t>Claude</a:t>
            </a:r>
            <a:r>
              <a:rPr lang="en-US" sz="900" dirty="0">
                <a:solidFill>
                  <a:srgbClr val="6E6656"/>
                </a:solidFill>
                <a:latin typeface="Calibri" pitchFamily="34" charset="0"/>
                <a:ea typeface="Calibri" pitchFamily="34" charset="-122"/>
                <a:cs typeface="Calibri" pitchFamily="34" charset="-120"/>
              </a:rPr>
              <a:t>  Cowork &amp; MCP · Training</a:t>
            </a:r>
            <a:endParaRPr lang="en-US" sz="900" dirty="0"/>
          </a:p>
        </p:txBody>
      </p:sp>
      <p:sp>
        <p:nvSpPr>
          <p:cNvPr id="25" name="Text 23"/>
          <p:cNvSpPr/>
          <p:nvPr/>
        </p:nvSpPr>
        <p:spPr>
          <a:xfrm>
            <a:off x="11094415" y="6400800"/>
            <a:ext cx="594360" cy="274320"/>
          </a:xfrm>
          <a:prstGeom prst="rect">
            <a:avLst/>
          </a:prstGeom>
          <a:noFill/>
          <a:ln/>
        </p:spPr>
        <p:txBody>
          <a:bodyPr wrap="square" lIns="0" tIns="0" rIns="0" bIns="0" rtlCol="0" anchor="ctr"/>
          <a:lstStyle/>
          <a:p>
            <a:pPr marL="0" indent="0" algn="r">
              <a:buNone/>
            </a:pPr>
            <a:r>
              <a:rPr lang="en-US" sz="900" dirty="0">
                <a:solidFill>
                  <a:srgbClr val="6E6656"/>
                </a:solidFill>
                <a:latin typeface="Calibri" pitchFamily="34" charset="0"/>
                <a:ea typeface="Calibri" pitchFamily="34" charset="-122"/>
                <a:cs typeface="Calibri" pitchFamily="34" charset="-120"/>
              </a:rPr>
              <a:t>01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EFE6"/>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292608"/>
          </a:xfrm>
          <a:prstGeom prst="rect">
            <a:avLst/>
          </a:prstGeom>
          <a:noFill/>
          <a:ln/>
        </p:spPr>
        <p:txBody>
          <a:bodyPr wrap="square" lIns="0" tIns="0" rIns="0" bIns="0" rtlCol="0" anchor="ctr"/>
          <a:lstStyle/>
          <a:p>
            <a:pPr marL="0" indent="0">
              <a:buNone/>
            </a:pPr>
            <a:r>
              <a:rPr lang="en-US" sz="1200" b="1" kern="0" spc="300" dirty="0">
                <a:solidFill>
                  <a:srgbClr val="C15F3C"/>
                </a:solidFill>
                <a:latin typeface="Calibri" pitchFamily="34" charset="0"/>
                <a:ea typeface="Calibri" pitchFamily="34" charset="-122"/>
                <a:cs typeface="Calibri" pitchFamily="34" charset="-120"/>
              </a:rPr>
              <a:t>SECTION 1 · CLAUDE COWORK</a:t>
            </a:r>
            <a:endParaRPr lang="en-US" sz="1200" dirty="0"/>
          </a:p>
        </p:txBody>
      </p:sp>
      <p:sp>
        <p:nvSpPr>
          <p:cNvPr id="3" name="Text 1"/>
          <p:cNvSpPr/>
          <p:nvPr/>
        </p:nvSpPr>
        <p:spPr>
          <a:xfrm>
            <a:off x="548640" y="749808"/>
            <a:ext cx="10058400" cy="914400"/>
          </a:xfrm>
          <a:prstGeom prst="rect">
            <a:avLst/>
          </a:prstGeom>
          <a:noFill/>
          <a:ln/>
        </p:spPr>
        <p:txBody>
          <a:bodyPr wrap="square" lIns="0" tIns="0" rIns="0" bIns="0" rtlCol="0" anchor="t"/>
          <a:lstStyle/>
          <a:p>
            <a:pPr marL="0" indent="0" algn="l">
              <a:lnSpc>
                <a:spcPct val="102000"/>
              </a:lnSpc>
              <a:buNone/>
            </a:pPr>
            <a:r>
              <a:rPr lang="en-US" sz="3200" dirty="0">
                <a:solidFill>
                  <a:srgbClr val="23211C"/>
                </a:solidFill>
                <a:latin typeface="Georgia" pitchFamily="34" charset="0"/>
                <a:ea typeface="Georgia" pitchFamily="34" charset="-122"/>
                <a:cs typeface="Georgia" pitchFamily="34" charset="-120"/>
              </a:rPr>
              <a:t>From a chat reply to finished work</a:t>
            </a:r>
            <a:endParaRPr lang="en-US" sz="3200" dirty="0"/>
          </a:p>
        </p:txBody>
      </p:sp>
      <p:sp>
        <p:nvSpPr>
          <p:cNvPr id="4" name="Text 2"/>
          <p:cNvSpPr/>
          <p:nvPr/>
        </p:nvSpPr>
        <p:spPr>
          <a:xfrm>
            <a:off x="548640" y="1627632"/>
            <a:ext cx="10607040" cy="548640"/>
          </a:xfrm>
          <a:prstGeom prst="rect">
            <a:avLst/>
          </a:prstGeom>
          <a:noFill/>
          <a:ln/>
        </p:spPr>
        <p:txBody>
          <a:bodyPr wrap="square" lIns="0" tIns="0" rIns="0" bIns="0" rtlCol="0" anchor="ctr"/>
          <a:lstStyle/>
          <a:p>
            <a:pPr marL="0" indent="0">
              <a:lnSpc>
                <a:spcPct val="110000"/>
              </a:lnSpc>
              <a:buNone/>
            </a:pPr>
            <a:r>
              <a:rPr lang="en-US" sz="1500" dirty="0">
                <a:solidFill>
                  <a:srgbClr val="6E6656"/>
                </a:solidFill>
                <a:latin typeface="Calibri" pitchFamily="34" charset="0"/>
                <a:ea typeface="Calibri" pitchFamily="34" charset="-122"/>
                <a:cs typeface="Calibri" pitchFamily="34" charset="-120"/>
              </a:rPr>
              <a:t>Chat answers a question. Cowork completes the task — describe the outcome and cadence, then come back to a polished deliverable.</a:t>
            </a:r>
            <a:endParaRPr lang="en-US" sz="1500" dirty="0"/>
          </a:p>
        </p:txBody>
      </p:sp>
      <p:sp>
        <p:nvSpPr>
          <p:cNvPr id="5" name="Shape 3"/>
          <p:cNvSpPr/>
          <p:nvPr/>
        </p:nvSpPr>
        <p:spPr>
          <a:xfrm>
            <a:off x="548640" y="2423160"/>
            <a:ext cx="5349240" cy="3246120"/>
          </a:xfrm>
          <a:prstGeom prst="roundRect">
            <a:avLst>
              <a:gd name="adj" fmla="val 2817"/>
            </a:avLst>
          </a:prstGeom>
          <a:solidFill>
            <a:srgbClr val="FBF9F4"/>
          </a:solidFill>
          <a:ln w="12700">
            <a:solidFill>
              <a:srgbClr val="E4DDCC"/>
            </a:solidFill>
            <a:prstDash val="solid"/>
          </a:ln>
          <a:effectLst>
            <a:outerShdw blurRad="114300" dist="38100" dir="8100000" algn="bl" rotWithShape="0">
              <a:srgbClr val="B8AE99">
                <a:alpha val="35000"/>
              </a:srgbClr>
            </a:outerShdw>
          </a:effectLst>
        </p:spPr>
        <p:txBody>
          <a:bodyPr/>
          <a:lstStyle/>
          <a:p>
            <a:endParaRPr lang="en-IN"/>
          </a:p>
        </p:txBody>
      </p:sp>
      <p:sp>
        <p:nvSpPr>
          <p:cNvPr id="6" name="Text 4"/>
          <p:cNvSpPr/>
          <p:nvPr/>
        </p:nvSpPr>
        <p:spPr>
          <a:xfrm>
            <a:off x="822960" y="2679192"/>
            <a:ext cx="4800600" cy="411480"/>
          </a:xfrm>
          <a:prstGeom prst="rect">
            <a:avLst/>
          </a:prstGeom>
          <a:noFill/>
          <a:ln/>
        </p:spPr>
        <p:txBody>
          <a:bodyPr wrap="square" lIns="0" tIns="0" rIns="0" bIns="0" rtlCol="0" anchor="ctr"/>
          <a:lstStyle/>
          <a:p>
            <a:pPr marL="0" indent="0">
              <a:buNone/>
            </a:pPr>
            <a:r>
              <a:rPr lang="en-US" sz="2000" b="1" dirty="0">
                <a:solidFill>
                  <a:srgbClr val="3A4452"/>
                </a:solidFill>
                <a:latin typeface="Georgia" pitchFamily="34" charset="0"/>
                <a:ea typeface="Georgia" pitchFamily="34" charset="-122"/>
                <a:cs typeface="Georgia" pitchFamily="34" charset="-120"/>
              </a:rPr>
              <a:t>Claude Chat</a:t>
            </a:r>
            <a:endParaRPr lang="en-US" sz="2000" dirty="0"/>
          </a:p>
        </p:txBody>
      </p:sp>
      <p:sp>
        <p:nvSpPr>
          <p:cNvPr id="7" name="Text 5"/>
          <p:cNvSpPr/>
          <p:nvPr/>
        </p:nvSpPr>
        <p:spPr>
          <a:xfrm>
            <a:off x="822960" y="3099816"/>
            <a:ext cx="4800600" cy="320040"/>
          </a:xfrm>
          <a:prstGeom prst="rect">
            <a:avLst/>
          </a:prstGeom>
          <a:noFill/>
          <a:ln/>
        </p:spPr>
        <p:txBody>
          <a:bodyPr wrap="square" lIns="0" tIns="0" rIns="0" bIns="0" rtlCol="0" anchor="ctr"/>
          <a:lstStyle/>
          <a:p>
            <a:pPr marL="0" indent="0">
              <a:buNone/>
            </a:pPr>
            <a:r>
              <a:rPr lang="en-US" sz="1250" i="1" dirty="0">
                <a:solidFill>
                  <a:srgbClr val="6E6656"/>
                </a:solidFill>
                <a:latin typeface="Calibri" pitchFamily="34" charset="0"/>
                <a:ea typeface="Calibri" pitchFamily="34" charset="-122"/>
                <a:cs typeface="Calibri" pitchFamily="34" charset="-120"/>
              </a:rPr>
              <a:t>Conversational assistant</a:t>
            </a:r>
            <a:endParaRPr lang="en-US" sz="1250" dirty="0"/>
          </a:p>
        </p:txBody>
      </p:sp>
      <p:sp>
        <p:nvSpPr>
          <p:cNvPr id="8" name="Text 6"/>
          <p:cNvSpPr/>
          <p:nvPr/>
        </p:nvSpPr>
        <p:spPr>
          <a:xfrm>
            <a:off x="868680" y="3566160"/>
            <a:ext cx="4572000" cy="411480"/>
          </a:xfrm>
          <a:prstGeom prst="rect">
            <a:avLst/>
          </a:prstGeom>
          <a:noFill/>
          <a:ln/>
        </p:spPr>
        <p:txBody>
          <a:bodyPr wrap="square" lIns="0" tIns="0" rIns="0" bIns="0" rtlCol="0" anchor="ctr"/>
          <a:lstStyle/>
          <a:p>
            <a:pPr marL="177800" indent="-177800">
              <a:buSzPct val="100000"/>
              <a:buChar char="–"/>
            </a:pPr>
            <a:r>
              <a:rPr lang="en-US" sz="1350" dirty="0">
                <a:solidFill>
                  <a:srgbClr val="23211C"/>
                </a:solidFill>
                <a:latin typeface="Calibri" pitchFamily="34" charset="0"/>
                <a:ea typeface="Calibri" pitchFamily="34" charset="-122"/>
                <a:cs typeface="Calibri" pitchFamily="34" charset="-120"/>
              </a:rPr>
              <a:t>You break work into individual prompts</a:t>
            </a:r>
            <a:endParaRPr lang="en-US" sz="1350" dirty="0"/>
          </a:p>
        </p:txBody>
      </p:sp>
      <p:sp>
        <p:nvSpPr>
          <p:cNvPr id="9" name="Text 7"/>
          <p:cNvSpPr/>
          <p:nvPr/>
        </p:nvSpPr>
        <p:spPr>
          <a:xfrm>
            <a:off x="868680" y="4041648"/>
            <a:ext cx="4572000" cy="411480"/>
          </a:xfrm>
          <a:prstGeom prst="rect">
            <a:avLst/>
          </a:prstGeom>
          <a:noFill/>
          <a:ln/>
        </p:spPr>
        <p:txBody>
          <a:bodyPr wrap="square" lIns="0" tIns="0" rIns="0" bIns="0" rtlCol="0" anchor="ctr"/>
          <a:lstStyle/>
          <a:p>
            <a:pPr marL="177800" indent="-177800">
              <a:buSzPct val="100000"/>
              <a:buChar char="–"/>
            </a:pPr>
            <a:r>
              <a:rPr lang="en-US" sz="1350" dirty="0">
                <a:solidFill>
                  <a:srgbClr val="23211C"/>
                </a:solidFill>
                <a:latin typeface="Calibri" pitchFamily="34" charset="0"/>
                <a:ea typeface="Calibri" pitchFamily="34" charset="-122"/>
                <a:cs typeface="Calibri" pitchFamily="34" charset="-120"/>
              </a:rPr>
              <a:t>Returns a single response in the thread</a:t>
            </a:r>
            <a:endParaRPr lang="en-US" sz="1350" dirty="0"/>
          </a:p>
        </p:txBody>
      </p:sp>
      <p:sp>
        <p:nvSpPr>
          <p:cNvPr id="10" name="Text 8"/>
          <p:cNvSpPr/>
          <p:nvPr/>
        </p:nvSpPr>
        <p:spPr>
          <a:xfrm>
            <a:off x="868680" y="4517136"/>
            <a:ext cx="4572000" cy="411480"/>
          </a:xfrm>
          <a:prstGeom prst="rect">
            <a:avLst/>
          </a:prstGeom>
          <a:noFill/>
          <a:ln/>
        </p:spPr>
        <p:txBody>
          <a:bodyPr wrap="square" lIns="0" tIns="0" rIns="0" bIns="0" rtlCol="0" anchor="ctr"/>
          <a:lstStyle/>
          <a:p>
            <a:pPr marL="177800" indent="-177800">
              <a:buSzPct val="100000"/>
              <a:buChar char="–"/>
            </a:pPr>
            <a:r>
              <a:rPr lang="en-US" sz="1350" dirty="0">
                <a:solidFill>
                  <a:srgbClr val="23211C"/>
                </a:solidFill>
                <a:latin typeface="Calibri" pitchFamily="34" charset="0"/>
                <a:ea typeface="Calibri" pitchFamily="34" charset="-122"/>
                <a:cs typeface="Calibri" pitchFamily="34" charset="-120"/>
              </a:rPr>
              <a:t>You copy results between apps yourself</a:t>
            </a:r>
            <a:endParaRPr lang="en-US" sz="1350" dirty="0"/>
          </a:p>
        </p:txBody>
      </p:sp>
      <p:sp>
        <p:nvSpPr>
          <p:cNvPr id="11" name="Text 9"/>
          <p:cNvSpPr/>
          <p:nvPr/>
        </p:nvSpPr>
        <p:spPr>
          <a:xfrm>
            <a:off x="868680" y="4992624"/>
            <a:ext cx="4572000" cy="411480"/>
          </a:xfrm>
          <a:prstGeom prst="rect">
            <a:avLst/>
          </a:prstGeom>
          <a:noFill/>
          <a:ln/>
        </p:spPr>
        <p:txBody>
          <a:bodyPr wrap="square" lIns="0" tIns="0" rIns="0" bIns="0" rtlCol="0" anchor="ctr"/>
          <a:lstStyle/>
          <a:p>
            <a:pPr marL="177800" indent="-177800">
              <a:buSzPct val="100000"/>
              <a:buChar char="–"/>
            </a:pPr>
            <a:r>
              <a:rPr lang="en-US" sz="1350" dirty="0">
                <a:solidFill>
                  <a:srgbClr val="23211C"/>
                </a:solidFill>
                <a:latin typeface="Calibri" pitchFamily="34" charset="0"/>
                <a:ea typeface="Calibri" pitchFamily="34" charset="-122"/>
                <a:cs typeface="Calibri" pitchFamily="34" charset="-120"/>
              </a:rPr>
              <a:t>Best for quick questions and drafting</a:t>
            </a:r>
            <a:endParaRPr lang="en-US" sz="1350" dirty="0"/>
          </a:p>
        </p:txBody>
      </p:sp>
      <p:sp>
        <p:nvSpPr>
          <p:cNvPr id="12" name="Shape 10"/>
          <p:cNvSpPr/>
          <p:nvPr/>
        </p:nvSpPr>
        <p:spPr>
          <a:xfrm>
            <a:off x="6217920" y="2423160"/>
            <a:ext cx="5349240" cy="3246120"/>
          </a:xfrm>
          <a:prstGeom prst="roundRect">
            <a:avLst>
              <a:gd name="adj" fmla="val 2817"/>
            </a:avLst>
          </a:prstGeom>
          <a:solidFill>
            <a:srgbClr val="FBEFE9"/>
          </a:solidFill>
          <a:ln w="12700">
            <a:solidFill>
              <a:srgbClr val="E4DDCC"/>
            </a:solidFill>
            <a:prstDash val="solid"/>
          </a:ln>
          <a:effectLst>
            <a:outerShdw blurRad="114300" dist="38100" dir="8100000" algn="bl" rotWithShape="0">
              <a:srgbClr val="B8AE99">
                <a:alpha val="35000"/>
              </a:srgbClr>
            </a:outerShdw>
          </a:effectLst>
        </p:spPr>
        <p:txBody>
          <a:bodyPr/>
          <a:lstStyle/>
          <a:p>
            <a:endParaRPr lang="en-IN"/>
          </a:p>
        </p:txBody>
      </p:sp>
      <p:sp>
        <p:nvSpPr>
          <p:cNvPr id="13" name="Shape 11"/>
          <p:cNvSpPr/>
          <p:nvPr/>
        </p:nvSpPr>
        <p:spPr>
          <a:xfrm>
            <a:off x="6217920" y="2423160"/>
            <a:ext cx="5349240" cy="109728"/>
          </a:xfrm>
          <a:prstGeom prst="rect">
            <a:avLst/>
          </a:prstGeom>
          <a:solidFill>
            <a:srgbClr val="C15F3C"/>
          </a:solidFill>
          <a:ln/>
        </p:spPr>
        <p:txBody>
          <a:bodyPr/>
          <a:lstStyle/>
          <a:p>
            <a:endParaRPr lang="en-IN"/>
          </a:p>
        </p:txBody>
      </p:sp>
      <p:sp>
        <p:nvSpPr>
          <p:cNvPr id="14" name="Text 12"/>
          <p:cNvSpPr/>
          <p:nvPr/>
        </p:nvSpPr>
        <p:spPr>
          <a:xfrm>
            <a:off x="6492240" y="2679192"/>
            <a:ext cx="4800600" cy="411480"/>
          </a:xfrm>
          <a:prstGeom prst="rect">
            <a:avLst/>
          </a:prstGeom>
          <a:noFill/>
          <a:ln/>
        </p:spPr>
        <p:txBody>
          <a:bodyPr wrap="square" lIns="0" tIns="0" rIns="0" bIns="0" rtlCol="0" anchor="ctr"/>
          <a:lstStyle/>
          <a:p>
            <a:pPr marL="0" indent="0">
              <a:buNone/>
            </a:pPr>
            <a:r>
              <a:rPr lang="en-US" sz="2000" b="1" dirty="0">
                <a:solidFill>
                  <a:srgbClr val="C15F3C"/>
                </a:solidFill>
                <a:latin typeface="Georgia" pitchFamily="34" charset="0"/>
                <a:ea typeface="Georgia" pitchFamily="34" charset="-122"/>
                <a:cs typeface="Georgia" pitchFamily="34" charset="-120"/>
              </a:rPr>
              <a:t>Claude Cowork</a:t>
            </a:r>
            <a:endParaRPr lang="en-US" sz="2000" dirty="0"/>
          </a:p>
        </p:txBody>
      </p:sp>
      <p:sp>
        <p:nvSpPr>
          <p:cNvPr id="15" name="Text 13"/>
          <p:cNvSpPr/>
          <p:nvPr/>
        </p:nvSpPr>
        <p:spPr>
          <a:xfrm>
            <a:off x="6492240" y="3099816"/>
            <a:ext cx="4800600" cy="320040"/>
          </a:xfrm>
          <a:prstGeom prst="rect">
            <a:avLst/>
          </a:prstGeom>
          <a:noFill/>
          <a:ln/>
        </p:spPr>
        <p:txBody>
          <a:bodyPr wrap="square" lIns="0" tIns="0" rIns="0" bIns="0" rtlCol="0" anchor="ctr"/>
          <a:lstStyle/>
          <a:p>
            <a:pPr marL="0" indent="0">
              <a:buNone/>
            </a:pPr>
            <a:r>
              <a:rPr lang="en-US" sz="1250" i="1" dirty="0">
                <a:solidFill>
                  <a:srgbClr val="D9785C"/>
                </a:solidFill>
                <a:latin typeface="Calibri" pitchFamily="34" charset="0"/>
                <a:ea typeface="Calibri" pitchFamily="34" charset="-122"/>
                <a:cs typeface="Calibri" pitchFamily="34" charset="-120"/>
              </a:rPr>
              <a:t>Agentic desktop coworker</a:t>
            </a:r>
            <a:endParaRPr lang="en-US" sz="1250" dirty="0"/>
          </a:p>
        </p:txBody>
      </p:sp>
      <p:sp>
        <p:nvSpPr>
          <p:cNvPr id="16" name="Text 14"/>
          <p:cNvSpPr/>
          <p:nvPr/>
        </p:nvSpPr>
        <p:spPr>
          <a:xfrm>
            <a:off x="6537960" y="3566160"/>
            <a:ext cx="4572000" cy="411480"/>
          </a:xfrm>
          <a:prstGeom prst="rect">
            <a:avLst/>
          </a:prstGeom>
          <a:noFill/>
          <a:ln/>
        </p:spPr>
        <p:txBody>
          <a:bodyPr wrap="square" lIns="0" tIns="0" rIns="0" bIns="0" rtlCol="0" anchor="ctr"/>
          <a:lstStyle/>
          <a:p>
            <a:pPr marL="177800" indent="-177800">
              <a:buSzPct val="100000"/>
              <a:buChar char="–"/>
            </a:pPr>
            <a:r>
              <a:rPr lang="en-US" sz="1350" dirty="0">
                <a:solidFill>
                  <a:srgbClr val="23211C"/>
                </a:solidFill>
                <a:latin typeface="Calibri" pitchFamily="34" charset="0"/>
                <a:ea typeface="Calibri" pitchFamily="34" charset="-122"/>
                <a:cs typeface="Calibri" pitchFamily="34" charset="-120"/>
              </a:rPr>
              <a:t>Hand off a goal — Claude plans the steps</a:t>
            </a:r>
            <a:endParaRPr lang="en-US" sz="1350" dirty="0"/>
          </a:p>
        </p:txBody>
      </p:sp>
      <p:sp>
        <p:nvSpPr>
          <p:cNvPr id="17" name="Text 15"/>
          <p:cNvSpPr/>
          <p:nvPr/>
        </p:nvSpPr>
        <p:spPr>
          <a:xfrm>
            <a:off x="6537960" y="4041648"/>
            <a:ext cx="4572000" cy="411480"/>
          </a:xfrm>
          <a:prstGeom prst="rect">
            <a:avLst/>
          </a:prstGeom>
          <a:noFill/>
          <a:ln/>
        </p:spPr>
        <p:txBody>
          <a:bodyPr wrap="square" lIns="0" tIns="0" rIns="0" bIns="0" rtlCol="0" anchor="ctr"/>
          <a:lstStyle/>
          <a:p>
            <a:pPr marL="177800" indent="-177800">
              <a:buSzPct val="100000"/>
              <a:buChar char="–"/>
            </a:pPr>
            <a:r>
              <a:rPr lang="en-US" sz="1350" dirty="0">
                <a:solidFill>
                  <a:srgbClr val="23211C"/>
                </a:solidFill>
                <a:latin typeface="Calibri" pitchFamily="34" charset="0"/>
                <a:ea typeface="Calibri" pitchFamily="34" charset="-122"/>
                <a:cs typeface="Calibri" pitchFamily="34" charset="-120"/>
              </a:rPr>
              <a:t>Works across local files, apps &amp; tools</a:t>
            </a:r>
            <a:endParaRPr lang="en-US" sz="1350" dirty="0"/>
          </a:p>
        </p:txBody>
      </p:sp>
      <p:sp>
        <p:nvSpPr>
          <p:cNvPr id="18" name="Text 16"/>
          <p:cNvSpPr/>
          <p:nvPr/>
        </p:nvSpPr>
        <p:spPr>
          <a:xfrm>
            <a:off x="6537960" y="4517136"/>
            <a:ext cx="4572000" cy="411480"/>
          </a:xfrm>
          <a:prstGeom prst="rect">
            <a:avLst/>
          </a:prstGeom>
          <a:noFill/>
          <a:ln/>
        </p:spPr>
        <p:txBody>
          <a:bodyPr wrap="square" lIns="0" tIns="0" rIns="0" bIns="0" rtlCol="0" anchor="ctr"/>
          <a:lstStyle/>
          <a:p>
            <a:pPr marL="177800" indent="-177800">
              <a:buSzPct val="100000"/>
              <a:buChar char="–"/>
            </a:pPr>
            <a:r>
              <a:rPr lang="en-US" sz="1350" dirty="0">
                <a:solidFill>
                  <a:srgbClr val="23211C"/>
                </a:solidFill>
                <a:latin typeface="Calibri" pitchFamily="34" charset="0"/>
                <a:ea typeface="Calibri" pitchFamily="34" charset="-122"/>
                <a:cs typeface="Calibri" pitchFamily="34" charset="-120"/>
              </a:rPr>
              <a:t>Acts on its own and keeps you informed</a:t>
            </a:r>
            <a:endParaRPr lang="en-US" sz="1350" dirty="0"/>
          </a:p>
        </p:txBody>
      </p:sp>
      <p:sp>
        <p:nvSpPr>
          <p:cNvPr id="19" name="Text 17"/>
          <p:cNvSpPr/>
          <p:nvPr/>
        </p:nvSpPr>
        <p:spPr>
          <a:xfrm>
            <a:off x="6537960" y="4992624"/>
            <a:ext cx="4572000" cy="411480"/>
          </a:xfrm>
          <a:prstGeom prst="rect">
            <a:avLst/>
          </a:prstGeom>
          <a:noFill/>
          <a:ln/>
        </p:spPr>
        <p:txBody>
          <a:bodyPr wrap="square" lIns="0" tIns="0" rIns="0" bIns="0" rtlCol="0" anchor="ctr"/>
          <a:lstStyle/>
          <a:p>
            <a:pPr marL="177800" indent="-177800">
              <a:buSzPct val="100000"/>
              <a:buChar char="–"/>
            </a:pPr>
            <a:r>
              <a:rPr lang="en-US" sz="1350" dirty="0">
                <a:solidFill>
                  <a:srgbClr val="23211C"/>
                </a:solidFill>
                <a:latin typeface="Calibri" pitchFamily="34" charset="0"/>
                <a:ea typeface="Calibri" pitchFamily="34" charset="-122"/>
                <a:cs typeface="Calibri" pitchFamily="34" charset="-120"/>
              </a:rPr>
              <a:t>Best for high-effort, repeatable work</a:t>
            </a:r>
            <a:endParaRPr lang="en-US" sz="1350" dirty="0"/>
          </a:p>
        </p:txBody>
      </p:sp>
      <p:sp>
        <p:nvSpPr>
          <p:cNvPr id="20" name="Text 18"/>
          <p:cNvSpPr/>
          <p:nvPr/>
        </p:nvSpPr>
        <p:spPr>
          <a:xfrm>
            <a:off x="502920" y="6400800"/>
            <a:ext cx="5486400" cy="274320"/>
          </a:xfrm>
          <a:prstGeom prst="rect">
            <a:avLst/>
          </a:prstGeom>
          <a:noFill/>
          <a:ln/>
        </p:spPr>
        <p:txBody>
          <a:bodyPr wrap="square" lIns="0" tIns="0" rIns="0" bIns="0" rtlCol="0" anchor="ctr"/>
          <a:lstStyle/>
          <a:p>
            <a:pPr marL="0" indent="0" algn="l">
              <a:buNone/>
            </a:pPr>
            <a:r>
              <a:rPr lang="en-US" sz="900" b="1" dirty="0">
                <a:solidFill>
                  <a:srgbClr val="C15F3C"/>
                </a:solidFill>
                <a:latin typeface="Calibri" pitchFamily="34" charset="0"/>
                <a:ea typeface="Calibri" pitchFamily="34" charset="-122"/>
                <a:cs typeface="Calibri" pitchFamily="34" charset="-120"/>
              </a:rPr>
              <a:t>Claude</a:t>
            </a:r>
            <a:r>
              <a:rPr lang="en-US" sz="900" dirty="0">
                <a:solidFill>
                  <a:srgbClr val="6E6656"/>
                </a:solidFill>
                <a:latin typeface="Calibri" pitchFamily="34" charset="0"/>
                <a:ea typeface="Calibri" pitchFamily="34" charset="-122"/>
                <a:cs typeface="Calibri" pitchFamily="34" charset="-120"/>
              </a:rPr>
              <a:t>  Cowork &amp; MCP · Training</a:t>
            </a:r>
            <a:endParaRPr lang="en-US" sz="900" dirty="0"/>
          </a:p>
        </p:txBody>
      </p:sp>
      <p:sp>
        <p:nvSpPr>
          <p:cNvPr id="21" name="Text 19"/>
          <p:cNvSpPr/>
          <p:nvPr/>
        </p:nvSpPr>
        <p:spPr>
          <a:xfrm>
            <a:off x="11094415" y="6400800"/>
            <a:ext cx="594360" cy="274320"/>
          </a:xfrm>
          <a:prstGeom prst="rect">
            <a:avLst/>
          </a:prstGeom>
          <a:noFill/>
          <a:ln/>
        </p:spPr>
        <p:txBody>
          <a:bodyPr wrap="square" lIns="0" tIns="0" rIns="0" bIns="0" rtlCol="0" anchor="ctr"/>
          <a:lstStyle/>
          <a:p>
            <a:pPr marL="0" indent="0" algn="r">
              <a:buNone/>
            </a:pPr>
            <a:r>
              <a:rPr lang="en-US" sz="900" dirty="0">
                <a:solidFill>
                  <a:srgbClr val="6E6656"/>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EFE6"/>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292608"/>
          </a:xfrm>
          <a:prstGeom prst="rect">
            <a:avLst/>
          </a:prstGeom>
          <a:noFill/>
          <a:ln/>
        </p:spPr>
        <p:txBody>
          <a:bodyPr wrap="square" lIns="0" tIns="0" rIns="0" bIns="0" rtlCol="0" anchor="ctr"/>
          <a:lstStyle/>
          <a:p>
            <a:pPr marL="0" indent="0">
              <a:buNone/>
            </a:pPr>
            <a:r>
              <a:rPr lang="en-US" sz="1200" b="1" kern="0" spc="300" dirty="0">
                <a:solidFill>
                  <a:srgbClr val="C15F3C"/>
                </a:solidFill>
                <a:latin typeface="Calibri" pitchFamily="34" charset="0"/>
                <a:ea typeface="Calibri" pitchFamily="34" charset="-122"/>
                <a:cs typeface="Calibri" pitchFamily="34" charset="-120"/>
              </a:rPr>
              <a:t>SECTION 1 · CLAUDE COWORK</a:t>
            </a:r>
            <a:endParaRPr lang="en-US" sz="1200" dirty="0"/>
          </a:p>
        </p:txBody>
      </p:sp>
      <p:sp>
        <p:nvSpPr>
          <p:cNvPr id="3" name="Text 1"/>
          <p:cNvSpPr/>
          <p:nvPr/>
        </p:nvSpPr>
        <p:spPr>
          <a:xfrm>
            <a:off x="548640" y="749808"/>
            <a:ext cx="6400800" cy="914400"/>
          </a:xfrm>
          <a:prstGeom prst="rect">
            <a:avLst/>
          </a:prstGeom>
          <a:noFill/>
          <a:ln/>
        </p:spPr>
        <p:txBody>
          <a:bodyPr wrap="square" lIns="0" tIns="0" rIns="0" bIns="0" rtlCol="0" anchor="t"/>
          <a:lstStyle/>
          <a:p>
            <a:pPr marL="0" indent="0" algn="l">
              <a:lnSpc>
                <a:spcPct val="102000"/>
              </a:lnSpc>
              <a:buNone/>
            </a:pPr>
            <a:r>
              <a:rPr lang="en-US" sz="3200" dirty="0">
                <a:solidFill>
                  <a:srgbClr val="23211C"/>
                </a:solidFill>
                <a:latin typeface="Georgia" pitchFamily="34" charset="0"/>
                <a:ea typeface="Georgia" pitchFamily="34" charset="-122"/>
                <a:cs typeface="Georgia" pitchFamily="34" charset="-120"/>
              </a:rPr>
              <a:t>From delegation to deliverables</a:t>
            </a:r>
            <a:endParaRPr lang="en-US" sz="3200" dirty="0"/>
          </a:p>
        </p:txBody>
      </p:sp>
      <p:sp>
        <p:nvSpPr>
          <p:cNvPr id="4" name="Text 2"/>
          <p:cNvSpPr/>
          <p:nvPr/>
        </p:nvSpPr>
        <p:spPr>
          <a:xfrm>
            <a:off x="548640" y="1645920"/>
            <a:ext cx="5943600" cy="1097280"/>
          </a:xfrm>
          <a:prstGeom prst="rect">
            <a:avLst/>
          </a:prstGeom>
          <a:noFill/>
          <a:ln/>
        </p:spPr>
        <p:txBody>
          <a:bodyPr wrap="square" lIns="0" tIns="0" rIns="0" bIns="0" rtlCol="0" anchor="ctr"/>
          <a:lstStyle/>
          <a:p>
            <a:pPr marL="0" indent="0">
              <a:lnSpc>
                <a:spcPct val="115000"/>
              </a:lnSpc>
              <a:buNone/>
            </a:pPr>
            <a:r>
              <a:rPr lang="en-US" sz="1450" dirty="0">
                <a:solidFill>
                  <a:srgbClr val="6E6656"/>
                </a:solidFill>
                <a:latin typeface="Calibri" pitchFamily="34" charset="0"/>
                <a:ea typeface="Calibri" pitchFamily="34" charset="-122"/>
                <a:cs typeface="Calibri" pitchFamily="34" charset="-120"/>
              </a:rPr>
              <a:t>Cowork runs on the desktop — where knowledge work already happens — inside a sandboxed environment with access to your files, apps, and code execution.</a:t>
            </a:r>
            <a:endParaRPr lang="en-US" sz="1450" dirty="0"/>
          </a:p>
        </p:txBody>
      </p:sp>
      <p:sp>
        <p:nvSpPr>
          <p:cNvPr id="5" name="Shape 3"/>
          <p:cNvSpPr/>
          <p:nvPr/>
        </p:nvSpPr>
        <p:spPr>
          <a:xfrm>
            <a:off x="566928" y="2788920"/>
            <a:ext cx="420624" cy="420624"/>
          </a:xfrm>
          <a:prstGeom prst="ellipse">
            <a:avLst/>
          </a:prstGeom>
          <a:solidFill>
            <a:srgbClr val="C15F3C"/>
          </a:solidFill>
          <a:ln/>
        </p:spPr>
        <p:txBody>
          <a:bodyPr/>
          <a:lstStyle/>
          <a:p>
            <a:endParaRPr lang="en-IN"/>
          </a:p>
        </p:txBody>
      </p:sp>
      <p:sp>
        <p:nvSpPr>
          <p:cNvPr id="6" name="Text 4"/>
          <p:cNvSpPr/>
          <p:nvPr/>
        </p:nvSpPr>
        <p:spPr>
          <a:xfrm>
            <a:off x="566928" y="2788920"/>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7" name="Text 5"/>
          <p:cNvSpPr/>
          <p:nvPr/>
        </p:nvSpPr>
        <p:spPr>
          <a:xfrm>
            <a:off x="1097280" y="2752344"/>
            <a:ext cx="5212080" cy="320040"/>
          </a:xfrm>
          <a:prstGeom prst="rect">
            <a:avLst/>
          </a:prstGeom>
          <a:noFill/>
          <a:ln/>
        </p:spPr>
        <p:txBody>
          <a:bodyPr wrap="square" lIns="0" tIns="0" rIns="0" bIns="0" rtlCol="0" anchor="ctr"/>
          <a:lstStyle/>
          <a:p>
            <a:pPr marL="0" indent="0">
              <a:buNone/>
            </a:pPr>
            <a:r>
              <a:rPr lang="en-US" sz="1550" b="1" dirty="0">
                <a:solidFill>
                  <a:srgbClr val="23211C"/>
                </a:solidFill>
                <a:latin typeface="Georgia" pitchFamily="34" charset="0"/>
                <a:ea typeface="Georgia" pitchFamily="34" charset="-122"/>
                <a:cs typeface="Georgia" pitchFamily="34" charset="-120"/>
              </a:rPr>
              <a:t>Plans multi-step work</a:t>
            </a:r>
            <a:endParaRPr lang="en-US" sz="1550" dirty="0"/>
          </a:p>
        </p:txBody>
      </p:sp>
      <p:sp>
        <p:nvSpPr>
          <p:cNvPr id="8" name="Text 6"/>
          <p:cNvSpPr/>
          <p:nvPr/>
        </p:nvSpPr>
        <p:spPr>
          <a:xfrm>
            <a:off x="1097280" y="3072384"/>
            <a:ext cx="5212080" cy="457200"/>
          </a:xfrm>
          <a:prstGeom prst="rect">
            <a:avLst/>
          </a:prstGeom>
          <a:noFill/>
          <a:ln/>
        </p:spPr>
        <p:txBody>
          <a:bodyPr wrap="square" lIns="0" tIns="0" rIns="0" bIns="0" rtlCol="0" anchor="ctr"/>
          <a:lstStyle/>
          <a:p>
            <a:pPr marL="0" indent="0">
              <a:lnSpc>
                <a:spcPct val="105000"/>
              </a:lnSpc>
              <a:buNone/>
            </a:pPr>
            <a:r>
              <a:rPr lang="en-US" sz="1200" dirty="0">
                <a:solidFill>
                  <a:srgbClr val="6E6656"/>
                </a:solidFill>
                <a:latin typeface="Calibri" pitchFamily="34" charset="0"/>
                <a:ea typeface="Calibri" pitchFamily="34" charset="-122"/>
                <a:cs typeface="Calibri" pitchFamily="34" charset="-120"/>
              </a:rPr>
              <a:t>Takes a goal and coordinates each step without you prompting move by move.</a:t>
            </a:r>
            <a:endParaRPr lang="en-US" sz="1200" dirty="0"/>
          </a:p>
        </p:txBody>
      </p:sp>
      <p:sp>
        <p:nvSpPr>
          <p:cNvPr id="9" name="Shape 7"/>
          <p:cNvSpPr/>
          <p:nvPr/>
        </p:nvSpPr>
        <p:spPr>
          <a:xfrm>
            <a:off x="566928" y="3657600"/>
            <a:ext cx="420624" cy="420624"/>
          </a:xfrm>
          <a:prstGeom prst="ellipse">
            <a:avLst/>
          </a:prstGeom>
          <a:solidFill>
            <a:srgbClr val="D9785C"/>
          </a:solidFill>
          <a:ln/>
        </p:spPr>
        <p:txBody>
          <a:bodyPr/>
          <a:lstStyle/>
          <a:p>
            <a:endParaRPr lang="en-IN"/>
          </a:p>
        </p:txBody>
      </p:sp>
      <p:sp>
        <p:nvSpPr>
          <p:cNvPr id="10" name="Text 8"/>
          <p:cNvSpPr/>
          <p:nvPr/>
        </p:nvSpPr>
        <p:spPr>
          <a:xfrm>
            <a:off x="566928" y="3657600"/>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1" name="Text 9"/>
          <p:cNvSpPr/>
          <p:nvPr/>
        </p:nvSpPr>
        <p:spPr>
          <a:xfrm>
            <a:off x="1097280" y="3621024"/>
            <a:ext cx="5212080" cy="320040"/>
          </a:xfrm>
          <a:prstGeom prst="rect">
            <a:avLst/>
          </a:prstGeom>
          <a:noFill/>
          <a:ln/>
        </p:spPr>
        <p:txBody>
          <a:bodyPr wrap="square" lIns="0" tIns="0" rIns="0" bIns="0" rtlCol="0" anchor="ctr"/>
          <a:lstStyle/>
          <a:p>
            <a:pPr marL="0" indent="0">
              <a:buNone/>
            </a:pPr>
            <a:r>
              <a:rPr lang="en-US" sz="1550" b="1" dirty="0">
                <a:solidFill>
                  <a:srgbClr val="23211C"/>
                </a:solidFill>
                <a:latin typeface="Georgia" pitchFamily="34" charset="0"/>
                <a:ea typeface="Georgia" pitchFamily="34" charset="-122"/>
                <a:cs typeface="Georgia" pitchFamily="34" charset="-120"/>
              </a:rPr>
              <a:t>Works in a sandboxed VM</a:t>
            </a:r>
            <a:endParaRPr lang="en-US" sz="1550" dirty="0"/>
          </a:p>
        </p:txBody>
      </p:sp>
      <p:sp>
        <p:nvSpPr>
          <p:cNvPr id="12" name="Text 10"/>
          <p:cNvSpPr/>
          <p:nvPr/>
        </p:nvSpPr>
        <p:spPr>
          <a:xfrm>
            <a:off x="1097280" y="3941064"/>
            <a:ext cx="5212080" cy="457200"/>
          </a:xfrm>
          <a:prstGeom prst="rect">
            <a:avLst/>
          </a:prstGeom>
          <a:noFill/>
          <a:ln/>
        </p:spPr>
        <p:txBody>
          <a:bodyPr wrap="square" lIns="0" tIns="0" rIns="0" bIns="0" rtlCol="0" anchor="ctr"/>
          <a:lstStyle/>
          <a:p>
            <a:pPr marL="0" indent="0">
              <a:lnSpc>
                <a:spcPct val="105000"/>
              </a:lnSpc>
              <a:buNone/>
            </a:pPr>
            <a:r>
              <a:rPr lang="en-US" sz="1200" dirty="0">
                <a:solidFill>
                  <a:srgbClr val="6E6656"/>
                </a:solidFill>
                <a:latin typeface="Calibri" pitchFamily="34" charset="0"/>
                <a:ea typeface="Calibri" pitchFamily="34" charset="-122"/>
                <a:cs typeface="Calibri" pitchFamily="34" charset="-120"/>
              </a:rPr>
              <a:t>Runs in Claude Desktop with scoped access to local files and code execution.</a:t>
            </a:r>
            <a:endParaRPr lang="en-US" sz="1200" dirty="0"/>
          </a:p>
        </p:txBody>
      </p:sp>
      <p:sp>
        <p:nvSpPr>
          <p:cNvPr id="13" name="Shape 11"/>
          <p:cNvSpPr/>
          <p:nvPr/>
        </p:nvSpPr>
        <p:spPr>
          <a:xfrm>
            <a:off x="566928" y="4526280"/>
            <a:ext cx="420624" cy="420624"/>
          </a:xfrm>
          <a:prstGeom prst="ellipse">
            <a:avLst/>
          </a:prstGeom>
          <a:solidFill>
            <a:srgbClr val="C15F3C"/>
          </a:solidFill>
          <a:ln/>
        </p:spPr>
        <p:txBody>
          <a:bodyPr/>
          <a:lstStyle/>
          <a:p>
            <a:endParaRPr lang="en-IN"/>
          </a:p>
        </p:txBody>
      </p:sp>
      <p:sp>
        <p:nvSpPr>
          <p:cNvPr id="14" name="Text 12"/>
          <p:cNvSpPr/>
          <p:nvPr/>
        </p:nvSpPr>
        <p:spPr>
          <a:xfrm>
            <a:off x="566928" y="4526280"/>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5" name="Text 13"/>
          <p:cNvSpPr/>
          <p:nvPr/>
        </p:nvSpPr>
        <p:spPr>
          <a:xfrm>
            <a:off x="1097280" y="4489704"/>
            <a:ext cx="5212080" cy="320040"/>
          </a:xfrm>
          <a:prstGeom prst="rect">
            <a:avLst/>
          </a:prstGeom>
          <a:noFill/>
          <a:ln/>
        </p:spPr>
        <p:txBody>
          <a:bodyPr wrap="square" lIns="0" tIns="0" rIns="0" bIns="0" rtlCol="0" anchor="ctr"/>
          <a:lstStyle/>
          <a:p>
            <a:pPr marL="0" indent="0">
              <a:buNone/>
            </a:pPr>
            <a:r>
              <a:rPr lang="en-US" sz="1550" b="1" dirty="0">
                <a:solidFill>
                  <a:srgbClr val="23211C"/>
                </a:solidFill>
                <a:latin typeface="Georgia" pitchFamily="34" charset="0"/>
                <a:ea typeface="Georgia" pitchFamily="34" charset="-122"/>
                <a:cs typeface="Georgia" pitchFamily="34" charset="-120"/>
              </a:rPr>
              <a:t>Schedules tasks</a:t>
            </a:r>
            <a:endParaRPr lang="en-US" sz="1550" dirty="0"/>
          </a:p>
        </p:txBody>
      </p:sp>
      <p:sp>
        <p:nvSpPr>
          <p:cNvPr id="16" name="Text 14"/>
          <p:cNvSpPr/>
          <p:nvPr/>
        </p:nvSpPr>
        <p:spPr>
          <a:xfrm>
            <a:off x="1097280" y="4809744"/>
            <a:ext cx="5212080" cy="457200"/>
          </a:xfrm>
          <a:prstGeom prst="rect">
            <a:avLst/>
          </a:prstGeom>
          <a:noFill/>
          <a:ln/>
        </p:spPr>
        <p:txBody>
          <a:bodyPr wrap="square" lIns="0" tIns="0" rIns="0" bIns="0" rtlCol="0" anchor="ctr"/>
          <a:lstStyle/>
          <a:p>
            <a:pPr marL="0" indent="0">
              <a:lnSpc>
                <a:spcPct val="105000"/>
              </a:lnSpc>
              <a:buNone/>
            </a:pPr>
            <a:r>
              <a:rPr lang="en-US" sz="1200" dirty="0">
                <a:solidFill>
                  <a:srgbClr val="6E6656"/>
                </a:solidFill>
                <a:latin typeface="Calibri" pitchFamily="34" charset="0"/>
                <a:ea typeface="Calibri" pitchFamily="34" charset="-122"/>
                <a:cs typeface="Calibri" pitchFamily="34" charset="-120"/>
              </a:rPr>
              <a:t>Set a cadence once — daily email triage, Friday metrics, weekly digests.</a:t>
            </a:r>
            <a:endParaRPr lang="en-US" sz="1200" dirty="0"/>
          </a:p>
        </p:txBody>
      </p:sp>
      <p:sp>
        <p:nvSpPr>
          <p:cNvPr id="17" name="Shape 15"/>
          <p:cNvSpPr/>
          <p:nvPr/>
        </p:nvSpPr>
        <p:spPr>
          <a:xfrm>
            <a:off x="566928" y="5394960"/>
            <a:ext cx="420624" cy="420624"/>
          </a:xfrm>
          <a:prstGeom prst="ellipse">
            <a:avLst/>
          </a:prstGeom>
          <a:solidFill>
            <a:srgbClr val="D9785C"/>
          </a:solidFill>
          <a:ln/>
        </p:spPr>
        <p:txBody>
          <a:bodyPr/>
          <a:lstStyle/>
          <a:p>
            <a:endParaRPr lang="en-IN"/>
          </a:p>
        </p:txBody>
      </p:sp>
      <p:sp>
        <p:nvSpPr>
          <p:cNvPr id="18" name="Text 16"/>
          <p:cNvSpPr/>
          <p:nvPr/>
        </p:nvSpPr>
        <p:spPr>
          <a:xfrm>
            <a:off x="566928" y="5394960"/>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19" name="Text 17"/>
          <p:cNvSpPr/>
          <p:nvPr/>
        </p:nvSpPr>
        <p:spPr>
          <a:xfrm>
            <a:off x="1097280" y="5358384"/>
            <a:ext cx="5212080" cy="320040"/>
          </a:xfrm>
          <a:prstGeom prst="rect">
            <a:avLst/>
          </a:prstGeom>
          <a:noFill/>
          <a:ln/>
        </p:spPr>
        <p:txBody>
          <a:bodyPr wrap="square" lIns="0" tIns="0" rIns="0" bIns="0" rtlCol="0" anchor="ctr"/>
          <a:lstStyle/>
          <a:p>
            <a:pPr marL="0" indent="0">
              <a:buNone/>
            </a:pPr>
            <a:r>
              <a:rPr lang="en-US" sz="1550" b="1" dirty="0">
                <a:solidFill>
                  <a:srgbClr val="23211C"/>
                </a:solidFill>
                <a:latin typeface="Georgia" pitchFamily="34" charset="0"/>
                <a:ea typeface="Georgia" pitchFamily="34" charset="-122"/>
                <a:cs typeface="Georgia" pitchFamily="34" charset="-120"/>
              </a:rPr>
              <a:t>Returns polished outputs</a:t>
            </a:r>
            <a:endParaRPr lang="en-US" sz="1550" dirty="0"/>
          </a:p>
        </p:txBody>
      </p:sp>
      <p:sp>
        <p:nvSpPr>
          <p:cNvPr id="20" name="Text 18"/>
          <p:cNvSpPr/>
          <p:nvPr/>
        </p:nvSpPr>
        <p:spPr>
          <a:xfrm>
            <a:off x="1097280" y="5678424"/>
            <a:ext cx="5212080" cy="457200"/>
          </a:xfrm>
          <a:prstGeom prst="rect">
            <a:avLst/>
          </a:prstGeom>
          <a:noFill/>
          <a:ln/>
        </p:spPr>
        <p:txBody>
          <a:bodyPr wrap="square" lIns="0" tIns="0" rIns="0" bIns="0" rtlCol="0" anchor="ctr"/>
          <a:lstStyle/>
          <a:p>
            <a:pPr marL="0" indent="0">
              <a:lnSpc>
                <a:spcPct val="105000"/>
              </a:lnSpc>
              <a:buNone/>
            </a:pPr>
            <a:r>
              <a:rPr lang="en-US" sz="1200" dirty="0">
                <a:solidFill>
                  <a:srgbClr val="6E6656"/>
                </a:solidFill>
                <a:latin typeface="Calibri" pitchFamily="34" charset="0"/>
                <a:ea typeface="Calibri" pitchFamily="34" charset="-122"/>
                <a:cs typeface="Calibri" pitchFamily="34" charset="-120"/>
              </a:rPr>
              <a:t>Organized files, built spreadsheets, prepared reports, analyzed notes.</a:t>
            </a:r>
            <a:endParaRPr lang="en-US" sz="1200" dirty="0"/>
          </a:p>
        </p:txBody>
      </p:sp>
      <p:sp>
        <p:nvSpPr>
          <p:cNvPr id="21" name="Shape 19"/>
          <p:cNvSpPr/>
          <p:nvPr/>
        </p:nvSpPr>
        <p:spPr>
          <a:xfrm>
            <a:off x="6903720" y="1554480"/>
            <a:ext cx="4754880" cy="4206240"/>
          </a:xfrm>
          <a:prstGeom prst="roundRect">
            <a:avLst>
              <a:gd name="adj" fmla="val 2174"/>
            </a:avLst>
          </a:prstGeom>
          <a:solidFill>
            <a:srgbClr val="FBF9F4"/>
          </a:solidFill>
          <a:ln w="12700">
            <a:solidFill>
              <a:srgbClr val="E4DDCC"/>
            </a:solidFill>
            <a:prstDash val="solid"/>
          </a:ln>
          <a:effectLst>
            <a:outerShdw blurRad="114300" dist="38100" dir="8100000" algn="bl" rotWithShape="0">
              <a:srgbClr val="B8AE99">
                <a:alpha val="35000"/>
              </a:srgbClr>
            </a:outerShdw>
          </a:effectLst>
        </p:spPr>
        <p:txBody>
          <a:bodyPr/>
          <a:lstStyle/>
          <a:p>
            <a:endParaRPr lang="en-IN"/>
          </a:p>
        </p:txBody>
      </p:sp>
      <p:pic>
        <p:nvPicPr>
          <p:cNvPr id="22" name="Image 0" descr="/agent/turn2/workspace/images/image-0390159b236d17ae11bf19f454d9464d.jpg"/>
          <p:cNvPicPr>
            <a:picLocks noChangeAspect="1"/>
          </p:cNvPicPr>
          <p:nvPr/>
        </p:nvPicPr>
        <p:blipFill>
          <a:blip r:embed="rId3"/>
          <a:srcRect l="12016" r="12016"/>
          <a:stretch/>
        </p:blipFill>
        <p:spPr>
          <a:xfrm>
            <a:off x="7040880" y="1691640"/>
            <a:ext cx="4480560" cy="3931920"/>
          </a:xfrm>
          <a:prstGeom prst="rect">
            <a:avLst/>
          </a:prstGeom>
        </p:spPr>
      </p:pic>
      <p:sp>
        <p:nvSpPr>
          <p:cNvPr id="23" name="Text 20"/>
          <p:cNvSpPr/>
          <p:nvPr/>
        </p:nvSpPr>
        <p:spPr>
          <a:xfrm>
            <a:off x="502920" y="6400800"/>
            <a:ext cx="5486400" cy="274320"/>
          </a:xfrm>
          <a:prstGeom prst="rect">
            <a:avLst/>
          </a:prstGeom>
          <a:noFill/>
          <a:ln/>
        </p:spPr>
        <p:txBody>
          <a:bodyPr wrap="square" lIns="0" tIns="0" rIns="0" bIns="0" rtlCol="0" anchor="ctr"/>
          <a:lstStyle/>
          <a:p>
            <a:pPr marL="0" indent="0" algn="l">
              <a:buNone/>
            </a:pPr>
            <a:r>
              <a:rPr lang="en-US" sz="900" b="1" dirty="0">
                <a:solidFill>
                  <a:srgbClr val="C15F3C"/>
                </a:solidFill>
                <a:latin typeface="Calibri" pitchFamily="34" charset="0"/>
                <a:ea typeface="Calibri" pitchFamily="34" charset="-122"/>
                <a:cs typeface="Calibri" pitchFamily="34" charset="-120"/>
              </a:rPr>
              <a:t>Claude</a:t>
            </a:r>
            <a:r>
              <a:rPr lang="en-US" sz="900" dirty="0">
                <a:solidFill>
                  <a:srgbClr val="6E6656"/>
                </a:solidFill>
                <a:latin typeface="Calibri" pitchFamily="34" charset="0"/>
                <a:ea typeface="Calibri" pitchFamily="34" charset="-122"/>
                <a:cs typeface="Calibri" pitchFamily="34" charset="-120"/>
              </a:rPr>
              <a:t>  Cowork &amp; MCP · Training</a:t>
            </a:r>
            <a:endParaRPr lang="en-US" sz="900" dirty="0"/>
          </a:p>
        </p:txBody>
      </p:sp>
      <p:sp>
        <p:nvSpPr>
          <p:cNvPr id="24" name="Text 21"/>
          <p:cNvSpPr/>
          <p:nvPr/>
        </p:nvSpPr>
        <p:spPr>
          <a:xfrm>
            <a:off x="11094415" y="6400800"/>
            <a:ext cx="594360" cy="274320"/>
          </a:xfrm>
          <a:prstGeom prst="rect">
            <a:avLst/>
          </a:prstGeom>
          <a:noFill/>
          <a:ln/>
        </p:spPr>
        <p:txBody>
          <a:bodyPr wrap="square" lIns="0" tIns="0" rIns="0" bIns="0" rtlCol="0" anchor="ctr"/>
          <a:lstStyle/>
          <a:p>
            <a:pPr marL="0" indent="0" algn="r">
              <a:buNone/>
            </a:pPr>
            <a:r>
              <a:rPr lang="en-US" sz="900" dirty="0">
                <a:solidFill>
                  <a:srgbClr val="6E6656"/>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EFE6"/>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292608"/>
          </a:xfrm>
          <a:prstGeom prst="rect">
            <a:avLst/>
          </a:prstGeom>
          <a:noFill/>
          <a:ln/>
        </p:spPr>
        <p:txBody>
          <a:bodyPr wrap="square" lIns="0" tIns="0" rIns="0" bIns="0" rtlCol="0" anchor="ctr"/>
          <a:lstStyle/>
          <a:p>
            <a:pPr marL="0" indent="0">
              <a:buNone/>
            </a:pPr>
            <a:r>
              <a:rPr lang="en-US" sz="1200" b="1" kern="0" spc="300" dirty="0">
                <a:solidFill>
                  <a:srgbClr val="C15F3C"/>
                </a:solidFill>
                <a:latin typeface="Calibri" pitchFamily="34" charset="0"/>
                <a:ea typeface="Calibri" pitchFamily="34" charset="-122"/>
                <a:cs typeface="Calibri" pitchFamily="34" charset="-120"/>
              </a:rPr>
              <a:t>SECTION 1 · CLAUDE COWORK</a:t>
            </a:r>
            <a:endParaRPr lang="en-US" sz="1200" dirty="0"/>
          </a:p>
        </p:txBody>
      </p:sp>
      <p:sp>
        <p:nvSpPr>
          <p:cNvPr id="3" name="Text 1"/>
          <p:cNvSpPr/>
          <p:nvPr/>
        </p:nvSpPr>
        <p:spPr>
          <a:xfrm>
            <a:off x="548640" y="749808"/>
            <a:ext cx="10515600" cy="914400"/>
          </a:xfrm>
          <a:prstGeom prst="rect">
            <a:avLst/>
          </a:prstGeom>
          <a:noFill/>
          <a:ln/>
        </p:spPr>
        <p:txBody>
          <a:bodyPr wrap="square" lIns="0" tIns="0" rIns="0" bIns="0" rtlCol="0" anchor="t"/>
          <a:lstStyle/>
          <a:p>
            <a:pPr marL="0" indent="0" algn="l">
              <a:lnSpc>
                <a:spcPct val="102000"/>
              </a:lnSpc>
              <a:buNone/>
            </a:pPr>
            <a:r>
              <a:rPr lang="en-US" sz="3200" dirty="0">
                <a:solidFill>
                  <a:srgbClr val="23211C"/>
                </a:solidFill>
                <a:latin typeface="Georgia" pitchFamily="34" charset="0"/>
                <a:ea typeface="Georgia" pitchFamily="34" charset="-122"/>
                <a:cs typeface="Georgia" pitchFamily="34" charset="-120"/>
              </a:rPr>
              <a:t>Built for knowledge work, beyond coding</a:t>
            </a:r>
            <a:endParaRPr lang="en-US" sz="3200" dirty="0"/>
          </a:p>
        </p:txBody>
      </p:sp>
      <p:sp>
        <p:nvSpPr>
          <p:cNvPr id="4" name="Text 2"/>
          <p:cNvSpPr/>
          <p:nvPr/>
        </p:nvSpPr>
        <p:spPr>
          <a:xfrm>
            <a:off x="548640" y="1645920"/>
            <a:ext cx="10972800" cy="822960"/>
          </a:xfrm>
          <a:prstGeom prst="rect">
            <a:avLst/>
          </a:prstGeom>
          <a:noFill/>
          <a:ln/>
        </p:spPr>
        <p:txBody>
          <a:bodyPr wrap="square" lIns="0" tIns="0" rIns="0" bIns="0" rtlCol="0" anchor="ctr"/>
          <a:lstStyle/>
          <a:p>
            <a:pPr marL="0" indent="0">
              <a:lnSpc>
                <a:spcPct val="112000"/>
              </a:lnSpc>
              <a:buNone/>
            </a:pPr>
            <a:r>
              <a:rPr lang="en-US" sz="1500" dirty="0">
                <a:solidFill>
                  <a:srgbClr val="6E6656"/>
                </a:solidFill>
                <a:latin typeface="Calibri" pitchFamily="34" charset="0"/>
                <a:ea typeface="Calibri" pitchFamily="34" charset="-122"/>
                <a:cs typeface="Calibri" pitchFamily="34" charset="-120"/>
              </a:rPr>
              <a:t>Cowork began when non-technical teams at Anthropic started using Claude Code for complex, multi-step work. Cowork delivers that same capability with a simplified experience — no technical background required.</a:t>
            </a:r>
            <a:endParaRPr lang="en-US" sz="1500" dirty="0"/>
          </a:p>
        </p:txBody>
      </p:sp>
      <p:sp>
        <p:nvSpPr>
          <p:cNvPr id="5" name="Shape 3"/>
          <p:cNvSpPr/>
          <p:nvPr/>
        </p:nvSpPr>
        <p:spPr>
          <a:xfrm>
            <a:off x="548640" y="2697480"/>
            <a:ext cx="2679192" cy="2331720"/>
          </a:xfrm>
          <a:prstGeom prst="roundRect">
            <a:avLst>
              <a:gd name="adj" fmla="val 3922"/>
            </a:avLst>
          </a:prstGeom>
          <a:solidFill>
            <a:srgbClr val="FBEFE9"/>
          </a:solidFill>
          <a:ln w="12700">
            <a:solidFill>
              <a:srgbClr val="E4DDCC"/>
            </a:solidFill>
            <a:prstDash val="solid"/>
          </a:ln>
          <a:effectLst>
            <a:outerShdw blurRad="114300" dist="38100" dir="8100000" algn="bl" rotWithShape="0">
              <a:srgbClr val="B8AE99">
                <a:alpha val="35000"/>
              </a:srgbClr>
            </a:outerShdw>
          </a:effectLst>
        </p:spPr>
        <p:txBody>
          <a:bodyPr/>
          <a:lstStyle/>
          <a:p>
            <a:endParaRPr lang="en-IN"/>
          </a:p>
        </p:txBody>
      </p:sp>
      <p:sp>
        <p:nvSpPr>
          <p:cNvPr id="6" name="Text 4"/>
          <p:cNvSpPr/>
          <p:nvPr/>
        </p:nvSpPr>
        <p:spPr>
          <a:xfrm>
            <a:off x="594360" y="3017520"/>
            <a:ext cx="2587752" cy="777240"/>
          </a:xfrm>
          <a:prstGeom prst="rect">
            <a:avLst/>
          </a:prstGeom>
          <a:noFill/>
          <a:ln/>
        </p:spPr>
        <p:txBody>
          <a:bodyPr wrap="square" lIns="0" tIns="0" rIns="0" bIns="0" rtlCol="0" anchor="ctr"/>
          <a:lstStyle/>
          <a:p>
            <a:pPr marL="0" indent="0" algn="ctr">
              <a:buNone/>
            </a:pPr>
            <a:r>
              <a:rPr lang="en-US" sz="2700" b="1" dirty="0">
                <a:solidFill>
                  <a:srgbClr val="C15F3C"/>
                </a:solidFill>
                <a:latin typeface="Georgia" pitchFamily="34" charset="0"/>
                <a:ea typeface="Georgia" pitchFamily="34" charset="-122"/>
                <a:cs typeface="Georgia" pitchFamily="34" charset="-120"/>
              </a:rPr>
              <a:t>Jan 2026</a:t>
            </a:r>
            <a:endParaRPr lang="en-US" sz="2700" dirty="0"/>
          </a:p>
        </p:txBody>
      </p:sp>
      <p:sp>
        <p:nvSpPr>
          <p:cNvPr id="7" name="Shape 5"/>
          <p:cNvSpPr/>
          <p:nvPr/>
        </p:nvSpPr>
        <p:spPr>
          <a:xfrm>
            <a:off x="1568196" y="3867912"/>
            <a:ext cx="640080" cy="0"/>
          </a:xfrm>
          <a:prstGeom prst="line">
            <a:avLst/>
          </a:prstGeom>
          <a:noFill/>
          <a:ln w="25400">
            <a:solidFill>
              <a:srgbClr val="D9785C"/>
            </a:solidFill>
            <a:prstDash val="solid"/>
          </a:ln>
        </p:spPr>
        <p:txBody>
          <a:bodyPr/>
          <a:lstStyle/>
          <a:p>
            <a:endParaRPr lang="en-IN"/>
          </a:p>
        </p:txBody>
      </p:sp>
      <p:sp>
        <p:nvSpPr>
          <p:cNvPr id="8" name="Text 6"/>
          <p:cNvSpPr/>
          <p:nvPr/>
        </p:nvSpPr>
        <p:spPr>
          <a:xfrm>
            <a:off x="749808" y="3995928"/>
            <a:ext cx="2276856" cy="914400"/>
          </a:xfrm>
          <a:prstGeom prst="rect">
            <a:avLst/>
          </a:prstGeom>
          <a:noFill/>
          <a:ln/>
        </p:spPr>
        <p:txBody>
          <a:bodyPr wrap="square" lIns="0" tIns="0" rIns="0" bIns="0" rtlCol="0" anchor="t"/>
          <a:lstStyle/>
          <a:p>
            <a:pPr marL="0" indent="0" algn="ctr">
              <a:lnSpc>
                <a:spcPct val="108000"/>
              </a:lnSpc>
              <a:buNone/>
            </a:pPr>
            <a:r>
              <a:rPr lang="en-US" sz="1200" dirty="0">
                <a:solidFill>
                  <a:srgbClr val="6E6656"/>
                </a:solidFill>
                <a:latin typeface="Calibri" pitchFamily="34" charset="0"/>
                <a:ea typeface="Calibri" pitchFamily="34" charset="-122"/>
                <a:cs typeface="Calibri" pitchFamily="34" charset="-120"/>
              </a:rPr>
              <a:t>Launched as a research preview, extending Claude Code to everyone</a:t>
            </a:r>
            <a:endParaRPr lang="en-US" sz="1200" dirty="0"/>
          </a:p>
        </p:txBody>
      </p:sp>
      <p:sp>
        <p:nvSpPr>
          <p:cNvPr id="9" name="Shape 7"/>
          <p:cNvSpPr/>
          <p:nvPr/>
        </p:nvSpPr>
        <p:spPr>
          <a:xfrm>
            <a:off x="3392424" y="2697480"/>
            <a:ext cx="2679192" cy="2331720"/>
          </a:xfrm>
          <a:prstGeom prst="roundRect">
            <a:avLst>
              <a:gd name="adj" fmla="val 3922"/>
            </a:avLst>
          </a:prstGeom>
          <a:solidFill>
            <a:srgbClr val="FBF9F4"/>
          </a:solidFill>
          <a:ln w="12700">
            <a:solidFill>
              <a:srgbClr val="E4DDCC"/>
            </a:solidFill>
            <a:prstDash val="solid"/>
          </a:ln>
          <a:effectLst>
            <a:outerShdw blurRad="114300" dist="38100" dir="8100000" algn="bl" rotWithShape="0">
              <a:srgbClr val="B8AE99">
                <a:alpha val="35000"/>
              </a:srgbClr>
            </a:outerShdw>
          </a:effectLst>
        </p:spPr>
        <p:txBody>
          <a:bodyPr/>
          <a:lstStyle/>
          <a:p>
            <a:endParaRPr lang="en-IN"/>
          </a:p>
        </p:txBody>
      </p:sp>
      <p:sp>
        <p:nvSpPr>
          <p:cNvPr id="10" name="Text 8"/>
          <p:cNvSpPr/>
          <p:nvPr/>
        </p:nvSpPr>
        <p:spPr>
          <a:xfrm>
            <a:off x="3438144" y="3017520"/>
            <a:ext cx="2587752" cy="777240"/>
          </a:xfrm>
          <a:prstGeom prst="rect">
            <a:avLst/>
          </a:prstGeom>
          <a:noFill/>
          <a:ln/>
        </p:spPr>
        <p:txBody>
          <a:bodyPr wrap="square" lIns="0" tIns="0" rIns="0" bIns="0" rtlCol="0" anchor="ctr"/>
          <a:lstStyle/>
          <a:p>
            <a:pPr marL="0" indent="0" algn="ctr">
              <a:buNone/>
            </a:pPr>
            <a:r>
              <a:rPr lang="en-US" sz="2700" b="1" dirty="0">
                <a:solidFill>
                  <a:srgbClr val="23211C"/>
                </a:solidFill>
                <a:latin typeface="Georgia" pitchFamily="34" charset="0"/>
                <a:ea typeface="Georgia" pitchFamily="34" charset="-122"/>
                <a:cs typeface="Georgia" pitchFamily="34" charset="-120"/>
              </a:rPr>
              <a:t>No code</a:t>
            </a:r>
            <a:endParaRPr lang="en-US" sz="2700" dirty="0"/>
          </a:p>
        </p:txBody>
      </p:sp>
      <p:sp>
        <p:nvSpPr>
          <p:cNvPr id="11" name="Shape 9"/>
          <p:cNvSpPr/>
          <p:nvPr/>
        </p:nvSpPr>
        <p:spPr>
          <a:xfrm>
            <a:off x="4411980" y="3867912"/>
            <a:ext cx="640080" cy="0"/>
          </a:xfrm>
          <a:prstGeom prst="line">
            <a:avLst/>
          </a:prstGeom>
          <a:noFill/>
          <a:ln w="25400">
            <a:solidFill>
              <a:srgbClr val="D9785C"/>
            </a:solidFill>
            <a:prstDash val="solid"/>
          </a:ln>
        </p:spPr>
        <p:txBody>
          <a:bodyPr/>
          <a:lstStyle/>
          <a:p>
            <a:endParaRPr lang="en-IN"/>
          </a:p>
        </p:txBody>
      </p:sp>
      <p:sp>
        <p:nvSpPr>
          <p:cNvPr id="12" name="Text 10"/>
          <p:cNvSpPr/>
          <p:nvPr/>
        </p:nvSpPr>
        <p:spPr>
          <a:xfrm>
            <a:off x="3593592" y="3995928"/>
            <a:ext cx="2276856" cy="914400"/>
          </a:xfrm>
          <a:prstGeom prst="rect">
            <a:avLst/>
          </a:prstGeom>
          <a:noFill/>
          <a:ln/>
        </p:spPr>
        <p:txBody>
          <a:bodyPr wrap="square" lIns="0" tIns="0" rIns="0" bIns="0" rtlCol="0" anchor="t"/>
          <a:lstStyle/>
          <a:p>
            <a:pPr marL="0" indent="0" algn="ctr">
              <a:lnSpc>
                <a:spcPct val="108000"/>
              </a:lnSpc>
              <a:buNone/>
            </a:pPr>
            <a:r>
              <a:rPr lang="en-US" sz="1200" dirty="0">
                <a:solidFill>
                  <a:srgbClr val="6E6656"/>
                </a:solidFill>
                <a:latin typeface="Calibri" pitchFamily="34" charset="0"/>
                <a:ea typeface="Calibri" pitchFamily="34" charset="-122"/>
                <a:cs typeface="Calibri" pitchFamily="34" charset="-120"/>
              </a:rPr>
              <a:t>Describe outcomes in plain language — no scripts or syntax</a:t>
            </a:r>
            <a:endParaRPr lang="en-US" sz="1200" dirty="0"/>
          </a:p>
        </p:txBody>
      </p:sp>
      <p:sp>
        <p:nvSpPr>
          <p:cNvPr id="13" name="Shape 11"/>
          <p:cNvSpPr/>
          <p:nvPr/>
        </p:nvSpPr>
        <p:spPr>
          <a:xfrm>
            <a:off x="6236208" y="2697480"/>
            <a:ext cx="2679192" cy="2331720"/>
          </a:xfrm>
          <a:prstGeom prst="roundRect">
            <a:avLst>
              <a:gd name="adj" fmla="val 3922"/>
            </a:avLst>
          </a:prstGeom>
          <a:solidFill>
            <a:srgbClr val="FBF9F4"/>
          </a:solidFill>
          <a:ln w="12700">
            <a:solidFill>
              <a:srgbClr val="E4DDCC"/>
            </a:solidFill>
            <a:prstDash val="solid"/>
          </a:ln>
          <a:effectLst>
            <a:outerShdw blurRad="114300" dist="38100" dir="8100000" algn="bl" rotWithShape="0">
              <a:srgbClr val="B8AE99">
                <a:alpha val="35000"/>
              </a:srgbClr>
            </a:outerShdw>
          </a:effectLst>
        </p:spPr>
        <p:txBody>
          <a:bodyPr/>
          <a:lstStyle/>
          <a:p>
            <a:endParaRPr lang="en-IN"/>
          </a:p>
        </p:txBody>
      </p:sp>
      <p:sp>
        <p:nvSpPr>
          <p:cNvPr id="14" name="Text 12"/>
          <p:cNvSpPr/>
          <p:nvPr/>
        </p:nvSpPr>
        <p:spPr>
          <a:xfrm>
            <a:off x="6281928" y="3017520"/>
            <a:ext cx="2587752" cy="777240"/>
          </a:xfrm>
          <a:prstGeom prst="rect">
            <a:avLst/>
          </a:prstGeom>
          <a:noFill/>
          <a:ln/>
        </p:spPr>
        <p:txBody>
          <a:bodyPr wrap="square" lIns="0" tIns="0" rIns="0" bIns="0" rtlCol="0" anchor="ctr"/>
          <a:lstStyle/>
          <a:p>
            <a:pPr marL="0" indent="0" algn="ctr">
              <a:buNone/>
            </a:pPr>
            <a:r>
              <a:rPr lang="en-US" sz="2700" b="1" dirty="0">
                <a:solidFill>
                  <a:srgbClr val="23211C"/>
                </a:solidFill>
                <a:latin typeface="Georgia" pitchFamily="34" charset="0"/>
                <a:ea typeface="Georgia" pitchFamily="34" charset="-122"/>
                <a:cs typeface="Georgia" pitchFamily="34" charset="-120"/>
              </a:rPr>
              <a:t>Plug-ins</a:t>
            </a:r>
            <a:endParaRPr lang="en-US" sz="2700" dirty="0"/>
          </a:p>
        </p:txBody>
      </p:sp>
      <p:sp>
        <p:nvSpPr>
          <p:cNvPr id="15" name="Shape 13"/>
          <p:cNvSpPr/>
          <p:nvPr/>
        </p:nvSpPr>
        <p:spPr>
          <a:xfrm>
            <a:off x="7255764" y="3867912"/>
            <a:ext cx="640080" cy="0"/>
          </a:xfrm>
          <a:prstGeom prst="line">
            <a:avLst/>
          </a:prstGeom>
          <a:noFill/>
          <a:ln w="25400">
            <a:solidFill>
              <a:srgbClr val="D9785C"/>
            </a:solidFill>
            <a:prstDash val="solid"/>
          </a:ln>
        </p:spPr>
        <p:txBody>
          <a:bodyPr/>
          <a:lstStyle/>
          <a:p>
            <a:endParaRPr lang="en-IN"/>
          </a:p>
        </p:txBody>
      </p:sp>
      <p:sp>
        <p:nvSpPr>
          <p:cNvPr id="16" name="Text 14"/>
          <p:cNvSpPr/>
          <p:nvPr/>
        </p:nvSpPr>
        <p:spPr>
          <a:xfrm>
            <a:off x="6437376" y="3995928"/>
            <a:ext cx="2276856" cy="914400"/>
          </a:xfrm>
          <a:prstGeom prst="rect">
            <a:avLst/>
          </a:prstGeom>
          <a:noFill/>
          <a:ln/>
        </p:spPr>
        <p:txBody>
          <a:bodyPr wrap="square" lIns="0" tIns="0" rIns="0" bIns="0" rtlCol="0" anchor="t"/>
          <a:lstStyle/>
          <a:p>
            <a:pPr marL="0" indent="0" algn="ctr">
              <a:lnSpc>
                <a:spcPct val="108000"/>
              </a:lnSpc>
              <a:buNone/>
            </a:pPr>
            <a:r>
              <a:rPr lang="en-US" sz="1200" dirty="0">
                <a:solidFill>
                  <a:srgbClr val="6E6656"/>
                </a:solidFill>
                <a:latin typeface="Calibri" pitchFamily="34" charset="0"/>
                <a:ea typeface="Calibri" pitchFamily="34" charset="-122"/>
                <a:cs typeface="Calibri" pitchFamily="34" charset="-120"/>
              </a:rPr>
              <a:t>Agentic plug-ins automate specialized work by department</a:t>
            </a:r>
            <a:endParaRPr lang="en-US" sz="1200" dirty="0"/>
          </a:p>
        </p:txBody>
      </p:sp>
      <p:sp>
        <p:nvSpPr>
          <p:cNvPr id="17" name="Shape 15"/>
          <p:cNvSpPr/>
          <p:nvPr/>
        </p:nvSpPr>
        <p:spPr>
          <a:xfrm>
            <a:off x="9079992" y="2697480"/>
            <a:ext cx="2679192" cy="2331720"/>
          </a:xfrm>
          <a:prstGeom prst="roundRect">
            <a:avLst>
              <a:gd name="adj" fmla="val 3922"/>
            </a:avLst>
          </a:prstGeom>
          <a:solidFill>
            <a:srgbClr val="FBF9F4"/>
          </a:solidFill>
          <a:ln w="12700">
            <a:solidFill>
              <a:srgbClr val="E4DDCC"/>
            </a:solidFill>
            <a:prstDash val="solid"/>
          </a:ln>
          <a:effectLst>
            <a:outerShdw blurRad="114300" dist="38100" dir="8100000" algn="bl" rotWithShape="0">
              <a:srgbClr val="B8AE99">
                <a:alpha val="35000"/>
              </a:srgbClr>
            </a:outerShdw>
          </a:effectLst>
        </p:spPr>
        <p:txBody>
          <a:bodyPr/>
          <a:lstStyle/>
          <a:p>
            <a:endParaRPr lang="en-IN"/>
          </a:p>
        </p:txBody>
      </p:sp>
      <p:sp>
        <p:nvSpPr>
          <p:cNvPr id="18" name="Text 16"/>
          <p:cNvSpPr/>
          <p:nvPr/>
        </p:nvSpPr>
        <p:spPr>
          <a:xfrm>
            <a:off x="9125712" y="3017520"/>
            <a:ext cx="2587752" cy="777240"/>
          </a:xfrm>
          <a:prstGeom prst="rect">
            <a:avLst/>
          </a:prstGeom>
          <a:noFill/>
          <a:ln/>
        </p:spPr>
        <p:txBody>
          <a:bodyPr wrap="square" lIns="0" tIns="0" rIns="0" bIns="0" rtlCol="0" anchor="ctr"/>
          <a:lstStyle/>
          <a:p>
            <a:pPr marL="0" indent="0" algn="ctr">
              <a:buNone/>
            </a:pPr>
            <a:r>
              <a:rPr lang="en-US" sz="2700" b="1" dirty="0">
                <a:solidFill>
                  <a:srgbClr val="23211C"/>
                </a:solidFill>
                <a:latin typeface="Georgia" pitchFamily="34" charset="0"/>
                <a:ea typeface="Georgia" pitchFamily="34" charset="-122"/>
                <a:cs typeface="Georgia" pitchFamily="34" charset="-120"/>
              </a:rPr>
              <a:t>Enterprise</a:t>
            </a:r>
            <a:endParaRPr lang="en-US" sz="2700" dirty="0"/>
          </a:p>
        </p:txBody>
      </p:sp>
      <p:sp>
        <p:nvSpPr>
          <p:cNvPr id="19" name="Shape 17"/>
          <p:cNvSpPr/>
          <p:nvPr/>
        </p:nvSpPr>
        <p:spPr>
          <a:xfrm>
            <a:off x="10099548" y="3867912"/>
            <a:ext cx="640080" cy="0"/>
          </a:xfrm>
          <a:prstGeom prst="line">
            <a:avLst/>
          </a:prstGeom>
          <a:noFill/>
          <a:ln w="25400">
            <a:solidFill>
              <a:srgbClr val="D9785C"/>
            </a:solidFill>
            <a:prstDash val="solid"/>
          </a:ln>
        </p:spPr>
        <p:txBody>
          <a:bodyPr/>
          <a:lstStyle/>
          <a:p>
            <a:endParaRPr lang="en-IN"/>
          </a:p>
        </p:txBody>
      </p:sp>
      <p:sp>
        <p:nvSpPr>
          <p:cNvPr id="20" name="Text 18"/>
          <p:cNvSpPr/>
          <p:nvPr/>
        </p:nvSpPr>
        <p:spPr>
          <a:xfrm>
            <a:off x="9281160" y="3995928"/>
            <a:ext cx="2276856" cy="914400"/>
          </a:xfrm>
          <a:prstGeom prst="rect">
            <a:avLst/>
          </a:prstGeom>
          <a:noFill/>
          <a:ln/>
        </p:spPr>
        <p:txBody>
          <a:bodyPr wrap="square" lIns="0" tIns="0" rIns="0" bIns="0" rtlCol="0" anchor="t"/>
          <a:lstStyle/>
          <a:p>
            <a:pPr marL="0" indent="0" algn="ctr">
              <a:lnSpc>
                <a:spcPct val="108000"/>
              </a:lnSpc>
              <a:buNone/>
            </a:pPr>
            <a:r>
              <a:rPr lang="en-US" sz="1200" dirty="0">
                <a:solidFill>
                  <a:srgbClr val="6E6656"/>
                </a:solidFill>
                <a:latin typeface="Calibri" pitchFamily="34" charset="0"/>
                <a:ea typeface="Calibri" pitchFamily="34" charset="-122"/>
                <a:cs typeface="Calibri" pitchFamily="34" charset="-120"/>
              </a:rPr>
              <a:t>Admins manage feature access, control spend, and track usage</a:t>
            </a:r>
            <a:endParaRPr lang="en-US" sz="1200" dirty="0"/>
          </a:p>
        </p:txBody>
      </p:sp>
      <p:sp>
        <p:nvSpPr>
          <p:cNvPr id="21" name="Text 19"/>
          <p:cNvSpPr/>
          <p:nvPr/>
        </p:nvSpPr>
        <p:spPr>
          <a:xfrm>
            <a:off x="502920" y="6400800"/>
            <a:ext cx="5486400" cy="274320"/>
          </a:xfrm>
          <a:prstGeom prst="rect">
            <a:avLst/>
          </a:prstGeom>
          <a:noFill/>
          <a:ln/>
        </p:spPr>
        <p:txBody>
          <a:bodyPr wrap="square" lIns="0" tIns="0" rIns="0" bIns="0" rtlCol="0" anchor="ctr"/>
          <a:lstStyle/>
          <a:p>
            <a:pPr marL="0" indent="0" algn="l">
              <a:buNone/>
            </a:pPr>
            <a:r>
              <a:rPr lang="en-US" sz="900" b="1" dirty="0">
                <a:solidFill>
                  <a:srgbClr val="C15F3C"/>
                </a:solidFill>
                <a:latin typeface="Calibri" pitchFamily="34" charset="0"/>
                <a:ea typeface="Calibri" pitchFamily="34" charset="-122"/>
                <a:cs typeface="Calibri" pitchFamily="34" charset="-120"/>
              </a:rPr>
              <a:t>Claude</a:t>
            </a:r>
            <a:r>
              <a:rPr lang="en-US" sz="900" dirty="0">
                <a:solidFill>
                  <a:srgbClr val="6E6656"/>
                </a:solidFill>
                <a:latin typeface="Calibri" pitchFamily="34" charset="0"/>
                <a:ea typeface="Calibri" pitchFamily="34" charset="-122"/>
                <a:cs typeface="Calibri" pitchFamily="34" charset="-120"/>
              </a:rPr>
              <a:t>  Cowork &amp; MCP · Training</a:t>
            </a:r>
            <a:endParaRPr lang="en-US" sz="900" dirty="0"/>
          </a:p>
        </p:txBody>
      </p:sp>
      <p:sp>
        <p:nvSpPr>
          <p:cNvPr id="22" name="Text 20"/>
          <p:cNvSpPr/>
          <p:nvPr/>
        </p:nvSpPr>
        <p:spPr>
          <a:xfrm>
            <a:off x="11094415" y="6400800"/>
            <a:ext cx="594360" cy="274320"/>
          </a:xfrm>
          <a:prstGeom prst="rect">
            <a:avLst/>
          </a:prstGeom>
          <a:noFill/>
          <a:ln/>
        </p:spPr>
        <p:txBody>
          <a:bodyPr wrap="square" lIns="0" tIns="0" rIns="0" bIns="0" rtlCol="0" anchor="ctr"/>
          <a:lstStyle/>
          <a:p>
            <a:pPr marL="0" indent="0" algn="r">
              <a:buNone/>
            </a:pPr>
            <a:r>
              <a:rPr lang="en-US" sz="900" dirty="0">
                <a:solidFill>
                  <a:srgbClr val="6E6656"/>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EFE6"/>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292608"/>
          </a:xfrm>
          <a:prstGeom prst="rect">
            <a:avLst/>
          </a:prstGeom>
          <a:noFill/>
          <a:ln/>
        </p:spPr>
        <p:txBody>
          <a:bodyPr wrap="square" lIns="0" tIns="0" rIns="0" bIns="0" rtlCol="0" anchor="ctr"/>
          <a:lstStyle/>
          <a:p>
            <a:pPr marL="0" indent="0">
              <a:buNone/>
            </a:pPr>
            <a:r>
              <a:rPr lang="en-US" sz="1200" b="1" kern="0" spc="300" dirty="0">
                <a:solidFill>
                  <a:srgbClr val="C15F3C"/>
                </a:solidFill>
                <a:latin typeface="Calibri" pitchFamily="34" charset="0"/>
                <a:ea typeface="Calibri" pitchFamily="34" charset="-122"/>
                <a:cs typeface="Calibri" pitchFamily="34" charset="-120"/>
              </a:rPr>
              <a:t>SECTION 2 · CONNECTING THROUGH MCP</a:t>
            </a:r>
            <a:endParaRPr lang="en-US" sz="1200" dirty="0"/>
          </a:p>
        </p:txBody>
      </p:sp>
      <p:sp>
        <p:nvSpPr>
          <p:cNvPr id="3" name="Text 1"/>
          <p:cNvSpPr/>
          <p:nvPr/>
        </p:nvSpPr>
        <p:spPr>
          <a:xfrm>
            <a:off x="548640" y="749808"/>
            <a:ext cx="10789920" cy="914400"/>
          </a:xfrm>
          <a:prstGeom prst="rect">
            <a:avLst/>
          </a:prstGeom>
          <a:noFill/>
          <a:ln/>
        </p:spPr>
        <p:txBody>
          <a:bodyPr wrap="square" lIns="0" tIns="0" rIns="0" bIns="0" rtlCol="0" anchor="t"/>
          <a:lstStyle/>
          <a:p>
            <a:pPr marL="0" indent="0" algn="l">
              <a:lnSpc>
                <a:spcPct val="102000"/>
              </a:lnSpc>
              <a:buNone/>
            </a:pPr>
            <a:r>
              <a:rPr lang="en-US" sz="3200" dirty="0">
                <a:solidFill>
                  <a:srgbClr val="23211C"/>
                </a:solidFill>
                <a:latin typeface="Georgia" pitchFamily="34" charset="0"/>
                <a:ea typeface="Georgia" pitchFamily="34" charset="-122"/>
                <a:cs typeface="Georgia" pitchFamily="34" charset="-120"/>
              </a:rPr>
              <a:t>MCP: one open standard for every connection</a:t>
            </a:r>
            <a:endParaRPr lang="en-US" sz="3200" dirty="0"/>
          </a:p>
        </p:txBody>
      </p:sp>
      <p:sp>
        <p:nvSpPr>
          <p:cNvPr id="4" name="Text 2"/>
          <p:cNvSpPr/>
          <p:nvPr/>
        </p:nvSpPr>
        <p:spPr>
          <a:xfrm>
            <a:off x="548640" y="1691640"/>
            <a:ext cx="10972800" cy="822960"/>
          </a:xfrm>
          <a:prstGeom prst="rect">
            <a:avLst/>
          </a:prstGeom>
          <a:noFill/>
          <a:ln/>
        </p:spPr>
        <p:txBody>
          <a:bodyPr wrap="square" lIns="0" tIns="0" rIns="0" bIns="0" rtlCol="0" anchor="ctr"/>
          <a:lstStyle/>
          <a:p>
            <a:pPr marL="0" indent="0">
              <a:lnSpc>
                <a:spcPct val="112000"/>
              </a:lnSpc>
              <a:buNone/>
            </a:pPr>
            <a:r>
              <a:rPr lang="en-US" sz="1500" dirty="0">
                <a:solidFill>
                  <a:srgbClr val="6E6656"/>
                </a:solidFill>
                <a:latin typeface="Calibri" pitchFamily="34" charset="0"/>
                <a:ea typeface="Calibri" pitchFamily="34" charset="-122"/>
                <a:cs typeface="Calibri" pitchFamily="34" charset="-120"/>
              </a:rPr>
              <a:t>The Model Context Protocol is an open standard, created by Anthropic and open-sourced in November 2024, for connecting AI assistants to the systems where data lives.</a:t>
            </a:r>
            <a:endParaRPr lang="en-US" sz="1500" dirty="0"/>
          </a:p>
        </p:txBody>
      </p:sp>
      <p:sp>
        <p:nvSpPr>
          <p:cNvPr id="5" name="Shape 3"/>
          <p:cNvSpPr/>
          <p:nvPr/>
        </p:nvSpPr>
        <p:spPr>
          <a:xfrm>
            <a:off x="548640" y="2743200"/>
            <a:ext cx="3611880" cy="2468880"/>
          </a:xfrm>
          <a:prstGeom prst="roundRect">
            <a:avLst>
              <a:gd name="adj" fmla="val 3704"/>
            </a:avLst>
          </a:prstGeom>
          <a:solidFill>
            <a:srgbClr val="FBF9F4"/>
          </a:solidFill>
          <a:ln w="12700">
            <a:solidFill>
              <a:srgbClr val="E4DDCC"/>
            </a:solidFill>
            <a:prstDash val="solid"/>
          </a:ln>
          <a:effectLst>
            <a:outerShdw blurRad="114300" dist="38100" dir="8100000" algn="bl" rotWithShape="0">
              <a:srgbClr val="B8AE99">
                <a:alpha val="35000"/>
              </a:srgbClr>
            </a:outerShdw>
          </a:effectLst>
        </p:spPr>
        <p:txBody>
          <a:bodyPr/>
          <a:lstStyle/>
          <a:p>
            <a:endParaRPr lang="en-IN"/>
          </a:p>
        </p:txBody>
      </p:sp>
      <p:sp>
        <p:nvSpPr>
          <p:cNvPr id="6" name="Shape 4"/>
          <p:cNvSpPr/>
          <p:nvPr/>
        </p:nvSpPr>
        <p:spPr>
          <a:xfrm>
            <a:off x="841248" y="3054096"/>
            <a:ext cx="457200" cy="91440"/>
          </a:xfrm>
          <a:prstGeom prst="rect">
            <a:avLst/>
          </a:prstGeom>
          <a:solidFill>
            <a:srgbClr val="C15F3C"/>
          </a:solidFill>
          <a:ln/>
        </p:spPr>
        <p:txBody>
          <a:bodyPr/>
          <a:lstStyle/>
          <a:p>
            <a:endParaRPr lang="en-IN"/>
          </a:p>
        </p:txBody>
      </p:sp>
      <p:sp>
        <p:nvSpPr>
          <p:cNvPr id="7" name="Text 5"/>
          <p:cNvSpPr/>
          <p:nvPr/>
        </p:nvSpPr>
        <p:spPr>
          <a:xfrm>
            <a:off x="841248" y="3291840"/>
            <a:ext cx="3026664" cy="777240"/>
          </a:xfrm>
          <a:prstGeom prst="rect">
            <a:avLst/>
          </a:prstGeom>
          <a:noFill/>
          <a:ln/>
        </p:spPr>
        <p:txBody>
          <a:bodyPr wrap="square" lIns="0" tIns="0" rIns="0" bIns="0" rtlCol="0" anchor="ctr"/>
          <a:lstStyle/>
          <a:p>
            <a:pPr marL="0" indent="0">
              <a:lnSpc>
                <a:spcPct val="100000"/>
              </a:lnSpc>
              <a:buNone/>
            </a:pPr>
            <a:r>
              <a:rPr lang="en-US" sz="1800" b="1" dirty="0">
                <a:solidFill>
                  <a:srgbClr val="23211C"/>
                </a:solidFill>
                <a:latin typeface="Georgia" pitchFamily="34" charset="0"/>
                <a:ea typeface="Georgia" pitchFamily="34" charset="-122"/>
                <a:cs typeface="Georgia" pitchFamily="34" charset="-120"/>
              </a:rPr>
              <a:t>Replaces custom integrations</a:t>
            </a:r>
            <a:endParaRPr lang="en-US" sz="1800" dirty="0"/>
          </a:p>
        </p:txBody>
      </p:sp>
      <p:sp>
        <p:nvSpPr>
          <p:cNvPr id="8" name="Text 6"/>
          <p:cNvSpPr/>
          <p:nvPr/>
        </p:nvSpPr>
        <p:spPr>
          <a:xfrm>
            <a:off x="841248" y="4114800"/>
            <a:ext cx="3026664" cy="914400"/>
          </a:xfrm>
          <a:prstGeom prst="rect">
            <a:avLst/>
          </a:prstGeom>
          <a:noFill/>
          <a:ln/>
        </p:spPr>
        <p:txBody>
          <a:bodyPr wrap="square" lIns="0" tIns="0" rIns="0" bIns="0" rtlCol="0" anchor="ctr"/>
          <a:lstStyle/>
          <a:p>
            <a:pPr marL="0" indent="0">
              <a:lnSpc>
                <a:spcPct val="112000"/>
              </a:lnSpc>
              <a:buNone/>
            </a:pPr>
            <a:r>
              <a:rPr lang="en-US" sz="1300" dirty="0">
                <a:solidFill>
                  <a:srgbClr val="6E6656"/>
                </a:solidFill>
                <a:latin typeface="Calibri" pitchFamily="34" charset="0"/>
                <a:ea typeface="Calibri" pitchFamily="34" charset="-122"/>
                <a:cs typeface="Calibri" pitchFamily="34" charset="-120"/>
              </a:rPr>
              <a:t>One protocol instead of a separate, fragmented build for every tool and data source.</a:t>
            </a:r>
            <a:endParaRPr lang="en-US" sz="1300" dirty="0"/>
          </a:p>
        </p:txBody>
      </p:sp>
      <p:sp>
        <p:nvSpPr>
          <p:cNvPr id="9" name="Shape 7"/>
          <p:cNvSpPr/>
          <p:nvPr/>
        </p:nvSpPr>
        <p:spPr>
          <a:xfrm>
            <a:off x="4343400" y="2743200"/>
            <a:ext cx="3611880" cy="2468880"/>
          </a:xfrm>
          <a:prstGeom prst="roundRect">
            <a:avLst>
              <a:gd name="adj" fmla="val 3704"/>
            </a:avLst>
          </a:prstGeom>
          <a:solidFill>
            <a:srgbClr val="FBF9F4"/>
          </a:solidFill>
          <a:ln w="12700">
            <a:solidFill>
              <a:srgbClr val="E4DDCC"/>
            </a:solidFill>
            <a:prstDash val="solid"/>
          </a:ln>
          <a:effectLst>
            <a:outerShdw blurRad="114300" dist="38100" dir="8100000" algn="bl" rotWithShape="0">
              <a:srgbClr val="B8AE99">
                <a:alpha val="35000"/>
              </a:srgbClr>
            </a:outerShdw>
          </a:effectLst>
        </p:spPr>
        <p:txBody>
          <a:bodyPr/>
          <a:lstStyle/>
          <a:p>
            <a:endParaRPr lang="en-IN"/>
          </a:p>
        </p:txBody>
      </p:sp>
      <p:sp>
        <p:nvSpPr>
          <p:cNvPr id="10" name="Shape 8"/>
          <p:cNvSpPr/>
          <p:nvPr/>
        </p:nvSpPr>
        <p:spPr>
          <a:xfrm>
            <a:off x="4636008" y="3054096"/>
            <a:ext cx="457200" cy="91440"/>
          </a:xfrm>
          <a:prstGeom prst="rect">
            <a:avLst/>
          </a:prstGeom>
          <a:solidFill>
            <a:srgbClr val="C15F3C"/>
          </a:solidFill>
          <a:ln/>
        </p:spPr>
        <p:txBody>
          <a:bodyPr/>
          <a:lstStyle/>
          <a:p>
            <a:endParaRPr lang="en-IN"/>
          </a:p>
        </p:txBody>
      </p:sp>
      <p:sp>
        <p:nvSpPr>
          <p:cNvPr id="11" name="Text 9"/>
          <p:cNvSpPr/>
          <p:nvPr/>
        </p:nvSpPr>
        <p:spPr>
          <a:xfrm>
            <a:off x="4636008" y="3291840"/>
            <a:ext cx="3026664" cy="777240"/>
          </a:xfrm>
          <a:prstGeom prst="rect">
            <a:avLst/>
          </a:prstGeom>
          <a:noFill/>
          <a:ln/>
        </p:spPr>
        <p:txBody>
          <a:bodyPr wrap="square" lIns="0" tIns="0" rIns="0" bIns="0" rtlCol="0" anchor="ctr"/>
          <a:lstStyle/>
          <a:p>
            <a:pPr marL="0" indent="0">
              <a:lnSpc>
                <a:spcPct val="100000"/>
              </a:lnSpc>
              <a:buNone/>
            </a:pPr>
            <a:r>
              <a:rPr lang="en-US" sz="1800" b="1" dirty="0">
                <a:solidFill>
                  <a:srgbClr val="23211C"/>
                </a:solidFill>
                <a:latin typeface="Georgia" pitchFamily="34" charset="0"/>
                <a:ea typeface="Georgia" pitchFamily="34" charset="-122"/>
                <a:cs typeface="Georgia" pitchFamily="34" charset="-120"/>
              </a:rPr>
              <a:t>A secure, two-way interface</a:t>
            </a:r>
            <a:endParaRPr lang="en-US" sz="1800" dirty="0"/>
          </a:p>
        </p:txBody>
      </p:sp>
      <p:sp>
        <p:nvSpPr>
          <p:cNvPr id="12" name="Text 10"/>
          <p:cNvSpPr/>
          <p:nvPr/>
        </p:nvSpPr>
        <p:spPr>
          <a:xfrm>
            <a:off x="4636008" y="4114800"/>
            <a:ext cx="3026664" cy="914400"/>
          </a:xfrm>
          <a:prstGeom prst="rect">
            <a:avLst/>
          </a:prstGeom>
          <a:noFill/>
          <a:ln/>
        </p:spPr>
        <p:txBody>
          <a:bodyPr wrap="square" lIns="0" tIns="0" rIns="0" bIns="0" rtlCol="0" anchor="ctr"/>
          <a:lstStyle/>
          <a:p>
            <a:pPr marL="0" indent="0">
              <a:lnSpc>
                <a:spcPct val="112000"/>
              </a:lnSpc>
              <a:buNone/>
            </a:pPr>
            <a:r>
              <a:rPr lang="en-US" sz="1300" dirty="0">
                <a:solidFill>
                  <a:srgbClr val="6E6656"/>
                </a:solidFill>
                <a:latin typeface="Calibri" pitchFamily="34" charset="0"/>
                <a:ea typeface="Calibri" pitchFamily="34" charset="-122"/>
                <a:cs typeface="Calibri" pitchFamily="34" charset="-120"/>
              </a:rPr>
              <a:t>Bidirectional connections let Claude both read your data and act on it.</a:t>
            </a:r>
            <a:endParaRPr lang="en-US" sz="1300" dirty="0"/>
          </a:p>
        </p:txBody>
      </p:sp>
      <p:sp>
        <p:nvSpPr>
          <p:cNvPr id="13" name="Shape 11"/>
          <p:cNvSpPr/>
          <p:nvPr/>
        </p:nvSpPr>
        <p:spPr>
          <a:xfrm>
            <a:off x="8138160" y="2743200"/>
            <a:ext cx="3611880" cy="2468880"/>
          </a:xfrm>
          <a:prstGeom prst="roundRect">
            <a:avLst>
              <a:gd name="adj" fmla="val 3704"/>
            </a:avLst>
          </a:prstGeom>
          <a:solidFill>
            <a:srgbClr val="FBF9F4"/>
          </a:solidFill>
          <a:ln w="12700">
            <a:solidFill>
              <a:srgbClr val="E4DDCC"/>
            </a:solidFill>
            <a:prstDash val="solid"/>
          </a:ln>
          <a:effectLst>
            <a:outerShdw blurRad="114300" dist="38100" dir="8100000" algn="bl" rotWithShape="0">
              <a:srgbClr val="B8AE99">
                <a:alpha val="35000"/>
              </a:srgbClr>
            </a:outerShdw>
          </a:effectLst>
        </p:spPr>
        <p:txBody>
          <a:bodyPr/>
          <a:lstStyle/>
          <a:p>
            <a:endParaRPr lang="en-IN"/>
          </a:p>
        </p:txBody>
      </p:sp>
      <p:sp>
        <p:nvSpPr>
          <p:cNvPr id="14" name="Shape 12"/>
          <p:cNvSpPr/>
          <p:nvPr/>
        </p:nvSpPr>
        <p:spPr>
          <a:xfrm>
            <a:off x="8430768" y="3054096"/>
            <a:ext cx="457200" cy="91440"/>
          </a:xfrm>
          <a:prstGeom prst="rect">
            <a:avLst/>
          </a:prstGeom>
          <a:solidFill>
            <a:srgbClr val="C15F3C"/>
          </a:solidFill>
          <a:ln/>
        </p:spPr>
        <p:txBody>
          <a:bodyPr/>
          <a:lstStyle/>
          <a:p>
            <a:endParaRPr lang="en-IN"/>
          </a:p>
        </p:txBody>
      </p:sp>
      <p:sp>
        <p:nvSpPr>
          <p:cNvPr id="15" name="Text 13"/>
          <p:cNvSpPr/>
          <p:nvPr/>
        </p:nvSpPr>
        <p:spPr>
          <a:xfrm>
            <a:off x="8430768" y="3291840"/>
            <a:ext cx="3026664" cy="777240"/>
          </a:xfrm>
          <a:prstGeom prst="rect">
            <a:avLst/>
          </a:prstGeom>
          <a:noFill/>
          <a:ln/>
        </p:spPr>
        <p:txBody>
          <a:bodyPr wrap="square" lIns="0" tIns="0" rIns="0" bIns="0" rtlCol="0" anchor="ctr"/>
          <a:lstStyle/>
          <a:p>
            <a:pPr marL="0" indent="0">
              <a:lnSpc>
                <a:spcPct val="100000"/>
              </a:lnSpc>
              <a:buNone/>
            </a:pPr>
            <a:r>
              <a:rPr lang="en-US" sz="1800" b="1" dirty="0">
                <a:solidFill>
                  <a:srgbClr val="23211C"/>
                </a:solidFill>
                <a:latin typeface="Georgia" pitchFamily="34" charset="0"/>
                <a:ea typeface="Georgia" pitchFamily="34" charset="-122"/>
                <a:cs typeface="Georgia" pitchFamily="34" charset="-120"/>
              </a:rPr>
              <a:t>Open &amp; widely supported</a:t>
            </a:r>
            <a:endParaRPr lang="en-US" sz="1800" dirty="0"/>
          </a:p>
        </p:txBody>
      </p:sp>
      <p:sp>
        <p:nvSpPr>
          <p:cNvPr id="16" name="Text 14"/>
          <p:cNvSpPr/>
          <p:nvPr/>
        </p:nvSpPr>
        <p:spPr>
          <a:xfrm>
            <a:off x="8430768" y="4114800"/>
            <a:ext cx="3026664" cy="914400"/>
          </a:xfrm>
          <a:prstGeom prst="rect">
            <a:avLst/>
          </a:prstGeom>
          <a:noFill/>
          <a:ln/>
        </p:spPr>
        <p:txBody>
          <a:bodyPr wrap="square" lIns="0" tIns="0" rIns="0" bIns="0" rtlCol="0" anchor="ctr"/>
          <a:lstStyle/>
          <a:p>
            <a:pPr marL="0" indent="0">
              <a:lnSpc>
                <a:spcPct val="112000"/>
              </a:lnSpc>
              <a:buNone/>
            </a:pPr>
            <a:r>
              <a:rPr lang="en-US" sz="1300" dirty="0">
                <a:solidFill>
                  <a:srgbClr val="6E6656"/>
                </a:solidFill>
                <a:latin typeface="Calibri" pitchFamily="34" charset="0"/>
                <a:ea typeface="Calibri" pitchFamily="34" charset="-122"/>
                <a:cs typeface="Calibri" pitchFamily="34" charset="-120"/>
              </a:rPr>
              <a:t>Open spec with TypeScript and Python SDKs; a growing connector ecosystem.</a:t>
            </a:r>
            <a:endParaRPr lang="en-US" sz="1300" dirty="0"/>
          </a:p>
        </p:txBody>
      </p:sp>
      <p:sp>
        <p:nvSpPr>
          <p:cNvPr id="17" name="Text 15"/>
          <p:cNvSpPr/>
          <p:nvPr/>
        </p:nvSpPr>
        <p:spPr>
          <a:xfrm>
            <a:off x="502920" y="6400800"/>
            <a:ext cx="5486400" cy="274320"/>
          </a:xfrm>
          <a:prstGeom prst="rect">
            <a:avLst/>
          </a:prstGeom>
          <a:noFill/>
          <a:ln/>
        </p:spPr>
        <p:txBody>
          <a:bodyPr wrap="square" lIns="0" tIns="0" rIns="0" bIns="0" rtlCol="0" anchor="ctr"/>
          <a:lstStyle/>
          <a:p>
            <a:pPr marL="0" indent="0" algn="l">
              <a:buNone/>
            </a:pPr>
            <a:r>
              <a:rPr lang="en-US" sz="900" b="1" dirty="0">
                <a:solidFill>
                  <a:srgbClr val="C15F3C"/>
                </a:solidFill>
                <a:latin typeface="Calibri" pitchFamily="34" charset="0"/>
                <a:ea typeface="Calibri" pitchFamily="34" charset="-122"/>
                <a:cs typeface="Calibri" pitchFamily="34" charset="-120"/>
              </a:rPr>
              <a:t>Claude</a:t>
            </a:r>
            <a:r>
              <a:rPr lang="en-US" sz="900" dirty="0">
                <a:solidFill>
                  <a:srgbClr val="6E6656"/>
                </a:solidFill>
                <a:latin typeface="Calibri" pitchFamily="34" charset="0"/>
                <a:ea typeface="Calibri" pitchFamily="34" charset="-122"/>
                <a:cs typeface="Calibri" pitchFamily="34" charset="-120"/>
              </a:rPr>
              <a:t>  Cowork &amp; MCP · Training</a:t>
            </a:r>
            <a:endParaRPr lang="en-US" sz="900" dirty="0"/>
          </a:p>
        </p:txBody>
      </p:sp>
      <p:sp>
        <p:nvSpPr>
          <p:cNvPr id="18" name="Text 16"/>
          <p:cNvSpPr/>
          <p:nvPr/>
        </p:nvSpPr>
        <p:spPr>
          <a:xfrm>
            <a:off x="11094415" y="6400800"/>
            <a:ext cx="594360" cy="274320"/>
          </a:xfrm>
          <a:prstGeom prst="rect">
            <a:avLst/>
          </a:prstGeom>
          <a:noFill/>
          <a:ln/>
        </p:spPr>
        <p:txBody>
          <a:bodyPr wrap="square" lIns="0" tIns="0" rIns="0" bIns="0" rtlCol="0" anchor="ctr"/>
          <a:lstStyle/>
          <a:p>
            <a:pPr marL="0" indent="0" algn="r">
              <a:buNone/>
            </a:pPr>
            <a:r>
              <a:rPr lang="en-US" sz="900" dirty="0">
                <a:solidFill>
                  <a:srgbClr val="6E6656"/>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EFE6"/>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292608"/>
          </a:xfrm>
          <a:prstGeom prst="rect">
            <a:avLst/>
          </a:prstGeom>
          <a:noFill/>
          <a:ln/>
        </p:spPr>
        <p:txBody>
          <a:bodyPr wrap="square" lIns="0" tIns="0" rIns="0" bIns="0" rtlCol="0" anchor="ctr"/>
          <a:lstStyle/>
          <a:p>
            <a:pPr marL="0" indent="0">
              <a:buNone/>
            </a:pPr>
            <a:r>
              <a:rPr lang="en-US" sz="1200" b="1" kern="0" spc="300" dirty="0">
                <a:solidFill>
                  <a:srgbClr val="C15F3C"/>
                </a:solidFill>
                <a:latin typeface="Calibri" pitchFamily="34" charset="0"/>
                <a:ea typeface="Calibri" pitchFamily="34" charset="-122"/>
                <a:cs typeface="Calibri" pitchFamily="34" charset="-120"/>
              </a:rPr>
              <a:t>SECTION 2 · CONNECTING THROUGH MCP</a:t>
            </a:r>
            <a:endParaRPr lang="en-US" sz="1200" dirty="0"/>
          </a:p>
        </p:txBody>
      </p:sp>
      <p:sp>
        <p:nvSpPr>
          <p:cNvPr id="3" name="Text 1"/>
          <p:cNvSpPr/>
          <p:nvPr/>
        </p:nvSpPr>
        <p:spPr>
          <a:xfrm>
            <a:off x="548640" y="749808"/>
            <a:ext cx="6675120" cy="914400"/>
          </a:xfrm>
          <a:prstGeom prst="rect">
            <a:avLst/>
          </a:prstGeom>
          <a:noFill/>
          <a:ln/>
        </p:spPr>
        <p:txBody>
          <a:bodyPr wrap="square" lIns="0" tIns="0" rIns="0" bIns="0" rtlCol="0" anchor="t"/>
          <a:lstStyle/>
          <a:p>
            <a:pPr marL="0" indent="0" algn="l">
              <a:lnSpc>
                <a:spcPct val="102000"/>
              </a:lnSpc>
              <a:buNone/>
            </a:pPr>
            <a:r>
              <a:rPr lang="en-US" sz="3200" dirty="0">
                <a:solidFill>
                  <a:srgbClr val="23211C"/>
                </a:solidFill>
                <a:latin typeface="Georgia" pitchFamily="34" charset="0"/>
                <a:ea typeface="Georgia" pitchFamily="34" charset="-122"/>
                <a:cs typeface="Georgia" pitchFamily="34" charset="-120"/>
              </a:rPr>
              <a:t>How MCP works: clients, servers &amp; tools</a:t>
            </a:r>
            <a:endParaRPr lang="en-US" sz="3200" dirty="0"/>
          </a:p>
        </p:txBody>
      </p:sp>
      <p:sp>
        <p:nvSpPr>
          <p:cNvPr id="4" name="Text 2"/>
          <p:cNvSpPr/>
          <p:nvPr/>
        </p:nvSpPr>
        <p:spPr>
          <a:xfrm>
            <a:off x="548640" y="1664208"/>
            <a:ext cx="6035040" cy="868680"/>
          </a:xfrm>
          <a:prstGeom prst="rect">
            <a:avLst/>
          </a:prstGeom>
          <a:noFill/>
          <a:ln/>
        </p:spPr>
        <p:txBody>
          <a:bodyPr wrap="square" lIns="0" tIns="0" rIns="0" bIns="0" rtlCol="0" anchor="ctr"/>
          <a:lstStyle/>
          <a:p>
            <a:pPr marL="0" indent="0">
              <a:lnSpc>
                <a:spcPct val="112000"/>
              </a:lnSpc>
              <a:buNone/>
            </a:pPr>
            <a:r>
              <a:rPr lang="en-US" sz="1400" dirty="0">
                <a:solidFill>
                  <a:srgbClr val="6E6656"/>
                </a:solidFill>
                <a:latin typeface="Calibri" pitchFamily="34" charset="0"/>
                <a:ea typeface="Calibri" pitchFamily="34" charset="-122"/>
                <a:cs typeface="Calibri" pitchFamily="34" charset="-120"/>
              </a:rPr>
              <a:t>AI apps (clients) connect to MCP servers that expose your data and actions. Servers run locally on your device or remotely in the cloud.</a:t>
            </a:r>
            <a:endParaRPr lang="en-US" sz="1400" dirty="0"/>
          </a:p>
        </p:txBody>
      </p:sp>
      <p:sp>
        <p:nvSpPr>
          <p:cNvPr id="5" name="Shape 3"/>
          <p:cNvSpPr/>
          <p:nvPr/>
        </p:nvSpPr>
        <p:spPr>
          <a:xfrm>
            <a:off x="548640" y="2697480"/>
            <a:ext cx="5989320" cy="713232"/>
          </a:xfrm>
          <a:prstGeom prst="roundRect">
            <a:avLst>
              <a:gd name="adj" fmla="val 12821"/>
            </a:avLst>
          </a:prstGeom>
          <a:solidFill>
            <a:srgbClr val="FBF9F4"/>
          </a:solidFill>
          <a:ln w="12700">
            <a:solidFill>
              <a:srgbClr val="E4DDCC"/>
            </a:solidFill>
            <a:prstDash val="solid"/>
          </a:ln>
        </p:spPr>
        <p:txBody>
          <a:bodyPr/>
          <a:lstStyle/>
          <a:p>
            <a:endParaRPr lang="en-IN"/>
          </a:p>
        </p:txBody>
      </p:sp>
      <p:sp>
        <p:nvSpPr>
          <p:cNvPr id="6" name="Text 4"/>
          <p:cNvSpPr/>
          <p:nvPr/>
        </p:nvSpPr>
        <p:spPr>
          <a:xfrm>
            <a:off x="777240" y="2743200"/>
            <a:ext cx="1554480" cy="621792"/>
          </a:xfrm>
          <a:prstGeom prst="rect">
            <a:avLst/>
          </a:prstGeom>
          <a:noFill/>
          <a:ln/>
        </p:spPr>
        <p:txBody>
          <a:bodyPr wrap="square" lIns="0" tIns="0" rIns="0" bIns="0" rtlCol="0" anchor="ctr"/>
          <a:lstStyle/>
          <a:p>
            <a:pPr marL="0" indent="0">
              <a:buNone/>
            </a:pPr>
            <a:r>
              <a:rPr lang="en-US" sz="1650" b="1" dirty="0">
                <a:solidFill>
                  <a:srgbClr val="C15F3C"/>
                </a:solidFill>
                <a:latin typeface="Georgia" pitchFamily="34" charset="0"/>
                <a:ea typeface="Georgia" pitchFamily="34" charset="-122"/>
                <a:cs typeface="Georgia" pitchFamily="34" charset="-120"/>
              </a:rPr>
              <a:t>Tools</a:t>
            </a:r>
            <a:endParaRPr lang="en-US" sz="1650" dirty="0"/>
          </a:p>
        </p:txBody>
      </p:sp>
      <p:sp>
        <p:nvSpPr>
          <p:cNvPr id="7" name="Text 5"/>
          <p:cNvSpPr/>
          <p:nvPr/>
        </p:nvSpPr>
        <p:spPr>
          <a:xfrm>
            <a:off x="2331720" y="2743200"/>
            <a:ext cx="4069080" cy="621792"/>
          </a:xfrm>
          <a:prstGeom prst="rect">
            <a:avLst/>
          </a:prstGeom>
          <a:noFill/>
          <a:ln/>
        </p:spPr>
        <p:txBody>
          <a:bodyPr wrap="square" lIns="0" tIns="0" rIns="0" bIns="0" rtlCol="0" anchor="ctr"/>
          <a:lstStyle/>
          <a:p>
            <a:pPr marL="0" indent="0">
              <a:lnSpc>
                <a:spcPct val="100000"/>
              </a:lnSpc>
              <a:buNone/>
            </a:pPr>
            <a:r>
              <a:rPr lang="en-US" sz="1250" dirty="0">
                <a:solidFill>
                  <a:srgbClr val="23211C"/>
                </a:solidFill>
                <a:latin typeface="Calibri" pitchFamily="34" charset="0"/>
                <a:ea typeface="Calibri" pitchFamily="34" charset="-122"/>
                <a:cs typeface="Calibri" pitchFamily="34" charset="-120"/>
              </a:rPr>
              <a:t>Actions Claude can perform — search, create, modify.</a:t>
            </a:r>
            <a:endParaRPr lang="en-US" sz="1250" dirty="0"/>
          </a:p>
        </p:txBody>
      </p:sp>
      <p:sp>
        <p:nvSpPr>
          <p:cNvPr id="8" name="Shape 6"/>
          <p:cNvSpPr/>
          <p:nvPr/>
        </p:nvSpPr>
        <p:spPr>
          <a:xfrm>
            <a:off x="548640" y="3538728"/>
            <a:ext cx="5989320" cy="713232"/>
          </a:xfrm>
          <a:prstGeom prst="roundRect">
            <a:avLst>
              <a:gd name="adj" fmla="val 12821"/>
            </a:avLst>
          </a:prstGeom>
          <a:solidFill>
            <a:srgbClr val="FBF9F4"/>
          </a:solidFill>
          <a:ln w="12700">
            <a:solidFill>
              <a:srgbClr val="E4DDCC"/>
            </a:solidFill>
            <a:prstDash val="solid"/>
          </a:ln>
        </p:spPr>
        <p:txBody>
          <a:bodyPr/>
          <a:lstStyle/>
          <a:p>
            <a:endParaRPr lang="en-IN"/>
          </a:p>
        </p:txBody>
      </p:sp>
      <p:sp>
        <p:nvSpPr>
          <p:cNvPr id="9" name="Text 7"/>
          <p:cNvSpPr/>
          <p:nvPr/>
        </p:nvSpPr>
        <p:spPr>
          <a:xfrm>
            <a:off x="777240" y="3584448"/>
            <a:ext cx="1554480" cy="621792"/>
          </a:xfrm>
          <a:prstGeom prst="rect">
            <a:avLst/>
          </a:prstGeom>
          <a:noFill/>
          <a:ln/>
        </p:spPr>
        <p:txBody>
          <a:bodyPr wrap="square" lIns="0" tIns="0" rIns="0" bIns="0" rtlCol="0" anchor="ctr"/>
          <a:lstStyle/>
          <a:p>
            <a:pPr marL="0" indent="0">
              <a:buNone/>
            </a:pPr>
            <a:r>
              <a:rPr lang="en-US" sz="1650" b="1" dirty="0">
                <a:solidFill>
                  <a:srgbClr val="C15F3C"/>
                </a:solidFill>
                <a:latin typeface="Georgia" pitchFamily="34" charset="0"/>
                <a:ea typeface="Georgia" pitchFamily="34" charset="-122"/>
                <a:cs typeface="Georgia" pitchFamily="34" charset="-120"/>
              </a:rPr>
              <a:t>Resources</a:t>
            </a:r>
            <a:endParaRPr lang="en-US" sz="1650" dirty="0"/>
          </a:p>
        </p:txBody>
      </p:sp>
      <p:sp>
        <p:nvSpPr>
          <p:cNvPr id="10" name="Text 8"/>
          <p:cNvSpPr/>
          <p:nvPr/>
        </p:nvSpPr>
        <p:spPr>
          <a:xfrm>
            <a:off x="2331720" y="3584448"/>
            <a:ext cx="4069080" cy="621792"/>
          </a:xfrm>
          <a:prstGeom prst="rect">
            <a:avLst/>
          </a:prstGeom>
          <a:noFill/>
          <a:ln/>
        </p:spPr>
        <p:txBody>
          <a:bodyPr wrap="square" lIns="0" tIns="0" rIns="0" bIns="0" rtlCol="0" anchor="ctr"/>
          <a:lstStyle/>
          <a:p>
            <a:pPr marL="0" indent="0">
              <a:lnSpc>
                <a:spcPct val="100000"/>
              </a:lnSpc>
              <a:buNone/>
            </a:pPr>
            <a:r>
              <a:rPr lang="en-US" sz="1250" dirty="0">
                <a:solidFill>
                  <a:srgbClr val="23211C"/>
                </a:solidFill>
                <a:latin typeface="Calibri" pitchFamily="34" charset="0"/>
                <a:ea typeface="Calibri" pitchFamily="34" charset="-122"/>
                <a:cs typeface="Calibri" pitchFamily="34" charset="-120"/>
              </a:rPr>
              <a:t>Data Claude can access — files, documents, records.</a:t>
            </a:r>
            <a:endParaRPr lang="en-US" sz="1250" dirty="0"/>
          </a:p>
        </p:txBody>
      </p:sp>
      <p:sp>
        <p:nvSpPr>
          <p:cNvPr id="11" name="Shape 9"/>
          <p:cNvSpPr/>
          <p:nvPr/>
        </p:nvSpPr>
        <p:spPr>
          <a:xfrm>
            <a:off x="548640" y="4379976"/>
            <a:ext cx="5989320" cy="713232"/>
          </a:xfrm>
          <a:prstGeom prst="roundRect">
            <a:avLst>
              <a:gd name="adj" fmla="val 12821"/>
            </a:avLst>
          </a:prstGeom>
          <a:solidFill>
            <a:srgbClr val="FBF9F4"/>
          </a:solidFill>
          <a:ln w="12700">
            <a:solidFill>
              <a:srgbClr val="E4DDCC"/>
            </a:solidFill>
            <a:prstDash val="solid"/>
          </a:ln>
        </p:spPr>
        <p:txBody>
          <a:bodyPr/>
          <a:lstStyle/>
          <a:p>
            <a:endParaRPr lang="en-IN"/>
          </a:p>
        </p:txBody>
      </p:sp>
      <p:sp>
        <p:nvSpPr>
          <p:cNvPr id="12" name="Text 10"/>
          <p:cNvSpPr/>
          <p:nvPr/>
        </p:nvSpPr>
        <p:spPr>
          <a:xfrm>
            <a:off x="777240" y="4425696"/>
            <a:ext cx="1554480" cy="621792"/>
          </a:xfrm>
          <a:prstGeom prst="rect">
            <a:avLst/>
          </a:prstGeom>
          <a:noFill/>
          <a:ln/>
        </p:spPr>
        <p:txBody>
          <a:bodyPr wrap="square" lIns="0" tIns="0" rIns="0" bIns="0" rtlCol="0" anchor="ctr"/>
          <a:lstStyle/>
          <a:p>
            <a:pPr marL="0" indent="0">
              <a:buNone/>
            </a:pPr>
            <a:r>
              <a:rPr lang="en-US" sz="1650" b="1" dirty="0">
                <a:solidFill>
                  <a:srgbClr val="C15F3C"/>
                </a:solidFill>
                <a:latin typeface="Georgia" pitchFamily="34" charset="0"/>
                <a:ea typeface="Georgia" pitchFamily="34" charset="-122"/>
                <a:cs typeface="Georgia" pitchFamily="34" charset="-120"/>
              </a:rPr>
              <a:t>Prompts</a:t>
            </a:r>
            <a:endParaRPr lang="en-US" sz="1650" dirty="0"/>
          </a:p>
        </p:txBody>
      </p:sp>
      <p:sp>
        <p:nvSpPr>
          <p:cNvPr id="13" name="Text 11"/>
          <p:cNvSpPr/>
          <p:nvPr/>
        </p:nvSpPr>
        <p:spPr>
          <a:xfrm>
            <a:off x="2331720" y="4425696"/>
            <a:ext cx="4069080" cy="621792"/>
          </a:xfrm>
          <a:prstGeom prst="rect">
            <a:avLst/>
          </a:prstGeom>
          <a:noFill/>
          <a:ln/>
        </p:spPr>
        <p:txBody>
          <a:bodyPr wrap="square" lIns="0" tIns="0" rIns="0" bIns="0" rtlCol="0" anchor="ctr"/>
          <a:lstStyle/>
          <a:p>
            <a:pPr marL="0" indent="0">
              <a:lnSpc>
                <a:spcPct val="100000"/>
              </a:lnSpc>
              <a:buNone/>
            </a:pPr>
            <a:r>
              <a:rPr lang="en-US" sz="1250" dirty="0">
                <a:solidFill>
                  <a:srgbClr val="23211C"/>
                </a:solidFill>
                <a:latin typeface="Calibri" pitchFamily="34" charset="0"/>
                <a:ea typeface="Calibri" pitchFamily="34" charset="-122"/>
                <a:cs typeface="Calibri" pitchFamily="34" charset="-120"/>
              </a:rPr>
              <a:t>Predefined interactions for specific, repeatable tasks.</a:t>
            </a:r>
            <a:endParaRPr lang="en-US" sz="1250" dirty="0"/>
          </a:p>
        </p:txBody>
      </p:sp>
      <p:sp>
        <p:nvSpPr>
          <p:cNvPr id="14" name="Text 12"/>
          <p:cNvSpPr/>
          <p:nvPr/>
        </p:nvSpPr>
        <p:spPr>
          <a:xfrm>
            <a:off x="548640" y="5257800"/>
            <a:ext cx="6126480" cy="365760"/>
          </a:xfrm>
          <a:prstGeom prst="rect">
            <a:avLst/>
          </a:prstGeom>
          <a:noFill/>
          <a:ln/>
        </p:spPr>
        <p:txBody>
          <a:bodyPr wrap="square" lIns="0" tIns="0" rIns="0" bIns="0" rtlCol="0" anchor="ctr"/>
          <a:lstStyle/>
          <a:p>
            <a:pPr marL="0" indent="0">
              <a:buNone/>
            </a:pPr>
            <a:r>
              <a:rPr lang="en-US" sz="1150" b="1" dirty="0">
                <a:solidFill>
                  <a:srgbClr val="23211C"/>
                </a:solidFill>
                <a:latin typeface="Calibri" pitchFamily="34" charset="0"/>
                <a:ea typeface="Calibri" pitchFamily="34" charset="-122"/>
                <a:cs typeface="Calibri" pitchFamily="34" charset="-120"/>
              </a:rPr>
              <a:t>Local servers </a:t>
            </a:r>
            <a:r>
              <a:rPr lang="en-US" sz="1150" dirty="0">
                <a:solidFill>
                  <a:srgbClr val="6E6656"/>
                </a:solidFill>
                <a:latin typeface="Calibri" pitchFamily="34" charset="0"/>
                <a:ea typeface="Calibri" pitchFamily="34" charset="-122"/>
                <a:cs typeface="Calibri" pitchFamily="34" charset="-120"/>
              </a:rPr>
              <a:t>run on your device · </a:t>
            </a:r>
            <a:r>
              <a:rPr lang="en-US" sz="1150" b="1" dirty="0">
                <a:solidFill>
                  <a:srgbClr val="23211C"/>
                </a:solidFill>
                <a:latin typeface="Calibri" pitchFamily="34" charset="0"/>
                <a:ea typeface="Calibri" pitchFamily="34" charset="-122"/>
                <a:cs typeface="Calibri" pitchFamily="34" charset="-120"/>
              </a:rPr>
              <a:t>Remote servers </a:t>
            </a:r>
            <a:r>
              <a:rPr lang="en-US" sz="1150" dirty="0">
                <a:solidFill>
                  <a:srgbClr val="6E6656"/>
                </a:solidFill>
                <a:latin typeface="Calibri" pitchFamily="34" charset="0"/>
                <a:ea typeface="Calibri" pitchFamily="34" charset="-122"/>
                <a:cs typeface="Calibri" pitchFamily="34" charset="-120"/>
              </a:rPr>
              <a:t>are hosted in the cloud</a:t>
            </a:r>
            <a:endParaRPr lang="en-US" sz="1150" dirty="0"/>
          </a:p>
        </p:txBody>
      </p:sp>
      <p:sp>
        <p:nvSpPr>
          <p:cNvPr id="15" name="Shape 13"/>
          <p:cNvSpPr/>
          <p:nvPr/>
        </p:nvSpPr>
        <p:spPr>
          <a:xfrm>
            <a:off x="6858000" y="1600200"/>
            <a:ext cx="4800600" cy="4160520"/>
          </a:xfrm>
          <a:prstGeom prst="roundRect">
            <a:avLst>
              <a:gd name="adj" fmla="val 2198"/>
            </a:avLst>
          </a:prstGeom>
          <a:solidFill>
            <a:srgbClr val="FBF9F4"/>
          </a:solidFill>
          <a:ln w="12700">
            <a:solidFill>
              <a:srgbClr val="E4DDCC"/>
            </a:solidFill>
            <a:prstDash val="solid"/>
          </a:ln>
          <a:effectLst>
            <a:outerShdw blurRad="114300" dist="38100" dir="8100000" algn="bl" rotWithShape="0">
              <a:srgbClr val="B8AE99">
                <a:alpha val="35000"/>
              </a:srgbClr>
            </a:outerShdw>
          </a:effectLst>
        </p:spPr>
        <p:txBody>
          <a:bodyPr/>
          <a:lstStyle/>
          <a:p>
            <a:endParaRPr lang="en-IN"/>
          </a:p>
        </p:txBody>
      </p:sp>
      <p:pic>
        <p:nvPicPr>
          <p:cNvPr id="16" name="Image 0" descr="/agent/turn2/workspace/images/image-9a3e258901f9abacc2b7aa1e8a26ef37.jpg"/>
          <p:cNvPicPr>
            <a:picLocks noChangeAspect="1"/>
          </p:cNvPicPr>
          <p:nvPr/>
        </p:nvPicPr>
        <p:blipFill>
          <a:blip r:embed="rId3"/>
          <a:stretch>
            <a:fillRect/>
          </a:stretch>
        </p:blipFill>
        <p:spPr>
          <a:xfrm>
            <a:off x="7040880" y="2221567"/>
            <a:ext cx="4434840" cy="2917785"/>
          </a:xfrm>
          <a:prstGeom prst="rect">
            <a:avLst/>
          </a:prstGeom>
        </p:spPr>
      </p:pic>
      <p:sp>
        <p:nvSpPr>
          <p:cNvPr id="17" name="Text 14"/>
          <p:cNvSpPr/>
          <p:nvPr/>
        </p:nvSpPr>
        <p:spPr>
          <a:xfrm>
            <a:off x="502920" y="6400800"/>
            <a:ext cx="5486400" cy="274320"/>
          </a:xfrm>
          <a:prstGeom prst="rect">
            <a:avLst/>
          </a:prstGeom>
          <a:noFill/>
          <a:ln/>
        </p:spPr>
        <p:txBody>
          <a:bodyPr wrap="square" lIns="0" tIns="0" rIns="0" bIns="0" rtlCol="0" anchor="ctr"/>
          <a:lstStyle/>
          <a:p>
            <a:pPr marL="0" indent="0" algn="l">
              <a:buNone/>
            </a:pPr>
            <a:r>
              <a:rPr lang="en-US" sz="900" b="1" dirty="0">
                <a:solidFill>
                  <a:srgbClr val="C15F3C"/>
                </a:solidFill>
                <a:latin typeface="Calibri" pitchFamily="34" charset="0"/>
                <a:ea typeface="Calibri" pitchFamily="34" charset="-122"/>
                <a:cs typeface="Calibri" pitchFamily="34" charset="-120"/>
              </a:rPr>
              <a:t>Claude</a:t>
            </a:r>
            <a:r>
              <a:rPr lang="en-US" sz="900" dirty="0">
                <a:solidFill>
                  <a:srgbClr val="6E6656"/>
                </a:solidFill>
                <a:latin typeface="Calibri" pitchFamily="34" charset="0"/>
                <a:ea typeface="Calibri" pitchFamily="34" charset="-122"/>
                <a:cs typeface="Calibri" pitchFamily="34" charset="-120"/>
              </a:rPr>
              <a:t>  Cowork &amp; MCP · Training</a:t>
            </a:r>
            <a:endParaRPr lang="en-US" sz="900" dirty="0"/>
          </a:p>
        </p:txBody>
      </p:sp>
      <p:sp>
        <p:nvSpPr>
          <p:cNvPr id="18" name="Text 15"/>
          <p:cNvSpPr/>
          <p:nvPr/>
        </p:nvSpPr>
        <p:spPr>
          <a:xfrm>
            <a:off x="11094415" y="6400800"/>
            <a:ext cx="594360" cy="274320"/>
          </a:xfrm>
          <a:prstGeom prst="rect">
            <a:avLst/>
          </a:prstGeom>
          <a:noFill/>
          <a:ln/>
        </p:spPr>
        <p:txBody>
          <a:bodyPr wrap="square" lIns="0" tIns="0" rIns="0" bIns="0" rtlCol="0" anchor="ctr"/>
          <a:lstStyle/>
          <a:p>
            <a:pPr marL="0" indent="0" algn="r">
              <a:buNone/>
            </a:pPr>
            <a:r>
              <a:rPr lang="en-US" sz="900" dirty="0">
                <a:solidFill>
                  <a:srgbClr val="6E6656"/>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EFE6"/>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292608"/>
          </a:xfrm>
          <a:prstGeom prst="rect">
            <a:avLst/>
          </a:prstGeom>
          <a:noFill/>
          <a:ln/>
        </p:spPr>
        <p:txBody>
          <a:bodyPr wrap="square" lIns="0" tIns="0" rIns="0" bIns="0" rtlCol="0" anchor="ctr"/>
          <a:lstStyle/>
          <a:p>
            <a:pPr marL="0" indent="0">
              <a:buNone/>
            </a:pPr>
            <a:r>
              <a:rPr lang="en-US" sz="1200" b="1" kern="0" spc="300" dirty="0">
                <a:solidFill>
                  <a:srgbClr val="C15F3C"/>
                </a:solidFill>
                <a:latin typeface="Calibri" pitchFamily="34" charset="0"/>
                <a:ea typeface="Calibri" pitchFamily="34" charset="-122"/>
                <a:cs typeface="Calibri" pitchFamily="34" charset="-120"/>
              </a:rPr>
              <a:t>SECTION 2 · CONNECTING THROUGH MCP</a:t>
            </a:r>
            <a:endParaRPr lang="en-US" sz="1200" dirty="0"/>
          </a:p>
        </p:txBody>
      </p:sp>
      <p:sp>
        <p:nvSpPr>
          <p:cNvPr id="3" name="Text 1"/>
          <p:cNvSpPr/>
          <p:nvPr/>
        </p:nvSpPr>
        <p:spPr>
          <a:xfrm>
            <a:off x="548640" y="749808"/>
            <a:ext cx="10789920" cy="914400"/>
          </a:xfrm>
          <a:prstGeom prst="rect">
            <a:avLst/>
          </a:prstGeom>
          <a:noFill/>
          <a:ln/>
        </p:spPr>
        <p:txBody>
          <a:bodyPr wrap="square" lIns="0" tIns="0" rIns="0" bIns="0" rtlCol="0" anchor="t"/>
          <a:lstStyle/>
          <a:p>
            <a:pPr marL="0" indent="0" algn="l">
              <a:lnSpc>
                <a:spcPct val="102000"/>
              </a:lnSpc>
              <a:buNone/>
            </a:pPr>
            <a:r>
              <a:rPr lang="en-US" sz="3200" dirty="0">
                <a:solidFill>
                  <a:srgbClr val="23211C"/>
                </a:solidFill>
                <a:latin typeface="Georgia" pitchFamily="34" charset="0"/>
                <a:ea typeface="Georgia" pitchFamily="34" charset="-122"/>
                <a:cs typeface="Georgia" pitchFamily="34" charset="-120"/>
              </a:rPr>
              <a:t>Connecting Cowork to enterprise systems</a:t>
            </a:r>
            <a:endParaRPr lang="en-US" sz="3200" dirty="0"/>
          </a:p>
        </p:txBody>
      </p:sp>
      <p:sp>
        <p:nvSpPr>
          <p:cNvPr id="4" name="Text 2"/>
          <p:cNvSpPr/>
          <p:nvPr/>
        </p:nvSpPr>
        <p:spPr>
          <a:xfrm>
            <a:off x="548640" y="1664208"/>
            <a:ext cx="10972800" cy="640080"/>
          </a:xfrm>
          <a:prstGeom prst="rect">
            <a:avLst/>
          </a:prstGeom>
          <a:noFill/>
          <a:ln/>
        </p:spPr>
        <p:txBody>
          <a:bodyPr wrap="square" lIns="0" tIns="0" rIns="0" bIns="0" rtlCol="0" anchor="ctr"/>
          <a:lstStyle/>
          <a:p>
            <a:pPr marL="0" indent="0">
              <a:lnSpc>
                <a:spcPct val="110000"/>
              </a:lnSpc>
              <a:buNone/>
            </a:pPr>
            <a:r>
              <a:rPr lang="en-US" sz="1500" dirty="0">
                <a:solidFill>
                  <a:srgbClr val="6E6656"/>
                </a:solidFill>
                <a:latin typeface="Calibri" pitchFamily="34" charset="0"/>
                <a:ea typeface="Calibri" pitchFamily="34" charset="-122"/>
                <a:cs typeface="Calibri" pitchFamily="34" charset="-120"/>
              </a:rPr>
              <a:t>Connectors plug Cowork into the systems where work already lives — so Claude has the context to understand a task and the ability to act on it.</a:t>
            </a:r>
            <a:endParaRPr lang="en-US" sz="1500" dirty="0"/>
          </a:p>
        </p:txBody>
      </p:sp>
      <p:sp>
        <p:nvSpPr>
          <p:cNvPr id="5" name="Shape 3"/>
          <p:cNvSpPr/>
          <p:nvPr/>
        </p:nvSpPr>
        <p:spPr>
          <a:xfrm>
            <a:off x="548640" y="2514600"/>
            <a:ext cx="5532120" cy="3246120"/>
          </a:xfrm>
          <a:prstGeom prst="roundRect">
            <a:avLst>
              <a:gd name="adj" fmla="val 2817"/>
            </a:avLst>
          </a:prstGeom>
          <a:solidFill>
            <a:srgbClr val="FBF9F4"/>
          </a:solidFill>
          <a:ln w="12700">
            <a:solidFill>
              <a:srgbClr val="E4DDCC"/>
            </a:solidFill>
            <a:prstDash val="solid"/>
          </a:ln>
          <a:effectLst>
            <a:outerShdw blurRad="114300" dist="38100" dir="8100000" algn="bl" rotWithShape="0">
              <a:srgbClr val="B8AE99">
                <a:alpha val="35000"/>
              </a:srgbClr>
            </a:outerShdw>
          </a:effectLst>
        </p:spPr>
        <p:txBody>
          <a:bodyPr/>
          <a:lstStyle/>
          <a:p>
            <a:endParaRPr lang="en-IN"/>
          </a:p>
        </p:txBody>
      </p:sp>
      <p:sp>
        <p:nvSpPr>
          <p:cNvPr id="6" name="Text 4"/>
          <p:cNvSpPr/>
          <p:nvPr/>
        </p:nvSpPr>
        <p:spPr>
          <a:xfrm>
            <a:off x="822960" y="2724912"/>
            <a:ext cx="5029200" cy="365760"/>
          </a:xfrm>
          <a:prstGeom prst="rect">
            <a:avLst/>
          </a:prstGeom>
          <a:noFill/>
          <a:ln/>
        </p:spPr>
        <p:txBody>
          <a:bodyPr wrap="square" lIns="0" tIns="0" rIns="0" bIns="0" rtlCol="0" anchor="ctr"/>
          <a:lstStyle/>
          <a:p>
            <a:pPr marL="0" indent="0">
              <a:buNone/>
            </a:pPr>
            <a:r>
              <a:rPr lang="en-US" sz="1600" b="1" dirty="0">
                <a:solidFill>
                  <a:srgbClr val="23211C"/>
                </a:solidFill>
                <a:latin typeface="Georgia" pitchFamily="34" charset="0"/>
                <a:ea typeface="Georgia" pitchFamily="34" charset="-122"/>
                <a:cs typeface="Georgia" pitchFamily="34" charset="-120"/>
              </a:rPr>
              <a:t>Systems teams connect</a:t>
            </a:r>
            <a:endParaRPr lang="en-US" sz="1600" dirty="0"/>
          </a:p>
        </p:txBody>
      </p:sp>
      <p:sp>
        <p:nvSpPr>
          <p:cNvPr id="7" name="Shape 5"/>
          <p:cNvSpPr/>
          <p:nvPr/>
        </p:nvSpPr>
        <p:spPr>
          <a:xfrm>
            <a:off x="822960" y="3200400"/>
            <a:ext cx="2331720" cy="457200"/>
          </a:xfrm>
          <a:prstGeom prst="roundRect">
            <a:avLst>
              <a:gd name="adj" fmla="val 16000"/>
            </a:avLst>
          </a:prstGeom>
          <a:solidFill>
            <a:srgbClr val="E9E2D3"/>
          </a:solidFill>
          <a:ln/>
        </p:spPr>
        <p:txBody>
          <a:bodyPr/>
          <a:lstStyle/>
          <a:p>
            <a:endParaRPr lang="en-IN"/>
          </a:p>
        </p:txBody>
      </p:sp>
      <p:sp>
        <p:nvSpPr>
          <p:cNvPr id="8" name="Text 6"/>
          <p:cNvSpPr/>
          <p:nvPr/>
        </p:nvSpPr>
        <p:spPr>
          <a:xfrm>
            <a:off x="960120" y="3200400"/>
            <a:ext cx="2103120" cy="457200"/>
          </a:xfrm>
          <a:prstGeom prst="rect">
            <a:avLst/>
          </a:prstGeom>
          <a:noFill/>
          <a:ln/>
        </p:spPr>
        <p:txBody>
          <a:bodyPr wrap="square" lIns="0" tIns="0" rIns="0" bIns="0" rtlCol="0" anchor="ctr"/>
          <a:lstStyle/>
          <a:p>
            <a:pPr marL="0" indent="0">
              <a:buNone/>
            </a:pPr>
            <a:r>
              <a:rPr lang="en-US" sz="1300" b="1" dirty="0">
                <a:solidFill>
                  <a:srgbClr val="23211C"/>
                </a:solidFill>
                <a:latin typeface="Calibri" pitchFamily="34" charset="0"/>
                <a:ea typeface="Calibri" pitchFamily="34" charset="-122"/>
                <a:cs typeface="Calibri" pitchFamily="34" charset="-120"/>
              </a:rPr>
              <a:t>Slack</a:t>
            </a:r>
            <a:endParaRPr lang="en-US" sz="1300" dirty="0"/>
          </a:p>
        </p:txBody>
      </p:sp>
      <p:sp>
        <p:nvSpPr>
          <p:cNvPr id="9" name="Shape 7"/>
          <p:cNvSpPr/>
          <p:nvPr/>
        </p:nvSpPr>
        <p:spPr>
          <a:xfrm>
            <a:off x="3337560" y="3200400"/>
            <a:ext cx="2331720" cy="457200"/>
          </a:xfrm>
          <a:prstGeom prst="roundRect">
            <a:avLst>
              <a:gd name="adj" fmla="val 16000"/>
            </a:avLst>
          </a:prstGeom>
          <a:solidFill>
            <a:srgbClr val="E9E2D3"/>
          </a:solidFill>
          <a:ln/>
        </p:spPr>
        <p:txBody>
          <a:bodyPr/>
          <a:lstStyle/>
          <a:p>
            <a:endParaRPr lang="en-IN"/>
          </a:p>
        </p:txBody>
      </p:sp>
      <p:sp>
        <p:nvSpPr>
          <p:cNvPr id="10" name="Text 8"/>
          <p:cNvSpPr/>
          <p:nvPr/>
        </p:nvSpPr>
        <p:spPr>
          <a:xfrm>
            <a:off x="3474720" y="3200400"/>
            <a:ext cx="2103120" cy="457200"/>
          </a:xfrm>
          <a:prstGeom prst="rect">
            <a:avLst/>
          </a:prstGeom>
          <a:noFill/>
          <a:ln/>
        </p:spPr>
        <p:txBody>
          <a:bodyPr wrap="square" lIns="0" tIns="0" rIns="0" bIns="0" rtlCol="0" anchor="ctr"/>
          <a:lstStyle/>
          <a:p>
            <a:pPr marL="0" indent="0">
              <a:buNone/>
            </a:pPr>
            <a:r>
              <a:rPr lang="en-US" sz="1300" b="1" dirty="0">
                <a:solidFill>
                  <a:srgbClr val="23211C"/>
                </a:solidFill>
                <a:latin typeface="Calibri" pitchFamily="34" charset="0"/>
                <a:ea typeface="Calibri" pitchFamily="34" charset="-122"/>
                <a:cs typeface="Calibri" pitchFamily="34" charset="-120"/>
              </a:rPr>
              <a:t>Salesforce</a:t>
            </a:r>
            <a:endParaRPr lang="en-US" sz="1300" dirty="0"/>
          </a:p>
        </p:txBody>
      </p:sp>
      <p:sp>
        <p:nvSpPr>
          <p:cNvPr id="11" name="Shape 9"/>
          <p:cNvSpPr/>
          <p:nvPr/>
        </p:nvSpPr>
        <p:spPr>
          <a:xfrm>
            <a:off x="822960" y="3767328"/>
            <a:ext cx="2331720" cy="457200"/>
          </a:xfrm>
          <a:prstGeom prst="roundRect">
            <a:avLst>
              <a:gd name="adj" fmla="val 16000"/>
            </a:avLst>
          </a:prstGeom>
          <a:solidFill>
            <a:srgbClr val="E9E2D3"/>
          </a:solidFill>
          <a:ln/>
        </p:spPr>
        <p:txBody>
          <a:bodyPr/>
          <a:lstStyle/>
          <a:p>
            <a:endParaRPr lang="en-IN"/>
          </a:p>
        </p:txBody>
      </p:sp>
      <p:sp>
        <p:nvSpPr>
          <p:cNvPr id="12" name="Text 10"/>
          <p:cNvSpPr/>
          <p:nvPr/>
        </p:nvSpPr>
        <p:spPr>
          <a:xfrm>
            <a:off x="960120" y="3767328"/>
            <a:ext cx="2103120" cy="457200"/>
          </a:xfrm>
          <a:prstGeom prst="rect">
            <a:avLst/>
          </a:prstGeom>
          <a:noFill/>
          <a:ln/>
        </p:spPr>
        <p:txBody>
          <a:bodyPr wrap="square" lIns="0" tIns="0" rIns="0" bIns="0" rtlCol="0" anchor="ctr"/>
          <a:lstStyle/>
          <a:p>
            <a:pPr marL="0" indent="0">
              <a:buNone/>
            </a:pPr>
            <a:r>
              <a:rPr lang="en-US" sz="1300" b="1" dirty="0">
                <a:solidFill>
                  <a:srgbClr val="23211C"/>
                </a:solidFill>
                <a:latin typeface="Calibri" pitchFamily="34" charset="0"/>
                <a:ea typeface="Calibri" pitchFamily="34" charset="-122"/>
                <a:cs typeface="Calibri" pitchFamily="34" charset="-120"/>
              </a:rPr>
              <a:t>Microsoft 365</a:t>
            </a:r>
            <a:endParaRPr lang="en-US" sz="1300" dirty="0"/>
          </a:p>
        </p:txBody>
      </p:sp>
      <p:sp>
        <p:nvSpPr>
          <p:cNvPr id="13" name="Shape 11"/>
          <p:cNvSpPr/>
          <p:nvPr/>
        </p:nvSpPr>
        <p:spPr>
          <a:xfrm>
            <a:off x="3337560" y="3767328"/>
            <a:ext cx="2331720" cy="457200"/>
          </a:xfrm>
          <a:prstGeom prst="roundRect">
            <a:avLst>
              <a:gd name="adj" fmla="val 16000"/>
            </a:avLst>
          </a:prstGeom>
          <a:solidFill>
            <a:srgbClr val="E9E2D3"/>
          </a:solidFill>
          <a:ln/>
        </p:spPr>
        <p:txBody>
          <a:bodyPr/>
          <a:lstStyle/>
          <a:p>
            <a:endParaRPr lang="en-IN"/>
          </a:p>
        </p:txBody>
      </p:sp>
      <p:sp>
        <p:nvSpPr>
          <p:cNvPr id="14" name="Text 12"/>
          <p:cNvSpPr/>
          <p:nvPr/>
        </p:nvSpPr>
        <p:spPr>
          <a:xfrm>
            <a:off x="3474720" y="3767328"/>
            <a:ext cx="2103120" cy="457200"/>
          </a:xfrm>
          <a:prstGeom prst="rect">
            <a:avLst/>
          </a:prstGeom>
          <a:noFill/>
          <a:ln/>
        </p:spPr>
        <p:txBody>
          <a:bodyPr wrap="square" lIns="0" tIns="0" rIns="0" bIns="0" rtlCol="0" anchor="ctr"/>
          <a:lstStyle/>
          <a:p>
            <a:pPr marL="0" indent="0">
              <a:buNone/>
            </a:pPr>
            <a:r>
              <a:rPr lang="en-US" sz="1300" b="1" dirty="0">
                <a:solidFill>
                  <a:srgbClr val="23211C"/>
                </a:solidFill>
                <a:latin typeface="Calibri" pitchFamily="34" charset="0"/>
                <a:ea typeface="Calibri" pitchFamily="34" charset="-122"/>
                <a:cs typeface="Calibri" pitchFamily="34" charset="-120"/>
              </a:rPr>
              <a:t>Jira</a:t>
            </a:r>
            <a:endParaRPr lang="en-US" sz="1300" dirty="0"/>
          </a:p>
        </p:txBody>
      </p:sp>
      <p:sp>
        <p:nvSpPr>
          <p:cNvPr id="15" name="Shape 13"/>
          <p:cNvSpPr/>
          <p:nvPr/>
        </p:nvSpPr>
        <p:spPr>
          <a:xfrm>
            <a:off x="822960" y="4334256"/>
            <a:ext cx="2331720" cy="457200"/>
          </a:xfrm>
          <a:prstGeom prst="roundRect">
            <a:avLst>
              <a:gd name="adj" fmla="val 16000"/>
            </a:avLst>
          </a:prstGeom>
          <a:solidFill>
            <a:srgbClr val="E9E2D3"/>
          </a:solidFill>
          <a:ln/>
        </p:spPr>
        <p:txBody>
          <a:bodyPr/>
          <a:lstStyle/>
          <a:p>
            <a:endParaRPr lang="en-IN"/>
          </a:p>
        </p:txBody>
      </p:sp>
      <p:sp>
        <p:nvSpPr>
          <p:cNvPr id="16" name="Text 14"/>
          <p:cNvSpPr/>
          <p:nvPr/>
        </p:nvSpPr>
        <p:spPr>
          <a:xfrm>
            <a:off x="960120" y="4334256"/>
            <a:ext cx="2103120" cy="457200"/>
          </a:xfrm>
          <a:prstGeom prst="rect">
            <a:avLst/>
          </a:prstGeom>
          <a:noFill/>
          <a:ln/>
        </p:spPr>
        <p:txBody>
          <a:bodyPr wrap="square" lIns="0" tIns="0" rIns="0" bIns="0" rtlCol="0" anchor="ctr"/>
          <a:lstStyle/>
          <a:p>
            <a:pPr marL="0" indent="0">
              <a:buNone/>
            </a:pPr>
            <a:r>
              <a:rPr lang="en-US" sz="1300" b="1" dirty="0">
                <a:solidFill>
                  <a:srgbClr val="23211C"/>
                </a:solidFill>
                <a:latin typeface="Calibri" pitchFamily="34" charset="0"/>
                <a:ea typeface="Calibri" pitchFamily="34" charset="-122"/>
                <a:cs typeface="Calibri" pitchFamily="34" charset="-120"/>
              </a:rPr>
              <a:t>Google Drive</a:t>
            </a:r>
            <a:endParaRPr lang="en-US" sz="1300" dirty="0"/>
          </a:p>
        </p:txBody>
      </p:sp>
      <p:sp>
        <p:nvSpPr>
          <p:cNvPr id="17" name="Shape 15"/>
          <p:cNvSpPr/>
          <p:nvPr/>
        </p:nvSpPr>
        <p:spPr>
          <a:xfrm>
            <a:off x="3337560" y="4334256"/>
            <a:ext cx="2331720" cy="457200"/>
          </a:xfrm>
          <a:prstGeom prst="roundRect">
            <a:avLst>
              <a:gd name="adj" fmla="val 16000"/>
            </a:avLst>
          </a:prstGeom>
          <a:solidFill>
            <a:srgbClr val="E9E2D3"/>
          </a:solidFill>
          <a:ln/>
        </p:spPr>
        <p:txBody>
          <a:bodyPr/>
          <a:lstStyle/>
          <a:p>
            <a:endParaRPr lang="en-IN"/>
          </a:p>
        </p:txBody>
      </p:sp>
      <p:sp>
        <p:nvSpPr>
          <p:cNvPr id="18" name="Text 16"/>
          <p:cNvSpPr/>
          <p:nvPr/>
        </p:nvSpPr>
        <p:spPr>
          <a:xfrm>
            <a:off x="3474720" y="4334256"/>
            <a:ext cx="2103120" cy="457200"/>
          </a:xfrm>
          <a:prstGeom prst="rect">
            <a:avLst/>
          </a:prstGeom>
          <a:noFill/>
          <a:ln/>
        </p:spPr>
        <p:txBody>
          <a:bodyPr wrap="square" lIns="0" tIns="0" rIns="0" bIns="0" rtlCol="0" anchor="ctr"/>
          <a:lstStyle/>
          <a:p>
            <a:pPr marL="0" indent="0">
              <a:buNone/>
            </a:pPr>
            <a:r>
              <a:rPr lang="en-US" sz="1300" b="1" dirty="0">
                <a:solidFill>
                  <a:srgbClr val="23211C"/>
                </a:solidFill>
                <a:latin typeface="Calibri" pitchFamily="34" charset="0"/>
                <a:ea typeface="Calibri" pitchFamily="34" charset="-122"/>
                <a:cs typeface="Calibri" pitchFamily="34" charset="-120"/>
              </a:rPr>
              <a:t>Internal tools</a:t>
            </a:r>
            <a:endParaRPr lang="en-US" sz="1300" dirty="0"/>
          </a:p>
        </p:txBody>
      </p:sp>
      <p:sp>
        <p:nvSpPr>
          <p:cNvPr id="19" name="Text 17"/>
          <p:cNvSpPr/>
          <p:nvPr/>
        </p:nvSpPr>
        <p:spPr>
          <a:xfrm>
            <a:off x="822960" y="5285232"/>
            <a:ext cx="4983480" cy="411480"/>
          </a:xfrm>
          <a:prstGeom prst="rect">
            <a:avLst/>
          </a:prstGeom>
          <a:noFill/>
          <a:ln/>
        </p:spPr>
        <p:txBody>
          <a:bodyPr wrap="square" lIns="0" tIns="0" rIns="0" bIns="0" rtlCol="0" anchor="ctr"/>
          <a:lstStyle/>
          <a:p>
            <a:pPr marL="0" indent="0">
              <a:lnSpc>
                <a:spcPct val="105000"/>
              </a:lnSpc>
              <a:buNone/>
            </a:pPr>
            <a:r>
              <a:rPr lang="en-US" sz="1150" i="1" dirty="0">
                <a:solidFill>
                  <a:srgbClr val="6E6656"/>
                </a:solidFill>
                <a:latin typeface="Calibri" pitchFamily="34" charset="0"/>
                <a:ea typeface="Calibri" pitchFamily="34" charset="-122"/>
                <a:cs typeface="Calibri" pitchFamily="34" charset="-120"/>
              </a:rPr>
              <a:t>Read your data and write back: update a ticket, draft a reply, post to a channel, save a file.</a:t>
            </a:r>
            <a:endParaRPr lang="en-US" sz="1150" dirty="0"/>
          </a:p>
        </p:txBody>
      </p:sp>
      <p:sp>
        <p:nvSpPr>
          <p:cNvPr id="20" name="Shape 18"/>
          <p:cNvSpPr/>
          <p:nvPr/>
        </p:nvSpPr>
        <p:spPr>
          <a:xfrm>
            <a:off x="6309360" y="2514600"/>
            <a:ext cx="5349240" cy="3246120"/>
          </a:xfrm>
          <a:prstGeom prst="roundRect">
            <a:avLst>
              <a:gd name="adj" fmla="val 2817"/>
            </a:avLst>
          </a:prstGeom>
          <a:solidFill>
            <a:srgbClr val="FBEFE9"/>
          </a:solidFill>
          <a:ln w="12700">
            <a:solidFill>
              <a:srgbClr val="E4DDCC"/>
            </a:solidFill>
            <a:prstDash val="solid"/>
          </a:ln>
          <a:effectLst>
            <a:outerShdw blurRad="114300" dist="38100" dir="8100000" algn="bl" rotWithShape="0">
              <a:srgbClr val="B8AE99">
                <a:alpha val="35000"/>
              </a:srgbClr>
            </a:outerShdw>
          </a:effectLst>
        </p:spPr>
        <p:txBody>
          <a:bodyPr/>
          <a:lstStyle/>
          <a:p>
            <a:endParaRPr lang="en-IN"/>
          </a:p>
        </p:txBody>
      </p:sp>
      <p:sp>
        <p:nvSpPr>
          <p:cNvPr id="21" name="Shape 19"/>
          <p:cNvSpPr/>
          <p:nvPr/>
        </p:nvSpPr>
        <p:spPr>
          <a:xfrm>
            <a:off x="6309360" y="2514600"/>
            <a:ext cx="5349240" cy="109728"/>
          </a:xfrm>
          <a:prstGeom prst="rect">
            <a:avLst/>
          </a:prstGeom>
          <a:solidFill>
            <a:srgbClr val="C15F3C"/>
          </a:solidFill>
          <a:ln/>
        </p:spPr>
        <p:txBody>
          <a:bodyPr/>
          <a:lstStyle/>
          <a:p>
            <a:endParaRPr lang="en-IN"/>
          </a:p>
        </p:txBody>
      </p:sp>
      <p:sp>
        <p:nvSpPr>
          <p:cNvPr id="22" name="Text 20"/>
          <p:cNvSpPr/>
          <p:nvPr/>
        </p:nvSpPr>
        <p:spPr>
          <a:xfrm>
            <a:off x="6583680" y="2743200"/>
            <a:ext cx="4846320" cy="365760"/>
          </a:xfrm>
          <a:prstGeom prst="rect">
            <a:avLst/>
          </a:prstGeom>
          <a:noFill/>
          <a:ln/>
        </p:spPr>
        <p:txBody>
          <a:bodyPr wrap="square" lIns="0" tIns="0" rIns="0" bIns="0" rtlCol="0" anchor="ctr"/>
          <a:lstStyle/>
          <a:p>
            <a:pPr marL="0" indent="0">
              <a:buNone/>
            </a:pPr>
            <a:r>
              <a:rPr lang="en-US" sz="1600" b="1" dirty="0">
                <a:solidFill>
                  <a:srgbClr val="C15F3C"/>
                </a:solidFill>
                <a:latin typeface="Georgia" pitchFamily="34" charset="0"/>
                <a:ea typeface="Georgia" pitchFamily="34" charset="-122"/>
                <a:cs typeface="Georgia" pitchFamily="34" charset="-120"/>
              </a:rPr>
              <a:t>Enterprise-managed authorization</a:t>
            </a:r>
            <a:endParaRPr lang="en-US" sz="1600" dirty="0"/>
          </a:p>
        </p:txBody>
      </p:sp>
      <p:sp>
        <p:nvSpPr>
          <p:cNvPr id="23" name="Text 21"/>
          <p:cNvSpPr/>
          <p:nvPr/>
        </p:nvSpPr>
        <p:spPr>
          <a:xfrm>
            <a:off x="6629400" y="3246120"/>
            <a:ext cx="4800600" cy="548640"/>
          </a:xfrm>
          <a:prstGeom prst="rect">
            <a:avLst/>
          </a:prstGeom>
          <a:noFill/>
          <a:ln/>
        </p:spPr>
        <p:txBody>
          <a:bodyPr wrap="square" lIns="0" tIns="0" rIns="0" bIns="0" rtlCol="0" anchor="ctr"/>
          <a:lstStyle/>
          <a:p>
            <a:pPr marL="177800" indent="-177800">
              <a:lnSpc>
                <a:spcPct val="100000"/>
              </a:lnSpc>
              <a:buSzPct val="100000"/>
              <a:buChar char="–"/>
            </a:pPr>
            <a:r>
              <a:rPr lang="en-US" sz="1250" dirty="0">
                <a:solidFill>
                  <a:srgbClr val="23211C"/>
                </a:solidFill>
                <a:latin typeface="Calibri" pitchFamily="34" charset="0"/>
                <a:ea typeface="Calibri" pitchFamily="34" charset="-122"/>
                <a:cs typeface="Calibri" pitchFamily="34" charset="-120"/>
              </a:rPr>
              <a:t>Provision connectors org-wide through your identity provider (e.g. Okta).</a:t>
            </a:r>
            <a:endParaRPr lang="en-US" sz="1250" dirty="0"/>
          </a:p>
        </p:txBody>
      </p:sp>
      <p:sp>
        <p:nvSpPr>
          <p:cNvPr id="24" name="Text 22"/>
          <p:cNvSpPr/>
          <p:nvPr/>
        </p:nvSpPr>
        <p:spPr>
          <a:xfrm>
            <a:off x="6629400" y="3813048"/>
            <a:ext cx="4800600" cy="548640"/>
          </a:xfrm>
          <a:prstGeom prst="rect">
            <a:avLst/>
          </a:prstGeom>
          <a:noFill/>
          <a:ln/>
        </p:spPr>
        <p:txBody>
          <a:bodyPr wrap="square" lIns="0" tIns="0" rIns="0" bIns="0" rtlCol="0" anchor="ctr"/>
          <a:lstStyle/>
          <a:p>
            <a:pPr marL="177800" indent="-177800">
              <a:lnSpc>
                <a:spcPct val="100000"/>
              </a:lnSpc>
              <a:buSzPct val="100000"/>
              <a:buChar char="–"/>
            </a:pPr>
            <a:r>
              <a:rPr lang="en-US" sz="1250" dirty="0">
                <a:solidFill>
                  <a:srgbClr val="23211C"/>
                </a:solidFill>
                <a:latin typeface="Calibri" pitchFamily="34" charset="0"/>
                <a:ea typeface="Calibri" pitchFamily="34" charset="-122"/>
                <a:cs typeface="Calibri" pitchFamily="34" charset="-120"/>
              </a:rPr>
              <a:t>New hires inherit approved connectors automatically on first login.</a:t>
            </a:r>
            <a:endParaRPr lang="en-US" sz="1250" dirty="0"/>
          </a:p>
        </p:txBody>
      </p:sp>
      <p:sp>
        <p:nvSpPr>
          <p:cNvPr id="25" name="Text 23"/>
          <p:cNvSpPr/>
          <p:nvPr/>
        </p:nvSpPr>
        <p:spPr>
          <a:xfrm>
            <a:off x="6629400" y="4379976"/>
            <a:ext cx="4800600" cy="548640"/>
          </a:xfrm>
          <a:prstGeom prst="rect">
            <a:avLst/>
          </a:prstGeom>
          <a:noFill/>
          <a:ln/>
        </p:spPr>
        <p:txBody>
          <a:bodyPr wrap="square" lIns="0" tIns="0" rIns="0" bIns="0" rtlCol="0" anchor="ctr"/>
          <a:lstStyle/>
          <a:p>
            <a:pPr marL="177800" indent="-177800">
              <a:lnSpc>
                <a:spcPct val="100000"/>
              </a:lnSpc>
              <a:buSzPct val="100000"/>
              <a:buChar char="–"/>
            </a:pPr>
            <a:r>
              <a:rPr lang="en-US" sz="1250" dirty="0">
                <a:solidFill>
                  <a:srgbClr val="23211C"/>
                </a:solidFill>
                <a:latin typeface="Calibri" pitchFamily="34" charset="0"/>
                <a:ea typeface="Calibri" pitchFamily="34" charset="-122"/>
                <a:cs typeface="Calibri" pitchFamily="34" charset="-120"/>
              </a:rPr>
              <a:t>No per-user OAuth consent screens to click through.</a:t>
            </a:r>
            <a:endParaRPr lang="en-US" sz="1250" dirty="0"/>
          </a:p>
        </p:txBody>
      </p:sp>
      <p:sp>
        <p:nvSpPr>
          <p:cNvPr id="26" name="Text 24"/>
          <p:cNvSpPr/>
          <p:nvPr/>
        </p:nvSpPr>
        <p:spPr>
          <a:xfrm>
            <a:off x="6629400" y="4946904"/>
            <a:ext cx="4800600" cy="548640"/>
          </a:xfrm>
          <a:prstGeom prst="rect">
            <a:avLst/>
          </a:prstGeom>
          <a:noFill/>
          <a:ln/>
        </p:spPr>
        <p:txBody>
          <a:bodyPr wrap="square" lIns="0" tIns="0" rIns="0" bIns="0" rtlCol="0" anchor="ctr"/>
          <a:lstStyle/>
          <a:p>
            <a:pPr marL="177800" indent="-177800">
              <a:lnSpc>
                <a:spcPct val="100000"/>
              </a:lnSpc>
              <a:buSzPct val="100000"/>
              <a:buChar char="–"/>
            </a:pPr>
            <a:r>
              <a:rPr lang="en-US" sz="1250" dirty="0">
                <a:solidFill>
                  <a:srgbClr val="23211C"/>
                </a:solidFill>
                <a:latin typeface="Calibri" pitchFamily="34" charset="0"/>
                <a:ea typeface="Calibri" pitchFamily="34" charset="-122"/>
                <a:cs typeface="Calibri" pitchFamily="34" charset="-120"/>
              </a:rPr>
              <a:t>Access is revoked through the same IdP lifecycle on offboarding.</a:t>
            </a:r>
            <a:endParaRPr lang="en-US" sz="1250" dirty="0"/>
          </a:p>
        </p:txBody>
      </p:sp>
      <p:sp>
        <p:nvSpPr>
          <p:cNvPr id="27" name="Text 25"/>
          <p:cNvSpPr/>
          <p:nvPr/>
        </p:nvSpPr>
        <p:spPr>
          <a:xfrm>
            <a:off x="502920" y="6400800"/>
            <a:ext cx="5486400" cy="274320"/>
          </a:xfrm>
          <a:prstGeom prst="rect">
            <a:avLst/>
          </a:prstGeom>
          <a:noFill/>
          <a:ln/>
        </p:spPr>
        <p:txBody>
          <a:bodyPr wrap="square" lIns="0" tIns="0" rIns="0" bIns="0" rtlCol="0" anchor="ctr"/>
          <a:lstStyle/>
          <a:p>
            <a:pPr marL="0" indent="0" algn="l">
              <a:buNone/>
            </a:pPr>
            <a:r>
              <a:rPr lang="en-US" sz="900" b="1" dirty="0">
                <a:solidFill>
                  <a:srgbClr val="C15F3C"/>
                </a:solidFill>
                <a:latin typeface="Calibri" pitchFamily="34" charset="0"/>
                <a:ea typeface="Calibri" pitchFamily="34" charset="-122"/>
                <a:cs typeface="Calibri" pitchFamily="34" charset="-120"/>
              </a:rPr>
              <a:t>Claude</a:t>
            </a:r>
            <a:r>
              <a:rPr lang="en-US" sz="900" dirty="0">
                <a:solidFill>
                  <a:srgbClr val="6E6656"/>
                </a:solidFill>
                <a:latin typeface="Calibri" pitchFamily="34" charset="0"/>
                <a:ea typeface="Calibri" pitchFamily="34" charset="-122"/>
                <a:cs typeface="Calibri" pitchFamily="34" charset="-120"/>
              </a:rPr>
              <a:t>  Cowork &amp; MCP · Training</a:t>
            </a:r>
            <a:endParaRPr lang="en-US" sz="900" dirty="0"/>
          </a:p>
        </p:txBody>
      </p:sp>
      <p:sp>
        <p:nvSpPr>
          <p:cNvPr id="28" name="Text 26"/>
          <p:cNvSpPr/>
          <p:nvPr/>
        </p:nvSpPr>
        <p:spPr>
          <a:xfrm>
            <a:off x="11094415" y="6400800"/>
            <a:ext cx="594360" cy="274320"/>
          </a:xfrm>
          <a:prstGeom prst="rect">
            <a:avLst/>
          </a:prstGeom>
          <a:noFill/>
          <a:ln/>
        </p:spPr>
        <p:txBody>
          <a:bodyPr wrap="square" lIns="0" tIns="0" rIns="0" bIns="0" rtlCol="0" anchor="ctr"/>
          <a:lstStyle/>
          <a:p>
            <a:pPr marL="0" indent="0" algn="r">
              <a:buNone/>
            </a:pPr>
            <a:r>
              <a:rPr lang="en-US" sz="900" dirty="0">
                <a:solidFill>
                  <a:srgbClr val="6E6656"/>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EFE6"/>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292608"/>
          </a:xfrm>
          <a:prstGeom prst="rect">
            <a:avLst/>
          </a:prstGeom>
          <a:noFill/>
          <a:ln/>
        </p:spPr>
        <p:txBody>
          <a:bodyPr wrap="square" lIns="0" tIns="0" rIns="0" bIns="0" rtlCol="0" anchor="ctr"/>
          <a:lstStyle/>
          <a:p>
            <a:pPr marL="0" indent="0">
              <a:buNone/>
            </a:pPr>
            <a:r>
              <a:rPr lang="en-US" sz="1200" b="1" kern="0" spc="300" dirty="0">
                <a:solidFill>
                  <a:srgbClr val="C15F3C"/>
                </a:solidFill>
                <a:latin typeface="Calibri" pitchFamily="34" charset="0"/>
                <a:ea typeface="Calibri" pitchFamily="34" charset="-122"/>
                <a:cs typeface="Calibri" pitchFamily="34" charset="-120"/>
              </a:rPr>
              <a:t>SECTION 3 · MANAGING &amp; GOVERNING</a:t>
            </a:r>
            <a:endParaRPr lang="en-US" sz="1200" dirty="0"/>
          </a:p>
        </p:txBody>
      </p:sp>
      <p:sp>
        <p:nvSpPr>
          <p:cNvPr id="3" name="Text 1"/>
          <p:cNvSpPr/>
          <p:nvPr/>
        </p:nvSpPr>
        <p:spPr>
          <a:xfrm>
            <a:off x="548640" y="749808"/>
            <a:ext cx="10789920" cy="914400"/>
          </a:xfrm>
          <a:prstGeom prst="rect">
            <a:avLst/>
          </a:prstGeom>
          <a:noFill/>
          <a:ln/>
        </p:spPr>
        <p:txBody>
          <a:bodyPr wrap="square" lIns="0" tIns="0" rIns="0" bIns="0" rtlCol="0" anchor="t"/>
          <a:lstStyle/>
          <a:p>
            <a:pPr marL="0" indent="0" algn="l">
              <a:lnSpc>
                <a:spcPct val="102000"/>
              </a:lnSpc>
              <a:buNone/>
            </a:pPr>
            <a:r>
              <a:rPr lang="en-US" sz="3200" dirty="0">
                <a:solidFill>
                  <a:srgbClr val="23211C"/>
                </a:solidFill>
                <a:latin typeface="Georgia" pitchFamily="34" charset="0"/>
                <a:ea typeface="Georgia" pitchFamily="34" charset="-122"/>
                <a:cs typeface="Georgia" pitchFamily="34" charset="-120"/>
              </a:rPr>
              <a:t>Managing connected servers and tools</a:t>
            </a:r>
            <a:endParaRPr lang="en-US" sz="3200" dirty="0"/>
          </a:p>
        </p:txBody>
      </p:sp>
      <p:sp>
        <p:nvSpPr>
          <p:cNvPr id="4" name="Text 2"/>
          <p:cNvSpPr/>
          <p:nvPr/>
        </p:nvSpPr>
        <p:spPr>
          <a:xfrm>
            <a:off x="548640" y="1664208"/>
            <a:ext cx="11064240" cy="822960"/>
          </a:xfrm>
          <a:prstGeom prst="rect">
            <a:avLst/>
          </a:prstGeom>
          <a:noFill/>
          <a:ln/>
        </p:spPr>
        <p:txBody>
          <a:bodyPr wrap="square" lIns="0" tIns="0" rIns="0" bIns="0" rtlCol="0" anchor="ctr"/>
          <a:lstStyle/>
          <a:p>
            <a:pPr marL="0" indent="0">
              <a:lnSpc>
                <a:spcPct val="112000"/>
              </a:lnSpc>
              <a:buNone/>
            </a:pPr>
            <a:r>
              <a:rPr lang="en-US" sz="1450" dirty="0">
                <a:solidFill>
                  <a:srgbClr val="6E6656"/>
                </a:solidFill>
                <a:latin typeface="Calibri" pitchFamily="34" charset="0"/>
                <a:ea typeface="Calibri" pitchFamily="34" charset="-122"/>
                <a:cs typeface="Calibri" pitchFamily="34" charset="-120"/>
              </a:rPr>
              <a:t>By default a user can connect any MCP server they choose. Anthropic lists reviewed connectors in its Directory but does not audit or manage individual servers — so admins decide what runs.</a:t>
            </a:r>
            <a:endParaRPr lang="en-US" sz="1450" dirty="0"/>
          </a:p>
        </p:txBody>
      </p:sp>
      <p:sp>
        <p:nvSpPr>
          <p:cNvPr id="5" name="Shape 3"/>
          <p:cNvSpPr/>
          <p:nvPr/>
        </p:nvSpPr>
        <p:spPr>
          <a:xfrm>
            <a:off x="548640" y="2697480"/>
            <a:ext cx="5394960" cy="1207008"/>
          </a:xfrm>
          <a:prstGeom prst="roundRect">
            <a:avLst>
              <a:gd name="adj" fmla="val 7576"/>
            </a:avLst>
          </a:prstGeom>
          <a:solidFill>
            <a:srgbClr val="FBF9F4"/>
          </a:solidFill>
          <a:ln w="12700">
            <a:solidFill>
              <a:srgbClr val="E4DDCC"/>
            </a:solidFill>
            <a:prstDash val="solid"/>
          </a:ln>
          <a:effectLst>
            <a:outerShdw blurRad="114300" dist="38100" dir="8100000" algn="bl" rotWithShape="0">
              <a:srgbClr val="B8AE99">
                <a:alpha val="35000"/>
              </a:srgbClr>
            </a:outerShdw>
          </a:effectLst>
        </p:spPr>
        <p:txBody>
          <a:bodyPr/>
          <a:lstStyle/>
          <a:p>
            <a:endParaRPr lang="en-IN"/>
          </a:p>
        </p:txBody>
      </p:sp>
      <p:sp>
        <p:nvSpPr>
          <p:cNvPr id="6" name="Shape 4"/>
          <p:cNvSpPr/>
          <p:nvPr/>
        </p:nvSpPr>
        <p:spPr>
          <a:xfrm>
            <a:off x="548640" y="2898648"/>
            <a:ext cx="91440" cy="804672"/>
          </a:xfrm>
          <a:prstGeom prst="rect">
            <a:avLst/>
          </a:prstGeom>
          <a:solidFill>
            <a:srgbClr val="C15F3C"/>
          </a:solidFill>
          <a:ln/>
        </p:spPr>
        <p:txBody>
          <a:bodyPr/>
          <a:lstStyle/>
          <a:p>
            <a:endParaRPr lang="en-IN"/>
          </a:p>
        </p:txBody>
      </p:sp>
      <p:sp>
        <p:nvSpPr>
          <p:cNvPr id="7" name="Text 5"/>
          <p:cNvSpPr/>
          <p:nvPr/>
        </p:nvSpPr>
        <p:spPr>
          <a:xfrm>
            <a:off x="868680" y="2880360"/>
            <a:ext cx="4846320" cy="365760"/>
          </a:xfrm>
          <a:prstGeom prst="rect">
            <a:avLst/>
          </a:prstGeom>
          <a:noFill/>
          <a:ln/>
        </p:spPr>
        <p:txBody>
          <a:bodyPr wrap="square" lIns="0" tIns="0" rIns="0" bIns="0" rtlCol="0" anchor="ctr"/>
          <a:lstStyle/>
          <a:p>
            <a:pPr marL="0" indent="0">
              <a:buNone/>
            </a:pPr>
            <a:r>
              <a:rPr lang="en-US" sz="1650" b="1" dirty="0">
                <a:solidFill>
                  <a:srgbClr val="23211C"/>
                </a:solidFill>
                <a:latin typeface="Georgia" pitchFamily="34" charset="0"/>
                <a:ea typeface="Georgia" pitchFamily="34" charset="-122"/>
                <a:cs typeface="Georgia" pitchFamily="34" charset="-120"/>
              </a:rPr>
              <a:t>Enable per session</a:t>
            </a:r>
            <a:endParaRPr lang="en-US" sz="1650" dirty="0"/>
          </a:p>
        </p:txBody>
      </p:sp>
      <p:sp>
        <p:nvSpPr>
          <p:cNvPr id="8" name="Text 6"/>
          <p:cNvSpPr/>
          <p:nvPr/>
        </p:nvSpPr>
        <p:spPr>
          <a:xfrm>
            <a:off x="868680" y="3264408"/>
            <a:ext cx="4846320" cy="548640"/>
          </a:xfrm>
          <a:prstGeom prst="rect">
            <a:avLst/>
          </a:prstGeom>
          <a:noFill/>
          <a:ln/>
        </p:spPr>
        <p:txBody>
          <a:bodyPr wrap="square" lIns="0" tIns="0" rIns="0" bIns="0" rtlCol="0" anchor="ctr"/>
          <a:lstStyle/>
          <a:p>
            <a:pPr marL="0" indent="0">
              <a:lnSpc>
                <a:spcPct val="105000"/>
              </a:lnSpc>
              <a:buNone/>
            </a:pPr>
            <a:r>
              <a:rPr lang="en-US" sz="1250" dirty="0">
                <a:solidFill>
                  <a:srgbClr val="6E6656"/>
                </a:solidFill>
                <a:latin typeface="Calibri" pitchFamily="34" charset="0"/>
                <a:ea typeface="Calibri" pitchFamily="34" charset="-122"/>
                <a:cs typeface="Calibri" pitchFamily="34" charset="-120"/>
              </a:rPr>
              <a:t>Turn tools on or off from the Customize panel or the chat bar — authorize once, reuse anywhere.</a:t>
            </a:r>
            <a:endParaRPr lang="en-US" sz="1250" dirty="0"/>
          </a:p>
        </p:txBody>
      </p:sp>
      <p:sp>
        <p:nvSpPr>
          <p:cNvPr id="9" name="Shape 7"/>
          <p:cNvSpPr/>
          <p:nvPr/>
        </p:nvSpPr>
        <p:spPr>
          <a:xfrm>
            <a:off x="6236208" y="2697480"/>
            <a:ext cx="5394960" cy="1207008"/>
          </a:xfrm>
          <a:prstGeom prst="roundRect">
            <a:avLst>
              <a:gd name="adj" fmla="val 7576"/>
            </a:avLst>
          </a:prstGeom>
          <a:solidFill>
            <a:srgbClr val="FBF9F4"/>
          </a:solidFill>
          <a:ln w="12700">
            <a:solidFill>
              <a:srgbClr val="E4DDCC"/>
            </a:solidFill>
            <a:prstDash val="solid"/>
          </a:ln>
          <a:effectLst>
            <a:outerShdw blurRad="114300" dist="38100" dir="8100000" algn="bl" rotWithShape="0">
              <a:srgbClr val="B8AE99">
                <a:alpha val="35000"/>
              </a:srgbClr>
            </a:outerShdw>
          </a:effectLst>
        </p:spPr>
        <p:txBody>
          <a:bodyPr/>
          <a:lstStyle/>
          <a:p>
            <a:endParaRPr lang="en-IN"/>
          </a:p>
        </p:txBody>
      </p:sp>
      <p:sp>
        <p:nvSpPr>
          <p:cNvPr id="10" name="Shape 8"/>
          <p:cNvSpPr/>
          <p:nvPr/>
        </p:nvSpPr>
        <p:spPr>
          <a:xfrm>
            <a:off x="6236208" y="2898648"/>
            <a:ext cx="91440" cy="804672"/>
          </a:xfrm>
          <a:prstGeom prst="rect">
            <a:avLst/>
          </a:prstGeom>
          <a:solidFill>
            <a:srgbClr val="D9785C"/>
          </a:solidFill>
          <a:ln/>
        </p:spPr>
        <p:txBody>
          <a:bodyPr/>
          <a:lstStyle/>
          <a:p>
            <a:endParaRPr lang="en-IN"/>
          </a:p>
        </p:txBody>
      </p:sp>
      <p:sp>
        <p:nvSpPr>
          <p:cNvPr id="11" name="Text 9"/>
          <p:cNvSpPr/>
          <p:nvPr/>
        </p:nvSpPr>
        <p:spPr>
          <a:xfrm>
            <a:off x="6556248" y="2880360"/>
            <a:ext cx="4846320" cy="365760"/>
          </a:xfrm>
          <a:prstGeom prst="rect">
            <a:avLst/>
          </a:prstGeom>
          <a:noFill/>
          <a:ln/>
        </p:spPr>
        <p:txBody>
          <a:bodyPr wrap="square" lIns="0" tIns="0" rIns="0" bIns="0" rtlCol="0" anchor="ctr"/>
          <a:lstStyle/>
          <a:p>
            <a:pPr marL="0" indent="0">
              <a:buNone/>
            </a:pPr>
            <a:r>
              <a:rPr lang="en-US" sz="1650" b="1" dirty="0">
                <a:solidFill>
                  <a:srgbClr val="23211C"/>
                </a:solidFill>
                <a:latin typeface="Georgia" pitchFamily="34" charset="0"/>
                <a:ea typeface="Georgia" pitchFamily="34" charset="-122"/>
                <a:cs typeface="Georgia" pitchFamily="34" charset="-120"/>
              </a:rPr>
              <a:t>Allowlists &amp; denylists</a:t>
            </a:r>
            <a:endParaRPr lang="en-US" sz="1650" dirty="0"/>
          </a:p>
        </p:txBody>
      </p:sp>
      <p:sp>
        <p:nvSpPr>
          <p:cNvPr id="12" name="Text 10"/>
          <p:cNvSpPr/>
          <p:nvPr/>
        </p:nvSpPr>
        <p:spPr>
          <a:xfrm>
            <a:off x="6556248" y="3264408"/>
            <a:ext cx="4846320" cy="548640"/>
          </a:xfrm>
          <a:prstGeom prst="rect">
            <a:avLst/>
          </a:prstGeom>
          <a:noFill/>
          <a:ln/>
        </p:spPr>
        <p:txBody>
          <a:bodyPr wrap="square" lIns="0" tIns="0" rIns="0" bIns="0" rtlCol="0" anchor="ctr"/>
          <a:lstStyle/>
          <a:p>
            <a:pPr marL="0" indent="0">
              <a:lnSpc>
                <a:spcPct val="105000"/>
              </a:lnSpc>
              <a:buNone/>
            </a:pPr>
            <a:r>
              <a:rPr lang="en-US" sz="1250" dirty="0">
                <a:solidFill>
                  <a:srgbClr val="6E6656"/>
                </a:solidFill>
                <a:latin typeface="Calibri" pitchFamily="34" charset="0"/>
                <a:ea typeface="Calibri" pitchFamily="34" charset="-122"/>
                <a:cs typeface="Calibri" pitchFamily="34" charset="-120"/>
              </a:rPr>
              <a:t>Filter exactly which servers users may add with allowed / denied server lists.</a:t>
            </a:r>
            <a:endParaRPr lang="en-US" sz="1250" dirty="0"/>
          </a:p>
        </p:txBody>
      </p:sp>
      <p:sp>
        <p:nvSpPr>
          <p:cNvPr id="13" name="Shape 11"/>
          <p:cNvSpPr/>
          <p:nvPr/>
        </p:nvSpPr>
        <p:spPr>
          <a:xfrm>
            <a:off x="548640" y="4142232"/>
            <a:ext cx="5394960" cy="1207008"/>
          </a:xfrm>
          <a:prstGeom prst="roundRect">
            <a:avLst>
              <a:gd name="adj" fmla="val 7576"/>
            </a:avLst>
          </a:prstGeom>
          <a:solidFill>
            <a:srgbClr val="FBF9F4"/>
          </a:solidFill>
          <a:ln w="12700">
            <a:solidFill>
              <a:srgbClr val="E4DDCC"/>
            </a:solidFill>
            <a:prstDash val="solid"/>
          </a:ln>
          <a:effectLst>
            <a:outerShdw blurRad="114300" dist="38100" dir="8100000" algn="bl" rotWithShape="0">
              <a:srgbClr val="B8AE99">
                <a:alpha val="35000"/>
              </a:srgbClr>
            </a:outerShdw>
          </a:effectLst>
        </p:spPr>
        <p:txBody>
          <a:bodyPr/>
          <a:lstStyle/>
          <a:p>
            <a:endParaRPr lang="en-IN"/>
          </a:p>
        </p:txBody>
      </p:sp>
      <p:sp>
        <p:nvSpPr>
          <p:cNvPr id="14" name="Shape 12"/>
          <p:cNvSpPr/>
          <p:nvPr/>
        </p:nvSpPr>
        <p:spPr>
          <a:xfrm>
            <a:off x="548640" y="4343400"/>
            <a:ext cx="91440" cy="804672"/>
          </a:xfrm>
          <a:prstGeom prst="rect">
            <a:avLst/>
          </a:prstGeom>
          <a:solidFill>
            <a:srgbClr val="C15F3C"/>
          </a:solidFill>
          <a:ln/>
        </p:spPr>
        <p:txBody>
          <a:bodyPr/>
          <a:lstStyle/>
          <a:p>
            <a:endParaRPr lang="en-IN"/>
          </a:p>
        </p:txBody>
      </p:sp>
      <p:sp>
        <p:nvSpPr>
          <p:cNvPr id="15" name="Text 13"/>
          <p:cNvSpPr/>
          <p:nvPr/>
        </p:nvSpPr>
        <p:spPr>
          <a:xfrm>
            <a:off x="868680" y="4325112"/>
            <a:ext cx="4846320" cy="365760"/>
          </a:xfrm>
          <a:prstGeom prst="rect">
            <a:avLst/>
          </a:prstGeom>
          <a:noFill/>
          <a:ln/>
        </p:spPr>
        <p:txBody>
          <a:bodyPr wrap="square" lIns="0" tIns="0" rIns="0" bIns="0" rtlCol="0" anchor="ctr"/>
          <a:lstStyle/>
          <a:p>
            <a:pPr marL="0" indent="0">
              <a:buNone/>
            </a:pPr>
            <a:r>
              <a:rPr lang="en-US" sz="1650" b="1" dirty="0">
                <a:solidFill>
                  <a:srgbClr val="23211C"/>
                </a:solidFill>
                <a:latin typeface="Georgia" pitchFamily="34" charset="0"/>
                <a:ea typeface="Georgia" pitchFamily="34" charset="-122"/>
                <a:cs typeface="Georgia" pitchFamily="34" charset="-120"/>
              </a:rPr>
              <a:t>Fixed deployment</a:t>
            </a:r>
            <a:endParaRPr lang="en-US" sz="1650" dirty="0"/>
          </a:p>
        </p:txBody>
      </p:sp>
      <p:sp>
        <p:nvSpPr>
          <p:cNvPr id="16" name="Text 14"/>
          <p:cNvSpPr/>
          <p:nvPr/>
        </p:nvSpPr>
        <p:spPr>
          <a:xfrm>
            <a:off x="868680" y="4709160"/>
            <a:ext cx="4846320" cy="548640"/>
          </a:xfrm>
          <a:prstGeom prst="rect">
            <a:avLst/>
          </a:prstGeom>
          <a:noFill/>
          <a:ln/>
        </p:spPr>
        <p:txBody>
          <a:bodyPr wrap="square" lIns="0" tIns="0" rIns="0" bIns="0" rtlCol="0" anchor="ctr"/>
          <a:lstStyle/>
          <a:p>
            <a:pPr marL="0" indent="0">
              <a:lnSpc>
                <a:spcPct val="105000"/>
              </a:lnSpc>
              <a:buNone/>
            </a:pPr>
            <a:r>
              <a:rPr lang="en-US" sz="1250" dirty="0">
                <a:solidFill>
                  <a:srgbClr val="6E6656"/>
                </a:solidFill>
                <a:latin typeface="Calibri" pitchFamily="34" charset="0"/>
                <a:ea typeface="Calibri" pitchFamily="34" charset="-122"/>
                <a:cs typeface="Calibri" pitchFamily="34" charset="-120"/>
              </a:rPr>
              <a:t>Push one approved set to everyone with a managed configuration — users can't add others.</a:t>
            </a:r>
            <a:endParaRPr lang="en-US" sz="1250" dirty="0"/>
          </a:p>
        </p:txBody>
      </p:sp>
      <p:sp>
        <p:nvSpPr>
          <p:cNvPr id="17" name="Shape 15"/>
          <p:cNvSpPr/>
          <p:nvPr/>
        </p:nvSpPr>
        <p:spPr>
          <a:xfrm>
            <a:off x="6236208" y="4142232"/>
            <a:ext cx="5394960" cy="1207008"/>
          </a:xfrm>
          <a:prstGeom prst="roundRect">
            <a:avLst>
              <a:gd name="adj" fmla="val 7576"/>
            </a:avLst>
          </a:prstGeom>
          <a:solidFill>
            <a:srgbClr val="FBF9F4"/>
          </a:solidFill>
          <a:ln w="12700">
            <a:solidFill>
              <a:srgbClr val="E4DDCC"/>
            </a:solidFill>
            <a:prstDash val="solid"/>
          </a:ln>
          <a:effectLst>
            <a:outerShdw blurRad="114300" dist="38100" dir="8100000" algn="bl" rotWithShape="0">
              <a:srgbClr val="B8AE99">
                <a:alpha val="35000"/>
              </a:srgbClr>
            </a:outerShdw>
          </a:effectLst>
        </p:spPr>
        <p:txBody>
          <a:bodyPr/>
          <a:lstStyle/>
          <a:p>
            <a:endParaRPr lang="en-IN"/>
          </a:p>
        </p:txBody>
      </p:sp>
      <p:sp>
        <p:nvSpPr>
          <p:cNvPr id="18" name="Shape 16"/>
          <p:cNvSpPr/>
          <p:nvPr/>
        </p:nvSpPr>
        <p:spPr>
          <a:xfrm>
            <a:off x="6236208" y="4343400"/>
            <a:ext cx="91440" cy="804672"/>
          </a:xfrm>
          <a:prstGeom prst="rect">
            <a:avLst/>
          </a:prstGeom>
          <a:solidFill>
            <a:srgbClr val="D9785C"/>
          </a:solidFill>
          <a:ln/>
        </p:spPr>
        <p:txBody>
          <a:bodyPr/>
          <a:lstStyle/>
          <a:p>
            <a:endParaRPr lang="en-IN"/>
          </a:p>
        </p:txBody>
      </p:sp>
      <p:sp>
        <p:nvSpPr>
          <p:cNvPr id="19" name="Text 17"/>
          <p:cNvSpPr/>
          <p:nvPr/>
        </p:nvSpPr>
        <p:spPr>
          <a:xfrm>
            <a:off x="6556248" y="4325112"/>
            <a:ext cx="4846320" cy="365760"/>
          </a:xfrm>
          <a:prstGeom prst="rect">
            <a:avLst/>
          </a:prstGeom>
          <a:noFill/>
          <a:ln/>
        </p:spPr>
        <p:txBody>
          <a:bodyPr wrap="square" lIns="0" tIns="0" rIns="0" bIns="0" rtlCol="0" anchor="ctr"/>
          <a:lstStyle/>
          <a:p>
            <a:pPr marL="0" indent="0">
              <a:buNone/>
            </a:pPr>
            <a:r>
              <a:rPr lang="en-US" sz="1650" b="1" dirty="0">
                <a:solidFill>
                  <a:srgbClr val="23211C"/>
                </a:solidFill>
                <a:latin typeface="Georgia" pitchFamily="34" charset="0"/>
                <a:ea typeface="Georgia" pitchFamily="34" charset="-122"/>
                <a:cs typeface="Georgia" pitchFamily="34" charset="-120"/>
              </a:rPr>
              <a:t>Disable or monitor</a:t>
            </a:r>
            <a:endParaRPr lang="en-US" sz="1650" dirty="0"/>
          </a:p>
        </p:txBody>
      </p:sp>
      <p:sp>
        <p:nvSpPr>
          <p:cNvPr id="20" name="Text 18"/>
          <p:cNvSpPr/>
          <p:nvPr/>
        </p:nvSpPr>
        <p:spPr>
          <a:xfrm>
            <a:off x="6556248" y="4709160"/>
            <a:ext cx="4846320" cy="548640"/>
          </a:xfrm>
          <a:prstGeom prst="rect">
            <a:avLst/>
          </a:prstGeom>
          <a:noFill/>
          <a:ln/>
        </p:spPr>
        <p:txBody>
          <a:bodyPr wrap="square" lIns="0" tIns="0" rIns="0" bIns="0" rtlCol="0" anchor="ctr"/>
          <a:lstStyle/>
          <a:p>
            <a:pPr marL="0" indent="0">
              <a:lnSpc>
                <a:spcPct val="105000"/>
              </a:lnSpc>
              <a:buNone/>
            </a:pPr>
            <a:r>
              <a:rPr lang="en-US" sz="1250" dirty="0">
                <a:solidFill>
                  <a:srgbClr val="6E6656"/>
                </a:solidFill>
                <a:latin typeface="Calibri" pitchFamily="34" charset="0"/>
                <a:ea typeface="Calibri" pitchFamily="34" charset="-122"/>
                <a:cs typeface="Calibri" pitchFamily="34" charset="-120"/>
              </a:rPr>
              <a:t>Switch MCP off entirely, or track which servers your organization actually uses.</a:t>
            </a:r>
            <a:endParaRPr lang="en-US" sz="1250" dirty="0"/>
          </a:p>
        </p:txBody>
      </p:sp>
      <p:sp>
        <p:nvSpPr>
          <p:cNvPr id="21" name="Text 19"/>
          <p:cNvSpPr/>
          <p:nvPr/>
        </p:nvSpPr>
        <p:spPr>
          <a:xfrm>
            <a:off x="502920" y="6400800"/>
            <a:ext cx="5486400" cy="274320"/>
          </a:xfrm>
          <a:prstGeom prst="rect">
            <a:avLst/>
          </a:prstGeom>
          <a:noFill/>
          <a:ln/>
        </p:spPr>
        <p:txBody>
          <a:bodyPr wrap="square" lIns="0" tIns="0" rIns="0" bIns="0" rtlCol="0" anchor="ctr"/>
          <a:lstStyle/>
          <a:p>
            <a:pPr marL="0" indent="0" algn="l">
              <a:buNone/>
            </a:pPr>
            <a:r>
              <a:rPr lang="en-US" sz="900" b="1" dirty="0">
                <a:solidFill>
                  <a:srgbClr val="C15F3C"/>
                </a:solidFill>
                <a:latin typeface="Calibri" pitchFamily="34" charset="0"/>
                <a:ea typeface="Calibri" pitchFamily="34" charset="-122"/>
                <a:cs typeface="Calibri" pitchFamily="34" charset="-120"/>
              </a:rPr>
              <a:t>Claude</a:t>
            </a:r>
            <a:r>
              <a:rPr lang="en-US" sz="900" dirty="0">
                <a:solidFill>
                  <a:srgbClr val="6E6656"/>
                </a:solidFill>
                <a:latin typeface="Calibri" pitchFamily="34" charset="0"/>
                <a:ea typeface="Calibri" pitchFamily="34" charset="-122"/>
                <a:cs typeface="Calibri" pitchFamily="34" charset="-120"/>
              </a:rPr>
              <a:t>  Cowork &amp; MCP · Training</a:t>
            </a:r>
            <a:endParaRPr lang="en-US" sz="900" dirty="0"/>
          </a:p>
        </p:txBody>
      </p:sp>
      <p:sp>
        <p:nvSpPr>
          <p:cNvPr id="22" name="Text 20"/>
          <p:cNvSpPr/>
          <p:nvPr/>
        </p:nvSpPr>
        <p:spPr>
          <a:xfrm>
            <a:off x="11094415" y="6400800"/>
            <a:ext cx="594360" cy="274320"/>
          </a:xfrm>
          <a:prstGeom prst="rect">
            <a:avLst/>
          </a:prstGeom>
          <a:noFill/>
          <a:ln/>
        </p:spPr>
        <p:txBody>
          <a:bodyPr wrap="square" lIns="0" tIns="0" rIns="0" bIns="0" rtlCol="0" anchor="ctr"/>
          <a:lstStyle/>
          <a:p>
            <a:pPr marL="0" indent="0" algn="r">
              <a:buNone/>
            </a:pPr>
            <a:r>
              <a:rPr lang="en-US" sz="900" dirty="0">
                <a:solidFill>
                  <a:srgbClr val="6E6656"/>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EFE6"/>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292608"/>
          </a:xfrm>
          <a:prstGeom prst="rect">
            <a:avLst/>
          </a:prstGeom>
          <a:noFill/>
          <a:ln/>
        </p:spPr>
        <p:txBody>
          <a:bodyPr wrap="square" lIns="0" tIns="0" rIns="0" bIns="0" rtlCol="0" anchor="ctr"/>
          <a:lstStyle/>
          <a:p>
            <a:pPr marL="0" indent="0">
              <a:buNone/>
            </a:pPr>
            <a:r>
              <a:rPr lang="en-US" sz="1200" b="1" kern="0" spc="300" dirty="0">
                <a:solidFill>
                  <a:srgbClr val="C15F3C"/>
                </a:solidFill>
                <a:latin typeface="Calibri" pitchFamily="34" charset="0"/>
                <a:ea typeface="Calibri" pitchFamily="34" charset="-122"/>
                <a:cs typeface="Calibri" pitchFamily="34" charset="-120"/>
              </a:rPr>
              <a:t>SECTION 3 · MANAGING &amp; GOVERNING</a:t>
            </a:r>
            <a:endParaRPr lang="en-US" sz="1200" dirty="0"/>
          </a:p>
        </p:txBody>
      </p:sp>
      <p:sp>
        <p:nvSpPr>
          <p:cNvPr id="3" name="Text 1"/>
          <p:cNvSpPr/>
          <p:nvPr/>
        </p:nvSpPr>
        <p:spPr>
          <a:xfrm>
            <a:off x="548640" y="749808"/>
            <a:ext cx="6583680" cy="914400"/>
          </a:xfrm>
          <a:prstGeom prst="rect">
            <a:avLst/>
          </a:prstGeom>
          <a:noFill/>
          <a:ln/>
        </p:spPr>
        <p:txBody>
          <a:bodyPr wrap="square" lIns="0" tIns="0" rIns="0" bIns="0" rtlCol="0" anchor="t"/>
          <a:lstStyle/>
          <a:p>
            <a:pPr marL="0" indent="0" algn="l">
              <a:lnSpc>
                <a:spcPct val="102000"/>
              </a:lnSpc>
              <a:buNone/>
            </a:pPr>
            <a:r>
              <a:rPr lang="en-US" sz="3200" dirty="0">
                <a:solidFill>
                  <a:srgbClr val="23211C"/>
                </a:solidFill>
                <a:latin typeface="Georgia" pitchFamily="34" charset="0"/>
                <a:ea typeface="Georgia" pitchFamily="34" charset="-122"/>
                <a:cs typeface="Georgia" pitchFamily="34" charset="-120"/>
              </a:rPr>
              <a:t>Controlling context and permissions</a:t>
            </a:r>
            <a:endParaRPr lang="en-US" sz="3200" dirty="0"/>
          </a:p>
        </p:txBody>
      </p:sp>
      <p:sp>
        <p:nvSpPr>
          <p:cNvPr id="4" name="Text 2"/>
          <p:cNvSpPr/>
          <p:nvPr/>
        </p:nvSpPr>
        <p:spPr>
          <a:xfrm>
            <a:off x="548640" y="1645920"/>
            <a:ext cx="6035040" cy="822960"/>
          </a:xfrm>
          <a:prstGeom prst="rect">
            <a:avLst/>
          </a:prstGeom>
          <a:noFill/>
          <a:ln/>
        </p:spPr>
        <p:txBody>
          <a:bodyPr wrap="square" lIns="0" tIns="0" rIns="0" bIns="0" rtlCol="0" anchor="ctr"/>
          <a:lstStyle/>
          <a:p>
            <a:pPr marL="0" indent="0">
              <a:lnSpc>
                <a:spcPct val="112000"/>
              </a:lnSpc>
              <a:buNone/>
            </a:pPr>
            <a:r>
              <a:rPr lang="en-US" sz="1400" dirty="0">
                <a:solidFill>
                  <a:srgbClr val="6E6656"/>
                </a:solidFill>
                <a:latin typeface="Calibri" pitchFamily="34" charset="0"/>
                <a:ea typeface="Calibri" pitchFamily="34" charset="-122"/>
                <a:cs typeface="Calibri" pitchFamily="34" charset="-120"/>
              </a:rPr>
              <a:t>MCP is built around user control. Permissions mirror your own access on each system, and every tool declares what it can do.</a:t>
            </a:r>
            <a:endParaRPr lang="en-US" sz="1400" dirty="0"/>
          </a:p>
        </p:txBody>
      </p:sp>
      <p:sp>
        <p:nvSpPr>
          <p:cNvPr id="5" name="Shape 3"/>
          <p:cNvSpPr/>
          <p:nvPr/>
        </p:nvSpPr>
        <p:spPr>
          <a:xfrm>
            <a:off x="566928" y="2606040"/>
            <a:ext cx="402336" cy="402336"/>
          </a:xfrm>
          <a:prstGeom prst="ellipse">
            <a:avLst/>
          </a:prstGeom>
          <a:solidFill>
            <a:srgbClr val="C15F3C"/>
          </a:solidFill>
          <a:ln/>
        </p:spPr>
        <p:txBody>
          <a:bodyPr/>
          <a:lstStyle/>
          <a:p>
            <a:endParaRPr lang="en-IN"/>
          </a:p>
        </p:txBody>
      </p:sp>
      <p:sp>
        <p:nvSpPr>
          <p:cNvPr id="6" name="Text 4"/>
          <p:cNvSpPr/>
          <p:nvPr/>
        </p:nvSpPr>
        <p:spPr>
          <a:xfrm>
            <a:off x="566928" y="2606040"/>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7" name="Text 5"/>
          <p:cNvSpPr/>
          <p:nvPr/>
        </p:nvSpPr>
        <p:spPr>
          <a:xfrm>
            <a:off x="1097280" y="2587752"/>
            <a:ext cx="5303520" cy="292608"/>
          </a:xfrm>
          <a:prstGeom prst="rect">
            <a:avLst/>
          </a:prstGeom>
          <a:noFill/>
          <a:ln/>
        </p:spPr>
        <p:txBody>
          <a:bodyPr wrap="square" lIns="0" tIns="0" rIns="0" bIns="0" rtlCol="0" anchor="ctr"/>
          <a:lstStyle/>
          <a:p>
            <a:pPr marL="0" indent="0">
              <a:buNone/>
            </a:pPr>
            <a:r>
              <a:rPr lang="en-US" sz="1500" b="1" dirty="0">
                <a:solidFill>
                  <a:srgbClr val="23211C"/>
                </a:solidFill>
                <a:latin typeface="Georgia" pitchFamily="34" charset="0"/>
                <a:ea typeface="Georgia" pitchFamily="34" charset="-122"/>
                <a:cs typeface="Georgia" pitchFamily="34" charset="-120"/>
              </a:rPr>
              <a:t>Authorize individually</a:t>
            </a:r>
            <a:endParaRPr lang="en-US" sz="1500" dirty="0"/>
          </a:p>
        </p:txBody>
      </p:sp>
      <p:sp>
        <p:nvSpPr>
          <p:cNvPr id="8" name="Text 6"/>
          <p:cNvSpPr/>
          <p:nvPr/>
        </p:nvSpPr>
        <p:spPr>
          <a:xfrm>
            <a:off x="1097280" y="2880360"/>
            <a:ext cx="5303520" cy="411480"/>
          </a:xfrm>
          <a:prstGeom prst="rect">
            <a:avLst/>
          </a:prstGeom>
          <a:noFill/>
          <a:ln/>
        </p:spPr>
        <p:txBody>
          <a:bodyPr wrap="square" lIns="0" tIns="0" rIns="0" bIns="0" rtlCol="0" anchor="ctr"/>
          <a:lstStyle/>
          <a:p>
            <a:pPr marL="0" indent="0">
              <a:lnSpc>
                <a:spcPct val="102000"/>
              </a:lnSpc>
              <a:buNone/>
            </a:pPr>
            <a:r>
              <a:rPr lang="en-US" sz="1200" dirty="0">
                <a:solidFill>
                  <a:srgbClr val="6E6656"/>
                </a:solidFill>
                <a:latin typeface="Calibri" pitchFamily="34" charset="0"/>
                <a:ea typeface="Calibri" pitchFamily="34" charset="-122"/>
                <a:cs typeface="Calibri" pitchFamily="34" charset="-120"/>
              </a:rPr>
              <a:t>You connect each server yourself and can disconnect at any time.</a:t>
            </a:r>
            <a:endParaRPr lang="en-US" sz="1200" dirty="0"/>
          </a:p>
        </p:txBody>
      </p:sp>
      <p:sp>
        <p:nvSpPr>
          <p:cNvPr id="9" name="Shape 7"/>
          <p:cNvSpPr/>
          <p:nvPr/>
        </p:nvSpPr>
        <p:spPr>
          <a:xfrm>
            <a:off x="566928" y="3392424"/>
            <a:ext cx="402336" cy="402336"/>
          </a:xfrm>
          <a:prstGeom prst="ellipse">
            <a:avLst/>
          </a:prstGeom>
          <a:solidFill>
            <a:srgbClr val="D9785C"/>
          </a:solidFill>
          <a:ln/>
        </p:spPr>
        <p:txBody>
          <a:bodyPr/>
          <a:lstStyle/>
          <a:p>
            <a:endParaRPr lang="en-IN"/>
          </a:p>
        </p:txBody>
      </p:sp>
      <p:sp>
        <p:nvSpPr>
          <p:cNvPr id="10" name="Text 8"/>
          <p:cNvSpPr/>
          <p:nvPr/>
        </p:nvSpPr>
        <p:spPr>
          <a:xfrm>
            <a:off x="566928" y="3392424"/>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1" name="Text 9"/>
          <p:cNvSpPr/>
          <p:nvPr/>
        </p:nvSpPr>
        <p:spPr>
          <a:xfrm>
            <a:off x="1097280" y="3374136"/>
            <a:ext cx="5303520" cy="292608"/>
          </a:xfrm>
          <a:prstGeom prst="rect">
            <a:avLst/>
          </a:prstGeom>
          <a:noFill/>
          <a:ln/>
        </p:spPr>
        <p:txBody>
          <a:bodyPr wrap="square" lIns="0" tIns="0" rIns="0" bIns="0" rtlCol="0" anchor="ctr"/>
          <a:lstStyle/>
          <a:p>
            <a:pPr marL="0" indent="0">
              <a:buNone/>
            </a:pPr>
            <a:r>
              <a:rPr lang="en-US" sz="1500" b="1" dirty="0">
                <a:solidFill>
                  <a:srgbClr val="23211C"/>
                </a:solidFill>
                <a:latin typeface="Georgia" pitchFamily="34" charset="0"/>
                <a:ea typeface="Georgia" pitchFamily="34" charset="-122"/>
                <a:cs typeface="Georgia" pitchFamily="34" charset="-120"/>
              </a:rPr>
              <a:t>Read-only or write</a:t>
            </a:r>
            <a:endParaRPr lang="en-US" sz="1500" dirty="0"/>
          </a:p>
        </p:txBody>
      </p:sp>
      <p:sp>
        <p:nvSpPr>
          <p:cNvPr id="12" name="Text 10"/>
          <p:cNvSpPr/>
          <p:nvPr/>
        </p:nvSpPr>
        <p:spPr>
          <a:xfrm>
            <a:off x="1097280" y="3666744"/>
            <a:ext cx="5303520" cy="411480"/>
          </a:xfrm>
          <a:prstGeom prst="rect">
            <a:avLst/>
          </a:prstGeom>
          <a:noFill/>
          <a:ln/>
        </p:spPr>
        <p:txBody>
          <a:bodyPr wrap="square" lIns="0" tIns="0" rIns="0" bIns="0" rtlCol="0" anchor="ctr"/>
          <a:lstStyle/>
          <a:p>
            <a:pPr marL="0" indent="0">
              <a:lnSpc>
                <a:spcPct val="102000"/>
              </a:lnSpc>
              <a:buNone/>
            </a:pPr>
            <a:r>
              <a:rPr lang="en-US" sz="1200" dirty="0">
                <a:solidFill>
                  <a:srgbClr val="6E6656"/>
                </a:solidFill>
                <a:latin typeface="Calibri" pitchFamily="34" charset="0"/>
                <a:ea typeface="Calibri" pitchFamily="34" charset="-122"/>
                <a:cs typeface="Calibri" pitchFamily="34" charset="-120"/>
              </a:rPr>
              <a:t>Admins set whether a connector can only read, or also write back.</a:t>
            </a:r>
            <a:endParaRPr lang="en-US" sz="1200" dirty="0"/>
          </a:p>
        </p:txBody>
      </p:sp>
      <p:sp>
        <p:nvSpPr>
          <p:cNvPr id="13" name="Shape 11"/>
          <p:cNvSpPr/>
          <p:nvPr/>
        </p:nvSpPr>
        <p:spPr>
          <a:xfrm>
            <a:off x="566928" y="4178808"/>
            <a:ext cx="402336" cy="402336"/>
          </a:xfrm>
          <a:prstGeom prst="ellipse">
            <a:avLst/>
          </a:prstGeom>
          <a:solidFill>
            <a:srgbClr val="C15F3C"/>
          </a:solidFill>
          <a:ln/>
        </p:spPr>
        <p:txBody>
          <a:bodyPr/>
          <a:lstStyle/>
          <a:p>
            <a:endParaRPr lang="en-IN"/>
          </a:p>
        </p:txBody>
      </p:sp>
      <p:sp>
        <p:nvSpPr>
          <p:cNvPr id="14" name="Text 12"/>
          <p:cNvSpPr/>
          <p:nvPr/>
        </p:nvSpPr>
        <p:spPr>
          <a:xfrm>
            <a:off x="566928" y="4178808"/>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5" name="Text 13"/>
          <p:cNvSpPr/>
          <p:nvPr/>
        </p:nvSpPr>
        <p:spPr>
          <a:xfrm>
            <a:off x="1097280" y="4160520"/>
            <a:ext cx="5303520" cy="292608"/>
          </a:xfrm>
          <a:prstGeom prst="rect">
            <a:avLst/>
          </a:prstGeom>
          <a:noFill/>
          <a:ln/>
        </p:spPr>
        <p:txBody>
          <a:bodyPr wrap="square" lIns="0" tIns="0" rIns="0" bIns="0" rtlCol="0" anchor="ctr"/>
          <a:lstStyle/>
          <a:p>
            <a:pPr marL="0" indent="0">
              <a:buNone/>
            </a:pPr>
            <a:r>
              <a:rPr lang="en-US" sz="1500" b="1" dirty="0">
                <a:solidFill>
                  <a:srgbClr val="23211C"/>
                </a:solidFill>
                <a:latin typeface="Georgia" pitchFamily="34" charset="0"/>
                <a:ea typeface="Georgia" pitchFamily="34" charset="-122"/>
                <a:cs typeface="Georgia" pitchFamily="34" charset="-120"/>
              </a:rPr>
              <a:t>Tool hints</a:t>
            </a:r>
            <a:endParaRPr lang="en-US" sz="1500" dirty="0"/>
          </a:p>
        </p:txBody>
      </p:sp>
      <p:sp>
        <p:nvSpPr>
          <p:cNvPr id="16" name="Text 14"/>
          <p:cNvSpPr/>
          <p:nvPr/>
        </p:nvSpPr>
        <p:spPr>
          <a:xfrm>
            <a:off x="1097280" y="4453128"/>
            <a:ext cx="5303520" cy="411480"/>
          </a:xfrm>
          <a:prstGeom prst="rect">
            <a:avLst/>
          </a:prstGeom>
          <a:noFill/>
          <a:ln/>
        </p:spPr>
        <p:txBody>
          <a:bodyPr wrap="square" lIns="0" tIns="0" rIns="0" bIns="0" rtlCol="0" anchor="ctr"/>
          <a:lstStyle/>
          <a:p>
            <a:pPr marL="0" indent="0">
              <a:lnSpc>
                <a:spcPct val="102000"/>
              </a:lnSpc>
              <a:buNone/>
            </a:pPr>
            <a:r>
              <a:rPr lang="en-US" sz="1200" dirty="0">
                <a:solidFill>
                  <a:srgbClr val="6E6656"/>
                </a:solidFill>
                <a:latin typeface="Calibri" pitchFamily="34" charset="0"/>
                <a:ea typeface="Calibri" pitchFamily="34" charset="-122"/>
                <a:cs typeface="Calibri" pitchFamily="34" charset="-120"/>
              </a:rPr>
              <a:t>Tools declare read-only or destructive so intent is clear before use.</a:t>
            </a:r>
            <a:endParaRPr lang="en-US" sz="1200" dirty="0"/>
          </a:p>
        </p:txBody>
      </p:sp>
      <p:sp>
        <p:nvSpPr>
          <p:cNvPr id="17" name="Shape 15"/>
          <p:cNvSpPr/>
          <p:nvPr/>
        </p:nvSpPr>
        <p:spPr>
          <a:xfrm>
            <a:off x="566928" y="4965192"/>
            <a:ext cx="402336" cy="402336"/>
          </a:xfrm>
          <a:prstGeom prst="ellipse">
            <a:avLst/>
          </a:prstGeom>
          <a:solidFill>
            <a:srgbClr val="D9785C"/>
          </a:solidFill>
          <a:ln/>
        </p:spPr>
        <p:txBody>
          <a:bodyPr/>
          <a:lstStyle/>
          <a:p>
            <a:endParaRPr lang="en-IN"/>
          </a:p>
        </p:txBody>
      </p:sp>
      <p:sp>
        <p:nvSpPr>
          <p:cNvPr id="18" name="Text 16"/>
          <p:cNvSpPr/>
          <p:nvPr/>
        </p:nvSpPr>
        <p:spPr>
          <a:xfrm>
            <a:off x="566928" y="496519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19" name="Text 17"/>
          <p:cNvSpPr/>
          <p:nvPr/>
        </p:nvSpPr>
        <p:spPr>
          <a:xfrm>
            <a:off x="1097280" y="4946904"/>
            <a:ext cx="5303520" cy="292608"/>
          </a:xfrm>
          <a:prstGeom prst="rect">
            <a:avLst/>
          </a:prstGeom>
          <a:noFill/>
          <a:ln/>
        </p:spPr>
        <p:txBody>
          <a:bodyPr wrap="square" lIns="0" tIns="0" rIns="0" bIns="0" rtlCol="0" anchor="ctr"/>
          <a:lstStyle/>
          <a:p>
            <a:pPr marL="0" indent="0">
              <a:buNone/>
            </a:pPr>
            <a:r>
              <a:rPr lang="en-US" sz="1500" b="1" dirty="0">
                <a:solidFill>
                  <a:srgbClr val="23211C"/>
                </a:solidFill>
                <a:latin typeface="Georgia" pitchFamily="34" charset="0"/>
                <a:ea typeface="Georgia" pitchFamily="34" charset="-122"/>
                <a:cs typeface="Georgia" pitchFamily="34" charset="-120"/>
              </a:rPr>
              <a:t>Scoped context</a:t>
            </a:r>
            <a:endParaRPr lang="en-US" sz="1500" dirty="0"/>
          </a:p>
        </p:txBody>
      </p:sp>
      <p:sp>
        <p:nvSpPr>
          <p:cNvPr id="20" name="Text 18"/>
          <p:cNvSpPr/>
          <p:nvPr/>
        </p:nvSpPr>
        <p:spPr>
          <a:xfrm>
            <a:off x="1097280" y="5239512"/>
            <a:ext cx="5303520" cy="411480"/>
          </a:xfrm>
          <a:prstGeom prst="rect">
            <a:avLst/>
          </a:prstGeom>
          <a:noFill/>
          <a:ln/>
        </p:spPr>
        <p:txBody>
          <a:bodyPr wrap="square" lIns="0" tIns="0" rIns="0" bIns="0" rtlCol="0" anchor="ctr"/>
          <a:lstStyle/>
          <a:p>
            <a:pPr marL="0" indent="0">
              <a:lnSpc>
                <a:spcPct val="102000"/>
              </a:lnSpc>
              <a:buNone/>
            </a:pPr>
            <a:r>
              <a:rPr lang="en-US" sz="1200" dirty="0">
                <a:solidFill>
                  <a:srgbClr val="6E6656"/>
                </a:solidFill>
                <a:latin typeface="Calibri" pitchFamily="34" charset="0"/>
                <a:ea typeface="Calibri" pitchFamily="34" charset="-122"/>
                <a:cs typeface="Calibri" pitchFamily="34" charset="-120"/>
              </a:rPr>
              <a:t>Toggle which tools are active per session to limit what Claude sees.</a:t>
            </a:r>
            <a:endParaRPr lang="en-US" sz="1200" dirty="0"/>
          </a:p>
        </p:txBody>
      </p:sp>
      <p:sp>
        <p:nvSpPr>
          <p:cNvPr id="21" name="Shape 19"/>
          <p:cNvSpPr/>
          <p:nvPr/>
        </p:nvSpPr>
        <p:spPr>
          <a:xfrm>
            <a:off x="6858000" y="1600200"/>
            <a:ext cx="4800600" cy="4160520"/>
          </a:xfrm>
          <a:prstGeom prst="roundRect">
            <a:avLst>
              <a:gd name="adj" fmla="val 2198"/>
            </a:avLst>
          </a:prstGeom>
          <a:solidFill>
            <a:srgbClr val="FBF9F4"/>
          </a:solidFill>
          <a:ln w="12700">
            <a:solidFill>
              <a:srgbClr val="E4DDCC"/>
            </a:solidFill>
            <a:prstDash val="solid"/>
          </a:ln>
          <a:effectLst>
            <a:outerShdw blurRad="114300" dist="38100" dir="8100000" algn="bl" rotWithShape="0">
              <a:srgbClr val="B8AE99">
                <a:alpha val="35000"/>
              </a:srgbClr>
            </a:outerShdw>
          </a:effectLst>
        </p:spPr>
        <p:txBody>
          <a:bodyPr/>
          <a:lstStyle/>
          <a:p>
            <a:endParaRPr lang="en-IN"/>
          </a:p>
        </p:txBody>
      </p:sp>
      <p:pic>
        <p:nvPicPr>
          <p:cNvPr id="22" name="Image 0" descr="/agent/turn2/workspace/images/image-c994f25b7c6e9d578e3b1661a47b2407.jpg"/>
          <p:cNvPicPr>
            <a:picLocks noChangeAspect="1"/>
          </p:cNvPicPr>
          <p:nvPr/>
        </p:nvPicPr>
        <p:blipFill>
          <a:blip r:embed="rId3"/>
          <a:srcRect l="11111" r="11111"/>
          <a:stretch/>
        </p:blipFill>
        <p:spPr>
          <a:xfrm>
            <a:off x="7022592" y="1764792"/>
            <a:ext cx="4480560" cy="3840480"/>
          </a:xfrm>
          <a:prstGeom prst="rect">
            <a:avLst/>
          </a:prstGeom>
        </p:spPr>
      </p:pic>
      <p:sp>
        <p:nvSpPr>
          <p:cNvPr id="23" name="Text 20"/>
          <p:cNvSpPr/>
          <p:nvPr/>
        </p:nvSpPr>
        <p:spPr>
          <a:xfrm>
            <a:off x="502920" y="6400800"/>
            <a:ext cx="5486400" cy="274320"/>
          </a:xfrm>
          <a:prstGeom prst="rect">
            <a:avLst/>
          </a:prstGeom>
          <a:noFill/>
          <a:ln/>
        </p:spPr>
        <p:txBody>
          <a:bodyPr wrap="square" lIns="0" tIns="0" rIns="0" bIns="0" rtlCol="0" anchor="ctr"/>
          <a:lstStyle/>
          <a:p>
            <a:pPr marL="0" indent="0" algn="l">
              <a:buNone/>
            </a:pPr>
            <a:r>
              <a:rPr lang="en-US" sz="900" b="1" dirty="0">
                <a:solidFill>
                  <a:srgbClr val="C15F3C"/>
                </a:solidFill>
                <a:latin typeface="Calibri" pitchFamily="34" charset="0"/>
                <a:ea typeface="Calibri" pitchFamily="34" charset="-122"/>
                <a:cs typeface="Calibri" pitchFamily="34" charset="-120"/>
              </a:rPr>
              <a:t>Claude</a:t>
            </a:r>
            <a:r>
              <a:rPr lang="en-US" sz="900" dirty="0">
                <a:solidFill>
                  <a:srgbClr val="6E6656"/>
                </a:solidFill>
                <a:latin typeface="Calibri" pitchFamily="34" charset="0"/>
                <a:ea typeface="Calibri" pitchFamily="34" charset="-122"/>
                <a:cs typeface="Calibri" pitchFamily="34" charset="-120"/>
              </a:rPr>
              <a:t>  Cowork &amp; MCP · Training</a:t>
            </a:r>
            <a:endParaRPr lang="en-US" sz="900" dirty="0"/>
          </a:p>
        </p:txBody>
      </p:sp>
      <p:sp>
        <p:nvSpPr>
          <p:cNvPr id="24" name="Text 21"/>
          <p:cNvSpPr/>
          <p:nvPr/>
        </p:nvSpPr>
        <p:spPr>
          <a:xfrm>
            <a:off x="11094415" y="6400800"/>
            <a:ext cx="594360" cy="274320"/>
          </a:xfrm>
          <a:prstGeom prst="rect">
            <a:avLst/>
          </a:prstGeom>
          <a:noFill/>
          <a:ln/>
        </p:spPr>
        <p:txBody>
          <a:bodyPr wrap="square" lIns="0" tIns="0" rIns="0" bIns="0" rtlCol="0" anchor="ctr"/>
          <a:lstStyle/>
          <a:p>
            <a:pPr marL="0" indent="0" algn="r">
              <a:buNone/>
            </a:pPr>
            <a:r>
              <a:rPr lang="en-US" sz="900" dirty="0">
                <a:solidFill>
                  <a:srgbClr val="6E6656"/>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EFE6"/>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292608"/>
          </a:xfrm>
          <a:prstGeom prst="rect">
            <a:avLst/>
          </a:prstGeom>
          <a:noFill/>
          <a:ln/>
        </p:spPr>
        <p:txBody>
          <a:bodyPr wrap="square" lIns="0" tIns="0" rIns="0" bIns="0" rtlCol="0" anchor="ctr"/>
          <a:lstStyle/>
          <a:p>
            <a:pPr marL="0" indent="0">
              <a:buNone/>
            </a:pPr>
            <a:r>
              <a:rPr lang="en-US" sz="1200" b="1" kern="0" spc="300" dirty="0">
                <a:solidFill>
                  <a:srgbClr val="C15F3C"/>
                </a:solidFill>
                <a:latin typeface="Calibri" pitchFamily="34" charset="0"/>
                <a:ea typeface="Calibri" pitchFamily="34" charset="-122"/>
                <a:cs typeface="Calibri" pitchFamily="34" charset="-120"/>
              </a:rPr>
              <a:t>SECTION 3 · MANAGING &amp; GOVERNING</a:t>
            </a:r>
            <a:endParaRPr lang="en-US" sz="1200" dirty="0"/>
          </a:p>
        </p:txBody>
      </p:sp>
      <p:sp>
        <p:nvSpPr>
          <p:cNvPr id="3" name="Text 1"/>
          <p:cNvSpPr/>
          <p:nvPr/>
        </p:nvSpPr>
        <p:spPr>
          <a:xfrm>
            <a:off x="548640" y="749808"/>
            <a:ext cx="10789920" cy="914400"/>
          </a:xfrm>
          <a:prstGeom prst="rect">
            <a:avLst/>
          </a:prstGeom>
          <a:noFill/>
          <a:ln/>
        </p:spPr>
        <p:txBody>
          <a:bodyPr wrap="square" lIns="0" tIns="0" rIns="0" bIns="0" rtlCol="0" anchor="t"/>
          <a:lstStyle/>
          <a:p>
            <a:pPr marL="0" indent="0" algn="l">
              <a:lnSpc>
                <a:spcPct val="102000"/>
              </a:lnSpc>
              <a:buNone/>
            </a:pPr>
            <a:r>
              <a:rPr lang="en-US" sz="3200" dirty="0">
                <a:solidFill>
                  <a:srgbClr val="23211C"/>
                </a:solidFill>
                <a:latin typeface="Georgia" pitchFamily="34" charset="0"/>
                <a:ea typeface="Georgia" pitchFamily="34" charset="-122"/>
                <a:cs typeface="Georgia" pitchFamily="34" charset="-120"/>
              </a:rPr>
              <a:t>Govern Cowork as a privileged desktop agent</a:t>
            </a:r>
            <a:endParaRPr lang="en-US" sz="3200" dirty="0"/>
          </a:p>
        </p:txBody>
      </p:sp>
      <p:sp>
        <p:nvSpPr>
          <p:cNvPr id="4" name="Text 2"/>
          <p:cNvSpPr/>
          <p:nvPr/>
        </p:nvSpPr>
        <p:spPr>
          <a:xfrm>
            <a:off x="548640" y="1664208"/>
            <a:ext cx="11064240" cy="640080"/>
          </a:xfrm>
          <a:prstGeom prst="rect">
            <a:avLst/>
          </a:prstGeom>
          <a:noFill/>
          <a:ln/>
        </p:spPr>
        <p:txBody>
          <a:bodyPr wrap="square" lIns="0" tIns="0" rIns="0" bIns="0" rtlCol="0" anchor="ctr"/>
          <a:lstStyle/>
          <a:p>
            <a:pPr marL="0" indent="0">
              <a:lnSpc>
                <a:spcPct val="110000"/>
              </a:lnSpc>
              <a:buNone/>
            </a:pPr>
            <a:r>
              <a:rPr lang="en-US" sz="1500" dirty="0">
                <a:solidFill>
                  <a:srgbClr val="6E6656"/>
                </a:solidFill>
                <a:latin typeface="Calibri" pitchFamily="34" charset="0"/>
                <a:ea typeface="Calibri" pitchFamily="34" charset="-122"/>
                <a:cs typeface="Calibri" pitchFamily="34" charset="-120"/>
              </a:rPr>
              <a:t>With file access, code execution, and connectors, Cowork behaves more like an endpoint agent than a chatbot. Layer your controls and watch the common risks.</a:t>
            </a:r>
            <a:endParaRPr lang="en-US" sz="1500" dirty="0"/>
          </a:p>
        </p:txBody>
      </p:sp>
      <p:sp>
        <p:nvSpPr>
          <p:cNvPr id="5" name="Shape 3"/>
          <p:cNvSpPr/>
          <p:nvPr/>
        </p:nvSpPr>
        <p:spPr>
          <a:xfrm>
            <a:off x="548640" y="2468880"/>
            <a:ext cx="5532120" cy="3291840"/>
          </a:xfrm>
          <a:prstGeom prst="roundRect">
            <a:avLst>
              <a:gd name="adj" fmla="val 2778"/>
            </a:avLst>
          </a:prstGeom>
          <a:solidFill>
            <a:srgbClr val="FBF9F4"/>
          </a:solidFill>
          <a:ln w="12700">
            <a:solidFill>
              <a:srgbClr val="E4DDCC"/>
            </a:solidFill>
            <a:prstDash val="solid"/>
          </a:ln>
          <a:effectLst>
            <a:outerShdw blurRad="114300" dist="38100" dir="8100000" algn="bl" rotWithShape="0">
              <a:srgbClr val="B8AE99">
                <a:alpha val="35000"/>
              </a:srgbClr>
            </a:outerShdw>
          </a:effectLst>
        </p:spPr>
        <p:txBody>
          <a:bodyPr/>
          <a:lstStyle/>
          <a:p>
            <a:endParaRPr lang="en-IN"/>
          </a:p>
        </p:txBody>
      </p:sp>
      <p:sp>
        <p:nvSpPr>
          <p:cNvPr id="6" name="Text 4"/>
          <p:cNvSpPr/>
          <p:nvPr/>
        </p:nvSpPr>
        <p:spPr>
          <a:xfrm>
            <a:off x="822960" y="2670048"/>
            <a:ext cx="5029200" cy="365760"/>
          </a:xfrm>
          <a:prstGeom prst="rect">
            <a:avLst/>
          </a:prstGeom>
          <a:noFill/>
          <a:ln/>
        </p:spPr>
        <p:txBody>
          <a:bodyPr wrap="square" lIns="0" tIns="0" rIns="0" bIns="0" rtlCol="0" anchor="ctr"/>
          <a:lstStyle/>
          <a:p>
            <a:pPr marL="0" indent="0">
              <a:buNone/>
            </a:pPr>
            <a:r>
              <a:rPr lang="en-US" sz="1600" b="1" dirty="0">
                <a:solidFill>
                  <a:srgbClr val="23211C"/>
                </a:solidFill>
                <a:latin typeface="Georgia" pitchFamily="34" charset="0"/>
                <a:ea typeface="Georgia" pitchFamily="34" charset="-122"/>
                <a:cs typeface="Georgia" pitchFamily="34" charset="-120"/>
              </a:rPr>
              <a:t>Layered governance</a:t>
            </a:r>
            <a:endParaRPr lang="en-US" sz="1600" dirty="0"/>
          </a:p>
        </p:txBody>
      </p:sp>
      <p:sp>
        <p:nvSpPr>
          <p:cNvPr id="7" name="Shape 5"/>
          <p:cNvSpPr/>
          <p:nvPr/>
        </p:nvSpPr>
        <p:spPr>
          <a:xfrm>
            <a:off x="822960" y="3154680"/>
            <a:ext cx="4983480" cy="512064"/>
          </a:xfrm>
          <a:prstGeom prst="roundRect">
            <a:avLst>
              <a:gd name="adj" fmla="val 10714"/>
            </a:avLst>
          </a:prstGeom>
          <a:solidFill>
            <a:srgbClr val="FBEFE9"/>
          </a:solidFill>
          <a:ln/>
        </p:spPr>
        <p:txBody>
          <a:bodyPr/>
          <a:lstStyle/>
          <a:p>
            <a:endParaRPr lang="en-IN"/>
          </a:p>
        </p:txBody>
      </p:sp>
      <p:sp>
        <p:nvSpPr>
          <p:cNvPr id="8" name="Text 6"/>
          <p:cNvSpPr/>
          <p:nvPr/>
        </p:nvSpPr>
        <p:spPr>
          <a:xfrm>
            <a:off x="960120" y="3154680"/>
            <a:ext cx="1737360" cy="512064"/>
          </a:xfrm>
          <a:prstGeom prst="rect">
            <a:avLst/>
          </a:prstGeom>
          <a:noFill/>
          <a:ln/>
        </p:spPr>
        <p:txBody>
          <a:bodyPr wrap="square" lIns="0" tIns="0" rIns="0" bIns="0" rtlCol="0" anchor="ctr"/>
          <a:lstStyle/>
          <a:p>
            <a:pPr marL="0" indent="0">
              <a:buNone/>
            </a:pPr>
            <a:r>
              <a:rPr lang="en-US" sz="1300" b="1" dirty="0">
                <a:solidFill>
                  <a:srgbClr val="C15F3C"/>
                </a:solidFill>
                <a:latin typeface="Calibri" pitchFamily="34" charset="0"/>
                <a:ea typeface="Calibri" pitchFamily="34" charset="-122"/>
                <a:cs typeface="Calibri" pitchFamily="34" charset="-120"/>
              </a:rPr>
              <a:t>Organization</a:t>
            </a:r>
            <a:endParaRPr lang="en-US" sz="1300" dirty="0"/>
          </a:p>
        </p:txBody>
      </p:sp>
      <p:sp>
        <p:nvSpPr>
          <p:cNvPr id="9" name="Text 7"/>
          <p:cNvSpPr/>
          <p:nvPr/>
        </p:nvSpPr>
        <p:spPr>
          <a:xfrm>
            <a:off x="2606040" y="3154680"/>
            <a:ext cx="3108960" cy="512064"/>
          </a:xfrm>
          <a:prstGeom prst="rect">
            <a:avLst/>
          </a:prstGeom>
          <a:noFill/>
          <a:ln/>
        </p:spPr>
        <p:txBody>
          <a:bodyPr wrap="square" lIns="0" tIns="0" rIns="0" bIns="0" rtlCol="0" anchor="ctr"/>
          <a:lstStyle/>
          <a:p>
            <a:pPr marL="0" indent="0">
              <a:buNone/>
            </a:pPr>
            <a:r>
              <a:rPr lang="en-US" sz="1150" dirty="0">
                <a:solidFill>
                  <a:srgbClr val="23211C"/>
                </a:solidFill>
                <a:latin typeface="Calibri" pitchFamily="34" charset="0"/>
                <a:ea typeface="Calibri" pitchFamily="34" charset="-122"/>
                <a:cs typeface="Calibri" pitchFamily="34" charset="-120"/>
              </a:rPr>
              <a:t>Policies, allowlists, data residency</a:t>
            </a:r>
            <a:endParaRPr lang="en-US" sz="1150" dirty="0"/>
          </a:p>
        </p:txBody>
      </p:sp>
      <p:sp>
        <p:nvSpPr>
          <p:cNvPr id="10" name="Shape 8"/>
          <p:cNvSpPr/>
          <p:nvPr/>
        </p:nvSpPr>
        <p:spPr>
          <a:xfrm>
            <a:off x="822960" y="3776472"/>
            <a:ext cx="4983480" cy="512064"/>
          </a:xfrm>
          <a:prstGeom prst="roundRect">
            <a:avLst>
              <a:gd name="adj" fmla="val 10714"/>
            </a:avLst>
          </a:prstGeom>
          <a:solidFill>
            <a:srgbClr val="E9E2D3"/>
          </a:solidFill>
          <a:ln/>
        </p:spPr>
        <p:txBody>
          <a:bodyPr/>
          <a:lstStyle/>
          <a:p>
            <a:endParaRPr lang="en-IN"/>
          </a:p>
        </p:txBody>
      </p:sp>
      <p:sp>
        <p:nvSpPr>
          <p:cNvPr id="11" name="Text 9"/>
          <p:cNvSpPr/>
          <p:nvPr/>
        </p:nvSpPr>
        <p:spPr>
          <a:xfrm>
            <a:off x="960120" y="3776472"/>
            <a:ext cx="1737360" cy="512064"/>
          </a:xfrm>
          <a:prstGeom prst="rect">
            <a:avLst/>
          </a:prstGeom>
          <a:noFill/>
          <a:ln/>
        </p:spPr>
        <p:txBody>
          <a:bodyPr wrap="square" lIns="0" tIns="0" rIns="0" bIns="0" rtlCol="0" anchor="ctr"/>
          <a:lstStyle/>
          <a:p>
            <a:pPr marL="0" indent="0">
              <a:buNone/>
            </a:pPr>
            <a:r>
              <a:rPr lang="en-US" sz="1300" b="1" dirty="0">
                <a:solidFill>
                  <a:srgbClr val="C15F3C"/>
                </a:solidFill>
                <a:latin typeface="Calibri" pitchFamily="34" charset="0"/>
                <a:ea typeface="Calibri" pitchFamily="34" charset="-122"/>
                <a:cs typeface="Calibri" pitchFamily="34" charset="-120"/>
              </a:rPr>
              <a:t>Team</a:t>
            </a:r>
            <a:endParaRPr lang="en-US" sz="1300" dirty="0"/>
          </a:p>
        </p:txBody>
      </p:sp>
      <p:sp>
        <p:nvSpPr>
          <p:cNvPr id="12" name="Text 10"/>
          <p:cNvSpPr/>
          <p:nvPr/>
        </p:nvSpPr>
        <p:spPr>
          <a:xfrm>
            <a:off x="2606040" y="3776472"/>
            <a:ext cx="3108960" cy="512064"/>
          </a:xfrm>
          <a:prstGeom prst="rect">
            <a:avLst/>
          </a:prstGeom>
          <a:noFill/>
          <a:ln/>
        </p:spPr>
        <p:txBody>
          <a:bodyPr wrap="square" lIns="0" tIns="0" rIns="0" bIns="0" rtlCol="0" anchor="ctr"/>
          <a:lstStyle/>
          <a:p>
            <a:pPr marL="0" indent="0">
              <a:buNone/>
            </a:pPr>
            <a:r>
              <a:rPr lang="en-US" sz="1150" dirty="0">
                <a:solidFill>
                  <a:srgbClr val="23211C"/>
                </a:solidFill>
                <a:latin typeface="Calibri" pitchFamily="34" charset="0"/>
                <a:ea typeface="Calibri" pitchFamily="34" charset="-122"/>
                <a:cs typeface="Calibri" pitchFamily="34" charset="-120"/>
              </a:rPr>
              <a:t>Connector categories and write access</a:t>
            </a:r>
            <a:endParaRPr lang="en-US" sz="1150" dirty="0"/>
          </a:p>
        </p:txBody>
      </p:sp>
      <p:sp>
        <p:nvSpPr>
          <p:cNvPr id="13" name="Shape 11"/>
          <p:cNvSpPr/>
          <p:nvPr/>
        </p:nvSpPr>
        <p:spPr>
          <a:xfrm>
            <a:off x="822960" y="4398264"/>
            <a:ext cx="4983480" cy="512064"/>
          </a:xfrm>
          <a:prstGeom prst="roundRect">
            <a:avLst>
              <a:gd name="adj" fmla="val 10714"/>
            </a:avLst>
          </a:prstGeom>
          <a:solidFill>
            <a:srgbClr val="E9E2D3"/>
          </a:solidFill>
          <a:ln/>
        </p:spPr>
        <p:txBody>
          <a:bodyPr/>
          <a:lstStyle/>
          <a:p>
            <a:endParaRPr lang="en-IN"/>
          </a:p>
        </p:txBody>
      </p:sp>
      <p:sp>
        <p:nvSpPr>
          <p:cNvPr id="14" name="Text 12"/>
          <p:cNvSpPr/>
          <p:nvPr/>
        </p:nvSpPr>
        <p:spPr>
          <a:xfrm>
            <a:off x="960120" y="4398264"/>
            <a:ext cx="1737360" cy="512064"/>
          </a:xfrm>
          <a:prstGeom prst="rect">
            <a:avLst/>
          </a:prstGeom>
          <a:noFill/>
          <a:ln/>
        </p:spPr>
        <p:txBody>
          <a:bodyPr wrap="square" lIns="0" tIns="0" rIns="0" bIns="0" rtlCol="0" anchor="ctr"/>
          <a:lstStyle/>
          <a:p>
            <a:pPr marL="0" indent="0">
              <a:buNone/>
            </a:pPr>
            <a:r>
              <a:rPr lang="en-US" sz="1300" b="1" dirty="0">
                <a:solidFill>
                  <a:srgbClr val="C15F3C"/>
                </a:solidFill>
                <a:latin typeface="Calibri" pitchFamily="34" charset="0"/>
                <a:ea typeface="Calibri" pitchFamily="34" charset="-122"/>
                <a:cs typeface="Calibri" pitchFamily="34" charset="-120"/>
              </a:rPr>
              <a:t>User</a:t>
            </a:r>
            <a:endParaRPr lang="en-US" sz="1300" dirty="0"/>
          </a:p>
        </p:txBody>
      </p:sp>
      <p:sp>
        <p:nvSpPr>
          <p:cNvPr id="15" name="Text 13"/>
          <p:cNvSpPr/>
          <p:nvPr/>
        </p:nvSpPr>
        <p:spPr>
          <a:xfrm>
            <a:off x="2606040" y="4398264"/>
            <a:ext cx="3108960" cy="512064"/>
          </a:xfrm>
          <a:prstGeom prst="rect">
            <a:avLst/>
          </a:prstGeom>
          <a:noFill/>
          <a:ln/>
        </p:spPr>
        <p:txBody>
          <a:bodyPr wrap="square" lIns="0" tIns="0" rIns="0" bIns="0" rtlCol="0" anchor="ctr"/>
          <a:lstStyle/>
          <a:p>
            <a:pPr marL="0" indent="0">
              <a:buNone/>
            </a:pPr>
            <a:r>
              <a:rPr lang="en-US" sz="1150" dirty="0">
                <a:solidFill>
                  <a:srgbClr val="23211C"/>
                </a:solidFill>
                <a:latin typeface="Calibri" pitchFamily="34" charset="0"/>
                <a:ea typeface="Calibri" pitchFamily="34" charset="-122"/>
                <a:cs typeface="Calibri" pitchFamily="34" charset="-120"/>
              </a:rPr>
              <a:t>Per-connector authorization &amp; scope</a:t>
            </a:r>
            <a:endParaRPr lang="en-US" sz="1150" dirty="0"/>
          </a:p>
        </p:txBody>
      </p:sp>
      <p:sp>
        <p:nvSpPr>
          <p:cNvPr id="16" name="Shape 14"/>
          <p:cNvSpPr/>
          <p:nvPr/>
        </p:nvSpPr>
        <p:spPr>
          <a:xfrm>
            <a:off x="822960" y="5020056"/>
            <a:ext cx="4983480" cy="512064"/>
          </a:xfrm>
          <a:prstGeom prst="roundRect">
            <a:avLst>
              <a:gd name="adj" fmla="val 10714"/>
            </a:avLst>
          </a:prstGeom>
          <a:solidFill>
            <a:srgbClr val="E9E2D3"/>
          </a:solidFill>
          <a:ln/>
        </p:spPr>
        <p:txBody>
          <a:bodyPr/>
          <a:lstStyle/>
          <a:p>
            <a:endParaRPr lang="en-IN"/>
          </a:p>
        </p:txBody>
      </p:sp>
      <p:sp>
        <p:nvSpPr>
          <p:cNvPr id="17" name="Text 15"/>
          <p:cNvSpPr/>
          <p:nvPr/>
        </p:nvSpPr>
        <p:spPr>
          <a:xfrm>
            <a:off x="960120" y="5020056"/>
            <a:ext cx="1737360" cy="512064"/>
          </a:xfrm>
          <a:prstGeom prst="rect">
            <a:avLst/>
          </a:prstGeom>
          <a:noFill/>
          <a:ln/>
        </p:spPr>
        <p:txBody>
          <a:bodyPr wrap="square" lIns="0" tIns="0" rIns="0" bIns="0" rtlCol="0" anchor="ctr"/>
          <a:lstStyle/>
          <a:p>
            <a:pPr marL="0" indent="0">
              <a:buNone/>
            </a:pPr>
            <a:r>
              <a:rPr lang="en-US" sz="1300" b="1" dirty="0">
                <a:solidFill>
                  <a:srgbClr val="C15F3C"/>
                </a:solidFill>
                <a:latin typeface="Calibri" pitchFamily="34" charset="0"/>
                <a:ea typeface="Calibri" pitchFamily="34" charset="-122"/>
                <a:cs typeface="Calibri" pitchFamily="34" charset="-120"/>
              </a:rPr>
              <a:t>Plugin / server</a:t>
            </a:r>
            <a:endParaRPr lang="en-US" sz="1300" dirty="0"/>
          </a:p>
        </p:txBody>
      </p:sp>
      <p:sp>
        <p:nvSpPr>
          <p:cNvPr id="18" name="Text 16"/>
          <p:cNvSpPr/>
          <p:nvPr/>
        </p:nvSpPr>
        <p:spPr>
          <a:xfrm>
            <a:off x="2606040" y="5020056"/>
            <a:ext cx="3108960" cy="512064"/>
          </a:xfrm>
          <a:prstGeom prst="rect">
            <a:avLst/>
          </a:prstGeom>
          <a:noFill/>
          <a:ln/>
        </p:spPr>
        <p:txBody>
          <a:bodyPr wrap="square" lIns="0" tIns="0" rIns="0" bIns="0" rtlCol="0" anchor="ctr"/>
          <a:lstStyle/>
          <a:p>
            <a:pPr marL="0" indent="0">
              <a:buNone/>
            </a:pPr>
            <a:r>
              <a:rPr lang="en-US" sz="1150" dirty="0">
                <a:solidFill>
                  <a:srgbClr val="23211C"/>
                </a:solidFill>
                <a:latin typeface="Calibri" pitchFamily="34" charset="0"/>
                <a:ea typeface="Calibri" pitchFamily="34" charset="-122"/>
                <a:cs typeface="Calibri" pitchFamily="34" charset="-120"/>
              </a:rPr>
              <a:t>Sandboxing and review before approval</a:t>
            </a:r>
            <a:endParaRPr lang="en-US" sz="1150" dirty="0"/>
          </a:p>
        </p:txBody>
      </p:sp>
      <p:sp>
        <p:nvSpPr>
          <p:cNvPr id="19" name="Shape 17"/>
          <p:cNvSpPr/>
          <p:nvPr/>
        </p:nvSpPr>
        <p:spPr>
          <a:xfrm>
            <a:off x="6309360" y="2468880"/>
            <a:ext cx="5349240" cy="3291840"/>
          </a:xfrm>
          <a:prstGeom prst="roundRect">
            <a:avLst>
              <a:gd name="adj" fmla="val 2778"/>
            </a:avLst>
          </a:prstGeom>
          <a:solidFill>
            <a:srgbClr val="FBF9F4"/>
          </a:solidFill>
          <a:ln w="12700">
            <a:solidFill>
              <a:srgbClr val="E4DDCC"/>
            </a:solidFill>
            <a:prstDash val="solid"/>
          </a:ln>
          <a:effectLst>
            <a:outerShdw blurRad="114300" dist="38100" dir="8100000" algn="bl" rotWithShape="0">
              <a:srgbClr val="B8AE99">
                <a:alpha val="35000"/>
              </a:srgbClr>
            </a:outerShdw>
          </a:effectLst>
        </p:spPr>
        <p:txBody>
          <a:bodyPr/>
          <a:lstStyle/>
          <a:p>
            <a:endParaRPr lang="en-IN"/>
          </a:p>
        </p:txBody>
      </p:sp>
      <p:sp>
        <p:nvSpPr>
          <p:cNvPr id="20" name="Text 18"/>
          <p:cNvSpPr/>
          <p:nvPr/>
        </p:nvSpPr>
        <p:spPr>
          <a:xfrm>
            <a:off x="6583680" y="2670048"/>
            <a:ext cx="4846320" cy="365760"/>
          </a:xfrm>
          <a:prstGeom prst="rect">
            <a:avLst/>
          </a:prstGeom>
          <a:noFill/>
          <a:ln/>
        </p:spPr>
        <p:txBody>
          <a:bodyPr wrap="square" lIns="0" tIns="0" rIns="0" bIns="0" rtlCol="0" anchor="ctr"/>
          <a:lstStyle/>
          <a:p>
            <a:pPr marL="0" indent="0">
              <a:buNone/>
            </a:pPr>
            <a:r>
              <a:rPr lang="en-US" sz="1600" b="1" dirty="0">
                <a:solidFill>
                  <a:srgbClr val="23211C"/>
                </a:solidFill>
                <a:latin typeface="Georgia" pitchFamily="34" charset="0"/>
                <a:ea typeface="Georgia" pitchFamily="34" charset="-122"/>
                <a:cs typeface="Georgia" pitchFamily="34" charset="-120"/>
              </a:rPr>
              <a:t>Watch these risks</a:t>
            </a:r>
            <a:endParaRPr lang="en-US" sz="1600" dirty="0"/>
          </a:p>
        </p:txBody>
      </p:sp>
      <p:sp>
        <p:nvSpPr>
          <p:cNvPr id="21" name="Text 19"/>
          <p:cNvSpPr/>
          <p:nvPr/>
        </p:nvSpPr>
        <p:spPr>
          <a:xfrm>
            <a:off x="6629400" y="3154680"/>
            <a:ext cx="4846320" cy="475488"/>
          </a:xfrm>
          <a:prstGeom prst="rect">
            <a:avLst/>
          </a:prstGeom>
          <a:noFill/>
          <a:ln/>
        </p:spPr>
        <p:txBody>
          <a:bodyPr wrap="square" lIns="0" tIns="0" rIns="0" bIns="0" rtlCol="0" anchor="ctr"/>
          <a:lstStyle/>
          <a:p>
            <a:pPr marL="177800" indent="-177800">
              <a:lnSpc>
                <a:spcPct val="100000"/>
              </a:lnSpc>
              <a:buSzPct val="100000"/>
              <a:buChar char="–"/>
            </a:pPr>
            <a:r>
              <a:rPr lang="en-US" sz="1200" dirty="0">
                <a:solidFill>
                  <a:srgbClr val="23211C"/>
                </a:solidFill>
                <a:latin typeface="Calibri" pitchFamily="34" charset="0"/>
                <a:ea typeface="Calibri" pitchFamily="34" charset="-122"/>
                <a:cs typeface="Calibri" pitchFamily="34" charset="-120"/>
              </a:rPr>
              <a:t>Broad folder grants — scope to specific folders</a:t>
            </a:r>
            <a:endParaRPr lang="en-US" sz="1200" dirty="0"/>
          </a:p>
        </p:txBody>
      </p:sp>
      <p:sp>
        <p:nvSpPr>
          <p:cNvPr id="22" name="Text 20"/>
          <p:cNvSpPr/>
          <p:nvPr/>
        </p:nvSpPr>
        <p:spPr>
          <a:xfrm>
            <a:off x="6629400" y="3666744"/>
            <a:ext cx="4846320" cy="475488"/>
          </a:xfrm>
          <a:prstGeom prst="rect">
            <a:avLst/>
          </a:prstGeom>
          <a:noFill/>
          <a:ln/>
        </p:spPr>
        <p:txBody>
          <a:bodyPr wrap="square" lIns="0" tIns="0" rIns="0" bIns="0" rtlCol="0" anchor="ctr"/>
          <a:lstStyle/>
          <a:p>
            <a:pPr marL="177800" indent="-177800">
              <a:lnSpc>
                <a:spcPct val="100000"/>
              </a:lnSpc>
              <a:buSzPct val="100000"/>
              <a:buChar char="–"/>
            </a:pPr>
            <a:r>
              <a:rPr lang="en-US" sz="1200" dirty="0">
                <a:solidFill>
                  <a:srgbClr val="23211C"/>
                </a:solidFill>
                <a:latin typeface="Calibri" pitchFamily="34" charset="0"/>
                <a:ea typeface="Calibri" pitchFamily="34" charset="-122"/>
                <a:cs typeface="Calibri" pitchFamily="34" charset="-120"/>
              </a:rPr>
              <a:t>Prompt injection via browser or document content</a:t>
            </a:r>
            <a:endParaRPr lang="en-US" sz="1200" dirty="0"/>
          </a:p>
        </p:txBody>
      </p:sp>
      <p:sp>
        <p:nvSpPr>
          <p:cNvPr id="23" name="Text 21"/>
          <p:cNvSpPr/>
          <p:nvPr/>
        </p:nvSpPr>
        <p:spPr>
          <a:xfrm>
            <a:off x="6629400" y="4178808"/>
            <a:ext cx="4846320" cy="475488"/>
          </a:xfrm>
          <a:prstGeom prst="rect">
            <a:avLst/>
          </a:prstGeom>
          <a:noFill/>
          <a:ln/>
        </p:spPr>
        <p:txBody>
          <a:bodyPr wrap="square" lIns="0" tIns="0" rIns="0" bIns="0" rtlCol="0" anchor="ctr"/>
          <a:lstStyle/>
          <a:p>
            <a:pPr marL="177800" indent="-177800">
              <a:lnSpc>
                <a:spcPct val="100000"/>
              </a:lnSpc>
              <a:buSzPct val="100000"/>
              <a:buChar char="–"/>
            </a:pPr>
            <a:r>
              <a:rPr lang="en-US" sz="1200" dirty="0">
                <a:solidFill>
                  <a:srgbClr val="23211C"/>
                </a:solidFill>
                <a:latin typeface="Calibri" pitchFamily="34" charset="0"/>
                <a:ea typeface="Calibri" pitchFamily="34" charset="-122"/>
                <a:cs typeface="Calibri" pitchFamily="34" charset="-120"/>
              </a:rPr>
              <a:t>Plugin &amp; MCP supply-chain — review before approving</a:t>
            </a:r>
            <a:endParaRPr lang="en-US" sz="1200" dirty="0"/>
          </a:p>
        </p:txBody>
      </p:sp>
      <p:sp>
        <p:nvSpPr>
          <p:cNvPr id="24" name="Text 22"/>
          <p:cNvSpPr/>
          <p:nvPr/>
        </p:nvSpPr>
        <p:spPr>
          <a:xfrm>
            <a:off x="6629400" y="4690872"/>
            <a:ext cx="4846320" cy="475488"/>
          </a:xfrm>
          <a:prstGeom prst="rect">
            <a:avLst/>
          </a:prstGeom>
          <a:noFill/>
          <a:ln/>
        </p:spPr>
        <p:txBody>
          <a:bodyPr wrap="square" lIns="0" tIns="0" rIns="0" bIns="0" rtlCol="0" anchor="ctr"/>
          <a:lstStyle/>
          <a:p>
            <a:pPr marL="177800" indent="-177800">
              <a:lnSpc>
                <a:spcPct val="100000"/>
              </a:lnSpc>
              <a:buSzPct val="100000"/>
              <a:buChar char="–"/>
            </a:pPr>
            <a:r>
              <a:rPr lang="en-US" sz="1200" dirty="0">
                <a:solidFill>
                  <a:srgbClr val="23211C"/>
                </a:solidFill>
                <a:latin typeface="Calibri" pitchFamily="34" charset="0"/>
                <a:ea typeface="Calibri" pitchFamily="34" charset="-122"/>
                <a:cs typeface="Calibri" pitchFamily="34" charset="-120"/>
              </a:rPr>
              <a:t>Scheduled tasks &amp; writes — require approval for external actions</a:t>
            </a:r>
            <a:endParaRPr lang="en-US" sz="1200" dirty="0"/>
          </a:p>
        </p:txBody>
      </p:sp>
      <p:sp>
        <p:nvSpPr>
          <p:cNvPr id="25" name="Text 23"/>
          <p:cNvSpPr/>
          <p:nvPr/>
        </p:nvSpPr>
        <p:spPr>
          <a:xfrm>
            <a:off x="6629400" y="5202936"/>
            <a:ext cx="4846320" cy="475488"/>
          </a:xfrm>
          <a:prstGeom prst="rect">
            <a:avLst/>
          </a:prstGeom>
          <a:noFill/>
          <a:ln/>
        </p:spPr>
        <p:txBody>
          <a:bodyPr wrap="square" lIns="0" tIns="0" rIns="0" bIns="0" rtlCol="0" anchor="ctr"/>
          <a:lstStyle/>
          <a:p>
            <a:pPr marL="177800" indent="-177800">
              <a:lnSpc>
                <a:spcPct val="100000"/>
              </a:lnSpc>
              <a:buSzPct val="100000"/>
              <a:buChar char="–"/>
            </a:pPr>
            <a:r>
              <a:rPr lang="en-US" sz="1200" dirty="0">
                <a:solidFill>
                  <a:srgbClr val="23211C"/>
                </a:solidFill>
                <a:latin typeface="Calibri" pitchFamily="34" charset="0"/>
                <a:ea typeface="Calibri" pitchFamily="34" charset="-122"/>
                <a:cs typeface="Calibri" pitchFamily="34" charset="-120"/>
              </a:rPr>
              <a:t>Audit coverage — route logs to your monitoring</a:t>
            </a:r>
            <a:endParaRPr lang="en-US" sz="1200" dirty="0"/>
          </a:p>
        </p:txBody>
      </p:sp>
      <p:sp>
        <p:nvSpPr>
          <p:cNvPr id="26" name="Text 24"/>
          <p:cNvSpPr/>
          <p:nvPr/>
        </p:nvSpPr>
        <p:spPr>
          <a:xfrm>
            <a:off x="502920" y="6400800"/>
            <a:ext cx="5486400" cy="274320"/>
          </a:xfrm>
          <a:prstGeom prst="rect">
            <a:avLst/>
          </a:prstGeom>
          <a:noFill/>
          <a:ln/>
        </p:spPr>
        <p:txBody>
          <a:bodyPr wrap="square" lIns="0" tIns="0" rIns="0" bIns="0" rtlCol="0" anchor="ctr"/>
          <a:lstStyle/>
          <a:p>
            <a:pPr marL="0" indent="0" algn="l">
              <a:buNone/>
            </a:pPr>
            <a:r>
              <a:rPr lang="en-US" sz="900" b="1" dirty="0">
                <a:solidFill>
                  <a:srgbClr val="C15F3C"/>
                </a:solidFill>
                <a:latin typeface="Calibri" pitchFamily="34" charset="0"/>
                <a:ea typeface="Calibri" pitchFamily="34" charset="-122"/>
                <a:cs typeface="Calibri" pitchFamily="34" charset="-120"/>
              </a:rPr>
              <a:t>Claude</a:t>
            </a:r>
            <a:r>
              <a:rPr lang="en-US" sz="900" dirty="0">
                <a:solidFill>
                  <a:srgbClr val="6E6656"/>
                </a:solidFill>
                <a:latin typeface="Calibri" pitchFamily="34" charset="0"/>
                <a:ea typeface="Calibri" pitchFamily="34" charset="-122"/>
                <a:cs typeface="Calibri" pitchFamily="34" charset="-120"/>
              </a:rPr>
              <a:t>  Cowork &amp; MCP · Training</a:t>
            </a:r>
            <a:endParaRPr lang="en-US" sz="900" dirty="0"/>
          </a:p>
        </p:txBody>
      </p:sp>
      <p:sp>
        <p:nvSpPr>
          <p:cNvPr id="27" name="Text 25"/>
          <p:cNvSpPr/>
          <p:nvPr/>
        </p:nvSpPr>
        <p:spPr>
          <a:xfrm>
            <a:off x="11094415" y="6400800"/>
            <a:ext cx="594360" cy="274320"/>
          </a:xfrm>
          <a:prstGeom prst="rect">
            <a:avLst/>
          </a:prstGeom>
          <a:noFill/>
          <a:ln/>
        </p:spPr>
        <p:txBody>
          <a:bodyPr wrap="square" lIns="0" tIns="0" rIns="0" bIns="0" rtlCol="0" anchor="ctr"/>
          <a:lstStyle/>
          <a:p>
            <a:pPr marL="0" indent="0" algn="r">
              <a:buNone/>
            </a:pPr>
            <a:r>
              <a:rPr lang="en-US" sz="900" dirty="0">
                <a:solidFill>
                  <a:srgbClr val="6E665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EFE6"/>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292608"/>
          </a:xfrm>
          <a:prstGeom prst="rect">
            <a:avLst/>
          </a:prstGeom>
          <a:noFill/>
          <a:ln/>
        </p:spPr>
        <p:txBody>
          <a:bodyPr wrap="square" lIns="0" tIns="0" rIns="0" bIns="0" rtlCol="0" anchor="ctr"/>
          <a:lstStyle/>
          <a:p>
            <a:pPr marL="0" indent="0">
              <a:buNone/>
            </a:pPr>
            <a:r>
              <a:rPr lang="en-US" sz="1200" b="1" kern="0" spc="300" dirty="0">
                <a:solidFill>
                  <a:srgbClr val="C15F3C"/>
                </a:solidFill>
                <a:latin typeface="Calibri" pitchFamily="34" charset="0"/>
                <a:ea typeface="Calibri" pitchFamily="34" charset="-122"/>
                <a:cs typeface="Calibri" pitchFamily="34" charset="-120"/>
              </a:rPr>
              <a:t>SECTION 4 · PRACTICAL SCENARIOS</a:t>
            </a:r>
            <a:endParaRPr lang="en-US" sz="1200" dirty="0"/>
          </a:p>
        </p:txBody>
      </p:sp>
      <p:sp>
        <p:nvSpPr>
          <p:cNvPr id="3" name="Text 1"/>
          <p:cNvSpPr/>
          <p:nvPr/>
        </p:nvSpPr>
        <p:spPr>
          <a:xfrm>
            <a:off x="548640" y="749808"/>
            <a:ext cx="6400800" cy="914400"/>
          </a:xfrm>
          <a:prstGeom prst="rect">
            <a:avLst/>
          </a:prstGeom>
          <a:noFill/>
          <a:ln/>
        </p:spPr>
        <p:txBody>
          <a:bodyPr wrap="square" lIns="0" tIns="0" rIns="0" bIns="0" rtlCol="0" anchor="t"/>
          <a:lstStyle/>
          <a:p>
            <a:pPr marL="0" indent="0" algn="l">
              <a:lnSpc>
                <a:spcPct val="102000"/>
              </a:lnSpc>
              <a:buNone/>
            </a:pPr>
            <a:r>
              <a:rPr lang="en-US" sz="3200" dirty="0">
                <a:solidFill>
                  <a:srgbClr val="23211C"/>
                </a:solidFill>
                <a:latin typeface="Georgia" pitchFamily="34" charset="0"/>
                <a:ea typeface="Georgia" pitchFamily="34" charset="-122"/>
                <a:cs typeface="Georgia" pitchFamily="34" charset="-120"/>
              </a:rPr>
              <a:t>Where Cowork earns its keep</a:t>
            </a:r>
            <a:endParaRPr lang="en-US" sz="3200" dirty="0"/>
          </a:p>
        </p:txBody>
      </p:sp>
      <p:sp>
        <p:nvSpPr>
          <p:cNvPr id="4" name="Text 2"/>
          <p:cNvSpPr/>
          <p:nvPr/>
        </p:nvSpPr>
        <p:spPr>
          <a:xfrm>
            <a:off x="548640" y="1645920"/>
            <a:ext cx="6035040" cy="548640"/>
          </a:xfrm>
          <a:prstGeom prst="rect">
            <a:avLst/>
          </a:prstGeom>
          <a:noFill/>
          <a:ln/>
        </p:spPr>
        <p:txBody>
          <a:bodyPr wrap="square" lIns="0" tIns="0" rIns="0" bIns="0" rtlCol="0" anchor="ctr"/>
          <a:lstStyle/>
          <a:p>
            <a:pPr marL="0" indent="0">
              <a:lnSpc>
                <a:spcPct val="110000"/>
              </a:lnSpc>
              <a:buNone/>
            </a:pPr>
            <a:r>
              <a:rPr lang="en-US" sz="1400" dirty="0">
                <a:solidFill>
                  <a:srgbClr val="6E6656"/>
                </a:solidFill>
                <a:latin typeface="Calibri" pitchFamily="34" charset="0"/>
                <a:ea typeface="Calibri" pitchFamily="34" charset="-122"/>
                <a:cs typeface="Calibri" pitchFamily="34" charset="-120"/>
              </a:rPr>
              <a:t>The best fits are high-effort, repeatable tasks that span several apps and steps.</a:t>
            </a:r>
            <a:endParaRPr lang="en-US" sz="1400" dirty="0"/>
          </a:p>
        </p:txBody>
      </p:sp>
      <p:sp>
        <p:nvSpPr>
          <p:cNvPr id="5" name="Shape 3"/>
          <p:cNvSpPr/>
          <p:nvPr/>
        </p:nvSpPr>
        <p:spPr>
          <a:xfrm>
            <a:off x="548640" y="2423160"/>
            <a:ext cx="5943600" cy="731520"/>
          </a:xfrm>
          <a:prstGeom prst="roundRect">
            <a:avLst>
              <a:gd name="adj" fmla="val 12500"/>
            </a:avLst>
          </a:prstGeom>
          <a:solidFill>
            <a:srgbClr val="FBF9F4"/>
          </a:solidFill>
          <a:ln w="12700">
            <a:solidFill>
              <a:srgbClr val="E4DDCC"/>
            </a:solidFill>
            <a:prstDash val="solid"/>
          </a:ln>
        </p:spPr>
        <p:txBody>
          <a:bodyPr/>
          <a:lstStyle/>
          <a:p>
            <a:endParaRPr lang="en-IN"/>
          </a:p>
        </p:txBody>
      </p:sp>
      <p:sp>
        <p:nvSpPr>
          <p:cNvPr id="6" name="Shape 4"/>
          <p:cNvSpPr/>
          <p:nvPr/>
        </p:nvSpPr>
        <p:spPr>
          <a:xfrm>
            <a:off x="713232" y="2578608"/>
            <a:ext cx="420624" cy="420624"/>
          </a:xfrm>
          <a:prstGeom prst="ellipse">
            <a:avLst/>
          </a:prstGeom>
          <a:solidFill>
            <a:srgbClr val="C15F3C"/>
          </a:solidFill>
          <a:ln/>
        </p:spPr>
        <p:txBody>
          <a:bodyPr/>
          <a:lstStyle/>
          <a:p>
            <a:endParaRPr lang="en-IN"/>
          </a:p>
        </p:txBody>
      </p:sp>
      <p:sp>
        <p:nvSpPr>
          <p:cNvPr id="7" name="Text 5"/>
          <p:cNvSpPr/>
          <p:nvPr/>
        </p:nvSpPr>
        <p:spPr>
          <a:xfrm>
            <a:off x="713232" y="2578608"/>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8" name="Text 6"/>
          <p:cNvSpPr/>
          <p:nvPr/>
        </p:nvSpPr>
        <p:spPr>
          <a:xfrm>
            <a:off x="1280160" y="2487168"/>
            <a:ext cx="5029200" cy="310896"/>
          </a:xfrm>
          <a:prstGeom prst="rect">
            <a:avLst/>
          </a:prstGeom>
          <a:noFill/>
          <a:ln/>
        </p:spPr>
        <p:txBody>
          <a:bodyPr wrap="square" lIns="0" tIns="0" rIns="0" bIns="0" rtlCol="0" anchor="ctr"/>
          <a:lstStyle/>
          <a:p>
            <a:pPr marL="0" indent="0">
              <a:buNone/>
            </a:pPr>
            <a:r>
              <a:rPr lang="en-US" sz="1550" b="1" dirty="0">
                <a:solidFill>
                  <a:srgbClr val="23211C"/>
                </a:solidFill>
                <a:latin typeface="Georgia" pitchFamily="34" charset="0"/>
                <a:ea typeface="Georgia" pitchFamily="34" charset="-122"/>
                <a:cs typeface="Georgia" pitchFamily="34" charset="-120"/>
              </a:rPr>
              <a:t>Documents</a:t>
            </a:r>
            <a:endParaRPr lang="en-US" sz="1550" dirty="0"/>
          </a:p>
        </p:txBody>
      </p:sp>
      <p:sp>
        <p:nvSpPr>
          <p:cNvPr id="9" name="Text 7"/>
          <p:cNvSpPr/>
          <p:nvPr/>
        </p:nvSpPr>
        <p:spPr>
          <a:xfrm>
            <a:off x="1280160" y="2788920"/>
            <a:ext cx="5074920" cy="329184"/>
          </a:xfrm>
          <a:prstGeom prst="rect">
            <a:avLst/>
          </a:prstGeom>
          <a:noFill/>
          <a:ln/>
        </p:spPr>
        <p:txBody>
          <a:bodyPr wrap="square" lIns="0" tIns="0" rIns="0" bIns="0" rtlCol="0" anchor="ctr"/>
          <a:lstStyle/>
          <a:p>
            <a:pPr marL="0" indent="0">
              <a:lnSpc>
                <a:spcPct val="100000"/>
              </a:lnSpc>
              <a:buNone/>
            </a:pPr>
            <a:r>
              <a:rPr lang="en-US" sz="1180" dirty="0">
                <a:solidFill>
                  <a:srgbClr val="6E6656"/>
                </a:solidFill>
                <a:latin typeface="Calibri" pitchFamily="34" charset="0"/>
                <a:ea typeface="Calibri" pitchFamily="34" charset="-122"/>
                <a:cs typeface="Calibri" pitchFamily="34" charset="-120"/>
              </a:rPr>
              <a:t>Summarize, draft, reformat, and audit files against guidelines.</a:t>
            </a:r>
            <a:endParaRPr lang="en-US" sz="1180" dirty="0"/>
          </a:p>
        </p:txBody>
      </p:sp>
      <p:sp>
        <p:nvSpPr>
          <p:cNvPr id="10" name="Shape 8"/>
          <p:cNvSpPr/>
          <p:nvPr/>
        </p:nvSpPr>
        <p:spPr>
          <a:xfrm>
            <a:off x="548640" y="3264408"/>
            <a:ext cx="5943600" cy="731520"/>
          </a:xfrm>
          <a:prstGeom prst="roundRect">
            <a:avLst>
              <a:gd name="adj" fmla="val 12500"/>
            </a:avLst>
          </a:prstGeom>
          <a:solidFill>
            <a:srgbClr val="FBF9F4"/>
          </a:solidFill>
          <a:ln w="12700">
            <a:solidFill>
              <a:srgbClr val="E4DDCC"/>
            </a:solidFill>
            <a:prstDash val="solid"/>
          </a:ln>
        </p:spPr>
        <p:txBody>
          <a:bodyPr/>
          <a:lstStyle/>
          <a:p>
            <a:endParaRPr lang="en-IN"/>
          </a:p>
        </p:txBody>
      </p:sp>
      <p:sp>
        <p:nvSpPr>
          <p:cNvPr id="11" name="Shape 9"/>
          <p:cNvSpPr/>
          <p:nvPr/>
        </p:nvSpPr>
        <p:spPr>
          <a:xfrm>
            <a:off x="713232" y="3419856"/>
            <a:ext cx="420624" cy="420624"/>
          </a:xfrm>
          <a:prstGeom prst="ellipse">
            <a:avLst/>
          </a:prstGeom>
          <a:solidFill>
            <a:srgbClr val="D9785C"/>
          </a:solidFill>
          <a:ln/>
        </p:spPr>
        <p:txBody>
          <a:bodyPr/>
          <a:lstStyle/>
          <a:p>
            <a:endParaRPr lang="en-IN"/>
          </a:p>
        </p:txBody>
      </p:sp>
      <p:sp>
        <p:nvSpPr>
          <p:cNvPr id="12" name="Text 10"/>
          <p:cNvSpPr/>
          <p:nvPr/>
        </p:nvSpPr>
        <p:spPr>
          <a:xfrm>
            <a:off x="713232" y="3419856"/>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3" name="Text 11"/>
          <p:cNvSpPr/>
          <p:nvPr/>
        </p:nvSpPr>
        <p:spPr>
          <a:xfrm>
            <a:off x="1280160" y="3328416"/>
            <a:ext cx="5029200" cy="310896"/>
          </a:xfrm>
          <a:prstGeom prst="rect">
            <a:avLst/>
          </a:prstGeom>
          <a:noFill/>
          <a:ln/>
        </p:spPr>
        <p:txBody>
          <a:bodyPr wrap="square" lIns="0" tIns="0" rIns="0" bIns="0" rtlCol="0" anchor="ctr"/>
          <a:lstStyle/>
          <a:p>
            <a:pPr marL="0" indent="0">
              <a:buNone/>
            </a:pPr>
            <a:r>
              <a:rPr lang="en-US" sz="1550" b="1" dirty="0">
                <a:solidFill>
                  <a:srgbClr val="23211C"/>
                </a:solidFill>
                <a:latin typeface="Georgia" pitchFamily="34" charset="0"/>
                <a:ea typeface="Georgia" pitchFamily="34" charset="-122"/>
                <a:cs typeface="Georgia" pitchFamily="34" charset="-120"/>
              </a:rPr>
              <a:t>Spreadsheets</a:t>
            </a:r>
            <a:endParaRPr lang="en-US" sz="1550" dirty="0"/>
          </a:p>
        </p:txBody>
      </p:sp>
      <p:sp>
        <p:nvSpPr>
          <p:cNvPr id="14" name="Text 12"/>
          <p:cNvSpPr/>
          <p:nvPr/>
        </p:nvSpPr>
        <p:spPr>
          <a:xfrm>
            <a:off x="1280160" y="3630168"/>
            <a:ext cx="5074920" cy="329184"/>
          </a:xfrm>
          <a:prstGeom prst="rect">
            <a:avLst/>
          </a:prstGeom>
          <a:noFill/>
          <a:ln/>
        </p:spPr>
        <p:txBody>
          <a:bodyPr wrap="square" lIns="0" tIns="0" rIns="0" bIns="0" rtlCol="0" anchor="ctr"/>
          <a:lstStyle/>
          <a:p>
            <a:pPr marL="0" indent="0">
              <a:lnSpc>
                <a:spcPct val="100000"/>
              </a:lnSpc>
              <a:buNone/>
            </a:pPr>
            <a:r>
              <a:rPr lang="en-US" sz="1180" dirty="0">
                <a:solidFill>
                  <a:srgbClr val="6E6656"/>
                </a:solidFill>
                <a:latin typeface="Calibri" pitchFamily="34" charset="0"/>
                <a:ea typeface="Calibri" pitchFamily="34" charset="-122"/>
                <a:cs typeface="Calibri" pitchFamily="34" charset="-120"/>
              </a:rPr>
              <a:t>Build, clean, and analyze data with charts and summaries.</a:t>
            </a:r>
            <a:endParaRPr lang="en-US" sz="1180" dirty="0"/>
          </a:p>
        </p:txBody>
      </p:sp>
      <p:sp>
        <p:nvSpPr>
          <p:cNvPr id="15" name="Shape 13"/>
          <p:cNvSpPr/>
          <p:nvPr/>
        </p:nvSpPr>
        <p:spPr>
          <a:xfrm>
            <a:off x="548640" y="4105656"/>
            <a:ext cx="5943600" cy="731520"/>
          </a:xfrm>
          <a:prstGeom prst="roundRect">
            <a:avLst>
              <a:gd name="adj" fmla="val 12500"/>
            </a:avLst>
          </a:prstGeom>
          <a:solidFill>
            <a:srgbClr val="FBF9F4"/>
          </a:solidFill>
          <a:ln w="12700">
            <a:solidFill>
              <a:srgbClr val="E4DDCC"/>
            </a:solidFill>
            <a:prstDash val="solid"/>
          </a:ln>
        </p:spPr>
        <p:txBody>
          <a:bodyPr/>
          <a:lstStyle/>
          <a:p>
            <a:endParaRPr lang="en-IN"/>
          </a:p>
        </p:txBody>
      </p:sp>
      <p:sp>
        <p:nvSpPr>
          <p:cNvPr id="16" name="Shape 14"/>
          <p:cNvSpPr/>
          <p:nvPr/>
        </p:nvSpPr>
        <p:spPr>
          <a:xfrm>
            <a:off x="713232" y="4261104"/>
            <a:ext cx="420624" cy="420624"/>
          </a:xfrm>
          <a:prstGeom prst="ellipse">
            <a:avLst/>
          </a:prstGeom>
          <a:solidFill>
            <a:srgbClr val="C15F3C"/>
          </a:solidFill>
          <a:ln/>
        </p:spPr>
        <p:txBody>
          <a:bodyPr/>
          <a:lstStyle/>
          <a:p>
            <a:endParaRPr lang="en-IN"/>
          </a:p>
        </p:txBody>
      </p:sp>
      <p:sp>
        <p:nvSpPr>
          <p:cNvPr id="17" name="Text 15"/>
          <p:cNvSpPr/>
          <p:nvPr/>
        </p:nvSpPr>
        <p:spPr>
          <a:xfrm>
            <a:off x="713232" y="4261104"/>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8" name="Text 16"/>
          <p:cNvSpPr/>
          <p:nvPr/>
        </p:nvSpPr>
        <p:spPr>
          <a:xfrm>
            <a:off x="1280160" y="4169664"/>
            <a:ext cx="5029200" cy="310896"/>
          </a:xfrm>
          <a:prstGeom prst="rect">
            <a:avLst/>
          </a:prstGeom>
          <a:noFill/>
          <a:ln/>
        </p:spPr>
        <p:txBody>
          <a:bodyPr wrap="square" lIns="0" tIns="0" rIns="0" bIns="0" rtlCol="0" anchor="ctr"/>
          <a:lstStyle/>
          <a:p>
            <a:pPr marL="0" indent="0">
              <a:buNone/>
            </a:pPr>
            <a:r>
              <a:rPr lang="en-US" sz="1550" b="1" dirty="0">
                <a:solidFill>
                  <a:srgbClr val="23211C"/>
                </a:solidFill>
                <a:latin typeface="Georgia" pitchFamily="34" charset="0"/>
                <a:ea typeface="Georgia" pitchFamily="34" charset="-122"/>
                <a:cs typeface="Georgia" pitchFamily="34" charset="-120"/>
              </a:rPr>
              <a:t>Research</a:t>
            </a:r>
            <a:endParaRPr lang="en-US" sz="1550" dirty="0"/>
          </a:p>
        </p:txBody>
      </p:sp>
      <p:sp>
        <p:nvSpPr>
          <p:cNvPr id="19" name="Text 17"/>
          <p:cNvSpPr/>
          <p:nvPr/>
        </p:nvSpPr>
        <p:spPr>
          <a:xfrm>
            <a:off x="1280160" y="4471416"/>
            <a:ext cx="5074920" cy="329184"/>
          </a:xfrm>
          <a:prstGeom prst="rect">
            <a:avLst/>
          </a:prstGeom>
          <a:noFill/>
          <a:ln/>
        </p:spPr>
        <p:txBody>
          <a:bodyPr wrap="square" lIns="0" tIns="0" rIns="0" bIns="0" rtlCol="0" anchor="ctr"/>
          <a:lstStyle/>
          <a:p>
            <a:pPr marL="0" indent="0">
              <a:lnSpc>
                <a:spcPct val="100000"/>
              </a:lnSpc>
              <a:buNone/>
            </a:pPr>
            <a:r>
              <a:rPr lang="en-US" sz="1180" dirty="0">
                <a:solidFill>
                  <a:srgbClr val="6E6656"/>
                </a:solidFill>
                <a:latin typeface="Calibri" pitchFamily="34" charset="0"/>
                <a:ea typeface="Calibri" pitchFamily="34" charset="-122"/>
                <a:cs typeface="Calibri" pitchFamily="34" charset="-120"/>
              </a:rPr>
              <a:t>Synthesize across the web, Drive, and connected systems.</a:t>
            </a:r>
            <a:endParaRPr lang="en-US" sz="1180" dirty="0"/>
          </a:p>
        </p:txBody>
      </p:sp>
      <p:sp>
        <p:nvSpPr>
          <p:cNvPr id="20" name="Shape 18"/>
          <p:cNvSpPr/>
          <p:nvPr/>
        </p:nvSpPr>
        <p:spPr>
          <a:xfrm>
            <a:off x="548640" y="4946904"/>
            <a:ext cx="5943600" cy="731520"/>
          </a:xfrm>
          <a:prstGeom prst="roundRect">
            <a:avLst>
              <a:gd name="adj" fmla="val 12500"/>
            </a:avLst>
          </a:prstGeom>
          <a:solidFill>
            <a:srgbClr val="FBF9F4"/>
          </a:solidFill>
          <a:ln w="12700">
            <a:solidFill>
              <a:srgbClr val="E4DDCC"/>
            </a:solidFill>
            <a:prstDash val="solid"/>
          </a:ln>
        </p:spPr>
        <p:txBody>
          <a:bodyPr/>
          <a:lstStyle/>
          <a:p>
            <a:endParaRPr lang="en-IN"/>
          </a:p>
        </p:txBody>
      </p:sp>
      <p:sp>
        <p:nvSpPr>
          <p:cNvPr id="21" name="Shape 19"/>
          <p:cNvSpPr/>
          <p:nvPr/>
        </p:nvSpPr>
        <p:spPr>
          <a:xfrm>
            <a:off x="713232" y="5102352"/>
            <a:ext cx="420624" cy="420624"/>
          </a:xfrm>
          <a:prstGeom prst="ellipse">
            <a:avLst/>
          </a:prstGeom>
          <a:solidFill>
            <a:srgbClr val="D9785C"/>
          </a:solidFill>
          <a:ln/>
        </p:spPr>
        <p:txBody>
          <a:bodyPr/>
          <a:lstStyle/>
          <a:p>
            <a:endParaRPr lang="en-IN"/>
          </a:p>
        </p:txBody>
      </p:sp>
      <p:sp>
        <p:nvSpPr>
          <p:cNvPr id="22" name="Text 20"/>
          <p:cNvSpPr/>
          <p:nvPr/>
        </p:nvSpPr>
        <p:spPr>
          <a:xfrm>
            <a:off x="713232" y="5102352"/>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23" name="Text 21"/>
          <p:cNvSpPr/>
          <p:nvPr/>
        </p:nvSpPr>
        <p:spPr>
          <a:xfrm>
            <a:off x="1280160" y="5010912"/>
            <a:ext cx="5029200" cy="310896"/>
          </a:xfrm>
          <a:prstGeom prst="rect">
            <a:avLst/>
          </a:prstGeom>
          <a:noFill/>
          <a:ln/>
        </p:spPr>
        <p:txBody>
          <a:bodyPr wrap="square" lIns="0" tIns="0" rIns="0" bIns="0" rtlCol="0" anchor="ctr"/>
          <a:lstStyle/>
          <a:p>
            <a:pPr marL="0" indent="0">
              <a:buNone/>
            </a:pPr>
            <a:r>
              <a:rPr lang="en-US" sz="1550" b="1" dirty="0">
                <a:solidFill>
                  <a:srgbClr val="23211C"/>
                </a:solidFill>
                <a:latin typeface="Georgia" pitchFamily="34" charset="0"/>
                <a:ea typeface="Georgia" pitchFamily="34" charset="-122"/>
                <a:cs typeface="Georgia" pitchFamily="34" charset="-120"/>
              </a:rPr>
              <a:t>Multi-step tasks</a:t>
            </a:r>
            <a:endParaRPr lang="en-US" sz="1550" dirty="0"/>
          </a:p>
        </p:txBody>
      </p:sp>
      <p:sp>
        <p:nvSpPr>
          <p:cNvPr id="24" name="Text 22"/>
          <p:cNvSpPr/>
          <p:nvPr/>
        </p:nvSpPr>
        <p:spPr>
          <a:xfrm>
            <a:off x="1280160" y="5312664"/>
            <a:ext cx="5074920" cy="329184"/>
          </a:xfrm>
          <a:prstGeom prst="rect">
            <a:avLst/>
          </a:prstGeom>
          <a:noFill/>
          <a:ln/>
        </p:spPr>
        <p:txBody>
          <a:bodyPr wrap="square" lIns="0" tIns="0" rIns="0" bIns="0" rtlCol="0" anchor="ctr"/>
          <a:lstStyle/>
          <a:p>
            <a:pPr marL="0" indent="0">
              <a:lnSpc>
                <a:spcPct val="100000"/>
              </a:lnSpc>
              <a:buNone/>
            </a:pPr>
            <a:r>
              <a:rPr lang="en-US" sz="1180" dirty="0">
                <a:solidFill>
                  <a:srgbClr val="6E6656"/>
                </a:solidFill>
                <a:latin typeface="Calibri" pitchFamily="34" charset="0"/>
                <a:ea typeface="Calibri" pitchFamily="34" charset="-122"/>
                <a:cs typeface="Calibri" pitchFamily="34" charset="-120"/>
              </a:rPr>
              <a:t>Chain steps end to end — and schedule them to repeat.</a:t>
            </a:r>
            <a:endParaRPr lang="en-US" sz="1180" dirty="0"/>
          </a:p>
        </p:txBody>
      </p:sp>
      <p:sp>
        <p:nvSpPr>
          <p:cNvPr id="25" name="Shape 23"/>
          <p:cNvSpPr/>
          <p:nvPr/>
        </p:nvSpPr>
        <p:spPr>
          <a:xfrm>
            <a:off x="6858000" y="1554480"/>
            <a:ext cx="4800600" cy="4206240"/>
          </a:xfrm>
          <a:prstGeom prst="roundRect">
            <a:avLst>
              <a:gd name="adj" fmla="val 2174"/>
            </a:avLst>
          </a:prstGeom>
          <a:solidFill>
            <a:srgbClr val="FBF9F4"/>
          </a:solidFill>
          <a:ln w="12700">
            <a:solidFill>
              <a:srgbClr val="E4DDCC"/>
            </a:solidFill>
            <a:prstDash val="solid"/>
          </a:ln>
          <a:effectLst>
            <a:outerShdw blurRad="114300" dist="38100" dir="8100000" algn="bl" rotWithShape="0">
              <a:srgbClr val="B8AE99">
                <a:alpha val="35000"/>
              </a:srgbClr>
            </a:outerShdw>
          </a:effectLst>
        </p:spPr>
        <p:txBody>
          <a:bodyPr/>
          <a:lstStyle/>
          <a:p>
            <a:endParaRPr lang="en-IN"/>
          </a:p>
        </p:txBody>
      </p:sp>
      <p:pic>
        <p:nvPicPr>
          <p:cNvPr id="26" name="Image 0" descr="/agent/turn2/workspace/images/image-2ef475d6712bda78d74a517f42838fa2.jpg"/>
          <p:cNvPicPr>
            <a:picLocks noChangeAspect="1"/>
          </p:cNvPicPr>
          <p:nvPr/>
        </p:nvPicPr>
        <p:blipFill>
          <a:blip r:embed="rId3"/>
          <a:stretch>
            <a:fillRect/>
          </a:stretch>
        </p:blipFill>
        <p:spPr>
          <a:xfrm>
            <a:off x="7059168" y="1810879"/>
            <a:ext cx="4389120" cy="3684298"/>
          </a:xfrm>
          <a:prstGeom prst="rect">
            <a:avLst/>
          </a:prstGeom>
        </p:spPr>
      </p:pic>
      <p:sp>
        <p:nvSpPr>
          <p:cNvPr id="27" name="Text 24"/>
          <p:cNvSpPr/>
          <p:nvPr/>
        </p:nvSpPr>
        <p:spPr>
          <a:xfrm>
            <a:off x="502920" y="6400800"/>
            <a:ext cx="5486400" cy="274320"/>
          </a:xfrm>
          <a:prstGeom prst="rect">
            <a:avLst/>
          </a:prstGeom>
          <a:noFill/>
          <a:ln/>
        </p:spPr>
        <p:txBody>
          <a:bodyPr wrap="square" lIns="0" tIns="0" rIns="0" bIns="0" rtlCol="0" anchor="ctr"/>
          <a:lstStyle/>
          <a:p>
            <a:pPr marL="0" indent="0" algn="l">
              <a:buNone/>
            </a:pPr>
            <a:r>
              <a:rPr lang="en-US" sz="900" b="1" dirty="0">
                <a:solidFill>
                  <a:srgbClr val="C15F3C"/>
                </a:solidFill>
                <a:latin typeface="Calibri" pitchFamily="34" charset="0"/>
                <a:ea typeface="Calibri" pitchFamily="34" charset="-122"/>
                <a:cs typeface="Calibri" pitchFamily="34" charset="-120"/>
              </a:rPr>
              <a:t>Claude</a:t>
            </a:r>
            <a:r>
              <a:rPr lang="en-US" sz="900" dirty="0">
                <a:solidFill>
                  <a:srgbClr val="6E6656"/>
                </a:solidFill>
                <a:latin typeface="Calibri" pitchFamily="34" charset="0"/>
                <a:ea typeface="Calibri" pitchFamily="34" charset="-122"/>
                <a:cs typeface="Calibri" pitchFamily="34" charset="-120"/>
              </a:rPr>
              <a:t>  Cowork &amp; MCP · Training</a:t>
            </a:r>
            <a:endParaRPr lang="en-US" sz="900" dirty="0"/>
          </a:p>
        </p:txBody>
      </p:sp>
      <p:sp>
        <p:nvSpPr>
          <p:cNvPr id="28" name="Text 25"/>
          <p:cNvSpPr/>
          <p:nvPr/>
        </p:nvSpPr>
        <p:spPr>
          <a:xfrm>
            <a:off x="11094415" y="6400800"/>
            <a:ext cx="594360" cy="274320"/>
          </a:xfrm>
          <a:prstGeom prst="rect">
            <a:avLst/>
          </a:prstGeom>
          <a:noFill/>
          <a:ln/>
        </p:spPr>
        <p:txBody>
          <a:bodyPr wrap="square" lIns="0" tIns="0" rIns="0" bIns="0" rtlCol="0" anchor="ctr"/>
          <a:lstStyle/>
          <a:p>
            <a:pPr marL="0" indent="0" algn="r">
              <a:buNone/>
            </a:pPr>
            <a:r>
              <a:rPr lang="en-US" sz="900" dirty="0">
                <a:solidFill>
                  <a:srgbClr val="6E6656"/>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EFE6"/>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292608"/>
          </a:xfrm>
          <a:prstGeom prst="rect">
            <a:avLst/>
          </a:prstGeom>
          <a:noFill/>
          <a:ln/>
        </p:spPr>
        <p:txBody>
          <a:bodyPr wrap="square" lIns="0" tIns="0" rIns="0" bIns="0" rtlCol="0" anchor="ctr"/>
          <a:lstStyle/>
          <a:p>
            <a:pPr marL="0" indent="0">
              <a:buNone/>
            </a:pPr>
            <a:r>
              <a:rPr lang="en-US" sz="1200" b="1" kern="0" spc="300" dirty="0">
                <a:solidFill>
                  <a:srgbClr val="C15F3C"/>
                </a:solidFill>
                <a:latin typeface="Calibri" pitchFamily="34" charset="0"/>
                <a:ea typeface="Calibri" pitchFamily="34" charset="-122"/>
                <a:cs typeface="Calibri" pitchFamily="34" charset="-120"/>
              </a:rPr>
              <a:t>SECTION 4 · PRACTICAL SCENARIOS</a:t>
            </a:r>
            <a:endParaRPr lang="en-US" sz="1200" dirty="0"/>
          </a:p>
        </p:txBody>
      </p:sp>
      <p:sp>
        <p:nvSpPr>
          <p:cNvPr id="3" name="Text 1"/>
          <p:cNvSpPr/>
          <p:nvPr/>
        </p:nvSpPr>
        <p:spPr>
          <a:xfrm>
            <a:off x="548640" y="749808"/>
            <a:ext cx="10789920" cy="914400"/>
          </a:xfrm>
          <a:prstGeom prst="rect">
            <a:avLst/>
          </a:prstGeom>
          <a:noFill/>
          <a:ln/>
        </p:spPr>
        <p:txBody>
          <a:bodyPr wrap="square" lIns="0" tIns="0" rIns="0" bIns="0" rtlCol="0" anchor="t"/>
          <a:lstStyle/>
          <a:p>
            <a:pPr marL="0" indent="0" algn="l">
              <a:lnSpc>
                <a:spcPct val="102000"/>
              </a:lnSpc>
              <a:buNone/>
            </a:pPr>
            <a:r>
              <a:rPr lang="en-US" sz="3200" dirty="0">
                <a:solidFill>
                  <a:srgbClr val="23211C"/>
                </a:solidFill>
                <a:latin typeface="Georgia" pitchFamily="34" charset="0"/>
                <a:ea typeface="Georgia" pitchFamily="34" charset="-122"/>
                <a:cs typeface="Georgia" pitchFamily="34" charset="-120"/>
              </a:rPr>
              <a:t>Walkthrough: brand audit across a folder</a:t>
            </a:r>
            <a:endParaRPr lang="en-US" sz="3200" dirty="0"/>
          </a:p>
        </p:txBody>
      </p:sp>
      <p:sp>
        <p:nvSpPr>
          <p:cNvPr id="4" name="Text 2"/>
          <p:cNvSpPr/>
          <p:nvPr/>
        </p:nvSpPr>
        <p:spPr>
          <a:xfrm>
            <a:off x="548640" y="1664208"/>
            <a:ext cx="10972800" cy="640080"/>
          </a:xfrm>
          <a:prstGeom prst="rect">
            <a:avLst/>
          </a:prstGeom>
          <a:noFill/>
          <a:ln/>
        </p:spPr>
        <p:txBody>
          <a:bodyPr wrap="square" lIns="0" tIns="0" rIns="0" bIns="0" rtlCol="0" anchor="ctr"/>
          <a:lstStyle/>
          <a:p>
            <a:pPr marL="0" indent="0">
              <a:lnSpc>
                <a:spcPct val="110000"/>
              </a:lnSpc>
              <a:buNone/>
            </a:pPr>
            <a:r>
              <a:rPr lang="en-US" sz="1500" dirty="0">
                <a:solidFill>
                  <a:srgbClr val="6E6656"/>
                </a:solidFill>
                <a:latin typeface="Calibri" pitchFamily="34" charset="0"/>
                <a:ea typeface="Calibri" pitchFamily="34" charset="-122"/>
                <a:cs typeface="Calibri" pitchFamily="34" charset="-120"/>
              </a:rPr>
              <a:t>A multi-step document task — Claude reads a whole folder of assets at full resolution and checks them against your guidelines.</a:t>
            </a:r>
            <a:endParaRPr lang="en-US" sz="1500" dirty="0"/>
          </a:p>
        </p:txBody>
      </p:sp>
      <p:sp>
        <p:nvSpPr>
          <p:cNvPr id="5" name="Shape 3"/>
          <p:cNvSpPr/>
          <p:nvPr/>
        </p:nvSpPr>
        <p:spPr>
          <a:xfrm>
            <a:off x="548640" y="2697480"/>
            <a:ext cx="2679192" cy="2606040"/>
          </a:xfrm>
          <a:prstGeom prst="roundRect">
            <a:avLst>
              <a:gd name="adj" fmla="val 3509"/>
            </a:avLst>
          </a:prstGeom>
          <a:solidFill>
            <a:srgbClr val="FBF9F4"/>
          </a:solidFill>
          <a:ln w="12700">
            <a:solidFill>
              <a:srgbClr val="E4DDCC"/>
            </a:solidFill>
            <a:prstDash val="solid"/>
          </a:ln>
          <a:effectLst>
            <a:outerShdw blurRad="114300" dist="38100" dir="8100000" algn="bl" rotWithShape="0">
              <a:srgbClr val="B8AE99">
                <a:alpha val="35000"/>
              </a:srgbClr>
            </a:outerShdw>
          </a:effectLst>
        </p:spPr>
        <p:txBody>
          <a:bodyPr/>
          <a:lstStyle/>
          <a:p>
            <a:endParaRPr lang="en-IN"/>
          </a:p>
        </p:txBody>
      </p:sp>
      <p:sp>
        <p:nvSpPr>
          <p:cNvPr id="6" name="Shape 4"/>
          <p:cNvSpPr/>
          <p:nvPr/>
        </p:nvSpPr>
        <p:spPr>
          <a:xfrm>
            <a:off x="1632204" y="2990088"/>
            <a:ext cx="512064" cy="512064"/>
          </a:xfrm>
          <a:prstGeom prst="ellipse">
            <a:avLst/>
          </a:prstGeom>
          <a:solidFill>
            <a:srgbClr val="C15F3C"/>
          </a:solidFill>
          <a:ln/>
        </p:spPr>
        <p:txBody>
          <a:bodyPr/>
          <a:lstStyle/>
          <a:p>
            <a:endParaRPr lang="en-IN"/>
          </a:p>
        </p:txBody>
      </p:sp>
      <p:sp>
        <p:nvSpPr>
          <p:cNvPr id="7" name="Text 5"/>
          <p:cNvSpPr/>
          <p:nvPr/>
        </p:nvSpPr>
        <p:spPr>
          <a:xfrm>
            <a:off x="1632204" y="2990088"/>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8" name="Text 6"/>
          <p:cNvSpPr/>
          <p:nvPr/>
        </p:nvSpPr>
        <p:spPr>
          <a:xfrm>
            <a:off x="685800" y="3657600"/>
            <a:ext cx="2404872" cy="411480"/>
          </a:xfrm>
          <a:prstGeom prst="rect">
            <a:avLst/>
          </a:prstGeom>
          <a:noFill/>
          <a:ln/>
        </p:spPr>
        <p:txBody>
          <a:bodyPr wrap="square" lIns="0" tIns="0" rIns="0" bIns="0" rtlCol="0" anchor="ctr"/>
          <a:lstStyle/>
          <a:p>
            <a:pPr marL="0" indent="0" algn="ctr">
              <a:buNone/>
            </a:pPr>
            <a:r>
              <a:rPr lang="en-US" sz="1800" b="1" dirty="0">
                <a:solidFill>
                  <a:srgbClr val="23211C"/>
                </a:solidFill>
                <a:latin typeface="Georgia" pitchFamily="34" charset="0"/>
                <a:ea typeface="Georgia" pitchFamily="34" charset="-122"/>
                <a:cs typeface="Georgia" pitchFamily="34" charset="-120"/>
              </a:rPr>
              <a:t>Point</a:t>
            </a:r>
            <a:endParaRPr lang="en-US" sz="1800" dirty="0"/>
          </a:p>
        </p:txBody>
      </p:sp>
      <p:sp>
        <p:nvSpPr>
          <p:cNvPr id="9" name="Text 7"/>
          <p:cNvSpPr/>
          <p:nvPr/>
        </p:nvSpPr>
        <p:spPr>
          <a:xfrm>
            <a:off x="749808" y="4087368"/>
            <a:ext cx="2276856" cy="1097280"/>
          </a:xfrm>
          <a:prstGeom prst="rect">
            <a:avLst/>
          </a:prstGeom>
          <a:noFill/>
          <a:ln/>
        </p:spPr>
        <p:txBody>
          <a:bodyPr wrap="square" lIns="0" tIns="0" rIns="0" bIns="0" rtlCol="0" anchor="ctr"/>
          <a:lstStyle/>
          <a:p>
            <a:pPr marL="0" indent="0" algn="ctr">
              <a:lnSpc>
                <a:spcPct val="110000"/>
              </a:lnSpc>
              <a:buNone/>
            </a:pPr>
            <a:r>
              <a:rPr lang="en-US" sz="1200" dirty="0">
                <a:solidFill>
                  <a:srgbClr val="6E6656"/>
                </a:solidFill>
                <a:latin typeface="Calibri" pitchFamily="34" charset="0"/>
                <a:ea typeface="Calibri" pitchFamily="34" charset="-122"/>
                <a:cs typeface="Calibri" pitchFamily="34" charset="-120"/>
              </a:rPr>
              <a:t>Point Claude at the assets folder and your brand guidelines.</a:t>
            </a:r>
            <a:endParaRPr lang="en-US" sz="1200" dirty="0"/>
          </a:p>
        </p:txBody>
      </p:sp>
      <p:sp>
        <p:nvSpPr>
          <p:cNvPr id="10" name="Text 8"/>
          <p:cNvSpPr/>
          <p:nvPr/>
        </p:nvSpPr>
        <p:spPr>
          <a:xfrm>
            <a:off x="3209544" y="3680460"/>
            <a:ext cx="292608" cy="640080"/>
          </a:xfrm>
          <a:prstGeom prst="rect">
            <a:avLst/>
          </a:prstGeom>
          <a:noFill/>
          <a:ln/>
        </p:spPr>
        <p:txBody>
          <a:bodyPr wrap="square" lIns="0" tIns="0" rIns="0" bIns="0" rtlCol="0" anchor="ctr"/>
          <a:lstStyle/>
          <a:p>
            <a:pPr marL="0" indent="0" algn="ctr">
              <a:buNone/>
            </a:pPr>
            <a:r>
              <a:rPr lang="en-US" sz="3000" b="1" dirty="0">
                <a:solidFill>
                  <a:srgbClr val="D9785C"/>
                </a:solidFill>
                <a:latin typeface="Georgia" pitchFamily="34" charset="0"/>
                <a:ea typeface="Georgia" pitchFamily="34" charset="-122"/>
                <a:cs typeface="Georgia" pitchFamily="34" charset="-120"/>
              </a:rPr>
              <a:t>›</a:t>
            </a:r>
            <a:endParaRPr lang="en-US" sz="3000" dirty="0"/>
          </a:p>
        </p:txBody>
      </p:sp>
      <p:sp>
        <p:nvSpPr>
          <p:cNvPr id="11" name="Shape 9"/>
          <p:cNvSpPr/>
          <p:nvPr/>
        </p:nvSpPr>
        <p:spPr>
          <a:xfrm>
            <a:off x="3392424" y="2697480"/>
            <a:ext cx="2679192" cy="2606040"/>
          </a:xfrm>
          <a:prstGeom prst="roundRect">
            <a:avLst>
              <a:gd name="adj" fmla="val 3509"/>
            </a:avLst>
          </a:prstGeom>
          <a:solidFill>
            <a:srgbClr val="FBF9F4"/>
          </a:solidFill>
          <a:ln w="12700">
            <a:solidFill>
              <a:srgbClr val="E4DDCC"/>
            </a:solidFill>
            <a:prstDash val="solid"/>
          </a:ln>
          <a:effectLst>
            <a:outerShdw blurRad="114300" dist="38100" dir="8100000" algn="bl" rotWithShape="0">
              <a:srgbClr val="B8AE99">
                <a:alpha val="35000"/>
              </a:srgbClr>
            </a:outerShdw>
          </a:effectLst>
        </p:spPr>
        <p:txBody>
          <a:bodyPr/>
          <a:lstStyle/>
          <a:p>
            <a:endParaRPr lang="en-IN"/>
          </a:p>
        </p:txBody>
      </p:sp>
      <p:sp>
        <p:nvSpPr>
          <p:cNvPr id="12" name="Shape 10"/>
          <p:cNvSpPr/>
          <p:nvPr/>
        </p:nvSpPr>
        <p:spPr>
          <a:xfrm>
            <a:off x="4475988" y="2990088"/>
            <a:ext cx="512064" cy="512064"/>
          </a:xfrm>
          <a:prstGeom prst="ellipse">
            <a:avLst/>
          </a:prstGeom>
          <a:solidFill>
            <a:srgbClr val="D9785C"/>
          </a:solidFill>
          <a:ln/>
        </p:spPr>
        <p:txBody>
          <a:bodyPr/>
          <a:lstStyle/>
          <a:p>
            <a:endParaRPr lang="en-IN"/>
          </a:p>
        </p:txBody>
      </p:sp>
      <p:sp>
        <p:nvSpPr>
          <p:cNvPr id="13" name="Text 11"/>
          <p:cNvSpPr/>
          <p:nvPr/>
        </p:nvSpPr>
        <p:spPr>
          <a:xfrm>
            <a:off x="4475988" y="2990088"/>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4" name="Text 12"/>
          <p:cNvSpPr/>
          <p:nvPr/>
        </p:nvSpPr>
        <p:spPr>
          <a:xfrm>
            <a:off x="3529584" y="3657600"/>
            <a:ext cx="2404872" cy="411480"/>
          </a:xfrm>
          <a:prstGeom prst="rect">
            <a:avLst/>
          </a:prstGeom>
          <a:noFill/>
          <a:ln/>
        </p:spPr>
        <p:txBody>
          <a:bodyPr wrap="square" lIns="0" tIns="0" rIns="0" bIns="0" rtlCol="0" anchor="ctr"/>
          <a:lstStyle/>
          <a:p>
            <a:pPr marL="0" indent="0" algn="ctr">
              <a:buNone/>
            </a:pPr>
            <a:r>
              <a:rPr lang="en-US" sz="1800" b="1" dirty="0">
                <a:solidFill>
                  <a:srgbClr val="23211C"/>
                </a:solidFill>
                <a:latin typeface="Georgia" pitchFamily="34" charset="0"/>
                <a:ea typeface="Georgia" pitchFamily="34" charset="-122"/>
                <a:cs typeface="Georgia" pitchFamily="34" charset="-120"/>
              </a:rPr>
              <a:t>Read</a:t>
            </a:r>
            <a:endParaRPr lang="en-US" sz="1800" dirty="0"/>
          </a:p>
        </p:txBody>
      </p:sp>
      <p:sp>
        <p:nvSpPr>
          <p:cNvPr id="15" name="Text 13"/>
          <p:cNvSpPr/>
          <p:nvPr/>
        </p:nvSpPr>
        <p:spPr>
          <a:xfrm>
            <a:off x="3593592" y="4087368"/>
            <a:ext cx="2276856" cy="1097280"/>
          </a:xfrm>
          <a:prstGeom prst="rect">
            <a:avLst/>
          </a:prstGeom>
          <a:noFill/>
          <a:ln/>
        </p:spPr>
        <p:txBody>
          <a:bodyPr wrap="square" lIns="0" tIns="0" rIns="0" bIns="0" rtlCol="0" anchor="ctr"/>
          <a:lstStyle/>
          <a:p>
            <a:pPr marL="0" indent="0" algn="ctr">
              <a:lnSpc>
                <a:spcPct val="110000"/>
              </a:lnSpc>
              <a:buNone/>
            </a:pPr>
            <a:r>
              <a:rPr lang="en-US" sz="1200" dirty="0">
                <a:solidFill>
                  <a:srgbClr val="6E6656"/>
                </a:solidFill>
                <a:latin typeface="Calibri" pitchFamily="34" charset="0"/>
                <a:ea typeface="Calibri" pitchFamily="34" charset="-122"/>
                <a:cs typeface="Calibri" pitchFamily="34" charset="-120"/>
              </a:rPr>
              <a:t>It reads every image at full resolution and parses the rules.</a:t>
            </a:r>
            <a:endParaRPr lang="en-US" sz="1200" dirty="0"/>
          </a:p>
        </p:txBody>
      </p:sp>
      <p:sp>
        <p:nvSpPr>
          <p:cNvPr id="16" name="Text 14"/>
          <p:cNvSpPr/>
          <p:nvPr/>
        </p:nvSpPr>
        <p:spPr>
          <a:xfrm>
            <a:off x="6053328" y="3680460"/>
            <a:ext cx="292608" cy="640080"/>
          </a:xfrm>
          <a:prstGeom prst="rect">
            <a:avLst/>
          </a:prstGeom>
          <a:noFill/>
          <a:ln/>
        </p:spPr>
        <p:txBody>
          <a:bodyPr wrap="square" lIns="0" tIns="0" rIns="0" bIns="0" rtlCol="0" anchor="ctr"/>
          <a:lstStyle/>
          <a:p>
            <a:pPr marL="0" indent="0" algn="ctr">
              <a:buNone/>
            </a:pPr>
            <a:r>
              <a:rPr lang="en-US" sz="3000" b="1" dirty="0">
                <a:solidFill>
                  <a:srgbClr val="D9785C"/>
                </a:solidFill>
                <a:latin typeface="Georgia" pitchFamily="34" charset="0"/>
                <a:ea typeface="Georgia" pitchFamily="34" charset="-122"/>
                <a:cs typeface="Georgia" pitchFamily="34" charset="-120"/>
              </a:rPr>
              <a:t>›</a:t>
            </a:r>
            <a:endParaRPr lang="en-US" sz="3000" dirty="0"/>
          </a:p>
        </p:txBody>
      </p:sp>
      <p:sp>
        <p:nvSpPr>
          <p:cNvPr id="17" name="Shape 15"/>
          <p:cNvSpPr/>
          <p:nvPr/>
        </p:nvSpPr>
        <p:spPr>
          <a:xfrm>
            <a:off x="6236208" y="2697480"/>
            <a:ext cx="2679192" cy="2606040"/>
          </a:xfrm>
          <a:prstGeom prst="roundRect">
            <a:avLst>
              <a:gd name="adj" fmla="val 3509"/>
            </a:avLst>
          </a:prstGeom>
          <a:solidFill>
            <a:srgbClr val="FBF9F4"/>
          </a:solidFill>
          <a:ln w="12700">
            <a:solidFill>
              <a:srgbClr val="E4DDCC"/>
            </a:solidFill>
            <a:prstDash val="solid"/>
          </a:ln>
          <a:effectLst>
            <a:outerShdw blurRad="114300" dist="38100" dir="8100000" algn="bl" rotWithShape="0">
              <a:srgbClr val="B8AE99">
                <a:alpha val="35000"/>
              </a:srgbClr>
            </a:outerShdw>
          </a:effectLst>
        </p:spPr>
        <p:txBody>
          <a:bodyPr/>
          <a:lstStyle/>
          <a:p>
            <a:endParaRPr lang="en-IN"/>
          </a:p>
        </p:txBody>
      </p:sp>
      <p:sp>
        <p:nvSpPr>
          <p:cNvPr id="18" name="Shape 16"/>
          <p:cNvSpPr/>
          <p:nvPr/>
        </p:nvSpPr>
        <p:spPr>
          <a:xfrm>
            <a:off x="7319772" y="2990088"/>
            <a:ext cx="512064" cy="512064"/>
          </a:xfrm>
          <a:prstGeom prst="ellipse">
            <a:avLst/>
          </a:prstGeom>
          <a:solidFill>
            <a:srgbClr val="C15F3C"/>
          </a:solidFill>
          <a:ln/>
        </p:spPr>
        <p:txBody>
          <a:bodyPr/>
          <a:lstStyle/>
          <a:p>
            <a:endParaRPr lang="en-IN"/>
          </a:p>
        </p:txBody>
      </p:sp>
      <p:sp>
        <p:nvSpPr>
          <p:cNvPr id="19" name="Text 17"/>
          <p:cNvSpPr/>
          <p:nvPr/>
        </p:nvSpPr>
        <p:spPr>
          <a:xfrm>
            <a:off x="7319772" y="2990088"/>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20" name="Text 18"/>
          <p:cNvSpPr/>
          <p:nvPr/>
        </p:nvSpPr>
        <p:spPr>
          <a:xfrm>
            <a:off x="6373368" y="3657600"/>
            <a:ext cx="2404872" cy="411480"/>
          </a:xfrm>
          <a:prstGeom prst="rect">
            <a:avLst/>
          </a:prstGeom>
          <a:noFill/>
          <a:ln/>
        </p:spPr>
        <p:txBody>
          <a:bodyPr wrap="square" lIns="0" tIns="0" rIns="0" bIns="0" rtlCol="0" anchor="ctr"/>
          <a:lstStyle/>
          <a:p>
            <a:pPr marL="0" indent="0" algn="ctr">
              <a:buNone/>
            </a:pPr>
            <a:r>
              <a:rPr lang="en-US" sz="1800" b="1" dirty="0">
                <a:solidFill>
                  <a:srgbClr val="23211C"/>
                </a:solidFill>
                <a:latin typeface="Georgia" pitchFamily="34" charset="0"/>
                <a:ea typeface="Georgia" pitchFamily="34" charset="-122"/>
                <a:cs typeface="Georgia" pitchFamily="34" charset="-120"/>
              </a:rPr>
              <a:t>Detect</a:t>
            </a:r>
            <a:endParaRPr lang="en-US" sz="1800" dirty="0"/>
          </a:p>
        </p:txBody>
      </p:sp>
      <p:sp>
        <p:nvSpPr>
          <p:cNvPr id="21" name="Text 19"/>
          <p:cNvSpPr/>
          <p:nvPr/>
        </p:nvSpPr>
        <p:spPr>
          <a:xfrm>
            <a:off x="6437376" y="4087368"/>
            <a:ext cx="2276856" cy="1097280"/>
          </a:xfrm>
          <a:prstGeom prst="rect">
            <a:avLst/>
          </a:prstGeom>
          <a:noFill/>
          <a:ln/>
        </p:spPr>
        <p:txBody>
          <a:bodyPr wrap="square" lIns="0" tIns="0" rIns="0" bIns="0" rtlCol="0" anchor="ctr"/>
          <a:lstStyle/>
          <a:p>
            <a:pPr marL="0" indent="0" algn="ctr">
              <a:lnSpc>
                <a:spcPct val="110000"/>
              </a:lnSpc>
              <a:buNone/>
            </a:pPr>
            <a:r>
              <a:rPr lang="en-US" sz="1200" dirty="0">
                <a:solidFill>
                  <a:srgbClr val="6E6656"/>
                </a:solidFill>
                <a:latin typeface="Calibri" pitchFamily="34" charset="0"/>
                <a:ea typeface="Calibri" pitchFamily="34" charset="-122"/>
                <a:cs typeface="Calibri" pitchFamily="34" charset="-120"/>
              </a:rPr>
              <a:t>Flags off-brand colors, outdated logos, and missing legal copy.</a:t>
            </a:r>
            <a:endParaRPr lang="en-US" sz="1200" dirty="0"/>
          </a:p>
        </p:txBody>
      </p:sp>
      <p:sp>
        <p:nvSpPr>
          <p:cNvPr id="22" name="Text 20"/>
          <p:cNvSpPr/>
          <p:nvPr/>
        </p:nvSpPr>
        <p:spPr>
          <a:xfrm>
            <a:off x="8897112" y="3680460"/>
            <a:ext cx="292608" cy="640080"/>
          </a:xfrm>
          <a:prstGeom prst="rect">
            <a:avLst/>
          </a:prstGeom>
          <a:noFill/>
          <a:ln/>
        </p:spPr>
        <p:txBody>
          <a:bodyPr wrap="square" lIns="0" tIns="0" rIns="0" bIns="0" rtlCol="0" anchor="ctr"/>
          <a:lstStyle/>
          <a:p>
            <a:pPr marL="0" indent="0" algn="ctr">
              <a:buNone/>
            </a:pPr>
            <a:r>
              <a:rPr lang="en-US" sz="3000" b="1" dirty="0">
                <a:solidFill>
                  <a:srgbClr val="D9785C"/>
                </a:solidFill>
                <a:latin typeface="Georgia" pitchFamily="34" charset="0"/>
                <a:ea typeface="Georgia" pitchFamily="34" charset="-122"/>
                <a:cs typeface="Georgia" pitchFamily="34" charset="-120"/>
              </a:rPr>
              <a:t>›</a:t>
            </a:r>
            <a:endParaRPr lang="en-US" sz="3000" dirty="0"/>
          </a:p>
        </p:txBody>
      </p:sp>
      <p:sp>
        <p:nvSpPr>
          <p:cNvPr id="23" name="Shape 21"/>
          <p:cNvSpPr/>
          <p:nvPr/>
        </p:nvSpPr>
        <p:spPr>
          <a:xfrm>
            <a:off x="9079992" y="2697480"/>
            <a:ext cx="2679192" cy="2606040"/>
          </a:xfrm>
          <a:prstGeom prst="roundRect">
            <a:avLst>
              <a:gd name="adj" fmla="val 3509"/>
            </a:avLst>
          </a:prstGeom>
          <a:solidFill>
            <a:srgbClr val="FBF9F4"/>
          </a:solidFill>
          <a:ln w="12700">
            <a:solidFill>
              <a:srgbClr val="E4DDCC"/>
            </a:solidFill>
            <a:prstDash val="solid"/>
          </a:ln>
          <a:effectLst>
            <a:outerShdw blurRad="114300" dist="38100" dir="8100000" algn="bl" rotWithShape="0">
              <a:srgbClr val="B8AE99">
                <a:alpha val="35000"/>
              </a:srgbClr>
            </a:outerShdw>
          </a:effectLst>
        </p:spPr>
        <p:txBody>
          <a:bodyPr/>
          <a:lstStyle/>
          <a:p>
            <a:endParaRPr lang="en-IN"/>
          </a:p>
        </p:txBody>
      </p:sp>
      <p:sp>
        <p:nvSpPr>
          <p:cNvPr id="24" name="Shape 22"/>
          <p:cNvSpPr/>
          <p:nvPr/>
        </p:nvSpPr>
        <p:spPr>
          <a:xfrm>
            <a:off x="10163556" y="2990088"/>
            <a:ext cx="512064" cy="512064"/>
          </a:xfrm>
          <a:prstGeom prst="ellipse">
            <a:avLst/>
          </a:prstGeom>
          <a:solidFill>
            <a:srgbClr val="D9785C"/>
          </a:solidFill>
          <a:ln/>
        </p:spPr>
        <p:txBody>
          <a:bodyPr/>
          <a:lstStyle/>
          <a:p>
            <a:endParaRPr lang="en-IN"/>
          </a:p>
        </p:txBody>
      </p:sp>
      <p:sp>
        <p:nvSpPr>
          <p:cNvPr id="25" name="Text 23"/>
          <p:cNvSpPr/>
          <p:nvPr/>
        </p:nvSpPr>
        <p:spPr>
          <a:xfrm>
            <a:off x="10163556" y="2990088"/>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26" name="Text 24"/>
          <p:cNvSpPr/>
          <p:nvPr/>
        </p:nvSpPr>
        <p:spPr>
          <a:xfrm>
            <a:off x="9217152" y="3657600"/>
            <a:ext cx="2404872" cy="411480"/>
          </a:xfrm>
          <a:prstGeom prst="rect">
            <a:avLst/>
          </a:prstGeom>
          <a:noFill/>
          <a:ln/>
        </p:spPr>
        <p:txBody>
          <a:bodyPr wrap="square" lIns="0" tIns="0" rIns="0" bIns="0" rtlCol="0" anchor="ctr"/>
          <a:lstStyle/>
          <a:p>
            <a:pPr marL="0" indent="0" algn="ctr">
              <a:buNone/>
            </a:pPr>
            <a:r>
              <a:rPr lang="en-US" sz="1800" b="1" dirty="0">
                <a:solidFill>
                  <a:srgbClr val="23211C"/>
                </a:solidFill>
                <a:latin typeface="Georgia" pitchFamily="34" charset="0"/>
                <a:ea typeface="Georgia" pitchFamily="34" charset="-122"/>
                <a:cs typeface="Georgia" pitchFamily="34" charset="-120"/>
              </a:rPr>
              <a:t>Deliver</a:t>
            </a:r>
            <a:endParaRPr lang="en-US" sz="1800" dirty="0"/>
          </a:p>
        </p:txBody>
      </p:sp>
      <p:sp>
        <p:nvSpPr>
          <p:cNvPr id="27" name="Text 25"/>
          <p:cNvSpPr/>
          <p:nvPr/>
        </p:nvSpPr>
        <p:spPr>
          <a:xfrm>
            <a:off x="9281160" y="4087368"/>
            <a:ext cx="2276856" cy="1097280"/>
          </a:xfrm>
          <a:prstGeom prst="rect">
            <a:avLst/>
          </a:prstGeom>
          <a:noFill/>
          <a:ln/>
        </p:spPr>
        <p:txBody>
          <a:bodyPr wrap="square" lIns="0" tIns="0" rIns="0" bIns="0" rtlCol="0" anchor="ctr"/>
          <a:lstStyle/>
          <a:p>
            <a:pPr marL="0" indent="0" algn="ctr">
              <a:lnSpc>
                <a:spcPct val="110000"/>
              </a:lnSpc>
              <a:buNone/>
            </a:pPr>
            <a:r>
              <a:rPr lang="en-US" sz="1200" dirty="0">
                <a:solidFill>
                  <a:srgbClr val="6E6656"/>
                </a:solidFill>
                <a:latin typeface="Calibri" pitchFamily="34" charset="0"/>
                <a:ea typeface="Calibri" pitchFamily="34" charset="-122"/>
                <a:cs typeface="Calibri" pitchFamily="34" charset="-120"/>
              </a:rPr>
              <a:t>Returns a categorized list of violations with a confidence rating.</a:t>
            </a:r>
            <a:endParaRPr lang="en-US" sz="1200" dirty="0"/>
          </a:p>
        </p:txBody>
      </p:sp>
      <p:sp>
        <p:nvSpPr>
          <p:cNvPr id="28" name="Text 26"/>
          <p:cNvSpPr/>
          <p:nvPr/>
        </p:nvSpPr>
        <p:spPr>
          <a:xfrm>
            <a:off x="548640" y="5532120"/>
            <a:ext cx="10972800" cy="365760"/>
          </a:xfrm>
          <a:prstGeom prst="rect">
            <a:avLst/>
          </a:prstGeom>
          <a:noFill/>
          <a:ln/>
        </p:spPr>
        <p:txBody>
          <a:bodyPr wrap="square" lIns="0" tIns="0" rIns="0" bIns="0" rtlCol="0" anchor="ctr"/>
          <a:lstStyle/>
          <a:p>
            <a:pPr marL="0" indent="0" algn="ctr">
              <a:buNone/>
            </a:pPr>
            <a:r>
              <a:rPr lang="en-US" sz="1200" i="1" dirty="0">
                <a:solidFill>
                  <a:srgbClr val="6E6656"/>
                </a:solidFill>
                <a:latin typeface="Calibri" pitchFamily="34" charset="0"/>
                <a:ea typeface="Calibri" pitchFamily="34" charset="-122"/>
                <a:cs typeface="Calibri" pitchFamily="34" charset="-120"/>
              </a:rPr>
              <a:t>Also great for: adapting a source page to every reading level, or turning a messy Downloads folder into a clean, renamed archive.</a:t>
            </a:r>
            <a:endParaRPr lang="en-US" sz="1200" dirty="0"/>
          </a:p>
        </p:txBody>
      </p:sp>
      <p:sp>
        <p:nvSpPr>
          <p:cNvPr id="29" name="Text 27"/>
          <p:cNvSpPr/>
          <p:nvPr/>
        </p:nvSpPr>
        <p:spPr>
          <a:xfrm>
            <a:off x="502920" y="6400800"/>
            <a:ext cx="5486400" cy="274320"/>
          </a:xfrm>
          <a:prstGeom prst="rect">
            <a:avLst/>
          </a:prstGeom>
          <a:noFill/>
          <a:ln/>
        </p:spPr>
        <p:txBody>
          <a:bodyPr wrap="square" lIns="0" tIns="0" rIns="0" bIns="0" rtlCol="0" anchor="ctr"/>
          <a:lstStyle/>
          <a:p>
            <a:pPr marL="0" indent="0" algn="l">
              <a:buNone/>
            </a:pPr>
            <a:r>
              <a:rPr lang="en-US" sz="900" b="1" dirty="0">
                <a:solidFill>
                  <a:srgbClr val="C15F3C"/>
                </a:solidFill>
                <a:latin typeface="Calibri" pitchFamily="34" charset="0"/>
                <a:ea typeface="Calibri" pitchFamily="34" charset="-122"/>
                <a:cs typeface="Calibri" pitchFamily="34" charset="-120"/>
              </a:rPr>
              <a:t>Claude</a:t>
            </a:r>
            <a:r>
              <a:rPr lang="en-US" sz="900" dirty="0">
                <a:solidFill>
                  <a:srgbClr val="6E6656"/>
                </a:solidFill>
                <a:latin typeface="Calibri" pitchFamily="34" charset="0"/>
                <a:ea typeface="Calibri" pitchFamily="34" charset="-122"/>
                <a:cs typeface="Calibri" pitchFamily="34" charset="-120"/>
              </a:rPr>
              <a:t>  Cowork &amp; MCP · Training</a:t>
            </a:r>
            <a:endParaRPr lang="en-US" sz="900" dirty="0"/>
          </a:p>
        </p:txBody>
      </p:sp>
      <p:sp>
        <p:nvSpPr>
          <p:cNvPr id="30" name="Text 28"/>
          <p:cNvSpPr/>
          <p:nvPr/>
        </p:nvSpPr>
        <p:spPr>
          <a:xfrm>
            <a:off x="11094415" y="6400800"/>
            <a:ext cx="594360" cy="274320"/>
          </a:xfrm>
          <a:prstGeom prst="rect">
            <a:avLst/>
          </a:prstGeom>
          <a:noFill/>
          <a:ln/>
        </p:spPr>
        <p:txBody>
          <a:bodyPr wrap="square" lIns="0" tIns="0" rIns="0" bIns="0" rtlCol="0" anchor="ctr"/>
          <a:lstStyle/>
          <a:p>
            <a:pPr marL="0" indent="0" algn="r">
              <a:buNone/>
            </a:pPr>
            <a:r>
              <a:rPr lang="en-US" sz="900" dirty="0">
                <a:solidFill>
                  <a:srgbClr val="6E6656"/>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EFE6"/>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292608"/>
          </a:xfrm>
          <a:prstGeom prst="rect">
            <a:avLst/>
          </a:prstGeom>
          <a:noFill/>
          <a:ln/>
        </p:spPr>
        <p:txBody>
          <a:bodyPr wrap="square" lIns="0" tIns="0" rIns="0" bIns="0" rtlCol="0" anchor="ctr"/>
          <a:lstStyle/>
          <a:p>
            <a:pPr marL="0" indent="0">
              <a:buNone/>
            </a:pPr>
            <a:r>
              <a:rPr lang="en-US" sz="1200" b="1" kern="0" spc="300" dirty="0">
                <a:solidFill>
                  <a:srgbClr val="C15F3C"/>
                </a:solidFill>
                <a:latin typeface="Calibri" pitchFamily="34" charset="0"/>
                <a:ea typeface="Calibri" pitchFamily="34" charset="-122"/>
                <a:cs typeface="Calibri" pitchFamily="34" charset="-120"/>
              </a:rPr>
              <a:t>SECTION 4 · PRACTICAL SCENARIOS</a:t>
            </a:r>
            <a:endParaRPr lang="en-US" sz="1200" dirty="0"/>
          </a:p>
        </p:txBody>
      </p:sp>
      <p:sp>
        <p:nvSpPr>
          <p:cNvPr id="3" name="Text 1"/>
          <p:cNvSpPr/>
          <p:nvPr/>
        </p:nvSpPr>
        <p:spPr>
          <a:xfrm>
            <a:off x="548640" y="749808"/>
            <a:ext cx="6766560" cy="914400"/>
          </a:xfrm>
          <a:prstGeom prst="rect">
            <a:avLst/>
          </a:prstGeom>
          <a:noFill/>
          <a:ln/>
        </p:spPr>
        <p:txBody>
          <a:bodyPr wrap="square" lIns="0" tIns="0" rIns="0" bIns="0" rtlCol="0" anchor="t"/>
          <a:lstStyle/>
          <a:p>
            <a:pPr marL="0" indent="0" algn="l">
              <a:lnSpc>
                <a:spcPct val="102000"/>
              </a:lnSpc>
              <a:buNone/>
            </a:pPr>
            <a:r>
              <a:rPr lang="en-US" sz="3200" dirty="0">
                <a:solidFill>
                  <a:srgbClr val="23211C"/>
                </a:solidFill>
                <a:latin typeface="Georgia" pitchFamily="34" charset="0"/>
                <a:ea typeface="Georgia" pitchFamily="34" charset="-122"/>
                <a:cs typeface="Georgia" pitchFamily="34" charset="-120"/>
              </a:rPr>
              <a:t>Walkthrough: the weekly report, on autopilot</a:t>
            </a:r>
            <a:endParaRPr lang="en-US" sz="3200" dirty="0"/>
          </a:p>
        </p:txBody>
      </p:sp>
      <p:sp>
        <p:nvSpPr>
          <p:cNvPr id="4" name="Text 2"/>
          <p:cNvSpPr/>
          <p:nvPr/>
        </p:nvSpPr>
        <p:spPr>
          <a:xfrm>
            <a:off x="548640" y="1645920"/>
            <a:ext cx="6126480" cy="914400"/>
          </a:xfrm>
          <a:prstGeom prst="rect">
            <a:avLst/>
          </a:prstGeom>
          <a:noFill/>
          <a:ln/>
        </p:spPr>
        <p:txBody>
          <a:bodyPr wrap="square" lIns="0" tIns="0" rIns="0" bIns="0" rtlCol="0" anchor="ctr"/>
          <a:lstStyle/>
          <a:p>
            <a:pPr marL="0" indent="0">
              <a:lnSpc>
                <a:spcPct val="115000"/>
              </a:lnSpc>
              <a:buNone/>
            </a:pPr>
            <a:r>
              <a:rPr lang="en-US" sz="1400" i="1" dirty="0">
                <a:solidFill>
                  <a:srgbClr val="6E6656"/>
                </a:solidFill>
                <a:latin typeface="Calibri" pitchFamily="34" charset="0"/>
                <a:ea typeface="Calibri" pitchFamily="34" charset="-122"/>
                <a:cs typeface="Calibri" pitchFamily="34" charset="-120"/>
              </a:rPr>
              <a:t>“Pull my metrics from the analytics dashboard and drop them into the weekly report template every Friday.” Set the cadence once; Claude delivers the report.</a:t>
            </a:r>
            <a:endParaRPr lang="en-US" sz="1400" dirty="0"/>
          </a:p>
        </p:txBody>
      </p:sp>
      <p:sp>
        <p:nvSpPr>
          <p:cNvPr id="5" name="Shape 3"/>
          <p:cNvSpPr/>
          <p:nvPr/>
        </p:nvSpPr>
        <p:spPr>
          <a:xfrm>
            <a:off x="548640" y="2743200"/>
            <a:ext cx="1828800" cy="1417320"/>
          </a:xfrm>
          <a:prstGeom prst="roundRect">
            <a:avLst>
              <a:gd name="adj" fmla="val 6452"/>
            </a:avLst>
          </a:prstGeom>
          <a:solidFill>
            <a:srgbClr val="FBF9F4"/>
          </a:solidFill>
          <a:ln w="12700">
            <a:solidFill>
              <a:srgbClr val="E4DDCC"/>
            </a:solidFill>
            <a:prstDash val="solid"/>
          </a:ln>
          <a:effectLst>
            <a:outerShdw blurRad="114300" dist="38100" dir="8100000" algn="bl" rotWithShape="0">
              <a:srgbClr val="B8AE99">
                <a:alpha val="35000"/>
              </a:srgbClr>
            </a:outerShdw>
          </a:effectLst>
        </p:spPr>
        <p:txBody>
          <a:bodyPr/>
          <a:lstStyle/>
          <a:p>
            <a:endParaRPr lang="en-IN"/>
          </a:p>
        </p:txBody>
      </p:sp>
      <p:sp>
        <p:nvSpPr>
          <p:cNvPr id="6" name="Text 4"/>
          <p:cNvSpPr/>
          <p:nvPr/>
        </p:nvSpPr>
        <p:spPr>
          <a:xfrm>
            <a:off x="658368" y="2852928"/>
            <a:ext cx="1609344" cy="274320"/>
          </a:xfrm>
          <a:prstGeom prst="rect">
            <a:avLst/>
          </a:prstGeom>
          <a:noFill/>
          <a:ln/>
        </p:spPr>
        <p:txBody>
          <a:bodyPr wrap="square" lIns="0" tIns="0" rIns="0" bIns="0" rtlCol="0" anchor="ctr"/>
          <a:lstStyle/>
          <a:p>
            <a:pPr marL="0" indent="0" algn="ctr">
              <a:buNone/>
            </a:pPr>
            <a:r>
              <a:rPr lang="en-US" sz="1050" dirty="0">
                <a:solidFill>
                  <a:srgbClr val="6E6656"/>
                </a:solidFill>
                <a:latin typeface="Calibri" pitchFamily="34" charset="0"/>
                <a:ea typeface="Calibri" pitchFamily="34" charset="-122"/>
                <a:cs typeface="Calibri" pitchFamily="34" charset="-120"/>
              </a:rPr>
              <a:t>Active users</a:t>
            </a:r>
            <a:endParaRPr lang="en-US" sz="1050" dirty="0"/>
          </a:p>
        </p:txBody>
      </p:sp>
      <p:sp>
        <p:nvSpPr>
          <p:cNvPr id="7" name="Text 5"/>
          <p:cNvSpPr/>
          <p:nvPr/>
        </p:nvSpPr>
        <p:spPr>
          <a:xfrm>
            <a:off x="621792" y="3127248"/>
            <a:ext cx="1682496" cy="457200"/>
          </a:xfrm>
          <a:prstGeom prst="rect">
            <a:avLst/>
          </a:prstGeom>
          <a:noFill/>
          <a:ln/>
        </p:spPr>
        <p:txBody>
          <a:bodyPr wrap="square" lIns="0" tIns="0" rIns="0" bIns="0" rtlCol="0" anchor="ctr"/>
          <a:lstStyle/>
          <a:p>
            <a:pPr marL="0" indent="0" algn="ctr">
              <a:buNone/>
            </a:pPr>
            <a:r>
              <a:rPr lang="en-US" sz="2100" b="1" dirty="0">
                <a:solidFill>
                  <a:srgbClr val="23211C"/>
                </a:solidFill>
                <a:latin typeface="Georgia" pitchFamily="34" charset="0"/>
                <a:ea typeface="Georgia" pitchFamily="34" charset="-122"/>
                <a:cs typeface="Georgia" pitchFamily="34" charset="-120"/>
              </a:rPr>
              <a:t>24,810</a:t>
            </a:r>
            <a:endParaRPr lang="en-US" sz="2100" dirty="0"/>
          </a:p>
        </p:txBody>
      </p:sp>
      <p:sp>
        <p:nvSpPr>
          <p:cNvPr id="8" name="Text 6"/>
          <p:cNvSpPr/>
          <p:nvPr/>
        </p:nvSpPr>
        <p:spPr>
          <a:xfrm>
            <a:off x="658368" y="3639312"/>
            <a:ext cx="1609344" cy="320040"/>
          </a:xfrm>
          <a:prstGeom prst="rect">
            <a:avLst/>
          </a:prstGeom>
          <a:noFill/>
          <a:ln/>
        </p:spPr>
        <p:txBody>
          <a:bodyPr wrap="square" lIns="0" tIns="0" rIns="0" bIns="0" rtlCol="0" anchor="ctr"/>
          <a:lstStyle/>
          <a:p>
            <a:pPr marL="0" indent="0" algn="ctr">
              <a:buNone/>
            </a:pPr>
            <a:r>
              <a:rPr lang="en-US" sz="1200" b="1" dirty="0">
                <a:solidFill>
                  <a:srgbClr val="C15F3C"/>
                </a:solidFill>
                <a:latin typeface="Calibri" pitchFamily="34" charset="0"/>
                <a:ea typeface="Calibri" pitchFamily="34" charset="-122"/>
                <a:cs typeface="Calibri" pitchFamily="34" charset="-120"/>
              </a:rPr>
              <a:t>+11.1%</a:t>
            </a:r>
            <a:endParaRPr lang="en-US" sz="1200" dirty="0"/>
          </a:p>
        </p:txBody>
      </p:sp>
      <p:sp>
        <p:nvSpPr>
          <p:cNvPr id="9" name="Shape 7"/>
          <p:cNvSpPr/>
          <p:nvPr/>
        </p:nvSpPr>
        <p:spPr>
          <a:xfrm>
            <a:off x="2542032" y="2743200"/>
            <a:ext cx="1828800" cy="1417320"/>
          </a:xfrm>
          <a:prstGeom prst="roundRect">
            <a:avLst>
              <a:gd name="adj" fmla="val 6452"/>
            </a:avLst>
          </a:prstGeom>
          <a:solidFill>
            <a:srgbClr val="FBF9F4"/>
          </a:solidFill>
          <a:ln w="12700">
            <a:solidFill>
              <a:srgbClr val="E4DDCC"/>
            </a:solidFill>
            <a:prstDash val="solid"/>
          </a:ln>
          <a:effectLst>
            <a:outerShdw blurRad="114300" dist="38100" dir="8100000" algn="bl" rotWithShape="0">
              <a:srgbClr val="B8AE99">
                <a:alpha val="35000"/>
              </a:srgbClr>
            </a:outerShdw>
          </a:effectLst>
        </p:spPr>
        <p:txBody>
          <a:bodyPr/>
          <a:lstStyle/>
          <a:p>
            <a:endParaRPr lang="en-IN"/>
          </a:p>
        </p:txBody>
      </p:sp>
      <p:sp>
        <p:nvSpPr>
          <p:cNvPr id="10" name="Text 8"/>
          <p:cNvSpPr/>
          <p:nvPr/>
        </p:nvSpPr>
        <p:spPr>
          <a:xfrm>
            <a:off x="2651760" y="2852928"/>
            <a:ext cx="1609344" cy="274320"/>
          </a:xfrm>
          <a:prstGeom prst="rect">
            <a:avLst/>
          </a:prstGeom>
          <a:noFill/>
          <a:ln/>
        </p:spPr>
        <p:txBody>
          <a:bodyPr wrap="square" lIns="0" tIns="0" rIns="0" bIns="0" rtlCol="0" anchor="ctr"/>
          <a:lstStyle/>
          <a:p>
            <a:pPr marL="0" indent="0" algn="ctr">
              <a:buNone/>
            </a:pPr>
            <a:r>
              <a:rPr lang="en-US" sz="1050" dirty="0">
                <a:solidFill>
                  <a:srgbClr val="6E6656"/>
                </a:solidFill>
                <a:latin typeface="Calibri" pitchFamily="34" charset="0"/>
                <a:ea typeface="Calibri" pitchFamily="34" charset="-122"/>
                <a:cs typeface="Calibri" pitchFamily="34" charset="-120"/>
              </a:rPr>
              <a:t>Revenue</a:t>
            </a:r>
            <a:endParaRPr lang="en-US" sz="1050" dirty="0"/>
          </a:p>
        </p:txBody>
      </p:sp>
      <p:sp>
        <p:nvSpPr>
          <p:cNvPr id="11" name="Text 9"/>
          <p:cNvSpPr/>
          <p:nvPr/>
        </p:nvSpPr>
        <p:spPr>
          <a:xfrm>
            <a:off x="2615184" y="3127248"/>
            <a:ext cx="1682496" cy="457200"/>
          </a:xfrm>
          <a:prstGeom prst="rect">
            <a:avLst/>
          </a:prstGeom>
          <a:noFill/>
          <a:ln/>
        </p:spPr>
        <p:txBody>
          <a:bodyPr wrap="square" lIns="0" tIns="0" rIns="0" bIns="0" rtlCol="0" anchor="ctr"/>
          <a:lstStyle/>
          <a:p>
            <a:pPr marL="0" indent="0" algn="ctr">
              <a:buNone/>
            </a:pPr>
            <a:r>
              <a:rPr lang="en-US" sz="2100" b="1" dirty="0">
                <a:solidFill>
                  <a:srgbClr val="23211C"/>
                </a:solidFill>
                <a:latin typeface="Georgia" pitchFamily="34" charset="0"/>
                <a:ea typeface="Georgia" pitchFamily="34" charset="-122"/>
                <a:cs typeface="Georgia" pitchFamily="34" charset="-120"/>
              </a:rPr>
              <a:t>$142.3k</a:t>
            </a:r>
            <a:endParaRPr lang="en-US" sz="2100" dirty="0"/>
          </a:p>
        </p:txBody>
      </p:sp>
      <p:sp>
        <p:nvSpPr>
          <p:cNvPr id="12" name="Text 10"/>
          <p:cNvSpPr/>
          <p:nvPr/>
        </p:nvSpPr>
        <p:spPr>
          <a:xfrm>
            <a:off x="2651760" y="3639312"/>
            <a:ext cx="1609344" cy="320040"/>
          </a:xfrm>
          <a:prstGeom prst="rect">
            <a:avLst/>
          </a:prstGeom>
          <a:noFill/>
          <a:ln/>
        </p:spPr>
        <p:txBody>
          <a:bodyPr wrap="square" lIns="0" tIns="0" rIns="0" bIns="0" rtlCol="0" anchor="ctr"/>
          <a:lstStyle/>
          <a:p>
            <a:pPr marL="0" indent="0" algn="ctr">
              <a:buNone/>
            </a:pPr>
            <a:r>
              <a:rPr lang="en-US" sz="1200" b="1" dirty="0">
                <a:solidFill>
                  <a:srgbClr val="C15F3C"/>
                </a:solidFill>
                <a:latin typeface="Calibri" pitchFamily="34" charset="0"/>
                <a:ea typeface="Calibri" pitchFamily="34" charset="-122"/>
                <a:cs typeface="Calibri" pitchFamily="34" charset="-120"/>
              </a:rPr>
              <a:t>+9.4%</a:t>
            </a:r>
            <a:endParaRPr lang="en-US" sz="1200" dirty="0"/>
          </a:p>
        </p:txBody>
      </p:sp>
      <p:sp>
        <p:nvSpPr>
          <p:cNvPr id="13" name="Shape 11"/>
          <p:cNvSpPr/>
          <p:nvPr/>
        </p:nvSpPr>
        <p:spPr>
          <a:xfrm>
            <a:off x="4535424" y="2743200"/>
            <a:ext cx="1828800" cy="1417320"/>
          </a:xfrm>
          <a:prstGeom prst="roundRect">
            <a:avLst>
              <a:gd name="adj" fmla="val 6452"/>
            </a:avLst>
          </a:prstGeom>
          <a:solidFill>
            <a:srgbClr val="FBF9F4"/>
          </a:solidFill>
          <a:ln w="12700">
            <a:solidFill>
              <a:srgbClr val="E4DDCC"/>
            </a:solidFill>
            <a:prstDash val="solid"/>
          </a:ln>
          <a:effectLst>
            <a:outerShdw blurRad="114300" dist="38100" dir="8100000" algn="bl" rotWithShape="0">
              <a:srgbClr val="B8AE99">
                <a:alpha val="35000"/>
              </a:srgbClr>
            </a:outerShdw>
          </a:effectLst>
        </p:spPr>
        <p:txBody>
          <a:bodyPr/>
          <a:lstStyle/>
          <a:p>
            <a:endParaRPr lang="en-IN"/>
          </a:p>
        </p:txBody>
      </p:sp>
      <p:sp>
        <p:nvSpPr>
          <p:cNvPr id="14" name="Text 12"/>
          <p:cNvSpPr/>
          <p:nvPr/>
        </p:nvSpPr>
        <p:spPr>
          <a:xfrm>
            <a:off x="4645152" y="2852928"/>
            <a:ext cx="1609344" cy="274320"/>
          </a:xfrm>
          <a:prstGeom prst="rect">
            <a:avLst/>
          </a:prstGeom>
          <a:noFill/>
          <a:ln/>
        </p:spPr>
        <p:txBody>
          <a:bodyPr wrap="square" lIns="0" tIns="0" rIns="0" bIns="0" rtlCol="0" anchor="ctr"/>
          <a:lstStyle/>
          <a:p>
            <a:pPr marL="0" indent="0" algn="ctr">
              <a:buNone/>
            </a:pPr>
            <a:r>
              <a:rPr lang="en-US" sz="1050" dirty="0">
                <a:solidFill>
                  <a:srgbClr val="6E6656"/>
                </a:solidFill>
                <a:latin typeface="Calibri" pitchFamily="34" charset="0"/>
                <a:ea typeface="Calibri" pitchFamily="34" charset="-122"/>
                <a:cs typeface="Calibri" pitchFamily="34" charset="-120"/>
              </a:rPr>
              <a:t>Conversions</a:t>
            </a:r>
            <a:endParaRPr lang="en-US" sz="1050" dirty="0"/>
          </a:p>
        </p:txBody>
      </p:sp>
      <p:sp>
        <p:nvSpPr>
          <p:cNvPr id="15" name="Text 13"/>
          <p:cNvSpPr/>
          <p:nvPr/>
        </p:nvSpPr>
        <p:spPr>
          <a:xfrm>
            <a:off x="4608576" y="3127248"/>
            <a:ext cx="1682496" cy="457200"/>
          </a:xfrm>
          <a:prstGeom prst="rect">
            <a:avLst/>
          </a:prstGeom>
          <a:noFill/>
          <a:ln/>
        </p:spPr>
        <p:txBody>
          <a:bodyPr wrap="square" lIns="0" tIns="0" rIns="0" bIns="0" rtlCol="0" anchor="ctr"/>
          <a:lstStyle/>
          <a:p>
            <a:pPr marL="0" indent="0" algn="ctr">
              <a:buNone/>
            </a:pPr>
            <a:r>
              <a:rPr lang="en-US" sz="2100" b="1" dirty="0">
                <a:solidFill>
                  <a:srgbClr val="23211C"/>
                </a:solidFill>
                <a:latin typeface="Georgia" pitchFamily="34" charset="0"/>
                <a:ea typeface="Georgia" pitchFamily="34" charset="-122"/>
                <a:cs typeface="Georgia" pitchFamily="34" charset="-120"/>
              </a:rPr>
              <a:t>1,847</a:t>
            </a:r>
            <a:endParaRPr lang="en-US" sz="2100" dirty="0"/>
          </a:p>
        </p:txBody>
      </p:sp>
      <p:sp>
        <p:nvSpPr>
          <p:cNvPr id="16" name="Text 14"/>
          <p:cNvSpPr/>
          <p:nvPr/>
        </p:nvSpPr>
        <p:spPr>
          <a:xfrm>
            <a:off x="4645152" y="3639312"/>
            <a:ext cx="1609344" cy="320040"/>
          </a:xfrm>
          <a:prstGeom prst="rect">
            <a:avLst/>
          </a:prstGeom>
          <a:noFill/>
          <a:ln/>
        </p:spPr>
        <p:txBody>
          <a:bodyPr wrap="square" lIns="0" tIns="0" rIns="0" bIns="0" rtlCol="0" anchor="ctr"/>
          <a:lstStyle/>
          <a:p>
            <a:pPr marL="0" indent="0" algn="ctr">
              <a:buNone/>
            </a:pPr>
            <a:r>
              <a:rPr lang="en-US" sz="1200" b="1" dirty="0">
                <a:solidFill>
                  <a:srgbClr val="3A4452"/>
                </a:solidFill>
                <a:latin typeface="Calibri" pitchFamily="34" charset="0"/>
                <a:ea typeface="Calibri" pitchFamily="34" charset="-122"/>
                <a:cs typeface="Calibri" pitchFamily="34" charset="-120"/>
              </a:rPr>
              <a:t>-8.2%</a:t>
            </a:r>
            <a:endParaRPr lang="en-US" sz="1200" dirty="0"/>
          </a:p>
        </p:txBody>
      </p:sp>
      <p:sp>
        <p:nvSpPr>
          <p:cNvPr id="17" name="Text 15"/>
          <p:cNvSpPr/>
          <p:nvPr/>
        </p:nvSpPr>
        <p:spPr>
          <a:xfrm>
            <a:off x="548640" y="4526280"/>
            <a:ext cx="6126480" cy="822960"/>
          </a:xfrm>
          <a:prstGeom prst="rect">
            <a:avLst/>
          </a:prstGeom>
          <a:noFill/>
          <a:ln/>
        </p:spPr>
        <p:txBody>
          <a:bodyPr wrap="square" lIns="0" tIns="0" rIns="0" bIns="0" rtlCol="0" anchor="ctr"/>
          <a:lstStyle/>
          <a:p>
            <a:pPr marL="0" indent="0">
              <a:lnSpc>
                <a:spcPct val="112000"/>
              </a:lnSpc>
              <a:buNone/>
            </a:pPr>
            <a:r>
              <a:rPr lang="en-US" sz="1250" b="1" dirty="0">
                <a:solidFill>
                  <a:srgbClr val="23211C"/>
                </a:solidFill>
                <a:latin typeface="Calibri" pitchFamily="34" charset="0"/>
                <a:ea typeface="Calibri" pitchFamily="34" charset="-122"/>
                <a:cs typeface="Calibri" pitchFamily="34" charset="-120"/>
              </a:rPr>
              <a:t>Why it fits Cowork:  </a:t>
            </a:r>
            <a:r>
              <a:rPr lang="en-US" sz="1250" dirty="0">
                <a:solidFill>
                  <a:srgbClr val="6E6656"/>
                </a:solidFill>
                <a:latin typeface="Calibri" pitchFamily="34" charset="0"/>
                <a:ea typeface="Calibri" pitchFamily="34" charset="-122"/>
                <a:cs typeface="Calibri" pitchFamily="34" charset="-120"/>
              </a:rPr>
              <a:t>it spans apps (dashboard → template), repeats on a schedule, and returns a finished file — no copy-paste.</a:t>
            </a:r>
            <a:endParaRPr lang="en-US" sz="1250" dirty="0"/>
          </a:p>
        </p:txBody>
      </p:sp>
      <p:sp>
        <p:nvSpPr>
          <p:cNvPr id="18" name="Shape 16"/>
          <p:cNvSpPr/>
          <p:nvPr/>
        </p:nvSpPr>
        <p:spPr>
          <a:xfrm>
            <a:off x="6903720" y="1600200"/>
            <a:ext cx="4754880" cy="4160520"/>
          </a:xfrm>
          <a:prstGeom prst="roundRect">
            <a:avLst>
              <a:gd name="adj" fmla="val 2198"/>
            </a:avLst>
          </a:prstGeom>
          <a:solidFill>
            <a:srgbClr val="FBF9F4"/>
          </a:solidFill>
          <a:ln w="12700">
            <a:solidFill>
              <a:srgbClr val="E4DDCC"/>
            </a:solidFill>
            <a:prstDash val="solid"/>
          </a:ln>
          <a:effectLst>
            <a:outerShdw blurRad="114300" dist="38100" dir="8100000" algn="bl" rotWithShape="0">
              <a:srgbClr val="B8AE99">
                <a:alpha val="35000"/>
              </a:srgbClr>
            </a:outerShdw>
          </a:effectLst>
        </p:spPr>
        <p:txBody>
          <a:bodyPr/>
          <a:lstStyle/>
          <a:p>
            <a:endParaRPr lang="en-IN"/>
          </a:p>
        </p:txBody>
      </p:sp>
      <p:sp>
        <p:nvSpPr>
          <p:cNvPr id="19" name="Text 17"/>
          <p:cNvSpPr/>
          <p:nvPr/>
        </p:nvSpPr>
        <p:spPr>
          <a:xfrm>
            <a:off x="7132320" y="1783080"/>
            <a:ext cx="4297680" cy="320040"/>
          </a:xfrm>
          <a:prstGeom prst="rect">
            <a:avLst/>
          </a:prstGeom>
          <a:noFill/>
          <a:ln/>
        </p:spPr>
        <p:txBody>
          <a:bodyPr wrap="square" lIns="0" tIns="0" rIns="0" bIns="0" rtlCol="0" anchor="ctr"/>
          <a:lstStyle/>
          <a:p>
            <a:pPr marL="0" indent="0">
              <a:buNone/>
            </a:pPr>
            <a:r>
              <a:rPr lang="en-US" sz="1400" b="1" dirty="0">
                <a:solidFill>
                  <a:srgbClr val="23211C"/>
                </a:solidFill>
                <a:latin typeface="Georgia" pitchFamily="34" charset="0"/>
                <a:ea typeface="Georgia" pitchFamily="34" charset="-122"/>
                <a:cs typeface="Georgia" pitchFamily="34" charset="-120"/>
              </a:rPr>
              <a:t>Revenue — last 8 weeks</a:t>
            </a:r>
            <a:endParaRPr lang="en-US" sz="1400" dirty="0"/>
          </a:p>
        </p:txBody>
      </p:sp>
      <p:graphicFrame>
        <p:nvGraphicFramePr>
          <p:cNvPr id="20" name="Chart 0"/>
          <p:cNvGraphicFramePr/>
          <p:nvPr/>
        </p:nvGraphicFramePr>
        <p:xfrm>
          <a:off x="7040880" y="2194560"/>
          <a:ext cx="448056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21" name="Text 18"/>
          <p:cNvSpPr/>
          <p:nvPr/>
        </p:nvSpPr>
        <p:spPr>
          <a:xfrm>
            <a:off x="502920" y="6400800"/>
            <a:ext cx="5486400" cy="274320"/>
          </a:xfrm>
          <a:prstGeom prst="rect">
            <a:avLst/>
          </a:prstGeom>
          <a:noFill/>
          <a:ln/>
        </p:spPr>
        <p:txBody>
          <a:bodyPr wrap="square" lIns="0" tIns="0" rIns="0" bIns="0" rtlCol="0" anchor="ctr"/>
          <a:lstStyle/>
          <a:p>
            <a:pPr marL="0" indent="0" algn="l">
              <a:buNone/>
            </a:pPr>
            <a:r>
              <a:rPr lang="en-US" sz="900" b="1" dirty="0">
                <a:solidFill>
                  <a:srgbClr val="C15F3C"/>
                </a:solidFill>
                <a:latin typeface="Calibri" pitchFamily="34" charset="0"/>
                <a:ea typeface="Calibri" pitchFamily="34" charset="-122"/>
                <a:cs typeface="Calibri" pitchFamily="34" charset="-120"/>
              </a:rPr>
              <a:t>Claude</a:t>
            </a:r>
            <a:r>
              <a:rPr lang="en-US" sz="900" dirty="0">
                <a:solidFill>
                  <a:srgbClr val="6E6656"/>
                </a:solidFill>
                <a:latin typeface="Calibri" pitchFamily="34" charset="0"/>
                <a:ea typeface="Calibri" pitchFamily="34" charset="-122"/>
                <a:cs typeface="Calibri" pitchFamily="34" charset="-120"/>
              </a:rPr>
              <a:t>  Cowork &amp; MCP · Training</a:t>
            </a:r>
            <a:endParaRPr lang="en-US" sz="900" dirty="0"/>
          </a:p>
        </p:txBody>
      </p:sp>
      <p:sp>
        <p:nvSpPr>
          <p:cNvPr id="22" name="Text 19"/>
          <p:cNvSpPr/>
          <p:nvPr/>
        </p:nvSpPr>
        <p:spPr>
          <a:xfrm>
            <a:off x="11094415" y="6400800"/>
            <a:ext cx="594360" cy="274320"/>
          </a:xfrm>
          <a:prstGeom prst="rect">
            <a:avLst/>
          </a:prstGeom>
          <a:noFill/>
          <a:ln/>
        </p:spPr>
        <p:txBody>
          <a:bodyPr wrap="square" lIns="0" tIns="0" rIns="0" bIns="0" rtlCol="0" anchor="ctr"/>
          <a:lstStyle/>
          <a:p>
            <a:pPr marL="0" indent="0" algn="r">
              <a:buNone/>
            </a:pPr>
            <a:r>
              <a:rPr lang="en-US" sz="900" dirty="0">
                <a:solidFill>
                  <a:srgbClr val="6E6656"/>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EFE6"/>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292608"/>
          </a:xfrm>
          <a:prstGeom prst="rect">
            <a:avLst/>
          </a:prstGeom>
          <a:noFill/>
          <a:ln/>
        </p:spPr>
        <p:txBody>
          <a:bodyPr wrap="square" lIns="0" tIns="0" rIns="0" bIns="0" rtlCol="0" anchor="ctr"/>
          <a:lstStyle/>
          <a:p>
            <a:pPr marL="0" indent="0">
              <a:buNone/>
            </a:pPr>
            <a:r>
              <a:rPr lang="en-US" sz="1200" b="1" kern="0" spc="300" dirty="0">
                <a:solidFill>
                  <a:srgbClr val="C15F3C"/>
                </a:solidFill>
                <a:latin typeface="Calibri" pitchFamily="34" charset="0"/>
                <a:ea typeface="Calibri" pitchFamily="34" charset="-122"/>
                <a:cs typeface="Calibri" pitchFamily="34" charset="-120"/>
              </a:rPr>
              <a:t>SECTION 4 · HANDS-ON LAB</a:t>
            </a:r>
            <a:endParaRPr lang="en-US" sz="1200" dirty="0"/>
          </a:p>
        </p:txBody>
      </p:sp>
      <p:sp>
        <p:nvSpPr>
          <p:cNvPr id="3" name="Text 1"/>
          <p:cNvSpPr/>
          <p:nvPr/>
        </p:nvSpPr>
        <p:spPr>
          <a:xfrm>
            <a:off x="548640" y="749808"/>
            <a:ext cx="10789920" cy="914400"/>
          </a:xfrm>
          <a:prstGeom prst="rect">
            <a:avLst/>
          </a:prstGeom>
          <a:noFill/>
          <a:ln/>
        </p:spPr>
        <p:txBody>
          <a:bodyPr wrap="square" lIns="0" tIns="0" rIns="0" bIns="0" rtlCol="0" anchor="t"/>
          <a:lstStyle/>
          <a:p>
            <a:pPr marL="0" indent="0" algn="l">
              <a:lnSpc>
                <a:spcPct val="102000"/>
              </a:lnSpc>
              <a:buNone/>
            </a:pPr>
            <a:r>
              <a:rPr lang="en-US" sz="3200" dirty="0">
                <a:solidFill>
                  <a:srgbClr val="23211C"/>
                </a:solidFill>
                <a:latin typeface="Georgia" pitchFamily="34" charset="0"/>
                <a:ea typeface="Georgia" pitchFamily="34" charset="-122"/>
                <a:cs typeface="Georgia" pitchFamily="34" charset="-120"/>
              </a:rPr>
              <a:t>Try it: connect a tool and run a task</a:t>
            </a:r>
            <a:endParaRPr lang="en-US" sz="3200" dirty="0"/>
          </a:p>
        </p:txBody>
      </p:sp>
      <p:sp>
        <p:nvSpPr>
          <p:cNvPr id="4" name="Text 2"/>
          <p:cNvSpPr/>
          <p:nvPr/>
        </p:nvSpPr>
        <p:spPr>
          <a:xfrm>
            <a:off x="548640" y="1664208"/>
            <a:ext cx="10972800" cy="640080"/>
          </a:xfrm>
          <a:prstGeom prst="rect">
            <a:avLst/>
          </a:prstGeom>
          <a:noFill/>
          <a:ln/>
        </p:spPr>
        <p:txBody>
          <a:bodyPr wrap="square" lIns="0" tIns="0" rIns="0" bIns="0" rtlCol="0" anchor="ctr"/>
          <a:lstStyle/>
          <a:p>
            <a:pPr marL="0" indent="0">
              <a:lnSpc>
                <a:spcPct val="110000"/>
              </a:lnSpc>
              <a:buNone/>
            </a:pPr>
            <a:r>
              <a:rPr lang="en-US" sz="1500" dirty="0">
                <a:solidFill>
                  <a:srgbClr val="6E6656"/>
                </a:solidFill>
                <a:latin typeface="Calibri" pitchFamily="34" charset="0"/>
                <a:ea typeface="Calibri" pitchFamily="34" charset="-122"/>
                <a:cs typeface="Calibri" pitchFamily="34" charset="-120"/>
              </a:rPr>
              <a:t>A 15-minute exercise to feel the full loop — delegate a task, connect one MCP tool, and let Cowork deliver and file the result.</a:t>
            </a:r>
            <a:endParaRPr lang="en-US" sz="1500" dirty="0"/>
          </a:p>
        </p:txBody>
      </p:sp>
      <p:sp>
        <p:nvSpPr>
          <p:cNvPr id="5" name="Shape 3"/>
          <p:cNvSpPr/>
          <p:nvPr/>
        </p:nvSpPr>
        <p:spPr>
          <a:xfrm>
            <a:off x="548640" y="2514600"/>
            <a:ext cx="5532120" cy="3246120"/>
          </a:xfrm>
          <a:prstGeom prst="roundRect">
            <a:avLst>
              <a:gd name="adj" fmla="val 2817"/>
            </a:avLst>
          </a:prstGeom>
          <a:solidFill>
            <a:srgbClr val="FBEFE9"/>
          </a:solidFill>
          <a:ln w="12700">
            <a:solidFill>
              <a:srgbClr val="E4DDCC"/>
            </a:solidFill>
            <a:prstDash val="solid"/>
          </a:ln>
          <a:effectLst>
            <a:outerShdw blurRad="114300" dist="38100" dir="8100000" algn="bl" rotWithShape="0">
              <a:srgbClr val="B8AE99">
                <a:alpha val="35000"/>
              </a:srgbClr>
            </a:outerShdw>
          </a:effectLst>
        </p:spPr>
        <p:txBody>
          <a:bodyPr/>
          <a:lstStyle/>
          <a:p>
            <a:endParaRPr lang="en-IN"/>
          </a:p>
        </p:txBody>
      </p:sp>
      <p:sp>
        <p:nvSpPr>
          <p:cNvPr id="6" name="Shape 4"/>
          <p:cNvSpPr/>
          <p:nvPr/>
        </p:nvSpPr>
        <p:spPr>
          <a:xfrm>
            <a:off x="548640" y="2514600"/>
            <a:ext cx="5532120" cy="109728"/>
          </a:xfrm>
          <a:prstGeom prst="rect">
            <a:avLst/>
          </a:prstGeom>
          <a:solidFill>
            <a:srgbClr val="C15F3C"/>
          </a:solidFill>
          <a:ln/>
        </p:spPr>
        <p:txBody>
          <a:bodyPr/>
          <a:lstStyle/>
          <a:p>
            <a:endParaRPr lang="en-IN"/>
          </a:p>
        </p:txBody>
      </p:sp>
      <p:sp>
        <p:nvSpPr>
          <p:cNvPr id="7" name="Text 5"/>
          <p:cNvSpPr/>
          <p:nvPr/>
        </p:nvSpPr>
        <p:spPr>
          <a:xfrm>
            <a:off x="822960" y="2743200"/>
            <a:ext cx="5029200" cy="365760"/>
          </a:xfrm>
          <a:prstGeom prst="rect">
            <a:avLst/>
          </a:prstGeom>
          <a:noFill/>
          <a:ln/>
        </p:spPr>
        <p:txBody>
          <a:bodyPr wrap="square" lIns="0" tIns="0" rIns="0" bIns="0" rtlCol="0" anchor="ctr"/>
          <a:lstStyle/>
          <a:p>
            <a:pPr marL="0" indent="0">
              <a:buNone/>
            </a:pPr>
            <a:r>
              <a:rPr lang="en-US" sz="1600" b="1" dirty="0">
                <a:solidFill>
                  <a:srgbClr val="C15F3C"/>
                </a:solidFill>
                <a:latin typeface="Georgia" pitchFamily="34" charset="0"/>
                <a:ea typeface="Georgia" pitchFamily="34" charset="-122"/>
                <a:cs typeface="Georgia" pitchFamily="34" charset="-120"/>
              </a:rPr>
              <a:t>Your task — 15 minutes</a:t>
            </a:r>
            <a:endParaRPr lang="en-US" sz="1600" dirty="0"/>
          </a:p>
        </p:txBody>
      </p:sp>
      <p:sp>
        <p:nvSpPr>
          <p:cNvPr id="8" name="Text 6"/>
          <p:cNvSpPr/>
          <p:nvPr/>
        </p:nvSpPr>
        <p:spPr>
          <a:xfrm>
            <a:off x="822960" y="3154680"/>
            <a:ext cx="4983480" cy="731520"/>
          </a:xfrm>
          <a:prstGeom prst="rect">
            <a:avLst/>
          </a:prstGeom>
          <a:noFill/>
          <a:ln/>
        </p:spPr>
        <p:txBody>
          <a:bodyPr wrap="square" lIns="0" tIns="0" rIns="0" bIns="0" rtlCol="0" anchor="ctr"/>
          <a:lstStyle/>
          <a:p>
            <a:pPr marL="0" indent="0">
              <a:lnSpc>
                <a:spcPct val="112000"/>
              </a:lnSpc>
              <a:buNone/>
            </a:pPr>
            <a:r>
              <a:rPr lang="en-US" sz="1300" dirty="0">
                <a:solidFill>
                  <a:srgbClr val="23211C"/>
                </a:solidFill>
                <a:latin typeface="Calibri" pitchFamily="34" charset="0"/>
                <a:ea typeface="Calibri" pitchFamily="34" charset="-122"/>
                <a:cs typeface="Calibri" pitchFamily="34" charset="-120"/>
              </a:rPr>
              <a:t>Turn a folder of raw notes into a filed, one-page brief — using Cowork plus one connected MCP tool.</a:t>
            </a:r>
            <a:endParaRPr lang="en-US" sz="1300" dirty="0"/>
          </a:p>
        </p:txBody>
      </p:sp>
      <p:sp>
        <p:nvSpPr>
          <p:cNvPr id="9" name="Text 7"/>
          <p:cNvSpPr/>
          <p:nvPr/>
        </p:nvSpPr>
        <p:spPr>
          <a:xfrm>
            <a:off x="822960" y="3977640"/>
            <a:ext cx="4983480" cy="274320"/>
          </a:xfrm>
          <a:prstGeom prst="rect">
            <a:avLst/>
          </a:prstGeom>
          <a:noFill/>
          <a:ln/>
        </p:spPr>
        <p:txBody>
          <a:bodyPr wrap="square" lIns="0" tIns="0" rIns="0" bIns="0" rtlCol="0" anchor="ctr"/>
          <a:lstStyle/>
          <a:p>
            <a:pPr marL="0" indent="0">
              <a:buNone/>
            </a:pPr>
            <a:r>
              <a:rPr lang="en-US" sz="1100" b="1" kern="0" spc="200" dirty="0">
                <a:solidFill>
                  <a:srgbClr val="6E6656"/>
                </a:solidFill>
                <a:latin typeface="Calibri" pitchFamily="34" charset="0"/>
                <a:ea typeface="Calibri" pitchFamily="34" charset="-122"/>
                <a:cs typeface="Calibri" pitchFamily="34" charset="-120"/>
              </a:rPr>
              <a:t>DONE WHEN</a:t>
            </a:r>
            <a:endParaRPr lang="en-US" sz="1100" dirty="0"/>
          </a:p>
        </p:txBody>
      </p:sp>
      <p:sp>
        <p:nvSpPr>
          <p:cNvPr id="10" name="Text 8"/>
          <p:cNvSpPr/>
          <p:nvPr/>
        </p:nvSpPr>
        <p:spPr>
          <a:xfrm>
            <a:off x="868680" y="4279392"/>
            <a:ext cx="4937760" cy="411480"/>
          </a:xfrm>
          <a:prstGeom prst="rect">
            <a:avLst/>
          </a:prstGeom>
          <a:noFill/>
          <a:ln/>
        </p:spPr>
        <p:txBody>
          <a:bodyPr wrap="square" lIns="0" tIns="0" rIns="0" bIns="0" rtlCol="0" anchor="ctr"/>
          <a:lstStyle/>
          <a:p>
            <a:pPr marL="203200" indent="-203200">
              <a:lnSpc>
                <a:spcPct val="100000"/>
              </a:lnSpc>
              <a:buSzPct val="100000"/>
              <a:buChar char="✓"/>
            </a:pPr>
            <a:r>
              <a:rPr lang="en-US" sz="1250" dirty="0">
                <a:solidFill>
                  <a:srgbClr val="23211C"/>
                </a:solidFill>
                <a:latin typeface="Calibri" pitchFamily="34" charset="0"/>
                <a:ea typeface="Calibri" pitchFamily="34" charset="-122"/>
                <a:cs typeface="Calibri" pitchFamily="34" charset="-120"/>
              </a:rPr>
              <a:t>A one-page brief is generated from your source files</a:t>
            </a:r>
            <a:endParaRPr lang="en-US" sz="1250" dirty="0"/>
          </a:p>
        </p:txBody>
      </p:sp>
      <p:sp>
        <p:nvSpPr>
          <p:cNvPr id="11" name="Text 9"/>
          <p:cNvSpPr/>
          <p:nvPr/>
        </p:nvSpPr>
        <p:spPr>
          <a:xfrm>
            <a:off x="868680" y="4736592"/>
            <a:ext cx="4937760" cy="411480"/>
          </a:xfrm>
          <a:prstGeom prst="rect">
            <a:avLst/>
          </a:prstGeom>
          <a:noFill/>
          <a:ln/>
        </p:spPr>
        <p:txBody>
          <a:bodyPr wrap="square" lIns="0" tIns="0" rIns="0" bIns="0" rtlCol="0" anchor="ctr"/>
          <a:lstStyle/>
          <a:p>
            <a:pPr marL="203200" indent="-203200">
              <a:lnSpc>
                <a:spcPct val="100000"/>
              </a:lnSpc>
              <a:buSzPct val="100000"/>
              <a:buChar char="✓"/>
            </a:pPr>
            <a:r>
              <a:rPr lang="en-US" sz="1250" dirty="0">
                <a:solidFill>
                  <a:srgbClr val="23211C"/>
                </a:solidFill>
                <a:latin typeface="Calibri" pitchFamily="34" charset="0"/>
                <a:ea typeface="Calibri" pitchFamily="34" charset="-122"/>
                <a:cs typeface="Calibri" pitchFamily="34" charset="-120"/>
              </a:rPr>
              <a:t>It's saved back through a connected tool — not copy-pasted</a:t>
            </a:r>
            <a:endParaRPr lang="en-US" sz="1250" dirty="0"/>
          </a:p>
        </p:txBody>
      </p:sp>
      <p:sp>
        <p:nvSpPr>
          <p:cNvPr id="12" name="Text 10"/>
          <p:cNvSpPr/>
          <p:nvPr/>
        </p:nvSpPr>
        <p:spPr>
          <a:xfrm>
            <a:off x="868680" y="5193792"/>
            <a:ext cx="4937760" cy="411480"/>
          </a:xfrm>
          <a:prstGeom prst="rect">
            <a:avLst/>
          </a:prstGeom>
          <a:noFill/>
          <a:ln/>
        </p:spPr>
        <p:txBody>
          <a:bodyPr wrap="square" lIns="0" tIns="0" rIns="0" bIns="0" rtlCol="0" anchor="ctr"/>
          <a:lstStyle/>
          <a:p>
            <a:pPr marL="203200" indent="-203200">
              <a:lnSpc>
                <a:spcPct val="100000"/>
              </a:lnSpc>
              <a:buSzPct val="100000"/>
              <a:buChar char="✓"/>
            </a:pPr>
            <a:r>
              <a:rPr lang="en-US" sz="1250" dirty="0">
                <a:solidFill>
                  <a:srgbClr val="23211C"/>
                </a:solidFill>
                <a:latin typeface="Calibri" pitchFamily="34" charset="0"/>
                <a:ea typeface="Calibri" pitchFamily="34" charset="-122"/>
                <a:cs typeface="Calibri" pitchFamily="34" charset="-120"/>
              </a:rPr>
              <a:t>You scoped active tools to only what the task needs</a:t>
            </a:r>
            <a:endParaRPr lang="en-US" sz="1250" dirty="0"/>
          </a:p>
        </p:txBody>
      </p:sp>
      <p:sp>
        <p:nvSpPr>
          <p:cNvPr id="13" name="Shape 11"/>
          <p:cNvSpPr/>
          <p:nvPr/>
        </p:nvSpPr>
        <p:spPr>
          <a:xfrm>
            <a:off x="6309360" y="2514600"/>
            <a:ext cx="5349240" cy="3246120"/>
          </a:xfrm>
          <a:prstGeom prst="roundRect">
            <a:avLst>
              <a:gd name="adj" fmla="val 2817"/>
            </a:avLst>
          </a:prstGeom>
          <a:solidFill>
            <a:srgbClr val="FBF9F4"/>
          </a:solidFill>
          <a:ln w="12700">
            <a:solidFill>
              <a:srgbClr val="E4DDCC"/>
            </a:solidFill>
            <a:prstDash val="solid"/>
          </a:ln>
          <a:effectLst>
            <a:outerShdw blurRad="114300" dist="38100" dir="8100000" algn="bl" rotWithShape="0">
              <a:srgbClr val="B8AE99">
                <a:alpha val="35000"/>
              </a:srgbClr>
            </a:outerShdw>
          </a:effectLst>
        </p:spPr>
        <p:txBody>
          <a:bodyPr/>
          <a:lstStyle/>
          <a:p>
            <a:endParaRPr lang="en-IN"/>
          </a:p>
        </p:txBody>
      </p:sp>
      <p:sp>
        <p:nvSpPr>
          <p:cNvPr id="14" name="Text 12"/>
          <p:cNvSpPr/>
          <p:nvPr/>
        </p:nvSpPr>
        <p:spPr>
          <a:xfrm>
            <a:off x="6583680" y="2724912"/>
            <a:ext cx="4846320" cy="365760"/>
          </a:xfrm>
          <a:prstGeom prst="rect">
            <a:avLst/>
          </a:prstGeom>
          <a:noFill/>
          <a:ln/>
        </p:spPr>
        <p:txBody>
          <a:bodyPr wrap="square" lIns="0" tIns="0" rIns="0" bIns="0" rtlCol="0" anchor="ctr"/>
          <a:lstStyle/>
          <a:p>
            <a:pPr marL="0" indent="0">
              <a:buNone/>
            </a:pPr>
            <a:r>
              <a:rPr lang="en-US" sz="1600" b="1" dirty="0">
                <a:solidFill>
                  <a:srgbClr val="23211C"/>
                </a:solidFill>
                <a:latin typeface="Georgia" pitchFamily="34" charset="0"/>
                <a:ea typeface="Georgia" pitchFamily="34" charset="-122"/>
                <a:cs typeface="Georgia" pitchFamily="34" charset="-120"/>
              </a:rPr>
              <a:t>Five steps</a:t>
            </a:r>
            <a:endParaRPr lang="en-US" sz="1600" dirty="0"/>
          </a:p>
        </p:txBody>
      </p:sp>
      <p:sp>
        <p:nvSpPr>
          <p:cNvPr id="15" name="Shape 13"/>
          <p:cNvSpPr/>
          <p:nvPr/>
        </p:nvSpPr>
        <p:spPr>
          <a:xfrm>
            <a:off x="6583680" y="3200400"/>
            <a:ext cx="365760" cy="365760"/>
          </a:xfrm>
          <a:prstGeom prst="ellipse">
            <a:avLst/>
          </a:prstGeom>
          <a:solidFill>
            <a:srgbClr val="C15F3C"/>
          </a:solidFill>
          <a:ln/>
        </p:spPr>
        <p:txBody>
          <a:bodyPr/>
          <a:lstStyle/>
          <a:p>
            <a:endParaRPr lang="en-IN"/>
          </a:p>
        </p:txBody>
      </p:sp>
      <p:sp>
        <p:nvSpPr>
          <p:cNvPr id="16" name="Text 14"/>
          <p:cNvSpPr/>
          <p:nvPr/>
        </p:nvSpPr>
        <p:spPr>
          <a:xfrm>
            <a:off x="6583680" y="3200400"/>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7" name="Text 15"/>
          <p:cNvSpPr/>
          <p:nvPr/>
        </p:nvSpPr>
        <p:spPr>
          <a:xfrm>
            <a:off x="7086600" y="3163824"/>
            <a:ext cx="4343400" cy="457200"/>
          </a:xfrm>
          <a:prstGeom prst="rect">
            <a:avLst/>
          </a:prstGeom>
          <a:noFill/>
          <a:ln/>
        </p:spPr>
        <p:txBody>
          <a:bodyPr wrap="square" lIns="0" tIns="0" rIns="0" bIns="0" rtlCol="0" anchor="ctr"/>
          <a:lstStyle/>
          <a:p>
            <a:pPr marL="0" indent="0">
              <a:lnSpc>
                <a:spcPct val="100000"/>
              </a:lnSpc>
              <a:buNone/>
            </a:pPr>
            <a:r>
              <a:rPr lang="en-US" sz="1200" dirty="0">
                <a:solidFill>
                  <a:srgbClr val="23211C"/>
                </a:solidFill>
                <a:latin typeface="Calibri" pitchFamily="34" charset="0"/>
                <a:ea typeface="Calibri" pitchFamily="34" charset="-122"/>
                <a:cs typeface="Calibri" pitchFamily="34" charset="-120"/>
              </a:rPr>
              <a:t>Point Claude at a folder of 3–5 notes or PDFs.</a:t>
            </a:r>
            <a:endParaRPr lang="en-US" sz="1200" dirty="0"/>
          </a:p>
        </p:txBody>
      </p:sp>
      <p:sp>
        <p:nvSpPr>
          <p:cNvPr id="18" name="Shape 16"/>
          <p:cNvSpPr/>
          <p:nvPr/>
        </p:nvSpPr>
        <p:spPr>
          <a:xfrm>
            <a:off x="6583680" y="3703320"/>
            <a:ext cx="365760" cy="365760"/>
          </a:xfrm>
          <a:prstGeom prst="ellipse">
            <a:avLst/>
          </a:prstGeom>
          <a:solidFill>
            <a:srgbClr val="D9785C"/>
          </a:solidFill>
          <a:ln/>
        </p:spPr>
        <p:txBody>
          <a:bodyPr/>
          <a:lstStyle/>
          <a:p>
            <a:endParaRPr lang="en-IN"/>
          </a:p>
        </p:txBody>
      </p:sp>
      <p:sp>
        <p:nvSpPr>
          <p:cNvPr id="19" name="Text 17"/>
          <p:cNvSpPr/>
          <p:nvPr/>
        </p:nvSpPr>
        <p:spPr>
          <a:xfrm>
            <a:off x="6583680" y="3703320"/>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20" name="Text 18"/>
          <p:cNvSpPr/>
          <p:nvPr/>
        </p:nvSpPr>
        <p:spPr>
          <a:xfrm>
            <a:off x="7086600" y="3666744"/>
            <a:ext cx="4343400" cy="457200"/>
          </a:xfrm>
          <a:prstGeom prst="rect">
            <a:avLst/>
          </a:prstGeom>
          <a:noFill/>
          <a:ln/>
        </p:spPr>
        <p:txBody>
          <a:bodyPr wrap="square" lIns="0" tIns="0" rIns="0" bIns="0" rtlCol="0" anchor="ctr"/>
          <a:lstStyle/>
          <a:p>
            <a:pPr marL="0" indent="0">
              <a:lnSpc>
                <a:spcPct val="100000"/>
              </a:lnSpc>
              <a:buNone/>
            </a:pPr>
            <a:r>
              <a:rPr lang="en-US" sz="1200" dirty="0">
                <a:solidFill>
                  <a:srgbClr val="23211C"/>
                </a:solidFill>
                <a:latin typeface="Calibri" pitchFamily="34" charset="0"/>
                <a:ea typeface="Calibri" pitchFamily="34" charset="-122"/>
                <a:cs typeface="Calibri" pitchFamily="34" charset="-120"/>
              </a:rPr>
              <a:t>Enable one connector in Customize and authorize once.</a:t>
            </a:r>
            <a:endParaRPr lang="en-US" sz="1200" dirty="0"/>
          </a:p>
        </p:txBody>
      </p:sp>
      <p:sp>
        <p:nvSpPr>
          <p:cNvPr id="21" name="Shape 19"/>
          <p:cNvSpPr/>
          <p:nvPr/>
        </p:nvSpPr>
        <p:spPr>
          <a:xfrm>
            <a:off x="6583680" y="4206240"/>
            <a:ext cx="365760" cy="365760"/>
          </a:xfrm>
          <a:prstGeom prst="ellipse">
            <a:avLst/>
          </a:prstGeom>
          <a:solidFill>
            <a:srgbClr val="C15F3C"/>
          </a:solidFill>
          <a:ln/>
        </p:spPr>
        <p:txBody>
          <a:bodyPr/>
          <a:lstStyle/>
          <a:p>
            <a:endParaRPr lang="en-IN"/>
          </a:p>
        </p:txBody>
      </p:sp>
      <p:sp>
        <p:nvSpPr>
          <p:cNvPr id="22" name="Text 20"/>
          <p:cNvSpPr/>
          <p:nvPr/>
        </p:nvSpPr>
        <p:spPr>
          <a:xfrm>
            <a:off x="6583680" y="4206240"/>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23" name="Text 21"/>
          <p:cNvSpPr/>
          <p:nvPr/>
        </p:nvSpPr>
        <p:spPr>
          <a:xfrm>
            <a:off x="7086600" y="4169664"/>
            <a:ext cx="4343400" cy="457200"/>
          </a:xfrm>
          <a:prstGeom prst="rect">
            <a:avLst/>
          </a:prstGeom>
          <a:noFill/>
          <a:ln/>
        </p:spPr>
        <p:txBody>
          <a:bodyPr wrap="square" lIns="0" tIns="0" rIns="0" bIns="0" rtlCol="0" anchor="ctr"/>
          <a:lstStyle/>
          <a:p>
            <a:pPr marL="0" indent="0">
              <a:lnSpc>
                <a:spcPct val="100000"/>
              </a:lnSpc>
              <a:buNone/>
            </a:pPr>
            <a:r>
              <a:rPr lang="en-US" sz="1200" dirty="0">
                <a:solidFill>
                  <a:srgbClr val="23211C"/>
                </a:solidFill>
                <a:latin typeface="Calibri" pitchFamily="34" charset="0"/>
                <a:ea typeface="Calibri" pitchFamily="34" charset="-122"/>
                <a:cs typeface="Calibri" pitchFamily="34" charset="-120"/>
              </a:rPr>
              <a:t>Ask it to summarize them into a one-page brief and file it.</a:t>
            </a:r>
            <a:endParaRPr lang="en-US" sz="1200" dirty="0"/>
          </a:p>
        </p:txBody>
      </p:sp>
      <p:sp>
        <p:nvSpPr>
          <p:cNvPr id="24" name="Shape 22"/>
          <p:cNvSpPr/>
          <p:nvPr/>
        </p:nvSpPr>
        <p:spPr>
          <a:xfrm>
            <a:off x="6583680" y="4709160"/>
            <a:ext cx="365760" cy="365760"/>
          </a:xfrm>
          <a:prstGeom prst="ellipse">
            <a:avLst/>
          </a:prstGeom>
          <a:solidFill>
            <a:srgbClr val="D9785C"/>
          </a:solidFill>
          <a:ln/>
        </p:spPr>
        <p:txBody>
          <a:bodyPr/>
          <a:lstStyle/>
          <a:p>
            <a:endParaRPr lang="en-IN"/>
          </a:p>
        </p:txBody>
      </p:sp>
      <p:sp>
        <p:nvSpPr>
          <p:cNvPr id="25" name="Text 23"/>
          <p:cNvSpPr/>
          <p:nvPr/>
        </p:nvSpPr>
        <p:spPr>
          <a:xfrm>
            <a:off x="6583680" y="4709160"/>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26" name="Text 24"/>
          <p:cNvSpPr/>
          <p:nvPr/>
        </p:nvSpPr>
        <p:spPr>
          <a:xfrm>
            <a:off x="7086600" y="4672584"/>
            <a:ext cx="4343400" cy="457200"/>
          </a:xfrm>
          <a:prstGeom prst="rect">
            <a:avLst/>
          </a:prstGeom>
          <a:noFill/>
          <a:ln/>
        </p:spPr>
        <p:txBody>
          <a:bodyPr wrap="square" lIns="0" tIns="0" rIns="0" bIns="0" rtlCol="0" anchor="ctr"/>
          <a:lstStyle/>
          <a:p>
            <a:pPr marL="0" indent="0">
              <a:lnSpc>
                <a:spcPct val="100000"/>
              </a:lnSpc>
              <a:buNone/>
            </a:pPr>
            <a:r>
              <a:rPr lang="en-US" sz="1200" dirty="0">
                <a:solidFill>
                  <a:srgbClr val="23211C"/>
                </a:solidFill>
                <a:latin typeface="Calibri" pitchFamily="34" charset="0"/>
                <a:ea typeface="Calibri" pitchFamily="34" charset="-122"/>
                <a:cs typeface="Calibri" pitchFamily="34" charset="-120"/>
              </a:rPr>
              <a:t>Review the plan; approve the write when prompted.</a:t>
            </a:r>
            <a:endParaRPr lang="en-US" sz="1200" dirty="0"/>
          </a:p>
        </p:txBody>
      </p:sp>
      <p:sp>
        <p:nvSpPr>
          <p:cNvPr id="27" name="Shape 25"/>
          <p:cNvSpPr/>
          <p:nvPr/>
        </p:nvSpPr>
        <p:spPr>
          <a:xfrm>
            <a:off x="6583680" y="5212080"/>
            <a:ext cx="365760" cy="365760"/>
          </a:xfrm>
          <a:prstGeom prst="ellipse">
            <a:avLst/>
          </a:prstGeom>
          <a:solidFill>
            <a:srgbClr val="C15F3C"/>
          </a:solidFill>
          <a:ln/>
        </p:spPr>
        <p:txBody>
          <a:bodyPr/>
          <a:lstStyle/>
          <a:p>
            <a:endParaRPr lang="en-IN"/>
          </a:p>
        </p:txBody>
      </p:sp>
      <p:sp>
        <p:nvSpPr>
          <p:cNvPr id="28" name="Text 26"/>
          <p:cNvSpPr/>
          <p:nvPr/>
        </p:nvSpPr>
        <p:spPr>
          <a:xfrm>
            <a:off x="6583680" y="5212080"/>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29" name="Text 27"/>
          <p:cNvSpPr/>
          <p:nvPr/>
        </p:nvSpPr>
        <p:spPr>
          <a:xfrm>
            <a:off x="7086600" y="5175504"/>
            <a:ext cx="4343400" cy="457200"/>
          </a:xfrm>
          <a:prstGeom prst="rect">
            <a:avLst/>
          </a:prstGeom>
          <a:noFill/>
          <a:ln/>
        </p:spPr>
        <p:txBody>
          <a:bodyPr wrap="square" lIns="0" tIns="0" rIns="0" bIns="0" rtlCol="0" anchor="ctr"/>
          <a:lstStyle/>
          <a:p>
            <a:pPr marL="0" indent="0">
              <a:lnSpc>
                <a:spcPct val="100000"/>
              </a:lnSpc>
              <a:buNone/>
            </a:pPr>
            <a:r>
              <a:rPr lang="en-US" sz="1200" dirty="0">
                <a:solidFill>
                  <a:srgbClr val="23211C"/>
                </a:solidFill>
                <a:latin typeface="Calibri" pitchFamily="34" charset="0"/>
                <a:ea typeface="Calibri" pitchFamily="34" charset="-122"/>
                <a:cs typeface="Calibri" pitchFamily="34" charset="-120"/>
              </a:rPr>
              <a:t>Adjust the scope or cadence, then re-run to compare.</a:t>
            </a:r>
            <a:endParaRPr lang="en-US" sz="1200" dirty="0"/>
          </a:p>
        </p:txBody>
      </p:sp>
      <p:sp>
        <p:nvSpPr>
          <p:cNvPr id="30" name="Text 28"/>
          <p:cNvSpPr/>
          <p:nvPr/>
        </p:nvSpPr>
        <p:spPr>
          <a:xfrm>
            <a:off x="502920" y="6400800"/>
            <a:ext cx="5486400" cy="274320"/>
          </a:xfrm>
          <a:prstGeom prst="rect">
            <a:avLst/>
          </a:prstGeom>
          <a:noFill/>
          <a:ln/>
        </p:spPr>
        <p:txBody>
          <a:bodyPr wrap="square" lIns="0" tIns="0" rIns="0" bIns="0" rtlCol="0" anchor="ctr"/>
          <a:lstStyle/>
          <a:p>
            <a:pPr marL="0" indent="0" algn="l">
              <a:buNone/>
            </a:pPr>
            <a:r>
              <a:rPr lang="en-US" sz="900" b="1" dirty="0">
                <a:solidFill>
                  <a:srgbClr val="C15F3C"/>
                </a:solidFill>
                <a:latin typeface="Calibri" pitchFamily="34" charset="0"/>
                <a:ea typeface="Calibri" pitchFamily="34" charset="-122"/>
                <a:cs typeface="Calibri" pitchFamily="34" charset="-120"/>
              </a:rPr>
              <a:t>Claude</a:t>
            </a:r>
            <a:r>
              <a:rPr lang="en-US" sz="900" dirty="0">
                <a:solidFill>
                  <a:srgbClr val="6E6656"/>
                </a:solidFill>
                <a:latin typeface="Calibri" pitchFamily="34" charset="0"/>
                <a:ea typeface="Calibri" pitchFamily="34" charset="-122"/>
                <a:cs typeface="Calibri" pitchFamily="34" charset="-120"/>
              </a:rPr>
              <a:t>  Cowork &amp; MCP · Training</a:t>
            </a:r>
            <a:endParaRPr lang="en-US" sz="900" dirty="0"/>
          </a:p>
        </p:txBody>
      </p:sp>
      <p:sp>
        <p:nvSpPr>
          <p:cNvPr id="31" name="Text 29"/>
          <p:cNvSpPr/>
          <p:nvPr/>
        </p:nvSpPr>
        <p:spPr>
          <a:xfrm>
            <a:off x="11094415" y="6400800"/>
            <a:ext cx="594360" cy="274320"/>
          </a:xfrm>
          <a:prstGeom prst="rect">
            <a:avLst/>
          </a:prstGeom>
          <a:noFill/>
          <a:ln/>
        </p:spPr>
        <p:txBody>
          <a:bodyPr wrap="square" lIns="0" tIns="0" rIns="0" bIns="0" rtlCol="0" anchor="ctr"/>
          <a:lstStyle/>
          <a:p>
            <a:pPr marL="0" indent="0" algn="r">
              <a:buNone/>
            </a:pPr>
            <a:r>
              <a:rPr lang="en-US" sz="900" dirty="0">
                <a:solidFill>
                  <a:srgbClr val="6E6656"/>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EFE6"/>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292608"/>
          </a:xfrm>
          <a:prstGeom prst="rect">
            <a:avLst/>
          </a:prstGeom>
          <a:noFill/>
          <a:ln/>
        </p:spPr>
        <p:txBody>
          <a:bodyPr wrap="square" lIns="0" tIns="0" rIns="0" bIns="0" rtlCol="0" anchor="ctr"/>
          <a:lstStyle/>
          <a:p>
            <a:pPr marL="0" indent="0">
              <a:buNone/>
            </a:pPr>
            <a:r>
              <a:rPr lang="en-US" sz="1200" b="1" kern="0" spc="300" dirty="0">
                <a:solidFill>
                  <a:srgbClr val="C15F3C"/>
                </a:solidFill>
                <a:latin typeface="Calibri" pitchFamily="34" charset="0"/>
                <a:ea typeface="Calibri" pitchFamily="34" charset="-122"/>
                <a:cs typeface="Calibri" pitchFamily="34" charset="-120"/>
              </a:rPr>
              <a:t>PUTTING IT TO WORK</a:t>
            </a:r>
            <a:endParaRPr lang="en-US" sz="1200" dirty="0"/>
          </a:p>
        </p:txBody>
      </p:sp>
      <p:sp>
        <p:nvSpPr>
          <p:cNvPr id="3" name="Text 1"/>
          <p:cNvSpPr/>
          <p:nvPr/>
        </p:nvSpPr>
        <p:spPr>
          <a:xfrm>
            <a:off x="548640" y="749808"/>
            <a:ext cx="10789920" cy="914400"/>
          </a:xfrm>
          <a:prstGeom prst="rect">
            <a:avLst/>
          </a:prstGeom>
          <a:noFill/>
          <a:ln/>
        </p:spPr>
        <p:txBody>
          <a:bodyPr wrap="square" lIns="0" tIns="0" rIns="0" bIns="0" rtlCol="0" anchor="t"/>
          <a:lstStyle/>
          <a:p>
            <a:pPr marL="0" indent="0" algn="l">
              <a:lnSpc>
                <a:spcPct val="102000"/>
              </a:lnSpc>
              <a:buNone/>
            </a:pPr>
            <a:r>
              <a:rPr lang="en-US" sz="3200" dirty="0">
                <a:solidFill>
                  <a:srgbClr val="23211C"/>
                </a:solidFill>
                <a:latin typeface="Georgia" pitchFamily="34" charset="0"/>
                <a:ea typeface="Georgia" pitchFamily="34" charset="-122"/>
                <a:cs typeface="Georgia" pitchFamily="34" charset="-120"/>
              </a:rPr>
              <a:t>Best practices for a confident rollout</a:t>
            </a:r>
            <a:endParaRPr lang="en-US" sz="3200" dirty="0"/>
          </a:p>
        </p:txBody>
      </p:sp>
      <p:sp>
        <p:nvSpPr>
          <p:cNvPr id="4" name="Shape 2"/>
          <p:cNvSpPr/>
          <p:nvPr/>
        </p:nvSpPr>
        <p:spPr>
          <a:xfrm>
            <a:off x="548640" y="2240280"/>
            <a:ext cx="3566160" cy="1417320"/>
          </a:xfrm>
          <a:prstGeom prst="roundRect">
            <a:avLst>
              <a:gd name="adj" fmla="val 6452"/>
            </a:avLst>
          </a:prstGeom>
          <a:solidFill>
            <a:srgbClr val="FBF9F4"/>
          </a:solidFill>
          <a:ln w="12700">
            <a:solidFill>
              <a:srgbClr val="E4DDCC"/>
            </a:solidFill>
            <a:prstDash val="solid"/>
          </a:ln>
          <a:effectLst>
            <a:outerShdw blurRad="114300" dist="38100" dir="8100000" algn="bl" rotWithShape="0">
              <a:srgbClr val="B8AE99">
                <a:alpha val="35000"/>
              </a:srgbClr>
            </a:outerShdw>
          </a:effectLst>
        </p:spPr>
        <p:txBody>
          <a:bodyPr/>
          <a:lstStyle/>
          <a:p>
            <a:endParaRPr lang="en-IN"/>
          </a:p>
        </p:txBody>
      </p:sp>
      <p:sp>
        <p:nvSpPr>
          <p:cNvPr id="5" name="Shape 3"/>
          <p:cNvSpPr/>
          <p:nvPr/>
        </p:nvSpPr>
        <p:spPr>
          <a:xfrm>
            <a:off x="804672" y="2496312"/>
            <a:ext cx="420624" cy="420624"/>
          </a:xfrm>
          <a:prstGeom prst="ellipse">
            <a:avLst/>
          </a:prstGeom>
          <a:solidFill>
            <a:srgbClr val="C15F3C"/>
          </a:solidFill>
          <a:ln/>
        </p:spPr>
        <p:txBody>
          <a:bodyPr/>
          <a:lstStyle/>
          <a:p>
            <a:endParaRPr lang="en-IN"/>
          </a:p>
        </p:txBody>
      </p:sp>
      <p:sp>
        <p:nvSpPr>
          <p:cNvPr id="6" name="Text 4"/>
          <p:cNvSpPr/>
          <p:nvPr/>
        </p:nvSpPr>
        <p:spPr>
          <a:xfrm>
            <a:off x="804672" y="2496312"/>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7" name="Text 5"/>
          <p:cNvSpPr/>
          <p:nvPr/>
        </p:nvSpPr>
        <p:spPr>
          <a:xfrm>
            <a:off x="1371600" y="2496312"/>
            <a:ext cx="2560320" cy="411480"/>
          </a:xfrm>
          <a:prstGeom prst="rect">
            <a:avLst/>
          </a:prstGeom>
          <a:noFill/>
          <a:ln/>
        </p:spPr>
        <p:txBody>
          <a:bodyPr wrap="square" lIns="0" tIns="0" rIns="0" bIns="0" rtlCol="0" anchor="ctr"/>
          <a:lstStyle/>
          <a:p>
            <a:pPr marL="0" indent="0">
              <a:buNone/>
            </a:pPr>
            <a:r>
              <a:rPr lang="en-US" sz="1500" b="1" dirty="0">
                <a:solidFill>
                  <a:srgbClr val="23211C"/>
                </a:solidFill>
                <a:latin typeface="Georgia" pitchFamily="34" charset="0"/>
                <a:ea typeface="Georgia" pitchFamily="34" charset="-122"/>
                <a:cs typeface="Georgia" pitchFamily="34" charset="-120"/>
              </a:rPr>
              <a:t>Start scoped</a:t>
            </a:r>
            <a:endParaRPr lang="en-US" sz="1500" dirty="0"/>
          </a:p>
        </p:txBody>
      </p:sp>
      <p:sp>
        <p:nvSpPr>
          <p:cNvPr id="8" name="Text 6"/>
          <p:cNvSpPr/>
          <p:nvPr/>
        </p:nvSpPr>
        <p:spPr>
          <a:xfrm>
            <a:off x="822960" y="2990088"/>
            <a:ext cx="3017520" cy="594360"/>
          </a:xfrm>
          <a:prstGeom prst="rect">
            <a:avLst/>
          </a:prstGeom>
          <a:noFill/>
          <a:ln/>
        </p:spPr>
        <p:txBody>
          <a:bodyPr wrap="square" lIns="0" tIns="0" rIns="0" bIns="0" rtlCol="0" anchor="ctr"/>
          <a:lstStyle/>
          <a:p>
            <a:pPr marL="0" indent="0">
              <a:lnSpc>
                <a:spcPct val="106000"/>
              </a:lnSpc>
              <a:buNone/>
            </a:pPr>
            <a:r>
              <a:rPr lang="en-US" sz="1180" dirty="0">
                <a:solidFill>
                  <a:srgbClr val="6E6656"/>
                </a:solidFill>
                <a:latin typeface="Calibri" pitchFamily="34" charset="0"/>
                <a:ea typeface="Calibri" pitchFamily="34" charset="-122"/>
                <a:cs typeface="Calibri" pitchFamily="34" charset="-120"/>
              </a:rPr>
              <a:t>Grant specific folders and a small, approved set of connectors — expand as trust builds.</a:t>
            </a:r>
            <a:endParaRPr lang="en-US" sz="1180" dirty="0"/>
          </a:p>
        </p:txBody>
      </p:sp>
      <p:sp>
        <p:nvSpPr>
          <p:cNvPr id="9" name="Shape 7"/>
          <p:cNvSpPr/>
          <p:nvPr/>
        </p:nvSpPr>
        <p:spPr>
          <a:xfrm>
            <a:off x="4297680" y="2240280"/>
            <a:ext cx="3566160" cy="1417320"/>
          </a:xfrm>
          <a:prstGeom prst="roundRect">
            <a:avLst>
              <a:gd name="adj" fmla="val 6452"/>
            </a:avLst>
          </a:prstGeom>
          <a:solidFill>
            <a:srgbClr val="FBF9F4"/>
          </a:solidFill>
          <a:ln w="12700">
            <a:solidFill>
              <a:srgbClr val="E4DDCC"/>
            </a:solidFill>
            <a:prstDash val="solid"/>
          </a:ln>
          <a:effectLst>
            <a:outerShdw blurRad="114300" dist="38100" dir="8100000" algn="bl" rotWithShape="0">
              <a:srgbClr val="B8AE99">
                <a:alpha val="35000"/>
              </a:srgbClr>
            </a:outerShdw>
          </a:effectLst>
        </p:spPr>
        <p:txBody>
          <a:bodyPr/>
          <a:lstStyle/>
          <a:p>
            <a:endParaRPr lang="en-IN"/>
          </a:p>
        </p:txBody>
      </p:sp>
      <p:sp>
        <p:nvSpPr>
          <p:cNvPr id="10" name="Shape 8"/>
          <p:cNvSpPr/>
          <p:nvPr/>
        </p:nvSpPr>
        <p:spPr>
          <a:xfrm>
            <a:off x="4553712" y="2496312"/>
            <a:ext cx="420624" cy="420624"/>
          </a:xfrm>
          <a:prstGeom prst="ellipse">
            <a:avLst/>
          </a:prstGeom>
          <a:solidFill>
            <a:srgbClr val="D9785C"/>
          </a:solidFill>
          <a:ln/>
        </p:spPr>
        <p:txBody>
          <a:bodyPr/>
          <a:lstStyle/>
          <a:p>
            <a:endParaRPr lang="en-IN"/>
          </a:p>
        </p:txBody>
      </p:sp>
      <p:sp>
        <p:nvSpPr>
          <p:cNvPr id="11" name="Text 9"/>
          <p:cNvSpPr/>
          <p:nvPr/>
        </p:nvSpPr>
        <p:spPr>
          <a:xfrm>
            <a:off x="4553712" y="2496312"/>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2" name="Text 10"/>
          <p:cNvSpPr/>
          <p:nvPr/>
        </p:nvSpPr>
        <p:spPr>
          <a:xfrm>
            <a:off x="5120640" y="2496312"/>
            <a:ext cx="2560320" cy="411480"/>
          </a:xfrm>
          <a:prstGeom prst="rect">
            <a:avLst/>
          </a:prstGeom>
          <a:noFill/>
          <a:ln/>
        </p:spPr>
        <p:txBody>
          <a:bodyPr wrap="square" lIns="0" tIns="0" rIns="0" bIns="0" rtlCol="0" anchor="ctr"/>
          <a:lstStyle/>
          <a:p>
            <a:pPr marL="0" indent="0">
              <a:buNone/>
            </a:pPr>
            <a:r>
              <a:rPr lang="en-US" sz="1500" b="1" dirty="0">
                <a:solidFill>
                  <a:srgbClr val="23211C"/>
                </a:solidFill>
                <a:latin typeface="Georgia" pitchFamily="34" charset="0"/>
                <a:ea typeface="Georgia" pitchFamily="34" charset="-122"/>
                <a:cs typeface="Georgia" pitchFamily="34" charset="-120"/>
              </a:rPr>
              <a:t>Read-only first</a:t>
            </a:r>
            <a:endParaRPr lang="en-US" sz="1500" dirty="0"/>
          </a:p>
        </p:txBody>
      </p:sp>
      <p:sp>
        <p:nvSpPr>
          <p:cNvPr id="13" name="Text 11"/>
          <p:cNvSpPr/>
          <p:nvPr/>
        </p:nvSpPr>
        <p:spPr>
          <a:xfrm>
            <a:off x="4572000" y="2990088"/>
            <a:ext cx="3017520" cy="594360"/>
          </a:xfrm>
          <a:prstGeom prst="rect">
            <a:avLst/>
          </a:prstGeom>
          <a:noFill/>
          <a:ln/>
        </p:spPr>
        <p:txBody>
          <a:bodyPr wrap="square" lIns="0" tIns="0" rIns="0" bIns="0" rtlCol="0" anchor="ctr"/>
          <a:lstStyle/>
          <a:p>
            <a:pPr marL="0" indent="0">
              <a:lnSpc>
                <a:spcPct val="106000"/>
              </a:lnSpc>
              <a:buNone/>
            </a:pPr>
            <a:r>
              <a:rPr lang="en-US" sz="1180" dirty="0">
                <a:solidFill>
                  <a:srgbClr val="6E6656"/>
                </a:solidFill>
                <a:latin typeface="Calibri" pitchFamily="34" charset="0"/>
                <a:ea typeface="Calibri" pitchFamily="34" charset="-122"/>
                <a:cs typeface="Calibri" pitchFamily="34" charset="-120"/>
              </a:rPr>
              <a:t>Begin with read access; enable write only where the workflow truly needs it.</a:t>
            </a:r>
            <a:endParaRPr lang="en-US" sz="1180" dirty="0"/>
          </a:p>
        </p:txBody>
      </p:sp>
      <p:sp>
        <p:nvSpPr>
          <p:cNvPr id="14" name="Shape 12"/>
          <p:cNvSpPr/>
          <p:nvPr/>
        </p:nvSpPr>
        <p:spPr>
          <a:xfrm>
            <a:off x="8046720" y="2240280"/>
            <a:ext cx="3566160" cy="1417320"/>
          </a:xfrm>
          <a:prstGeom prst="roundRect">
            <a:avLst>
              <a:gd name="adj" fmla="val 6452"/>
            </a:avLst>
          </a:prstGeom>
          <a:solidFill>
            <a:srgbClr val="FBF9F4"/>
          </a:solidFill>
          <a:ln w="12700">
            <a:solidFill>
              <a:srgbClr val="E4DDCC"/>
            </a:solidFill>
            <a:prstDash val="solid"/>
          </a:ln>
          <a:effectLst>
            <a:outerShdw blurRad="114300" dist="38100" dir="8100000" algn="bl" rotWithShape="0">
              <a:srgbClr val="B8AE99">
                <a:alpha val="35000"/>
              </a:srgbClr>
            </a:outerShdw>
          </a:effectLst>
        </p:spPr>
        <p:txBody>
          <a:bodyPr/>
          <a:lstStyle/>
          <a:p>
            <a:endParaRPr lang="en-IN"/>
          </a:p>
        </p:txBody>
      </p:sp>
      <p:sp>
        <p:nvSpPr>
          <p:cNvPr id="15" name="Shape 13"/>
          <p:cNvSpPr/>
          <p:nvPr/>
        </p:nvSpPr>
        <p:spPr>
          <a:xfrm>
            <a:off x="8302752" y="2496312"/>
            <a:ext cx="420624" cy="420624"/>
          </a:xfrm>
          <a:prstGeom prst="ellipse">
            <a:avLst/>
          </a:prstGeom>
          <a:solidFill>
            <a:srgbClr val="C15F3C"/>
          </a:solidFill>
          <a:ln/>
        </p:spPr>
        <p:txBody>
          <a:bodyPr/>
          <a:lstStyle/>
          <a:p>
            <a:endParaRPr lang="en-IN"/>
          </a:p>
        </p:txBody>
      </p:sp>
      <p:sp>
        <p:nvSpPr>
          <p:cNvPr id="16" name="Text 14"/>
          <p:cNvSpPr/>
          <p:nvPr/>
        </p:nvSpPr>
        <p:spPr>
          <a:xfrm>
            <a:off x="8302752" y="2496312"/>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7" name="Text 15"/>
          <p:cNvSpPr/>
          <p:nvPr/>
        </p:nvSpPr>
        <p:spPr>
          <a:xfrm>
            <a:off x="8869680" y="2496312"/>
            <a:ext cx="2560320" cy="411480"/>
          </a:xfrm>
          <a:prstGeom prst="rect">
            <a:avLst/>
          </a:prstGeom>
          <a:noFill/>
          <a:ln/>
        </p:spPr>
        <p:txBody>
          <a:bodyPr wrap="square" lIns="0" tIns="0" rIns="0" bIns="0" rtlCol="0" anchor="ctr"/>
          <a:lstStyle/>
          <a:p>
            <a:pPr marL="0" indent="0">
              <a:buNone/>
            </a:pPr>
            <a:r>
              <a:rPr lang="en-US" sz="1500" b="1" dirty="0">
                <a:solidFill>
                  <a:srgbClr val="23211C"/>
                </a:solidFill>
                <a:latin typeface="Georgia" pitchFamily="34" charset="0"/>
                <a:ea typeface="Georgia" pitchFamily="34" charset="-122"/>
                <a:cs typeface="Georgia" pitchFamily="34" charset="-120"/>
              </a:rPr>
              <a:t>Govern centrally</a:t>
            </a:r>
            <a:endParaRPr lang="en-US" sz="1500" dirty="0"/>
          </a:p>
        </p:txBody>
      </p:sp>
      <p:sp>
        <p:nvSpPr>
          <p:cNvPr id="18" name="Text 16"/>
          <p:cNvSpPr/>
          <p:nvPr/>
        </p:nvSpPr>
        <p:spPr>
          <a:xfrm>
            <a:off x="8321040" y="2990088"/>
            <a:ext cx="3017520" cy="594360"/>
          </a:xfrm>
          <a:prstGeom prst="rect">
            <a:avLst/>
          </a:prstGeom>
          <a:noFill/>
          <a:ln/>
        </p:spPr>
        <p:txBody>
          <a:bodyPr wrap="square" lIns="0" tIns="0" rIns="0" bIns="0" rtlCol="0" anchor="ctr"/>
          <a:lstStyle/>
          <a:p>
            <a:pPr marL="0" indent="0">
              <a:lnSpc>
                <a:spcPct val="106000"/>
              </a:lnSpc>
              <a:buNone/>
            </a:pPr>
            <a:r>
              <a:rPr lang="en-US" sz="1180" dirty="0">
                <a:solidFill>
                  <a:srgbClr val="6E6656"/>
                </a:solidFill>
                <a:latin typeface="Calibri" pitchFamily="34" charset="0"/>
                <a:ea typeface="Calibri" pitchFamily="34" charset="-122"/>
                <a:cs typeface="Calibri" pitchFamily="34" charset="-120"/>
              </a:rPr>
              <a:t>Use managed configuration and identity-provider provisioning to control servers org-wide.</a:t>
            </a:r>
            <a:endParaRPr lang="en-US" sz="1180" dirty="0"/>
          </a:p>
        </p:txBody>
      </p:sp>
      <p:sp>
        <p:nvSpPr>
          <p:cNvPr id="19" name="Shape 17"/>
          <p:cNvSpPr/>
          <p:nvPr/>
        </p:nvSpPr>
        <p:spPr>
          <a:xfrm>
            <a:off x="548640" y="3913632"/>
            <a:ext cx="3566160" cy="1417320"/>
          </a:xfrm>
          <a:prstGeom prst="roundRect">
            <a:avLst>
              <a:gd name="adj" fmla="val 6452"/>
            </a:avLst>
          </a:prstGeom>
          <a:solidFill>
            <a:srgbClr val="FBF9F4"/>
          </a:solidFill>
          <a:ln w="12700">
            <a:solidFill>
              <a:srgbClr val="E4DDCC"/>
            </a:solidFill>
            <a:prstDash val="solid"/>
          </a:ln>
          <a:effectLst>
            <a:outerShdw blurRad="114300" dist="38100" dir="8100000" algn="bl" rotWithShape="0">
              <a:srgbClr val="B8AE99">
                <a:alpha val="35000"/>
              </a:srgbClr>
            </a:outerShdw>
          </a:effectLst>
        </p:spPr>
        <p:txBody>
          <a:bodyPr/>
          <a:lstStyle/>
          <a:p>
            <a:endParaRPr lang="en-IN"/>
          </a:p>
        </p:txBody>
      </p:sp>
      <p:sp>
        <p:nvSpPr>
          <p:cNvPr id="20" name="Shape 18"/>
          <p:cNvSpPr/>
          <p:nvPr/>
        </p:nvSpPr>
        <p:spPr>
          <a:xfrm>
            <a:off x="804672" y="4169664"/>
            <a:ext cx="420624" cy="420624"/>
          </a:xfrm>
          <a:prstGeom prst="ellipse">
            <a:avLst/>
          </a:prstGeom>
          <a:solidFill>
            <a:srgbClr val="D9785C"/>
          </a:solidFill>
          <a:ln/>
        </p:spPr>
        <p:txBody>
          <a:bodyPr/>
          <a:lstStyle/>
          <a:p>
            <a:endParaRPr lang="en-IN"/>
          </a:p>
        </p:txBody>
      </p:sp>
      <p:sp>
        <p:nvSpPr>
          <p:cNvPr id="21" name="Text 19"/>
          <p:cNvSpPr/>
          <p:nvPr/>
        </p:nvSpPr>
        <p:spPr>
          <a:xfrm>
            <a:off x="804672" y="4169664"/>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22" name="Text 20"/>
          <p:cNvSpPr/>
          <p:nvPr/>
        </p:nvSpPr>
        <p:spPr>
          <a:xfrm>
            <a:off x="1371600" y="4169664"/>
            <a:ext cx="2560320" cy="411480"/>
          </a:xfrm>
          <a:prstGeom prst="rect">
            <a:avLst/>
          </a:prstGeom>
          <a:noFill/>
          <a:ln/>
        </p:spPr>
        <p:txBody>
          <a:bodyPr wrap="square" lIns="0" tIns="0" rIns="0" bIns="0" rtlCol="0" anchor="ctr"/>
          <a:lstStyle/>
          <a:p>
            <a:pPr marL="0" indent="0">
              <a:buNone/>
            </a:pPr>
            <a:r>
              <a:rPr lang="en-US" sz="1500" b="1" dirty="0">
                <a:solidFill>
                  <a:srgbClr val="23211C"/>
                </a:solidFill>
                <a:latin typeface="Georgia" pitchFamily="34" charset="0"/>
                <a:ea typeface="Georgia" pitchFamily="34" charset="-122"/>
                <a:cs typeface="Georgia" pitchFamily="34" charset="-120"/>
              </a:rPr>
              <a:t>Review what you add</a:t>
            </a:r>
            <a:endParaRPr lang="en-US" sz="1500" dirty="0"/>
          </a:p>
        </p:txBody>
      </p:sp>
      <p:sp>
        <p:nvSpPr>
          <p:cNvPr id="23" name="Text 21"/>
          <p:cNvSpPr/>
          <p:nvPr/>
        </p:nvSpPr>
        <p:spPr>
          <a:xfrm>
            <a:off x="822960" y="4663440"/>
            <a:ext cx="3017520" cy="594360"/>
          </a:xfrm>
          <a:prstGeom prst="rect">
            <a:avLst/>
          </a:prstGeom>
          <a:noFill/>
          <a:ln/>
        </p:spPr>
        <p:txBody>
          <a:bodyPr wrap="square" lIns="0" tIns="0" rIns="0" bIns="0" rtlCol="0" anchor="ctr"/>
          <a:lstStyle/>
          <a:p>
            <a:pPr marL="0" indent="0">
              <a:lnSpc>
                <a:spcPct val="106000"/>
              </a:lnSpc>
              <a:buNone/>
            </a:pPr>
            <a:r>
              <a:rPr lang="en-US" sz="1180" dirty="0">
                <a:solidFill>
                  <a:srgbClr val="6E6656"/>
                </a:solidFill>
                <a:latin typeface="Calibri" pitchFamily="34" charset="0"/>
                <a:ea typeface="Calibri" pitchFamily="34" charset="-122"/>
                <a:cs typeface="Calibri" pitchFamily="34" charset="-120"/>
              </a:rPr>
              <a:t>Vet plugins and MCP servers before approval — they aren't security-audited for you.</a:t>
            </a:r>
            <a:endParaRPr lang="en-US" sz="1180" dirty="0"/>
          </a:p>
        </p:txBody>
      </p:sp>
      <p:sp>
        <p:nvSpPr>
          <p:cNvPr id="24" name="Shape 22"/>
          <p:cNvSpPr/>
          <p:nvPr/>
        </p:nvSpPr>
        <p:spPr>
          <a:xfrm>
            <a:off x="4297680" y="3913632"/>
            <a:ext cx="3566160" cy="1417320"/>
          </a:xfrm>
          <a:prstGeom prst="roundRect">
            <a:avLst>
              <a:gd name="adj" fmla="val 6452"/>
            </a:avLst>
          </a:prstGeom>
          <a:solidFill>
            <a:srgbClr val="FBF9F4"/>
          </a:solidFill>
          <a:ln w="12700">
            <a:solidFill>
              <a:srgbClr val="E4DDCC"/>
            </a:solidFill>
            <a:prstDash val="solid"/>
          </a:ln>
          <a:effectLst>
            <a:outerShdw blurRad="114300" dist="38100" dir="8100000" algn="bl" rotWithShape="0">
              <a:srgbClr val="B8AE99">
                <a:alpha val="35000"/>
              </a:srgbClr>
            </a:outerShdw>
          </a:effectLst>
        </p:spPr>
        <p:txBody>
          <a:bodyPr/>
          <a:lstStyle/>
          <a:p>
            <a:endParaRPr lang="en-IN"/>
          </a:p>
        </p:txBody>
      </p:sp>
      <p:sp>
        <p:nvSpPr>
          <p:cNvPr id="25" name="Shape 23"/>
          <p:cNvSpPr/>
          <p:nvPr/>
        </p:nvSpPr>
        <p:spPr>
          <a:xfrm>
            <a:off x="4553712" y="4169664"/>
            <a:ext cx="420624" cy="420624"/>
          </a:xfrm>
          <a:prstGeom prst="ellipse">
            <a:avLst/>
          </a:prstGeom>
          <a:solidFill>
            <a:srgbClr val="C15F3C"/>
          </a:solidFill>
          <a:ln/>
        </p:spPr>
        <p:txBody>
          <a:bodyPr/>
          <a:lstStyle/>
          <a:p>
            <a:endParaRPr lang="en-IN"/>
          </a:p>
        </p:txBody>
      </p:sp>
      <p:sp>
        <p:nvSpPr>
          <p:cNvPr id="26" name="Text 24"/>
          <p:cNvSpPr/>
          <p:nvPr/>
        </p:nvSpPr>
        <p:spPr>
          <a:xfrm>
            <a:off x="4553712" y="4169664"/>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27" name="Text 25"/>
          <p:cNvSpPr/>
          <p:nvPr/>
        </p:nvSpPr>
        <p:spPr>
          <a:xfrm>
            <a:off x="5120640" y="4169664"/>
            <a:ext cx="2560320" cy="411480"/>
          </a:xfrm>
          <a:prstGeom prst="rect">
            <a:avLst/>
          </a:prstGeom>
          <a:noFill/>
          <a:ln/>
        </p:spPr>
        <p:txBody>
          <a:bodyPr wrap="square" lIns="0" tIns="0" rIns="0" bIns="0" rtlCol="0" anchor="ctr"/>
          <a:lstStyle/>
          <a:p>
            <a:pPr marL="0" indent="0">
              <a:buNone/>
            </a:pPr>
            <a:r>
              <a:rPr lang="en-US" sz="1500" b="1" dirty="0">
                <a:solidFill>
                  <a:srgbClr val="23211C"/>
                </a:solidFill>
                <a:latin typeface="Georgia" pitchFamily="34" charset="0"/>
                <a:ea typeface="Georgia" pitchFamily="34" charset="-122"/>
                <a:cs typeface="Georgia" pitchFamily="34" charset="-120"/>
              </a:rPr>
              <a:t>Automate the routine</a:t>
            </a:r>
            <a:endParaRPr lang="en-US" sz="1500" dirty="0"/>
          </a:p>
        </p:txBody>
      </p:sp>
      <p:sp>
        <p:nvSpPr>
          <p:cNvPr id="28" name="Text 26"/>
          <p:cNvSpPr/>
          <p:nvPr/>
        </p:nvSpPr>
        <p:spPr>
          <a:xfrm>
            <a:off x="4572000" y="4663440"/>
            <a:ext cx="3017520" cy="594360"/>
          </a:xfrm>
          <a:prstGeom prst="rect">
            <a:avLst/>
          </a:prstGeom>
          <a:noFill/>
          <a:ln/>
        </p:spPr>
        <p:txBody>
          <a:bodyPr wrap="square" lIns="0" tIns="0" rIns="0" bIns="0" rtlCol="0" anchor="ctr"/>
          <a:lstStyle/>
          <a:p>
            <a:pPr marL="0" indent="0">
              <a:lnSpc>
                <a:spcPct val="106000"/>
              </a:lnSpc>
              <a:buNone/>
            </a:pPr>
            <a:r>
              <a:rPr lang="en-US" sz="1180" dirty="0">
                <a:solidFill>
                  <a:srgbClr val="6E6656"/>
                </a:solidFill>
                <a:latin typeface="Calibri" pitchFamily="34" charset="0"/>
                <a:ea typeface="Calibri" pitchFamily="34" charset="-122"/>
                <a:cs typeface="Calibri" pitchFamily="34" charset="-120"/>
              </a:rPr>
              <a:t>Schedule the repetitive, high-effort tasks people tend to skip.</a:t>
            </a:r>
            <a:endParaRPr lang="en-US" sz="1180" dirty="0"/>
          </a:p>
        </p:txBody>
      </p:sp>
      <p:sp>
        <p:nvSpPr>
          <p:cNvPr id="29" name="Shape 27"/>
          <p:cNvSpPr/>
          <p:nvPr/>
        </p:nvSpPr>
        <p:spPr>
          <a:xfrm>
            <a:off x="8046720" y="3913632"/>
            <a:ext cx="3566160" cy="1417320"/>
          </a:xfrm>
          <a:prstGeom prst="roundRect">
            <a:avLst>
              <a:gd name="adj" fmla="val 6452"/>
            </a:avLst>
          </a:prstGeom>
          <a:solidFill>
            <a:srgbClr val="FBF9F4"/>
          </a:solidFill>
          <a:ln w="12700">
            <a:solidFill>
              <a:srgbClr val="E4DDCC"/>
            </a:solidFill>
            <a:prstDash val="solid"/>
          </a:ln>
          <a:effectLst>
            <a:outerShdw blurRad="114300" dist="38100" dir="8100000" algn="bl" rotWithShape="0">
              <a:srgbClr val="B8AE99">
                <a:alpha val="35000"/>
              </a:srgbClr>
            </a:outerShdw>
          </a:effectLst>
        </p:spPr>
        <p:txBody>
          <a:bodyPr/>
          <a:lstStyle/>
          <a:p>
            <a:endParaRPr lang="en-IN"/>
          </a:p>
        </p:txBody>
      </p:sp>
      <p:sp>
        <p:nvSpPr>
          <p:cNvPr id="30" name="Shape 28"/>
          <p:cNvSpPr/>
          <p:nvPr/>
        </p:nvSpPr>
        <p:spPr>
          <a:xfrm>
            <a:off x="8302752" y="4169664"/>
            <a:ext cx="420624" cy="420624"/>
          </a:xfrm>
          <a:prstGeom prst="ellipse">
            <a:avLst/>
          </a:prstGeom>
          <a:solidFill>
            <a:srgbClr val="D9785C"/>
          </a:solidFill>
          <a:ln/>
        </p:spPr>
        <p:txBody>
          <a:bodyPr/>
          <a:lstStyle/>
          <a:p>
            <a:endParaRPr lang="en-IN"/>
          </a:p>
        </p:txBody>
      </p:sp>
      <p:sp>
        <p:nvSpPr>
          <p:cNvPr id="31" name="Text 29"/>
          <p:cNvSpPr/>
          <p:nvPr/>
        </p:nvSpPr>
        <p:spPr>
          <a:xfrm>
            <a:off x="8302752" y="4169664"/>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6</a:t>
            </a:r>
            <a:endParaRPr lang="en-US" sz="1600" dirty="0"/>
          </a:p>
        </p:txBody>
      </p:sp>
      <p:sp>
        <p:nvSpPr>
          <p:cNvPr id="32" name="Text 30"/>
          <p:cNvSpPr/>
          <p:nvPr/>
        </p:nvSpPr>
        <p:spPr>
          <a:xfrm>
            <a:off x="8869680" y="4169664"/>
            <a:ext cx="2560320" cy="411480"/>
          </a:xfrm>
          <a:prstGeom prst="rect">
            <a:avLst/>
          </a:prstGeom>
          <a:noFill/>
          <a:ln/>
        </p:spPr>
        <p:txBody>
          <a:bodyPr wrap="square" lIns="0" tIns="0" rIns="0" bIns="0" rtlCol="0" anchor="ctr"/>
          <a:lstStyle/>
          <a:p>
            <a:pPr marL="0" indent="0">
              <a:buNone/>
            </a:pPr>
            <a:r>
              <a:rPr lang="en-US" sz="1500" b="1" dirty="0">
                <a:solidFill>
                  <a:srgbClr val="23211C"/>
                </a:solidFill>
                <a:latin typeface="Georgia" pitchFamily="34" charset="0"/>
                <a:ea typeface="Georgia" pitchFamily="34" charset="-122"/>
                <a:cs typeface="Georgia" pitchFamily="34" charset="-120"/>
              </a:rPr>
              <a:t>Monitor &amp; audit</a:t>
            </a:r>
            <a:endParaRPr lang="en-US" sz="1500" dirty="0"/>
          </a:p>
        </p:txBody>
      </p:sp>
      <p:sp>
        <p:nvSpPr>
          <p:cNvPr id="33" name="Text 31"/>
          <p:cNvSpPr/>
          <p:nvPr/>
        </p:nvSpPr>
        <p:spPr>
          <a:xfrm>
            <a:off x="8321040" y="4663440"/>
            <a:ext cx="3017520" cy="594360"/>
          </a:xfrm>
          <a:prstGeom prst="rect">
            <a:avLst/>
          </a:prstGeom>
          <a:noFill/>
          <a:ln/>
        </p:spPr>
        <p:txBody>
          <a:bodyPr wrap="square" lIns="0" tIns="0" rIns="0" bIns="0" rtlCol="0" anchor="ctr"/>
          <a:lstStyle/>
          <a:p>
            <a:pPr marL="0" indent="0">
              <a:lnSpc>
                <a:spcPct val="106000"/>
              </a:lnSpc>
              <a:buNone/>
            </a:pPr>
            <a:r>
              <a:rPr lang="en-US" sz="1180" dirty="0">
                <a:solidFill>
                  <a:srgbClr val="6E6656"/>
                </a:solidFill>
                <a:latin typeface="Calibri" pitchFamily="34" charset="0"/>
                <a:ea typeface="Calibri" pitchFamily="34" charset="-122"/>
                <a:cs typeface="Calibri" pitchFamily="34" charset="-120"/>
              </a:rPr>
              <a:t>Track server usage and route action logs to your monitoring tools.</a:t>
            </a:r>
            <a:endParaRPr lang="en-US" sz="1180" dirty="0"/>
          </a:p>
        </p:txBody>
      </p:sp>
      <p:sp>
        <p:nvSpPr>
          <p:cNvPr id="34" name="Text 32"/>
          <p:cNvSpPr/>
          <p:nvPr/>
        </p:nvSpPr>
        <p:spPr>
          <a:xfrm>
            <a:off x="502920" y="6400800"/>
            <a:ext cx="5486400" cy="274320"/>
          </a:xfrm>
          <a:prstGeom prst="rect">
            <a:avLst/>
          </a:prstGeom>
          <a:noFill/>
          <a:ln/>
        </p:spPr>
        <p:txBody>
          <a:bodyPr wrap="square" lIns="0" tIns="0" rIns="0" bIns="0" rtlCol="0" anchor="ctr"/>
          <a:lstStyle/>
          <a:p>
            <a:pPr marL="0" indent="0" algn="l">
              <a:buNone/>
            </a:pPr>
            <a:r>
              <a:rPr lang="en-US" sz="900" b="1" dirty="0">
                <a:solidFill>
                  <a:srgbClr val="C15F3C"/>
                </a:solidFill>
                <a:latin typeface="Calibri" pitchFamily="34" charset="0"/>
                <a:ea typeface="Calibri" pitchFamily="34" charset="-122"/>
                <a:cs typeface="Calibri" pitchFamily="34" charset="-120"/>
              </a:rPr>
              <a:t>Claude</a:t>
            </a:r>
            <a:r>
              <a:rPr lang="en-US" sz="900" dirty="0">
                <a:solidFill>
                  <a:srgbClr val="6E6656"/>
                </a:solidFill>
                <a:latin typeface="Calibri" pitchFamily="34" charset="0"/>
                <a:ea typeface="Calibri" pitchFamily="34" charset="-122"/>
                <a:cs typeface="Calibri" pitchFamily="34" charset="-120"/>
              </a:rPr>
              <a:t>  Cowork &amp; MCP · Training</a:t>
            </a:r>
            <a:endParaRPr lang="en-US" sz="900" dirty="0"/>
          </a:p>
        </p:txBody>
      </p:sp>
      <p:sp>
        <p:nvSpPr>
          <p:cNvPr id="35" name="Text 33"/>
          <p:cNvSpPr/>
          <p:nvPr/>
        </p:nvSpPr>
        <p:spPr>
          <a:xfrm>
            <a:off x="11094415" y="6400800"/>
            <a:ext cx="594360" cy="274320"/>
          </a:xfrm>
          <a:prstGeom prst="rect">
            <a:avLst/>
          </a:prstGeom>
          <a:noFill/>
          <a:ln/>
        </p:spPr>
        <p:txBody>
          <a:bodyPr wrap="square" lIns="0" tIns="0" rIns="0" bIns="0" rtlCol="0" anchor="ctr"/>
          <a:lstStyle/>
          <a:p>
            <a:pPr marL="0" indent="0" algn="r">
              <a:buNone/>
            </a:pPr>
            <a:r>
              <a:rPr lang="en-US" sz="900" dirty="0">
                <a:solidFill>
                  <a:srgbClr val="6E6656"/>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3211C"/>
        </a:solidFill>
        <a:effectLst/>
      </p:bgPr>
    </p:bg>
    <p:spTree>
      <p:nvGrpSpPr>
        <p:cNvPr id="1" name=""/>
        <p:cNvGrpSpPr/>
        <p:nvPr/>
      </p:nvGrpSpPr>
      <p:grpSpPr>
        <a:xfrm>
          <a:off x="0" y="0"/>
          <a:ext cx="0" cy="0"/>
          <a:chOff x="0" y="0"/>
          <a:chExt cx="0" cy="0"/>
        </a:xfrm>
      </p:grpSpPr>
      <p:pic>
        <p:nvPicPr>
          <p:cNvPr id="2" name="Image 0" descr="/agent/turn2/workspace/images/image-31f0e16c7b62118aac5c5f2e0fec3f98.jpg"/>
          <p:cNvPicPr>
            <a:picLocks noChangeAspect="1"/>
          </p:cNvPicPr>
          <p:nvPr/>
        </p:nvPicPr>
        <p:blipFill>
          <a:blip r:embed="rId3"/>
          <a:srcRect t="7811" b="7811"/>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23211C">
              <a:alpha val="68000"/>
            </a:srgbClr>
          </a:solidFill>
          <a:ln/>
        </p:spPr>
        <p:txBody>
          <a:bodyPr/>
          <a:lstStyle/>
          <a:p>
            <a:endParaRPr lang="en-IN"/>
          </a:p>
        </p:txBody>
      </p:sp>
      <p:sp>
        <p:nvSpPr>
          <p:cNvPr id="4" name="Text 1"/>
          <p:cNvSpPr/>
          <p:nvPr/>
        </p:nvSpPr>
        <p:spPr>
          <a:xfrm>
            <a:off x="640080" y="640080"/>
            <a:ext cx="7315200" cy="320040"/>
          </a:xfrm>
          <a:prstGeom prst="rect">
            <a:avLst/>
          </a:prstGeom>
          <a:noFill/>
          <a:ln/>
        </p:spPr>
        <p:txBody>
          <a:bodyPr wrap="square" lIns="0" tIns="0" rIns="0" bIns="0" rtlCol="0" anchor="ctr"/>
          <a:lstStyle/>
          <a:p>
            <a:pPr marL="0" indent="0">
              <a:buNone/>
            </a:pPr>
            <a:r>
              <a:rPr lang="en-US" sz="1300" b="1" kern="0" spc="400" dirty="0">
                <a:solidFill>
                  <a:srgbClr val="D9785C"/>
                </a:solidFill>
                <a:latin typeface="Calibri" pitchFamily="34" charset="0"/>
                <a:ea typeface="Calibri" pitchFamily="34" charset="-122"/>
                <a:cs typeface="Calibri" pitchFamily="34" charset="-120"/>
              </a:rPr>
              <a:t>IN SUMMARY</a:t>
            </a:r>
            <a:endParaRPr lang="en-US" sz="1300" dirty="0"/>
          </a:p>
        </p:txBody>
      </p:sp>
      <p:sp>
        <p:nvSpPr>
          <p:cNvPr id="5" name="Text 2"/>
          <p:cNvSpPr/>
          <p:nvPr/>
        </p:nvSpPr>
        <p:spPr>
          <a:xfrm>
            <a:off x="640080" y="1051560"/>
            <a:ext cx="10515600" cy="822960"/>
          </a:xfrm>
          <a:prstGeom prst="rect">
            <a:avLst/>
          </a:prstGeom>
          <a:noFill/>
          <a:ln/>
        </p:spPr>
        <p:txBody>
          <a:bodyPr wrap="square" lIns="0" tIns="0" rIns="0" bIns="0" rtlCol="0" anchor="ctr"/>
          <a:lstStyle/>
          <a:p>
            <a:pPr marL="0" indent="0">
              <a:buNone/>
            </a:pPr>
            <a:r>
              <a:rPr lang="en-US" sz="3400" dirty="0">
                <a:solidFill>
                  <a:srgbClr val="FBF9F4"/>
                </a:solidFill>
                <a:latin typeface="Georgia" pitchFamily="34" charset="0"/>
                <a:ea typeface="Georgia" pitchFamily="34" charset="-122"/>
                <a:cs typeface="Georgia" pitchFamily="34" charset="-120"/>
              </a:rPr>
              <a:t>Delegate the work — keep the control</a:t>
            </a:r>
            <a:endParaRPr lang="en-US" sz="3400" dirty="0"/>
          </a:p>
        </p:txBody>
      </p:sp>
      <p:sp>
        <p:nvSpPr>
          <p:cNvPr id="6" name="Shape 3"/>
          <p:cNvSpPr/>
          <p:nvPr/>
        </p:nvSpPr>
        <p:spPr>
          <a:xfrm>
            <a:off x="640080" y="2148840"/>
            <a:ext cx="5349240" cy="1371600"/>
          </a:xfrm>
          <a:prstGeom prst="roundRect">
            <a:avLst>
              <a:gd name="adj" fmla="val 5333"/>
            </a:avLst>
          </a:prstGeom>
          <a:solidFill>
            <a:srgbClr val="FFFFFF">
              <a:alpha val="10000"/>
            </a:srgbClr>
          </a:solidFill>
          <a:ln w="9525">
            <a:solidFill>
              <a:srgbClr val="FFFFFF"/>
            </a:solidFill>
            <a:prstDash val="solid"/>
          </a:ln>
        </p:spPr>
        <p:txBody>
          <a:bodyPr/>
          <a:lstStyle/>
          <a:p>
            <a:endParaRPr lang="en-IN"/>
          </a:p>
        </p:txBody>
      </p:sp>
      <p:sp>
        <p:nvSpPr>
          <p:cNvPr id="7" name="Shape 4"/>
          <p:cNvSpPr/>
          <p:nvPr/>
        </p:nvSpPr>
        <p:spPr>
          <a:xfrm>
            <a:off x="896112" y="2423160"/>
            <a:ext cx="420624" cy="420624"/>
          </a:xfrm>
          <a:prstGeom prst="ellipse">
            <a:avLst/>
          </a:prstGeom>
          <a:solidFill>
            <a:srgbClr val="D9785C"/>
          </a:solidFill>
          <a:ln/>
        </p:spPr>
        <p:txBody>
          <a:bodyPr/>
          <a:lstStyle/>
          <a:p>
            <a:endParaRPr lang="en-IN"/>
          </a:p>
        </p:txBody>
      </p:sp>
      <p:sp>
        <p:nvSpPr>
          <p:cNvPr id="8" name="Text 5"/>
          <p:cNvSpPr/>
          <p:nvPr/>
        </p:nvSpPr>
        <p:spPr>
          <a:xfrm>
            <a:off x="896112" y="2423160"/>
            <a:ext cx="420624" cy="420624"/>
          </a:xfrm>
          <a:prstGeom prst="rect">
            <a:avLst/>
          </a:prstGeom>
          <a:noFill/>
          <a:ln/>
        </p:spPr>
        <p:txBody>
          <a:bodyPr wrap="square" lIns="0" tIns="0" rIns="0" bIns="0" rtlCol="0" anchor="ctr"/>
          <a:lstStyle/>
          <a:p>
            <a:pPr marL="0" indent="0" algn="ctr">
              <a:buNone/>
            </a:pPr>
            <a:r>
              <a:rPr lang="en-US" sz="1600" b="1" dirty="0">
                <a:solidFill>
                  <a:srgbClr val="23211C"/>
                </a:solidFill>
                <a:latin typeface="Georgia" pitchFamily="34" charset="0"/>
                <a:ea typeface="Georgia" pitchFamily="34" charset="-122"/>
                <a:cs typeface="Georgia" pitchFamily="34" charset="-120"/>
              </a:rPr>
              <a:t>1</a:t>
            </a:r>
            <a:endParaRPr lang="en-US" sz="1600" dirty="0"/>
          </a:p>
        </p:txBody>
      </p:sp>
      <p:sp>
        <p:nvSpPr>
          <p:cNvPr id="9" name="Text 6"/>
          <p:cNvSpPr/>
          <p:nvPr/>
        </p:nvSpPr>
        <p:spPr>
          <a:xfrm>
            <a:off x="1463040" y="2404872"/>
            <a:ext cx="4343400" cy="411480"/>
          </a:xfrm>
          <a:prstGeom prst="rect">
            <a:avLst/>
          </a:prstGeom>
          <a:noFill/>
          <a:ln/>
        </p:spPr>
        <p:txBody>
          <a:bodyPr wrap="square" lIns="0" tIns="0" rIns="0" bIns="0" rtlCol="0" anchor="ctr"/>
          <a:lstStyle/>
          <a:p>
            <a:pPr marL="0" indent="0">
              <a:buNone/>
            </a:pPr>
            <a:r>
              <a:rPr lang="en-US" sz="1600" b="1" dirty="0">
                <a:solidFill>
                  <a:srgbClr val="FBF9F4"/>
                </a:solidFill>
                <a:latin typeface="Georgia" pitchFamily="34" charset="0"/>
                <a:ea typeface="Georgia" pitchFamily="34" charset="-122"/>
                <a:cs typeface="Georgia" pitchFamily="34" charset="-120"/>
              </a:rPr>
              <a:t>Cowork does the work</a:t>
            </a:r>
            <a:endParaRPr lang="en-US" sz="1600" dirty="0"/>
          </a:p>
        </p:txBody>
      </p:sp>
      <p:sp>
        <p:nvSpPr>
          <p:cNvPr id="10" name="Text 7"/>
          <p:cNvSpPr/>
          <p:nvPr/>
        </p:nvSpPr>
        <p:spPr>
          <a:xfrm>
            <a:off x="914400" y="2898648"/>
            <a:ext cx="4800600" cy="548640"/>
          </a:xfrm>
          <a:prstGeom prst="rect">
            <a:avLst/>
          </a:prstGeom>
          <a:noFill/>
          <a:ln/>
        </p:spPr>
        <p:txBody>
          <a:bodyPr wrap="square" lIns="0" tIns="0" rIns="0" bIns="0" rtlCol="0" anchor="ctr"/>
          <a:lstStyle/>
          <a:p>
            <a:pPr marL="0" indent="0">
              <a:lnSpc>
                <a:spcPct val="106000"/>
              </a:lnSpc>
              <a:buNone/>
            </a:pPr>
            <a:r>
              <a:rPr lang="en-US" sz="1180" dirty="0">
                <a:solidFill>
                  <a:srgbClr val="DCD6CB"/>
                </a:solidFill>
                <a:latin typeface="Calibri" pitchFamily="34" charset="0"/>
                <a:ea typeface="Calibri" pitchFamily="34" charset="-122"/>
                <a:cs typeface="Calibri" pitchFamily="34" charset="-120"/>
              </a:rPr>
              <a:t>An agentic desktop assistant that completes multi-step knowledge work, not just answers.</a:t>
            </a:r>
            <a:endParaRPr lang="en-US" sz="1180" dirty="0"/>
          </a:p>
        </p:txBody>
      </p:sp>
      <p:sp>
        <p:nvSpPr>
          <p:cNvPr id="11" name="Shape 8"/>
          <p:cNvSpPr/>
          <p:nvPr/>
        </p:nvSpPr>
        <p:spPr>
          <a:xfrm>
            <a:off x="6263640" y="2148840"/>
            <a:ext cx="5349240" cy="1371600"/>
          </a:xfrm>
          <a:prstGeom prst="roundRect">
            <a:avLst>
              <a:gd name="adj" fmla="val 5333"/>
            </a:avLst>
          </a:prstGeom>
          <a:solidFill>
            <a:srgbClr val="FFFFFF">
              <a:alpha val="10000"/>
            </a:srgbClr>
          </a:solidFill>
          <a:ln w="9525">
            <a:solidFill>
              <a:srgbClr val="FFFFFF"/>
            </a:solidFill>
            <a:prstDash val="solid"/>
          </a:ln>
        </p:spPr>
        <p:txBody>
          <a:bodyPr/>
          <a:lstStyle/>
          <a:p>
            <a:endParaRPr lang="en-IN"/>
          </a:p>
        </p:txBody>
      </p:sp>
      <p:sp>
        <p:nvSpPr>
          <p:cNvPr id="12" name="Shape 9"/>
          <p:cNvSpPr/>
          <p:nvPr/>
        </p:nvSpPr>
        <p:spPr>
          <a:xfrm>
            <a:off x="6519672" y="2423160"/>
            <a:ext cx="420624" cy="420624"/>
          </a:xfrm>
          <a:prstGeom prst="ellipse">
            <a:avLst/>
          </a:prstGeom>
          <a:solidFill>
            <a:srgbClr val="D9785C"/>
          </a:solidFill>
          <a:ln/>
        </p:spPr>
        <p:txBody>
          <a:bodyPr/>
          <a:lstStyle/>
          <a:p>
            <a:endParaRPr lang="en-IN"/>
          </a:p>
        </p:txBody>
      </p:sp>
      <p:sp>
        <p:nvSpPr>
          <p:cNvPr id="13" name="Text 10"/>
          <p:cNvSpPr/>
          <p:nvPr/>
        </p:nvSpPr>
        <p:spPr>
          <a:xfrm>
            <a:off x="6519672" y="2423160"/>
            <a:ext cx="420624" cy="420624"/>
          </a:xfrm>
          <a:prstGeom prst="rect">
            <a:avLst/>
          </a:prstGeom>
          <a:noFill/>
          <a:ln/>
        </p:spPr>
        <p:txBody>
          <a:bodyPr wrap="square" lIns="0" tIns="0" rIns="0" bIns="0" rtlCol="0" anchor="ctr"/>
          <a:lstStyle/>
          <a:p>
            <a:pPr marL="0" indent="0" algn="ctr">
              <a:buNone/>
            </a:pPr>
            <a:r>
              <a:rPr lang="en-US" sz="1600" b="1" dirty="0">
                <a:solidFill>
                  <a:srgbClr val="23211C"/>
                </a:solidFill>
                <a:latin typeface="Georgia" pitchFamily="34" charset="0"/>
                <a:ea typeface="Georgia" pitchFamily="34" charset="-122"/>
                <a:cs typeface="Georgia" pitchFamily="34" charset="-120"/>
              </a:rPr>
              <a:t>2</a:t>
            </a:r>
            <a:endParaRPr lang="en-US" sz="1600" dirty="0"/>
          </a:p>
        </p:txBody>
      </p:sp>
      <p:sp>
        <p:nvSpPr>
          <p:cNvPr id="14" name="Text 11"/>
          <p:cNvSpPr/>
          <p:nvPr/>
        </p:nvSpPr>
        <p:spPr>
          <a:xfrm>
            <a:off x="7086600" y="2404872"/>
            <a:ext cx="4343400" cy="411480"/>
          </a:xfrm>
          <a:prstGeom prst="rect">
            <a:avLst/>
          </a:prstGeom>
          <a:noFill/>
          <a:ln/>
        </p:spPr>
        <p:txBody>
          <a:bodyPr wrap="square" lIns="0" tIns="0" rIns="0" bIns="0" rtlCol="0" anchor="ctr"/>
          <a:lstStyle/>
          <a:p>
            <a:pPr marL="0" indent="0">
              <a:buNone/>
            </a:pPr>
            <a:r>
              <a:rPr lang="en-US" sz="1600" b="1" dirty="0">
                <a:solidFill>
                  <a:srgbClr val="FBF9F4"/>
                </a:solidFill>
                <a:latin typeface="Georgia" pitchFamily="34" charset="0"/>
                <a:ea typeface="Georgia" pitchFamily="34" charset="-122"/>
                <a:cs typeface="Georgia" pitchFamily="34" charset="-120"/>
              </a:rPr>
              <a:t>MCP makes the connection</a:t>
            </a:r>
            <a:endParaRPr lang="en-US" sz="1600" dirty="0"/>
          </a:p>
        </p:txBody>
      </p:sp>
      <p:sp>
        <p:nvSpPr>
          <p:cNvPr id="15" name="Text 12"/>
          <p:cNvSpPr/>
          <p:nvPr/>
        </p:nvSpPr>
        <p:spPr>
          <a:xfrm>
            <a:off x="6537960" y="2898648"/>
            <a:ext cx="4800600" cy="548640"/>
          </a:xfrm>
          <a:prstGeom prst="rect">
            <a:avLst/>
          </a:prstGeom>
          <a:noFill/>
          <a:ln/>
        </p:spPr>
        <p:txBody>
          <a:bodyPr wrap="square" lIns="0" tIns="0" rIns="0" bIns="0" rtlCol="0" anchor="ctr"/>
          <a:lstStyle/>
          <a:p>
            <a:pPr marL="0" indent="0">
              <a:lnSpc>
                <a:spcPct val="106000"/>
              </a:lnSpc>
              <a:buNone/>
            </a:pPr>
            <a:r>
              <a:rPr lang="en-US" sz="1180" dirty="0">
                <a:solidFill>
                  <a:srgbClr val="DCD6CB"/>
                </a:solidFill>
                <a:latin typeface="Calibri" pitchFamily="34" charset="0"/>
                <a:ea typeface="Calibri" pitchFamily="34" charset="-122"/>
                <a:cs typeface="Calibri" pitchFamily="34" charset="-120"/>
              </a:rPr>
              <a:t>One open standard links Claude to your systems and data, two ways — read and act.</a:t>
            </a:r>
            <a:endParaRPr lang="en-US" sz="1180" dirty="0"/>
          </a:p>
        </p:txBody>
      </p:sp>
      <p:sp>
        <p:nvSpPr>
          <p:cNvPr id="16" name="Shape 13"/>
          <p:cNvSpPr/>
          <p:nvPr/>
        </p:nvSpPr>
        <p:spPr>
          <a:xfrm>
            <a:off x="640080" y="3794760"/>
            <a:ext cx="5349240" cy="1371600"/>
          </a:xfrm>
          <a:prstGeom prst="roundRect">
            <a:avLst>
              <a:gd name="adj" fmla="val 5333"/>
            </a:avLst>
          </a:prstGeom>
          <a:solidFill>
            <a:srgbClr val="FFFFFF">
              <a:alpha val="10000"/>
            </a:srgbClr>
          </a:solidFill>
          <a:ln w="9525">
            <a:solidFill>
              <a:srgbClr val="FFFFFF"/>
            </a:solidFill>
            <a:prstDash val="solid"/>
          </a:ln>
        </p:spPr>
        <p:txBody>
          <a:bodyPr/>
          <a:lstStyle/>
          <a:p>
            <a:endParaRPr lang="en-IN"/>
          </a:p>
        </p:txBody>
      </p:sp>
      <p:sp>
        <p:nvSpPr>
          <p:cNvPr id="17" name="Shape 14"/>
          <p:cNvSpPr/>
          <p:nvPr/>
        </p:nvSpPr>
        <p:spPr>
          <a:xfrm>
            <a:off x="896112" y="4069080"/>
            <a:ext cx="420624" cy="420624"/>
          </a:xfrm>
          <a:prstGeom prst="ellipse">
            <a:avLst/>
          </a:prstGeom>
          <a:solidFill>
            <a:srgbClr val="D9785C"/>
          </a:solidFill>
          <a:ln/>
        </p:spPr>
        <p:txBody>
          <a:bodyPr/>
          <a:lstStyle/>
          <a:p>
            <a:endParaRPr lang="en-IN"/>
          </a:p>
        </p:txBody>
      </p:sp>
      <p:sp>
        <p:nvSpPr>
          <p:cNvPr id="18" name="Text 15"/>
          <p:cNvSpPr/>
          <p:nvPr/>
        </p:nvSpPr>
        <p:spPr>
          <a:xfrm>
            <a:off x="896112" y="4069080"/>
            <a:ext cx="420624" cy="420624"/>
          </a:xfrm>
          <a:prstGeom prst="rect">
            <a:avLst/>
          </a:prstGeom>
          <a:noFill/>
          <a:ln/>
        </p:spPr>
        <p:txBody>
          <a:bodyPr wrap="square" lIns="0" tIns="0" rIns="0" bIns="0" rtlCol="0" anchor="ctr"/>
          <a:lstStyle/>
          <a:p>
            <a:pPr marL="0" indent="0" algn="ctr">
              <a:buNone/>
            </a:pPr>
            <a:r>
              <a:rPr lang="en-US" sz="1600" b="1" dirty="0">
                <a:solidFill>
                  <a:srgbClr val="23211C"/>
                </a:solidFill>
                <a:latin typeface="Georgia" pitchFamily="34" charset="0"/>
                <a:ea typeface="Georgia" pitchFamily="34" charset="-122"/>
                <a:cs typeface="Georgia" pitchFamily="34" charset="-120"/>
              </a:rPr>
              <a:t>3</a:t>
            </a:r>
            <a:endParaRPr lang="en-US" sz="1600" dirty="0"/>
          </a:p>
        </p:txBody>
      </p:sp>
      <p:sp>
        <p:nvSpPr>
          <p:cNvPr id="19" name="Text 16"/>
          <p:cNvSpPr/>
          <p:nvPr/>
        </p:nvSpPr>
        <p:spPr>
          <a:xfrm>
            <a:off x="1463040" y="4050792"/>
            <a:ext cx="4343400" cy="411480"/>
          </a:xfrm>
          <a:prstGeom prst="rect">
            <a:avLst/>
          </a:prstGeom>
          <a:noFill/>
          <a:ln/>
        </p:spPr>
        <p:txBody>
          <a:bodyPr wrap="square" lIns="0" tIns="0" rIns="0" bIns="0" rtlCol="0" anchor="ctr"/>
          <a:lstStyle/>
          <a:p>
            <a:pPr marL="0" indent="0">
              <a:buNone/>
            </a:pPr>
            <a:r>
              <a:rPr lang="en-US" sz="1600" b="1" dirty="0">
                <a:solidFill>
                  <a:srgbClr val="FBF9F4"/>
                </a:solidFill>
                <a:latin typeface="Georgia" pitchFamily="34" charset="0"/>
                <a:ea typeface="Georgia" pitchFamily="34" charset="-122"/>
                <a:cs typeface="Georgia" pitchFamily="34" charset="-120"/>
              </a:rPr>
              <a:t>Context &amp; permissions are yours</a:t>
            </a:r>
            <a:endParaRPr lang="en-US" sz="1600" dirty="0"/>
          </a:p>
        </p:txBody>
      </p:sp>
      <p:sp>
        <p:nvSpPr>
          <p:cNvPr id="20" name="Text 17"/>
          <p:cNvSpPr/>
          <p:nvPr/>
        </p:nvSpPr>
        <p:spPr>
          <a:xfrm>
            <a:off x="914400" y="4544568"/>
            <a:ext cx="4800600" cy="548640"/>
          </a:xfrm>
          <a:prstGeom prst="rect">
            <a:avLst/>
          </a:prstGeom>
          <a:noFill/>
          <a:ln/>
        </p:spPr>
        <p:txBody>
          <a:bodyPr wrap="square" lIns="0" tIns="0" rIns="0" bIns="0" rtlCol="0" anchor="ctr"/>
          <a:lstStyle/>
          <a:p>
            <a:pPr marL="0" indent="0">
              <a:lnSpc>
                <a:spcPct val="106000"/>
              </a:lnSpc>
              <a:buNone/>
            </a:pPr>
            <a:r>
              <a:rPr lang="en-US" sz="1180" dirty="0">
                <a:solidFill>
                  <a:srgbClr val="DCD6CB"/>
                </a:solidFill>
                <a:latin typeface="Calibri" pitchFamily="34" charset="0"/>
                <a:ea typeface="Calibri" pitchFamily="34" charset="-122"/>
                <a:cs typeface="Calibri" pitchFamily="34" charset="-120"/>
              </a:rPr>
              <a:t>Per-connector authorization, read-only/write controls, allowlists, and tool hints.</a:t>
            </a:r>
            <a:endParaRPr lang="en-US" sz="1180" dirty="0"/>
          </a:p>
        </p:txBody>
      </p:sp>
      <p:sp>
        <p:nvSpPr>
          <p:cNvPr id="21" name="Shape 18"/>
          <p:cNvSpPr/>
          <p:nvPr/>
        </p:nvSpPr>
        <p:spPr>
          <a:xfrm>
            <a:off x="6263640" y="3794760"/>
            <a:ext cx="5349240" cy="1371600"/>
          </a:xfrm>
          <a:prstGeom prst="roundRect">
            <a:avLst>
              <a:gd name="adj" fmla="val 5333"/>
            </a:avLst>
          </a:prstGeom>
          <a:solidFill>
            <a:srgbClr val="FFFFFF">
              <a:alpha val="10000"/>
            </a:srgbClr>
          </a:solidFill>
          <a:ln w="9525">
            <a:solidFill>
              <a:srgbClr val="FFFFFF"/>
            </a:solidFill>
            <a:prstDash val="solid"/>
          </a:ln>
        </p:spPr>
        <p:txBody>
          <a:bodyPr/>
          <a:lstStyle/>
          <a:p>
            <a:endParaRPr lang="en-IN"/>
          </a:p>
        </p:txBody>
      </p:sp>
      <p:sp>
        <p:nvSpPr>
          <p:cNvPr id="22" name="Shape 19"/>
          <p:cNvSpPr/>
          <p:nvPr/>
        </p:nvSpPr>
        <p:spPr>
          <a:xfrm>
            <a:off x="6519672" y="4069080"/>
            <a:ext cx="420624" cy="420624"/>
          </a:xfrm>
          <a:prstGeom prst="ellipse">
            <a:avLst/>
          </a:prstGeom>
          <a:solidFill>
            <a:srgbClr val="D9785C"/>
          </a:solidFill>
          <a:ln/>
        </p:spPr>
        <p:txBody>
          <a:bodyPr/>
          <a:lstStyle/>
          <a:p>
            <a:endParaRPr lang="en-IN"/>
          </a:p>
        </p:txBody>
      </p:sp>
      <p:sp>
        <p:nvSpPr>
          <p:cNvPr id="23" name="Text 20"/>
          <p:cNvSpPr/>
          <p:nvPr/>
        </p:nvSpPr>
        <p:spPr>
          <a:xfrm>
            <a:off x="6519672" y="4069080"/>
            <a:ext cx="420624" cy="420624"/>
          </a:xfrm>
          <a:prstGeom prst="rect">
            <a:avLst/>
          </a:prstGeom>
          <a:noFill/>
          <a:ln/>
        </p:spPr>
        <p:txBody>
          <a:bodyPr wrap="square" lIns="0" tIns="0" rIns="0" bIns="0" rtlCol="0" anchor="ctr"/>
          <a:lstStyle/>
          <a:p>
            <a:pPr marL="0" indent="0" algn="ctr">
              <a:buNone/>
            </a:pPr>
            <a:r>
              <a:rPr lang="en-US" sz="1600" b="1" dirty="0">
                <a:solidFill>
                  <a:srgbClr val="23211C"/>
                </a:solidFill>
                <a:latin typeface="Georgia" pitchFamily="34" charset="0"/>
                <a:ea typeface="Georgia" pitchFamily="34" charset="-122"/>
                <a:cs typeface="Georgia" pitchFamily="34" charset="-120"/>
              </a:rPr>
              <a:t>4</a:t>
            </a:r>
            <a:endParaRPr lang="en-US" sz="1600" dirty="0"/>
          </a:p>
        </p:txBody>
      </p:sp>
      <p:sp>
        <p:nvSpPr>
          <p:cNvPr id="24" name="Text 21"/>
          <p:cNvSpPr/>
          <p:nvPr/>
        </p:nvSpPr>
        <p:spPr>
          <a:xfrm>
            <a:off x="7086600" y="4050792"/>
            <a:ext cx="4343400" cy="411480"/>
          </a:xfrm>
          <a:prstGeom prst="rect">
            <a:avLst/>
          </a:prstGeom>
          <a:noFill/>
          <a:ln/>
        </p:spPr>
        <p:txBody>
          <a:bodyPr wrap="square" lIns="0" tIns="0" rIns="0" bIns="0" rtlCol="0" anchor="ctr"/>
          <a:lstStyle/>
          <a:p>
            <a:pPr marL="0" indent="0">
              <a:buNone/>
            </a:pPr>
            <a:r>
              <a:rPr lang="en-US" sz="1600" b="1" dirty="0">
                <a:solidFill>
                  <a:srgbClr val="FBF9F4"/>
                </a:solidFill>
                <a:latin typeface="Georgia" pitchFamily="34" charset="0"/>
                <a:ea typeface="Georgia" pitchFamily="34" charset="-122"/>
                <a:cs typeface="Georgia" pitchFamily="34" charset="-120"/>
              </a:rPr>
              <a:t>Real impact, repeatable</a:t>
            </a:r>
            <a:endParaRPr lang="en-US" sz="1600" dirty="0"/>
          </a:p>
        </p:txBody>
      </p:sp>
      <p:sp>
        <p:nvSpPr>
          <p:cNvPr id="25" name="Text 22"/>
          <p:cNvSpPr/>
          <p:nvPr/>
        </p:nvSpPr>
        <p:spPr>
          <a:xfrm>
            <a:off x="6537960" y="4544568"/>
            <a:ext cx="4800600" cy="548640"/>
          </a:xfrm>
          <a:prstGeom prst="rect">
            <a:avLst/>
          </a:prstGeom>
          <a:noFill/>
          <a:ln/>
        </p:spPr>
        <p:txBody>
          <a:bodyPr wrap="square" lIns="0" tIns="0" rIns="0" bIns="0" rtlCol="0" anchor="ctr"/>
          <a:lstStyle/>
          <a:p>
            <a:pPr marL="0" indent="0">
              <a:lnSpc>
                <a:spcPct val="106000"/>
              </a:lnSpc>
              <a:buNone/>
            </a:pPr>
            <a:r>
              <a:rPr lang="en-US" sz="1180" dirty="0">
                <a:solidFill>
                  <a:srgbClr val="DCD6CB"/>
                </a:solidFill>
                <a:latin typeface="Calibri" pitchFamily="34" charset="0"/>
                <a:ea typeface="Calibri" pitchFamily="34" charset="-122"/>
                <a:cs typeface="Calibri" pitchFamily="34" charset="-120"/>
              </a:rPr>
              <a:t>Documents, spreadsheets, research, and scheduled multi-step tasks — done for you.</a:t>
            </a:r>
            <a:endParaRPr lang="en-US" sz="1180" dirty="0"/>
          </a:p>
        </p:txBody>
      </p:sp>
      <p:sp>
        <p:nvSpPr>
          <p:cNvPr id="26" name="Text 23"/>
          <p:cNvSpPr/>
          <p:nvPr/>
        </p:nvSpPr>
        <p:spPr>
          <a:xfrm>
            <a:off x="640080" y="6400800"/>
            <a:ext cx="7315200" cy="274320"/>
          </a:xfrm>
          <a:prstGeom prst="rect">
            <a:avLst/>
          </a:prstGeom>
          <a:noFill/>
          <a:ln/>
        </p:spPr>
        <p:txBody>
          <a:bodyPr wrap="square" lIns="0" tIns="0" rIns="0" bIns="0" rtlCol="0" anchor="ctr"/>
          <a:lstStyle/>
          <a:p>
            <a:pPr marL="0" indent="0">
              <a:buNone/>
            </a:pPr>
            <a:r>
              <a:rPr lang="en-US" sz="900" b="1" dirty="0">
                <a:solidFill>
                  <a:srgbClr val="D9785C"/>
                </a:solidFill>
                <a:latin typeface="Calibri" pitchFamily="34" charset="0"/>
                <a:ea typeface="Calibri" pitchFamily="34" charset="-122"/>
                <a:cs typeface="Calibri" pitchFamily="34" charset="-120"/>
              </a:rPr>
              <a:t>Claude</a:t>
            </a:r>
            <a:r>
              <a:rPr lang="en-US" sz="900" dirty="0">
                <a:solidFill>
                  <a:srgbClr val="B7B0A4"/>
                </a:solidFill>
                <a:latin typeface="Calibri" pitchFamily="34" charset="0"/>
                <a:ea typeface="Calibri" pitchFamily="34" charset="-122"/>
                <a:cs typeface="Calibri" pitchFamily="34" charset="-120"/>
              </a:rPr>
              <a:t>  Cowork &amp; MCP · Training</a:t>
            </a:r>
            <a:endParaRPr lang="en-US" sz="900" dirty="0"/>
          </a:p>
        </p:txBody>
      </p:sp>
      <p:sp>
        <p:nvSpPr>
          <p:cNvPr id="27" name="Text 24"/>
          <p:cNvSpPr/>
          <p:nvPr/>
        </p:nvSpPr>
        <p:spPr>
          <a:xfrm>
            <a:off x="11094415" y="6400800"/>
            <a:ext cx="594360" cy="274320"/>
          </a:xfrm>
          <a:prstGeom prst="rect">
            <a:avLst/>
          </a:prstGeom>
          <a:noFill/>
          <a:ln/>
        </p:spPr>
        <p:txBody>
          <a:bodyPr wrap="square" lIns="0" tIns="0" rIns="0" bIns="0" rtlCol="0" anchor="ctr"/>
          <a:lstStyle/>
          <a:p>
            <a:pPr marL="0" indent="0" algn="r">
              <a:buNone/>
            </a:pPr>
            <a:r>
              <a:rPr lang="en-US" sz="900" dirty="0">
                <a:solidFill>
                  <a:srgbClr val="B7B0A4"/>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TotalTime>
  <Words>4415</Words>
  <Application>Microsoft Office PowerPoint</Application>
  <PresentationFormat>Widescreen</PresentationFormat>
  <Paragraphs>306</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Nikhil Shah</dc:creator>
  <cp:lastModifiedBy>Nikhil Shah</cp:lastModifiedBy>
  <cp:revision>1</cp:revision>
  <dcterms:created xsi:type="dcterms:W3CDTF">2026-06-28T09:04:45Z</dcterms:created>
  <dcterms:modified xsi:type="dcterms:W3CDTF">2026-06-28T09:31:00Z</dcterms:modified>
</cp:coreProperties>
</file>