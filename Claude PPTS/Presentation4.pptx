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68" d="100"/>
          <a:sy n="68" d="100"/>
        </p:scale>
        <p:origin x="713" y="7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This is a hands-on session for developers who will use Claude Code daily. Goal: by the end, everyone can run Claude Code in their terminal or IDE, set up project memory, plan before acting, and review changes safely. Set expectations: we have live demos and a hands-on exercise, so have a terminal and a sample repo ready. One-line pitch to open with: 'Claude Code is an agentic coding tool — it reads your codebase, edits files, runs commands and tests, and hands back reviewable changes. You stay the reviewer and decision-maker.'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quickly — about 30 seconds. Emphasize this is sequential: each topic builds on the previous one. The first half is concepts and mechanics; the second half is the practical patterns, the live demo, and the exercise. Tell the audience the most important mindset to carry through every section: keep the human in the loop and keep changes small and reviewable.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unlock — spend time here. Many developers treat Claude Code like fancy autocomplete and get frustrated; the value comes from delegating whole tasks. Demo cue (optional, 1 min): in a terminal type a small task like 'add input validation to this function and a test for it' and let the class watch it read the file, edit, and run the test. Caution to state plainly: autonomy means it can run commands — that is why review and permissions (covered later) matter.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ask who uses a terminal-first workflow vs. an IDE-first one — Claude Code meets both. Key point: it is the same agent regardless of surface, so skills, CLAUDE.md, and permissions carry across. Demo cue: show launching it in the terminal, then show the same project in the IDE with inline diffs. Note the supported platforms (macOS, Linux, Windows) in case anyone needs to install during the exercise.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loop matters for practice: every turn consumes context, and Claude's performance degrades as the context window fills — that is the root reason behind most best practices later (small tasks, fresh sessions, context minimalism). Emphasize that you can interrupt at any turn to redirect. Optional aside: the same loop powers the Agent SDK if anyone wants to build their own agents. Keep this tight — it's foundational but you don't need to go deep into internals.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highest-leverage habit — drive it home. A good CLAUDE.md is the difference between repeating yourself every session and having Claude 'just know' your project. Demo cue: open a CLAUDE.md and show 3–5 concise rules (build command, test command, style conventions, 'never touch X'). Stress conciseness: bloated files dilute the signal and waste context. Clarify the boundary: CLAUDE.md guides behavior but doesn't enforce it — for guarantees use hooks/permissions.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trade-off: plan mode is the cure for the most expensive mistake — letting the agent execute before you agree on scope. For risky work it's the difference between clean execution and a regrettable one; for trivial edits it's just friction. Demo cue: trigger plan mode (Shift+Tab twice) on a feature request, read the plan aloud, edit one step, then approve. Mention CLAUDE.md shapes the quality of the plan, so good memory + plan mode compound.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as how teams scale good habits: encode your conventions once, everyone invokes them the same way. Slash commands are great for quick personal shortcuts; skills are how you package richer, shareable capability (with bundled files and auto-loaded context). Demo cue: run /commit or /pr live, then show a simple SKILL.md frontmatter. Encourage the team to start a shared skills/commands folder in the repo so the whole team benefits.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safety backbone of the whole talk — never let the audience skip review. The agent's autonomy is only safe because you gate the output. Practical guidance: keep auto-accept for low-risk, well-scoped loops and turn it off for anything touching production paths, migrations, or unfamiliar code. Demo cue: show accepting one hunk and rejecting another, and trigger a permission prompt. Mention Code Review (research preview, Team/Enterprise) as the CI-side complement to local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these back to the agent loop: each pattern fights context bloat or keeps diffs small — the two things that make AI output trustworthy. The Claude Code team frames the breakthrough as 'verification, routines, and context minimalism.' Encourage one routine to adopt this week: plan mode + small task + run tests + review diff + commit. Ask the room which pattern they'll commit to — makes it stick.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Run-of-show for the demo (~8–10 min). Narrate your thinking at each step so the audience sees the judgment, not just the keystrokes. Pause at plan mode to edit a step live — shows you steering. At the diff, deliberately reject one change and ask Claude to redo it differently. If anything goes sideways, that's a teaching moment about interrupting the loop and tightening the prompt. End by opening the PR so it connects to their real workflow. Have a backup recording in case of network issues.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pair developers who are new with those who've installed it already. Circulate while they work. Common stumbling blocks to pre-empt: forgetting to enter plan mode (remind: Shift+Tab twice), vague prompts (push them to be specific), and accepting diffs without reading. The 'reject one hunk' criterion is deliberate — it forces real review. Keep a sample repo and a known-good CLAUDE.md ready to hand out. Reconvene with a 2-minute debrief: what surprised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best practices trace to one constraint: the context window fills fast and quality degrades as it fills — so small tasks and fresh sessions aren't style preferences, they're performance. Reinforce the 'memory is context, not enforcement' point: for must-not-happen actions, use PreToolUse hooks or permission rules, not a line in CLAUDE.md. Invite war stories from anyone who's already hit these traps — peer examples land harder than slides.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summary and run-of-show recap. Spend the final 3–4 minutes here. Reinforce the through-line: Claude Code is an agentic tool across the terminal and IDE; it works in a loop (prompt → evaluate → run tools → repeat); CLAUDE.md and auto memory carry context across sessions; plan mode separates thinking from doing; slash commands and skills package repeatable work; and you stay the reviewer who accepts or rejects every change. The one sentence to leave them with: keep tasks small, keep changes reviewable, and keep yourself in the loop. Action items to assign: install Claude Code if they haven't, add a CLAUDE.md to one real repo, and run the plan-mode-to-PR workflow once before next session. Share links to the official Claude Code docs and the team's shared commands/skills, and book optional office hours for blockers.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719762"/>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s/image-6c884ffc6f129995db17dbf130af4519.jpg"/>
          <p:cNvPicPr>
            <a:picLocks noChangeAspect="1"/>
          </p:cNvPicPr>
          <p:nvPr/>
        </p:nvPicPr>
        <p:blipFill>
          <a:blip r:embed="rId4"/>
          <a:stretch>
            <a:fillRect/>
          </a:stretch>
        </p:blipFill>
        <p:spPr>
          <a:xfrm>
            <a:off x="502920" y="384048"/>
            <a:ext cx="548640" cy="548640"/>
          </a:xfrm>
          <a:prstGeom prst="rect">
            <a:avLst/>
          </a:prstGeom>
        </p:spPr>
      </p:pic>
      <p:sp>
        <p:nvSpPr>
          <p:cNvPr id="3" name="Text 0"/>
          <p:cNvSpPr/>
          <p:nvPr/>
        </p:nvSpPr>
        <p:spPr>
          <a:xfrm>
            <a:off x="1097280" y="457200"/>
            <a:ext cx="4572000" cy="411480"/>
          </a:xfrm>
          <a:prstGeom prst="rect">
            <a:avLst/>
          </a:prstGeom>
          <a:noFill/>
          <a:ln/>
        </p:spPr>
        <p:txBody>
          <a:bodyPr wrap="square" lIns="0" tIns="0" rIns="0" bIns="0" rtlCol="0" anchor="ctr"/>
          <a:lstStyle/>
          <a:p>
            <a:pPr marL="0" indent="0">
              <a:buNone/>
            </a:pPr>
            <a:r>
              <a:rPr lang="en-US" sz="1300" b="1" kern="0" spc="200" dirty="0">
                <a:solidFill>
                  <a:srgbClr val="C15F3C"/>
                </a:solidFill>
                <a:latin typeface="Calibri" pitchFamily="34" charset="0"/>
                <a:ea typeface="Calibri" pitchFamily="34" charset="-122"/>
                <a:cs typeface="Calibri" pitchFamily="34" charset="-120"/>
              </a:rPr>
              <a:t>ANTHROPIC  ·  CLAUDE</a:t>
            </a:r>
            <a:endParaRPr lang="en-US" sz="1300" dirty="0"/>
          </a:p>
        </p:txBody>
      </p:sp>
      <p:sp>
        <p:nvSpPr>
          <p:cNvPr id="4" name="Text 1"/>
          <p:cNvSpPr/>
          <p:nvPr/>
        </p:nvSpPr>
        <p:spPr>
          <a:xfrm>
            <a:off x="548640" y="1600200"/>
            <a:ext cx="7315200" cy="822960"/>
          </a:xfrm>
          <a:prstGeom prst="rect">
            <a:avLst/>
          </a:prstGeom>
          <a:noFill/>
          <a:ln/>
        </p:spPr>
        <p:txBody>
          <a:bodyPr wrap="square" lIns="0" tIns="0" rIns="0" bIns="0" rtlCol="0" anchor="ctr"/>
          <a:lstStyle/>
          <a:p>
            <a:pPr marL="0" indent="0">
              <a:buNone/>
            </a:pPr>
            <a:r>
              <a:rPr lang="en-US" sz="5200" dirty="0">
                <a:solidFill>
                  <a:srgbClr val="26231E"/>
                </a:solidFill>
                <a:latin typeface="Georgia" pitchFamily="34" charset="0"/>
                <a:ea typeface="Georgia" pitchFamily="34" charset="-122"/>
                <a:cs typeface="Georgia" pitchFamily="34" charset="-120"/>
              </a:rPr>
              <a:t>Claude Code</a:t>
            </a:r>
            <a:endParaRPr lang="en-US" sz="5200" dirty="0"/>
          </a:p>
        </p:txBody>
      </p:sp>
      <p:sp>
        <p:nvSpPr>
          <p:cNvPr id="5" name="Text 2"/>
          <p:cNvSpPr/>
          <p:nvPr/>
        </p:nvSpPr>
        <p:spPr>
          <a:xfrm>
            <a:off x="548640" y="2395728"/>
            <a:ext cx="7315200" cy="822960"/>
          </a:xfrm>
          <a:prstGeom prst="rect">
            <a:avLst/>
          </a:prstGeom>
          <a:noFill/>
          <a:ln/>
        </p:spPr>
        <p:txBody>
          <a:bodyPr wrap="square" lIns="0" tIns="0" rIns="0" bIns="0" rtlCol="0" anchor="ctr"/>
          <a:lstStyle/>
          <a:p>
            <a:pPr marL="0" indent="0">
              <a:buNone/>
            </a:pPr>
            <a:r>
              <a:rPr lang="en-US" sz="5200" i="1" dirty="0">
                <a:solidFill>
                  <a:srgbClr val="C15F3C"/>
                </a:solidFill>
                <a:latin typeface="Georgia" pitchFamily="34" charset="0"/>
                <a:ea typeface="Georgia" pitchFamily="34" charset="-122"/>
                <a:cs typeface="Georgia" pitchFamily="34" charset="-120"/>
              </a:rPr>
              <a:t>in Practice</a:t>
            </a:r>
            <a:endParaRPr lang="en-US" sz="5200" dirty="0"/>
          </a:p>
        </p:txBody>
      </p:sp>
      <p:sp>
        <p:nvSpPr>
          <p:cNvPr id="6" name="Text 3"/>
          <p:cNvSpPr/>
          <p:nvPr/>
        </p:nvSpPr>
        <p:spPr>
          <a:xfrm>
            <a:off x="566928" y="3383280"/>
            <a:ext cx="5029200" cy="914400"/>
          </a:xfrm>
          <a:prstGeom prst="rect">
            <a:avLst/>
          </a:prstGeom>
          <a:noFill/>
          <a:ln/>
        </p:spPr>
        <p:txBody>
          <a:bodyPr wrap="square" lIns="0" tIns="0" rIns="0" bIns="0" rtlCol="0" anchor="ctr"/>
          <a:lstStyle/>
          <a:p>
            <a:pPr marL="0" indent="0">
              <a:lnSpc>
                <a:spcPct val="115000"/>
              </a:lnSpc>
              <a:buNone/>
            </a:pPr>
            <a:r>
              <a:rPr lang="en-US" sz="1400" dirty="0">
                <a:solidFill>
                  <a:srgbClr val="6F665A"/>
                </a:solidFill>
                <a:latin typeface="Calibri" pitchFamily="34" charset="0"/>
                <a:ea typeface="Calibri" pitchFamily="34" charset="-122"/>
                <a:cs typeface="Calibri" pitchFamily="34" charset="-120"/>
              </a:rPr>
              <a:t>A hands-on guide to agentic coding in the terminal and IDE — the agent loop, project memory, plan mode, skills, and reviewing changes with confidence.</a:t>
            </a:r>
            <a:endParaRPr lang="en-US" sz="1400" dirty="0"/>
          </a:p>
        </p:txBody>
      </p:sp>
      <p:sp>
        <p:nvSpPr>
          <p:cNvPr id="7" name="Text 4"/>
          <p:cNvSpPr/>
          <p:nvPr/>
        </p:nvSpPr>
        <p:spPr>
          <a:xfrm>
            <a:off x="566928" y="4434840"/>
            <a:ext cx="4572000" cy="274320"/>
          </a:xfrm>
          <a:prstGeom prst="rect">
            <a:avLst/>
          </a:prstGeom>
          <a:noFill/>
          <a:ln/>
        </p:spPr>
        <p:txBody>
          <a:bodyPr wrap="square" lIns="0" tIns="0" rIns="0" bIns="0" rtlCol="0" anchor="ctr"/>
          <a:lstStyle/>
          <a:p>
            <a:pPr marL="0" indent="0">
              <a:buNone/>
            </a:pPr>
            <a:r>
              <a:rPr lang="en-US" sz="1100" b="1" kern="0" spc="200" dirty="0">
                <a:solidFill>
                  <a:srgbClr val="4B5A66"/>
                </a:solidFill>
                <a:latin typeface="Calibri" pitchFamily="34" charset="0"/>
                <a:ea typeface="Calibri" pitchFamily="34" charset="-122"/>
                <a:cs typeface="Calibri" pitchFamily="34" charset="-120"/>
              </a:rPr>
              <a:t>DEVELOPER TRAINING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ROADMAP</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What we'll cover today</a:t>
            </a:r>
            <a:endParaRPr lang="en-US" sz="2900" dirty="0"/>
          </a:p>
        </p:txBody>
      </p:sp>
      <p:sp>
        <p:nvSpPr>
          <p:cNvPr id="4" name="Shape 2"/>
          <p:cNvSpPr/>
          <p:nvPr/>
        </p:nvSpPr>
        <p:spPr>
          <a:xfrm>
            <a:off x="548640" y="1600200"/>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Shape 3"/>
          <p:cNvSpPr/>
          <p:nvPr/>
        </p:nvSpPr>
        <p:spPr>
          <a:xfrm>
            <a:off x="749808" y="1874520"/>
            <a:ext cx="384048" cy="384048"/>
          </a:xfrm>
          <a:prstGeom prst="ellipse">
            <a:avLst/>
          </a:prstGeom>
          <a:solidFill>
            <a:srgbClr val="C15F3C"/>
          </a:solidFill>
          <a:ln/>
        </p:spPr>
        <p:txBody>
          <a:bodyPr/>
          <a:lstStyle/>
          <a:p>
            <a:endParaRPr lang="en-IN"/>
          </a:p>
        </p:txBody>
      </p:sp>
      <p:sp>
        <p:nvSpPr>
          <p:cNvPr id="6" name="Text 4"/>
          <p:cNvSpPr/>
          <p:nvPr/>
        </p:nvSpPr>
        <p:spPr>
          <a:xfrm>
            <a:off x="749808"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298448" y="1746504"/>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Agentic, not autocomplete</a:t>
            </a:r>
            <a:endParaRPr lang="en-US" sz="1450" dirty="0"/>
          </a:p>
        </p:txBody>
      </p:sp>
      <p:sp>
        <p:nvSpPr>
          <p:cNvPr id="8" name="Text 6"/>
          <p:cNvSpPr/>
          <p:nvPr/>
        </p:nvSpPr>
        <p:spPr>
          <a:xfrm>
            <a:off x="1298448" y="2057400"/>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What Claude Code actually is and why it changes your workflow</a:t>
            </a:r>
            <a:endParaRPr lang="en-US" sz="1100" dirty="0"/>
          </a:p>
        </p:txBody>
      </p:sp>
      <p:sp>
        <p:nvSpPr>
          <p:cNvPr id="9" name="Shape 7"/>
          <p:cNvSpPr/>
          <p:nvPr/>
        </p:nvSpPr>
        <p:spPr>
          <a:xfrm>
            <a:off x="4846320" y="1600200"/>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Shape 8"/>
          <p:cNvSpPr/>
          <p:nvPr/>
        </p:nvSpPr>
        <p:spPr>
          <a:xfrm>
            <a:off x="5047488" y="1874520"/>
            <a:ext cx="384048" cy="384048"/>
          </a:xfrm>
          <a:prstGeom prst="ellipse">
            <a:avLst/>
          </a:prstGeom>
          <a:solidFill>
            <a:srgbClr val="C15F3C"/>
          </a:solidFill>
          <a:ln/>
        </p:spPr>
        <p:txBody>
          <a:bodyPr/>
          <a:lstStyle/>
          <a:p>
            <a:endParaRPr lang="en-IN"/>
          </a:p>
        </p:txBody>
      </p:sp>
      <p:sp>
        <p:nvSpPr>
          <p:cNvPr id="11" name="Text 9"/>
          <p:cNvSpPr/>
          <p:nvPr/>
        </p:nvSpPr>
        <p:spPr>
          <a:xfrm>
            <a:off x="5047488"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5596128" y="1746504"/>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Terminal &amp; IDE</a:t>
            </a:r>
            <a:endParaRPr lang="en-US" sz="1450" dirty="0"/>
          </a:p>
        </p:txBody>
      </p:sp>
      <p:sp>
        <p:nvSpPr>
          <p:cNvPr id="13" name="Text 11"/>
          <p:cNvSpPr/>
          <p:nvPr/>
        </p:nvSpPr>
        <p:spPr>
          <a:xfrm>
            <a:off x="5596128" y="2057400"/>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The two surfaces where the agent runs</a:t>
            </a:r>
            <a:endParaRPr lang="en-US" sz="1100" dirty="0"/>
          </a:p>
        </p:txBody>
      </p:sp>
      <p:sp>
        <p:nvSpPr>
          <p:cNvPr id="14" name="Shape 12"/>
          <p:cNvSpPr/>
          <p:nvPr/>
        </p:nvSpPr>
        <p:spPr>
          <a:xfrm>
            <a:off x="548640" y="2734056"/>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5" name="Shape 13"/>
          <p:cNvSpPr/>
          <p:nvPr/>
        </p:nvSpPr>
        <p:spPr>
          <a:xfrm>
            <a:off x="749808" y="3008376"/>
            <a:ext cx="384048" cy="384048"/>
          </a:xfrm>
          <a:prstGeom prst="ellipse">
            <a:avLst/>
          </a:prstGeom>
          <a:solidFill>
            <a:srgbClr val="C15F3C"/>
          </a:solidFill>
          <a:ln/>
        </p:spPr>
        <p:txBody>
          <a:bodyPr/>
          <a:lstStyle/>
          <a:p>
            <a:endParaRPr lang="en-IN"/>
          </a:p>
        </p:txBody>
      </p:sp>
      <p:sp>
        <p:nvSpPr>
          <p:cNvPr id="16" name="Text 14"/>
          <p:cNvSpPr/>
          <p:nvPr/>
        </p:nvSpPr>
        <p:spPr>
          <a:xfrm>
            <a:off x="749808" y="30083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298448" y="2880360"/>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The agent loop</a:t>
            </a:r>
            <a:endParaRPr lang="en-US" sz="1450" dirty="0"/>
          </a:p>
        </p:txBody>
      </p:sp>
      <p:sp>
        <p:nvSpPr>
          <p:cNvPr id="18" name="Text 16"/>
          <p:cNvSpPr/>
          <p:nvPr/>
        </p:nvSpPr>
        <p:spPr>
          <a:xfrm>
            <a:off x="1298448" y="3191256"/>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Prompt → evaluate → run tools → repeat</a:t>
            </a:r>
            <a:endParaRPr lang="en-US" sz="1100" dirty="0"/>
          </a:p>
        </p:txBody>
      </p:sp>
      <p:sp>
        <p:nvSpPr>
          <p:cNvPr id="19" name="Shape 17"/>
          <p:cNvSpPr/>
          <p:nvPr/>
        </p:nvSpPr>
        <p:spPr>
          <a:xfrm>
            <a:off x="4846320" y="2734056"/>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0" name="Shape 18"/>
          <p:cNvSpPr/>
          <p:nvPr/>
        </p:nvSpPr>
        <p:spPr>
          <a:xfrm>
            <a:off x="5047488" y="3008376"/>
            <a:ext cx="384048" cy="384048"/>
          </a:xfrm>
          <a:prstGeom prst="ellipse">
            <a:avLst/>
          </a:prstGeom>
          <a:solidFill>
            <a:srgbClr val="C15F3C"/>
          </a:solidFill>
          <a:ln/>
        </p:spPr>
        <p:txBody>
          <a:bodyPr/>
          <a:lstStyle/>
          <a:p>
            <a:endParaRPr lang="en-IN"/>
          </a:p>
        </p:txBody>
      </p:sp>
      <p:sp>
        <p:nvSpPr>
          <p:cNvPr id="21" name="Text 19"/>
          <p:cNvSpPr/>
          <p:nvPr/>
        </p:nvSpPr>
        <p:spPr>
          <a:xfrm>
            <a:off x="5047488" y="30083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5596128" y="2880360"/>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Memory &amp; plan mode</a:t>
            </a:r>
            <a:endParaRPr lang="en-US" sz="1450" dirty="0"/>
          </a:p>
        </p:txBody>
      </p:sp>
      <p:sp>
        <p:nvSpPr>
          <p:cNvPr id="23" name="Text 21"/>
          <p:cNvSpPr/>
          <p:nvPr/>
        </p:nvSpPr>
        <p:spPr>
          <a:xfrm>
            <a:off x="5596128" y="3191256"/>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CLAUDE.md context and thinking before doing</a:t>
            </a:r>
            <a:endParaRPr lang="en-US" sz="1100" dirty="0"/>
          </a:p>
        </p:txBody>
      </p:sp>
      <p:sp>
        <p:nvSpPr>
          <p:cNvPr id="24" name="Shape 22"/>
          <p:cNvSpPr/>
          <p:nvPr/>
        </p:nvSpPr>
        <p:spPr>
          <a:xfrm>
            <a:off x="548640" y="3867912"/>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5" name="Shape 23"/>
          <p:cNvSpPr/>
          <p:nvPr/>
        </p:nvSpPr>
        <p:spPr>
          <a:xfrm>
            <a:off x="749808" y="4142232"/>
            <a:ext cx="384048" cy="384048"/>
          </a:xfrm>
          <a:prstGeom prst="ellipse">
            <a:avLst/>
          </a:prstGeom>
          <a:solidFill>
            <a:srgbClr val="C15F3C"/>
          </a:solidFill>
          <a:ln/>
        </p:spPr>
        <p:txBody>
          <a:bodyPr/>
          <a:lstStyle/>
          <a:p>
            <a:endParaRPr lang="en-IN"/>
          </a:p>
        </p:txBody>
      </p:sp>
      <p:sp>
        <p:nvSpPr>
          <p:cNvPr id="26" name="Text 24"/>
          <p:cNvSpPr/>
          <p:nvPr/>
        </p:nvSpPr>
        <p:spPr>
          <a:xfrm>
            <a:off x="749808" y="41422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7" name="Text 25"/>
          <p:cNvSpPr/>
          <p:nvPr/>
        </p:nvSpPr>
        <p:spPr>
          <a:xfrm>
            <a:off x="1298448" y="4014216"/>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Skills &amp; reviewing changes</a:t>
            </a:r>
            <a:endParaRPr lang="en-US" sz="1450" dirty="0"/>
          </a:p>
        </p:txBody>
      </p:sp>
      <p:sp>
        <p:nvSpPr>
          <p:cNvPr id="28" name="Text 26"/>
          <p:cNvSpPr/>
          <p:nvPr/>
        </p:nvSpPr>
        <p:spPr>
          <a:xfrm>
            <a:off x="1298448" y="4325112"/>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Slash commands, skills, accepting diffs</a:t>
            </a:r>
            <a:endParaRPr lang="en-US" sz="1100" dirty="0"/>
          </a:p>
        </p:txBody>
      </p:sp>
      <p:sp>
        <p:nvSpPr>
          <p:cNvPr id="29" name="Shape 27"/>
          <p:cNvSpPr/>
          <p:nvPr/>
        </p:nvSpPr>
        <p:spPr>
          <a:xfrm>
            <a:off x="4846320" y="3867912"/>
            <a:ext cx="397764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30" name="Shape 28"/>
          <p:cNvSpPr/>
          <p:nvPr/>
        </p:nvSpPr>
        <p:spPr>
          <a:xfrm>
            <a:off x="5047488" y="4142232"/>
            <a:ext cx="384048" cy="384048"/>
          </a:xfrm>
          <a:prstGeom prst="ellipse">
            <a:avLst/>
          </a:prstGeom>
          <a:solidFill>
            <a:srgbClr val="C15F3C"/>
          </a:solidFill>
          <a:ln/>
        </p:spPr>
        <p:txBody>
          <a:bodyPr/>
          <a:lstStyle/>
          <a:p>
            <a:endParaRPr lang="en-IN"/>
          </a:p>
        </p:txBody>
      </p:sp>
      <p:sp>
        <p:nvSpPr>
          <p:cNvPr id="31" name="Text 29"/>
          <p:cNvSpPr/>
          <p:nvPr/>
        </p:nvSpPr>
        <p:spPr>
          <a:xfrm>
            <a:off x="5047488" y="41422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2" name="Text 30"/>
          <p:cNvSpPr/>
          <p:nvPr/>
        </p:nvSpPr>
        <p:spPr>
          <a:xfrm>
            <a:off x="5596128" y="4014216"/>
            <a:ext cx="3063240" cy="320040"/>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Reviewable output + practice</a:t>
            </a:r>
            <a:endParaRPr lang="en-US" sz="1450" dirty="0"/>
          </a:p>
        </p:txBody>
      </p:sp>
      <p:sp>
        <p:nvSpPr>
          <p:cNvPr id="33" name="Text 31"/>
          <p:cNvSpPr/>
          <p:nvPr/>
        </p:nvSpPr>
        <p:spPr>
          <a:xfrm>
            <a:off x="5596128" y="4325112"/>
            <a:ext cx="3063240" cy="411480"/>
          </a:xfrm>
          <a:prstGeom prst="rect">
            <a:avLst/>
          </a:prstGeom>
          <a:noFill/>
          <a:ln/>
        </p:spPr>
        <p:txBody>
          <a:bodyPr wrap="square" lIns="0" tIns="0" rIns="0" bIns="0" rtlCol="0" anchor="ctr"/>
          <a:lstStyle/>
          <a:p>
            <a:pPr marL="0" indent="0">
              <a:lnSpc>
                <a:spcPct val="100000"/>
              </a:lnSpc>
              <a:buNone/>
            </a:pPr>
            <a:r>
              <a:rPr lang="en-US" sz="1100" dirty="0">
                <a:solidFill>
                  <a:srgbClr val="6F665A"/>
                </a:solidFill>
                <a:latin typeface="Calibri" pitchFamily="34" charset="0"/>
                <a:ea typeface="Calibri" pitchFamily="34" charset="-122"/>
                <a:cs typeface="Calibri" pitchFamily="34" charset="-120"/>
              </a:rPr>
              <a:t>Patterns, a live demo, and a hands-on exercise</a:t>
            </a:r>
            <a:endParaRPr lang="en-US" sz="1100" dirty="0"/>
          </a:p>
        </p:txBody>
      </p:sp>
      <p:sp>
        <p:nvSpPr>
          <p:cNvPr id="34" name="Text 32"/>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35" name="Shape 33"/>
          <p:cNvSpPr/>
          <p:nvPr/>
        </p:nvSpPr>
        <p:spPr>
          <a:xfrm>
            <a:off x="8394192" y="4855464"/>
            <a:ext cx="128016" cy="128016"/>
          </a:xfrm>
          <a:prstGeom prst="ellipse">
            <a:avLst/>
          </a:prstGeom>
          <a:solidFill>
            <a:srgbClr val="C15F3C"/>
          </a:solidFill>
          <a:ln/>
        </p:spPr>
        <p:txBody>
          <a:bodyPr/>
          <a:lstStyle/>
          <a:p>
            <a:endParaRPr lang="en-IN"/>
          </a:p>
        </p:txBody>
      </p:sp>
      <p:sp>
        <p:nvSpPr>
          <p:cNvPr id="36" name="Text 34"/>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CORE IDEA</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Agentic, not autocomplete</a:t>
            </a:r>
            <a:endParaRPr lang="en-US" sz="2900" dirty="0"/>
          </a:p>
        </p:txBody>
      </p:sp>
      <p:sp>
        <p:nvSpPr>
          <p:cNvPr id="4" name="Text 2"/>
          <p:cNvSpPr/>
          <p:nvPr/>
        </p:nvSpPr>
        <p:spPr>
          <a:xfrm>
            <a:off x="548640" y="1554480"/>
            <a:ext cx="4114800" cy="1463040"/>
          </a:xfrm>
          <a:prstGeom prst="rect">
            <a:avLst/>
          </a:prstGeom>
          <a:noFill/>
          <a:ln/>
        </p:spPr>
        <p:txBody>
          <a:bodyPr wrap="square" lIns="0" tIns="0" rIns="0" bIns="0" rtlCol="0" anchor="t"/>
          <a:lstStyle/>
          <a:p>
            <a:pPr marL="0" indent="0">
              <a:lnSpc>
                <a:spcPct val="122000"/>
              </a:lnSpc>
              <a:buNone/>
            </a:pPr>
            <a:r>
              <a:rPr lang="en-US" sz="1450" dirty="0">
                <a:solidFill>
                  <a:srgbClr val="6F665A"/>
                </a:solidFill>
                <a:latin typeface="Calibri" pitchFamily="34" charset="0"/>
                <a:ea typeface="Calibri" pitchFamily="34" charset="-122"/>
                <a:cs typeface="Calibri" pitchFamily="34" charset="-120"/>
              </a:rPr>
              <a:t>Unlike a chatbot that answers and waits, Claude Code </a:t>
            </a:r>
            <a:r>
              <a:rPr lang="en-US" sz="1450" b="1" dirty="0">
                <a:solidFill>
                  <a:srgbClr val="26231E"/>
                </a:solidFill>
                <a:latin typeface="Calibri" pitchFamily="34" charset="0"/>
                <a:ea typeface="Calibri" pitchFamily="34" charset="-122"/>
                <a:cs typeface="Calibri" pitchFamily="34" charset="-120"/>
              </a:rPr>
              <a:t>reads your files, runs commands, makes changes across files, and runs tests</a:t>
            </a:r>
            <a:r>
              <a:rPr lang="en-US" sz="1450" dirty="0">
                <a:solidFill>
                  <a:srgbClr val="6F665A"/>
                </a:solidFill>
                <a:latin typeface="Calibri" pitchFamily="34" charset="0"/>
                <a:ea typeface="Calibri" pitchFamily="34" charset="-122"/>
                <a:cs typeface="Calibri" pitchFamily="34" charset="-120"/>
              </a:rPr>
              <a:t> — working through a problem autonomously while you watch, redirect, or step away.</a:t>
            </a:r>
            <a:endParaRPr lang="en-US" sz="1450" dirty="0"/>
          </a:p>
        </p:txBody>
      </p:sp>
      <p:sp>
        <p:nvSpPr>
          <p:cNvPr id="5" name="Text 3"/>
          <p:cNvSpPr/>
          <p:nvPr/>
        </p:nvSpPr>
        <p:spPr>
          <a:xfrm>
            <a:off x="548640" y="3200400"/>
            <a:ext cx="4114800" cy="1188720"/>
          </a:xfrm>
          <a:prstGeom prst="rect">
            <a:avLst/>
          </a:prstGeom>
          <a:noFill/>
          <a:ln/>
        </p:spPr>
        <p:txBody>
          <a:bodyPr wrap="square" lIns="0" tIns="0" rIns="0" bIns="0" rtlCol="0" anchor="t"/>
          <a:lstStyle/>
          <a:p>
            <a:pPr marL="0" indent="0">
              <a:lnSpc>
                <a:spcPct val="118000"/>
              </a:lnSpc>
              <a:buNone/>
            </a:pPr>
            <a:r>
              <a:rPr lang="en-US" sz="1300" b="1" dirty="0">
                <a:solidFill>
                  <a:srgbClr val="C15F3C"/>
                </a:solidFill>
                <a:latin typeface="Calibri" pitchFamily="34" charset="0"/>
                <a:ea typeface="Calibri" pitchFamily="34" charset="-122"/>
                <a:cs typeface="Calibri" pitchFamily="34" charset="-120"/>
              </a:rPr>
              <a:t>The shift: </a:t>
            </a:r>
            <a:r>
              <a:rPr lang="en-US" sz="1300" dirty="0">
                <a:solidFill>
                  <a:srgbClr val="4B5A66"/>
                </a:solidFill>
                <a:latin typeface="Calibri" pitchFamily="34" charset="0"/>
                <a:ea typeface="Calibri" pitchFamily="34" charset="-122"/>
                <a:cs typeface="Calibri" pitchFamily="34" charset="-120"/>
              </a:rPr>
              <a:t>you describe what you want, and Claude explores, plans, and implements — instead of you writing code and asking it to review.</a:t>
            </a:r>
            <a:endParaRPr lang="en-US" sz="1300" dirty="0"/>
          </a:p>
        </p:txBody>
      </p:sp>
      <p:sp>
        <p:nvSpPr>
          <p:cNvPr id="6" name="Shape 4"/>
          <p:cNvSpPr/>
          <p:nvPr/>
        </p:nvSpPr>
        <p:spPr>
          <a:xfrm>
            <a:off x="4983480" y="1554480"/>
            <a:ext cx="3611880" cy="1325880"/>
          </a:xfrm>
          <a:prstGeom prst="roundRect">
            <a:avLst>
              <a:gd name="adj" fmla="val 5517"/>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7" name="Text 5"/>
          <p:cNvSpPr/>
          <p:nvPr/>
        </p:nvSpPr>
        <p:spPr>
          <a:xfrm>
            <a:off x="5257800" y="1700784"/>
            <a:ext cx="3063240" cy="274320"/>
          </a:xfrm>
          <a:prstGeom prst="rect">
            <a:avLst/>
          </a:prstGeom>
          <a:noFill/>
          <a:ln/>
        </p:spPr>
        <p:txBody>
          <a:bodyPr wrap="square" lIns="0" tIns="0" rIns="0" bIns="0" rtlCol="0" anchor="ctr"/>
          <a:lstStyle/>
          <a:p>
            <a:pPr marL="0" indent="0">
              <a:buNone/>
            </a:pPr>
            <a:r>
              <a:rPr lang="en-US" sz="1100" b="1" kern="0" spc="200" dirty="0">
                <a:solidFill>
                  <a:srgbClr val="6F665A"/>
                </a:solidFill>
                <a:latin typeface="Calibri" pitchFamily="34" charset="0"/>
                <a:ea typeface="Calibri" pitchFamily="34" charset="-122"/>
                <a:cs typeface="Calibri" pitchFamily="34" charset="-120"/>
              </a:rPr>
              <a:t>AUTOCOMPLETE</a:t>
            </a:r>
            <a:endParaRPr lang="en-US" sz="1100" dirty="0"/>
          </a:p>
        </p:txBody>
      </p:sp>
      <p:sp>
        <p:nvSpPr>
          <p:cNvPr id="8" name="Text 6"/>
          <p:cNvSpPr/>
          <p:nvPr/>
        </p:nvSpPr>
        <p:spPr>
          <a:xfrm>
            <a:off x="5257800" y="2011680"/>
            <a:ext cx="3063240" cy="731520"/>
          </a:xfrm>
          <a:prstGeom prst="rect">
            <a:avLst/>
          </a:prstGeom>
          <a:noFill/>
          <a:ln/>
        </p:spPr>
        <p:txBody>
          <a:bodyPr wrap="square" lIns="0" tIns="0" rIns="0" bIns="0" rtlCol="0" anchor="ctr"/>
          <a:lstStyle/>
          <a:p>
            <a:pPr marL="0" indent="0">
              <a:lnSpc>
                <a:spcPct val="110000"/>
              </a:lnSpc>
              <a:buNone/>
            </a:pPr>
            <a:r>
              <a:rPr lang="en-US" sz="1250" dirty="0">
                <a:solidFill>
                  <a:srgbClr val="26231E"/>
                </a:solidFill>
                <a:latin typeface="Calibri" pitchFamily="34" charset="0"/>
                <a:ea typeface="Calibri" pitchFamily="34" charset="-122"/>
                <a:cs typeface="Calibri" pitchFamily="34" charset="-120"/>
              </a:rPr>
              <a:t>Suggests the next line. You drive every keystroke and stay inside one file.</a:t>
            </a:r>
            <a:endParaRPr lang="en-US" sz="1250" dirty="0"/>
          </a:p>
        </p:txBody>
      </p:sp>
      <p:sp>
        <p:nvSpPr>
          <p:cNvPr id="9" name="Shape 7"/>
          <p:cNvSpPr/>
          <p:nvPr/>
        </p:nvSpPr>
        <p:spPr>
          <a:xfrm>
            <a:off x="4983480" y="3035808"/>
            <a:ext cx="3611880" cy="1417320"/>
          </a:xfrm>
          <a:prstGeom prst="roundRect">
            <a:avLst>
              <a:gd name="adj" fmla="val 5161"/>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Shape 8"/>
          <p:cNvSpPr/>
          <p:nvPr/>
        </p:nvSpPr>
        <p:spPr>
          <a:xfrm>
            <a:off x="4983480" y="3035808"/>
            <a:ext cx="82296" cy="1417320"/>
          </a:xfrm>
          <a:prstGeom prst="rect">
            <a:avLst/>
          </a:prstGeom>
          <a:solidFill>
            <a:srgbClr val="C15F3C"/>
          </a:solidFill>
          <a:ln/>
        </p:spPr>
        <p:txBody>
          <a:bodyPr/>
          <a:lstStyle/>
          <a:p>
            <a:endParaRPr lang="en-IN"/>
          </a:p>
        </p:txBody>
      </p:sp>
      <p:sp>
        <p:nvSpPr>
          <p:cNvPr id="11" name="Text 9"/>
          <p:cNvSpPr/>
          <p:nvPr/>
        </p:nvSpPr>
        <p:spPr>
          <a:xfrm>
            <a:off x="5257800" y="3182112"/>
            <a:ext cx="3063240" cy="274320"/>
          </a:xfrm>
          <a:prstGeom prst="rect">
            <a:avLst/>
          </a:prstGeom>
          <a:noFill/>
          <a:ln/>
        </p:spPr>
        <p:txBody>
          <a:bodyPr wrap="square" lIns="0" tIns="0" rIns="0" bIns="0" rtlCol="0" anchor="ctr"/>
          <a:lstStyle/>
          <a:p>
            <a:pPr marL="0" indent="0">
              <a:buNone/>
            </a:pPr>
            <a:r>
              <a:rPr lang="en-US" sz="1100" b="1" kern="0" spc="200" dirty="0">
                <a:solidFill>
                  <a:srgbClr val="C15F3C"/>
                </a:solidFill>
                <a:latin typeface="Calibri" pitchFamily="34" charset="0"/>
                <a:ea typeface="Calibri" pitchFamily="34" charset="-122"/>
                <a:cs typeface="Calibri" pitchFamily="34" charset="-120"/>
              </a:rPr>
              <a:t>AGENTIC</a:t>
            </a:r>
            <a:endParaRPr lang="en-US" sz="1100" dirty="0"/>
          </a:p>
        </p:txBody>
      </p:sp>
      <p:sp>
        <p:nvSpPr>
          <p:cNvPr id="12" name="Text 10"/>
          <p:cNvSpPr/>
          <p:nvPr/>
        </p:nvSpPr>
        <p:spPr>
          <a:xfrm>
            <a:off x="5257800" y="3493008"/>
            <a:ext cx="3063240" cy="914400"/>
          </a:xfrm>
          <a:prstGeom prst="rect">
            <a:avLst/>
          </a:prstGeom>
          <a:noFill/>
          <a:ln/>
        </p:spPr>
        <p:txBody>
          <a:bodyPr wrap="square" lIns="0" tIns="0" rIns="0" bIns="0" rtlCol="0" anchor="ctr"/>
          <a:lstStyle/>
          <a:p>
            <a:pPr marL="0" indent="0">
              <a:lnSpc>
                <a:spcPct val="112000"/>
              </a:lnSpc>
              <a:buNone/>
            </a:pPr>
            <a:r>
              <a:rPr lang="en-US" sz="1250" dirty="0">
                <a:solidFill>
                  <a:srgbClr val="26231E"/>
                </a:solidFill>
                <a:latin typeface="Calibri" pitchFamily="34" charset="0"/>
                <a:ea typeface="Calibri" pitchFamily="34" charset="-122"/>
                <a:cs typeface="Calibri" pitchFamily="34" charset="-120"/>
              </a:rPr>
              <a:t>Takes a goal, plans multi-file changes, runs commands and tests, and delivers committed code for you to review.</a:t>
            </a:r>
            <a:endParaRPr lang="en-US" sz="1250" dirty="0"/>
          </a:p>
        </p:txBody>
      </p:sp>
      <p:sp>
        <p:nvSpPr>
          <p:cNvPr id="13" name="Text 11"/>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4" name="Shape 12"/>
          <p:cNvSpPr/>
          <p:nvPr/>
        </p:nvSpPr>
        <p:spPr>
          <a:xfrm>
            <a:off x="8394192" y="4855464"/>
            <a:ext cx="128016" cy="128016"/>
          </a:xfrm>
          <a:prstGeom prst="ellipse">
            <a:avLst/>
          </a:prstGeom>
          <a:solidFill>
            <a:srgbClr val="C15F3C"/>
          </a:solidFill>
          <a:ln/>
        </p:spPr>
        <p:txBody>
          <a:bodyPr/>
          <a:lstStyle/>
          <a:p>
            <a:endParaRPr lang="en-IN"/>
          </a:p>
        </p:txBody>
      </p:sp>
      <p:sp>
        <p:nvSpPr>
          <p:cNvPr id="15" name="Text 13"/>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WHERE IT RUNS</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Two surfaces: terminal &amp; IDE</a:t>
            </a:r>
            <a:endParaRPr lang="en-US" sz="2900" dirty="0"/>
          </a:p>
        </p:txBody>
      </p:sp>
      <p:sp>
        <p:nvSpPr>
          <p:cNvPr id="4" name="Shape 2"/>
          <p:cNvSpPr/>
          <p:nvPr/>
        </p:nvSpPr>
        <p:spPr>
          <a:xfrm>
            <a:off x="548640" y="1572768"/>
            <a:ext cx="457200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Shape 3"/>
          <p:cNvSpPr/>
          <p:nvPr/>
        </p:nvSpPr>
        <p:spPr>
          <a:xfrm>
            <a:off x="749808" y="1847088"/>
            <a:ext cx="384048" cy="384048"/>
          </a:xfrm>
          <a:prstGeom prst="ellipse">
            <a:avLst/>
          </a:prstGeom>
          <a:solidFill>
            <a:srgbClr val="4B5A66"/>
          </a:solidFill>
          <a:ln/>
        </p:spPr>
        <p:txBody>
          <a:bodyPr/>
          <a:lstStyle/>
          <a:p>
            <a:endParaRPr lang="en-IN"/>
          </a:p>
        </p:txBody>
      </p:sp>
      <p:sp>
        <p:nvSpPr>
          <p:cNvPr id="6" name="Text 4"/>
          <p:cNvSpPr/>
          <p:nvPr/>
        </p:nvSpPr>
        <p:spPr>
          <a:xfrm>
            <a:off x="749808" y="18470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298448" y="1700784"/>
            <a:ext cx="365760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Terminal</a:t>
            </a:r>
            <a:endParaRPr lang="en-US" sz="1500" dirty="0"/>
          </a:p>
        </p:txBody>
      </p:sp>
      <p:sp>
        <p:nvSpPr>
          <p:cNvPr id="8" name="Text 6"/>
          <p:cNvSpPr/>
          <p:nvPr/>
        </p:nvSpPr>
        <p:spPr>
          <a:xfrm>
            <a:off x="1298448" y="1993392"/>
            <a:ext cx="3657600" cy="45720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The CLI agent on macOS, Linux, and Windows. Natural-language commands; it edits files and runs commands right where you work.</a:t>
            </a:r>
            <a:endParaRPr lang="en-US" sz="1150" dirty="0"/>
          </a:p>
        </p:txBody>
      </p:sp>
      <p:sp>
        <p:nvSpPr>
          <p:cNvPr id="9" name="Shape 7"/>
          <p:cNvSpPr/>
          <p:nvPr/>
        </p:nvSpPr>
        <p:spPr>
          <a:xfrm>
            <a:off x="548640" y="2651760"/>
            <a:ext cx="457200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Shape 8"/>
          <p:cNvSpPr/>
          <p:nvPr/>
        </p:nvSpPr>
        <p:spPr>
          <a:xfrm>
            <a:off x="749808" y="2926080"/>
            <a:ext cx="384048" cy="384048"/>
          </a:xfrm>
          <a:prstGeom prst="ellipse">
            <a:avLst/>
          </a:prstGeom>
          <a:solidFill>
            <a:srgbClr val="4B5A66"/>
          </a:solidFill>
          <a:ln/>
        </p:spPr>
        <p:txBody>
          <a:bodyPr/>
          <a:lstStyle/>
          <a:p>
            <a:endParaRPr lang="en-IN"/>
          </a:p>
        </p:txBody>
      </p:sp>
      <p:sp>
        <p:nvSpPr>
          <p:cNvPr id="11" name="Text 9"/>
          <p:cNvSpPr/>
          <p:nvPr/>
        </p:nvSpPr>
        <p:spPr>
          <a:xfrm>
            <a:off x="749808" y="2926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1298448" y="2779776"/>
            <a:ext cx="365760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IDE &amp; editor</a:t>
            </a:r>
            <a:endParaRPr lang="en-US" sz="1500" dirty="0"/>
          </a:p>
        </p:txBody>
      </p:sp>
      <p:sp>
        <p:nvSpPr>
          <p:cNvPr id="13" name="Text 11"/>
          <p:cNvSpPr/>
          <p:nvPr/>
        </p:nvSpPr>
        <p:spPr>
          <a:xfrm>
            <a:off x="1298448" y="3072384"/>
            <a:ext cx="3657600" cy="45720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Integrates into your editor so you review diffs inline and keep your normal workflow — plus desktop and browser surfaces.</a:t>
            </a:r>
            <a:endParaRPr lang="en-US" sz="1150" dirty="0"/>
          </a:p>
        </p:txBody>
      </p:sp>
      <p:sp>
        <p:nvSpPr>
          <p:cNvPr id="14" name="Shape 12"/>
          <p:cNvSpPr/>
          <p:nvPr/>
        </p:nvSpPr>
        <p:spPr>
          <a:xfrm>
            <a:off x="548640" y="3730752"/>
            <a:ext cx="4572000" cy="932688"/>
          </a:xfrm>
          <a:prstGeom prst="roundRect">
            <a:avLst>
              <a:gd name="adj" fmla="val 7843"/>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5" name="Shape 13"/>
          <p:cNvSpPr/>
          <p:nvPr/>
        </p:nvSpPr>
        <p:spPr>
          <a:xfrm>
            <a:off x="749808" y="4005072"/>
            <a:ext cx="384048" cy="384048"/>
          </a:xfrm>
          <a:prstGeom prst="ellipse">
            <a:avLst/>
          </a:prstGeom>
          <a:solidFill>
            <a:srgbClr val="4B5A66"/>
          </a:solidFill>
          <a:ln/>
        </p:spPr>
        <p:txBody>
          <a:bodyPr/>
          <a:lstStyle/>
          <a:p>
            <a:endParaRPr lang="en-IN"/>
          </a:p>
        </p:txBody>
      </p:sp>
      <p:sp>
        <p:nvSpPr>
          <p:cNvPr id="16" name="Text 14"/>
          <p:cNvSpPr/>
          <p:nvPr/>
        </p:nvSpPr>
        <p:spPr>
          <a:xfrm>
            <a:off x="749808" y="400507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298448" y="3858768"/>
            <a:ext cx="365760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Repo-aware</a:t>
            </a:r>
            <a:endParaRPr lang="en-US" sz="1500" dirty="0"/>
          </a:p>
        </p:txBody>
      </p:sp>
      <p:sp>
        <p:nvSpPr>
          <p:cNvPr id="18" name="Text 16"/>
          <p:cNvSpPr/>
          <p:nvPr/>
        </p:nvSpPr>
        <p:spPr>
          <a:xfrm>
            <a:off x="1298448" y="4151376"/>
            <a:ext cx="3657600" cy="45720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It reasons over the whole codebase, not just the open file — exploring, planning, and editing across many files.</a:t>
            </a:r>
            <a:endParaRPr lang="en-US" sz="1150" dirty="0"/>
          </a:p>
        </p:txBody>
      </p:sp>
      <p:sp>
        <p:nvSpPr>
          <p:cNvPr id="19" name="Shape 17"/>
          <p:cNvSpPr/>
          <p:nvPr/>
        </p:nvSpPr>
        <p:spPr>
          <a:xfrm>
            <a:off x="5440680" y="1572768"/>
            <a:ext cx="3154680" cy="3072384"/>
          </a:xfrm>
          <a:prstGeom prst="roundRect">
            <a:avLst>
              <a:gd name="adj" fmla="val 2381"/>
            </a:avLst>
          </a:prstGeom>
          <a:solidFill>
            <a:srgbClr val="FCEFE1"/>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pic>
        <p:nvPicPr>
          <p:cNvPr id="20" name="Image 0" descr="images/image-920f8f888e05533dba0ba9647e18559a.jpg"/>
          <p:cNvPicPr>
            <a:picLocks noChangeAspect="1"/>
          </p:cNvPicPr>
          <p:nvPr/>
        </p:nvPicPr>
        <p:blipFill>
          <a:blip r:embed="rId3"/>
          <a:stretch>
            <a:fillRect/>
          </a:stretch>
        </p:blipFill>
        <p:spPr>
          <a:xfrm>
            <a:off x="5605272" y="2384474"/>
            <a:ext cx="2825496" cy="1448972"/>
          </a:xfrm>
          <a:prstGeom prst="rect">
            <a:avLst/>
          </a:prstGeom>
        </p:spPr>
      </p:pic>
      <p:sp>
        <p:nvSpPr>
          <p:cNvPr id="21" name="Text 18"/>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22" name="Shape 19"/>
          <p:cNvSpPr/>
          <p:nvPr/>
        </p:nvSpPr>
        <p:spPr>
          <a:xfrm>
            <a:off x="8394192" y="4855464"/>
            <a:ext cx="128016" cy="128016"/>
          </a:xfrm>
          <a:prstGeom prst="ellipse">
            <a:avLst/>
          </a:prstGeom>
          <a:solidFill>
            <a:srgbClr val="C15F3C"/>
          </a:solidFill>
          <a:ln/>
        </p:spPr>
        <p:txBody>
          <a:bodyPr/>
          <a:lstStyle/>
          <a:p>
            <a:endParaRPr lang="en-IN"/>
          </a:p>
        </p:txBody>
      </p:sp>
      <p:sp>
        <p:nvSpPr>
          <p:cNvPr id="23" name="Text 20"/>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UNDER THE HOOD</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The agent loop</a:t>
            </a:r>
            <a:endParaRPr lang="en-US" sz="2900" dirty="0"/>
          </a:p>
        </p:txBody>
      </p:sp>
      <p:sp>
        <p:nvSpPr>
          <p:cNvPr id="4" name="Shape 2"/>
          <p:cNvSpPr/>
          <p:nvPr/>
        </p:nvSpPr>
        <p:spPr>
          <a:xfrm>
            <a:off x="548640" y="1572768"/>
            <a:ext cx="384048" cy="384048"/>
          </a:xfrm>
          <a:prstGeom prst="ellipse">
            <a:avLst/>
          </a:prstGeom>
          <a:solidFill>
            <a:srgbClr val="C15F3C"/>
          </a:solidFill>
          <a:ln/>
        </p:spPr>
        <p:txBody>
          <a:bodyPr/>
          <a:lstStyle/>
          <a:p>
            <a:endParaRPr lang="en-IN"/>
          </a:p>
        </p:txBody>
      </p:sp>
      <p:sp>
        <p:nvSpPr>
          <p:cNvPr id="5" name="Text 3"/>
          <p:cNvSpPr/>
          <p:nvPr/>
        </p:nvSpPr>
        <p:spPr>
          <a:xfrm>
            <a:off x="548640" y="1572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6" name="Text 4"/>
          <p:cNvSpPr/>
          <p:nvPr/>
        </p:nvSpPr>
        <p:spPr>
          <a:xfrm>
            <a:off x="1051560" y="1536192"/>
            <a:ext cx="3840480" cy="292608"/>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Receive prompt</a:t>
            </a:r>
            <a:endParaRPr lang="en-US" sz="1450" dirty="0"/>
          </a:p>
        </p:txBody>
      </p:sp>
      <p:sp>
        <p:nvSpPr>
          <p:cNvPr id="7" name="Text 5"/>
          <p:cNvSpPr/>
          <p:nvPr/>
        </p:nvSpPr>
        <p:spPr>
          <a:xfrm>
            <a:off x="1051560" y="1828800"/>
            <a:ext cx="3931920" cy="41148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Your request joins the system prompt, tool definitions, and conversation history.</a:t>
            </a:r>
            <a:endParaRPr lang="en-US" sz="1150" dirty="0"/>
          </a:p>
        </p:txBody>
      </p:sp>
      <p:sp>
        <p:nvSpPr>
          <p:cNvPr id="8" name="Shape 6"/>
          <p:cNvSpPr/>
          <p:nvPr/>
        </p:nvSpPr>
        <p:spPr>
          <a:xfrm>
            <a:off x="548640" y="2359152"/>
            <a:ext cx="384048" cy="384048"/>
          </a:xfrm>
          <a:prstGeom prst="ellipse">
            <a:avLst/>
          </a:prstGeom>
          <a:solidFill>
            <a:srgbClr val="4B5A66"/>
          </a:solidFill>
          <a:ln/>
        </p:spPr>
        <p:txBody>
          <a:bodyPr/>
          <a:lstStyle/>
          <a:p>
            <a:endParaRPr lang="en-IN"/>
          </a:p>
        </p:txBody>
      </p:sp>
      <p:sp>
        <p:nvSpPr>
          <p:cNvPr id="9" name="Text 7"/>
          <p:cNvSpPr/>
          <p:nvPr/>
        </p:nvSpPr>
        <p:spPr>
          <a:xfrm>
            <a:off x="548640" y="23591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051560" y="2322576"/>
            <a:ext cx="3840480" cy="292608"/>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Evaluate &amp; respond</a:t>
            </a:r>
            <a:endParaRPr lang="en-US" sz="1450" dirty="0"/>
          </a:p>
        </p:txBody>
      </p:sp>
      <p:sp>
        <p:nvSpPr>
          <p:cNvPr id="11" name="Text 9"/>
          <p:cNvSpPr/>
          <p:nvPr/>
        </p:nvSpPr>
        <p:spPr>
          <a:xfrm>
            <a:off x="1051560" y="2615184"/>
            <a:ext cx="3931920" cy="41148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Claude decides how to proceed — replying with text, requesting tool calls, or both.</a:t>
            </a:r>
            <a:endParaRPr lang="en-US" sz="1150" dirty="0"/>
          </a:p>
        </p:txBody>
      </p:sp>
      <p:sp>
        <p:nvSpPr>
          <p:cNvPr id="12" name="Shape 10"/>
          <p:cNvSpPr/>
          <p:nvPr/>
        </p:nvSpPr>
        <p:spPr>
          <a:xfrm>
            <a:off x="548640" y="3145536"/>
            <a:ext cx="384048" cy="384048"/>
          </a:xfrm>
          <a:prstGeom prst="ellipse">
            <a:avLst/>
          </a:prstGeom>
          <a:solidFill>
            <a:srgbClr val="C15F3C"/>
          </a:solidFill>
          <a:ln/>
        </p:spPr>
        <p:txBody>
          <a:bodyPr/>
          <a:lstStyle/>
          <a:p>
            <a:endParaRPr lang="en-IN"/>
          </a:p>
        </p:txBody>
      </p:sp>
      <p:sp>
        <p:nvSpPr>
          <p:cNvPr id="13" name="Text 11"/>
          <p:cNvSpPr/>
          <p:nvPr/>
        </p:nvSpPr>
        <p:spPr>
          <a:xfrm>
            <a:off x="548640" y="31455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4" name="Text 12"/>
          <p:cNvSpPr/>
          <p:nvPr/>
        </p:nvSpPr>
        <p:spPr>
          <a:xfrm>
            <a:off x="1051560" y="3108960"/>
            <a:ext cx="3840480" cy="292608"/>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Execute tools</a:t>
            </a:r>
            <a:endParaRPr lang="en-US" sz="1450" dirty="0"/>
          </a:p>
        </p:txBody>
      </p:sp>
      <p:sp>
        <p:nvSpPr>
          <p:cNvPr id="15" name="Text 13"/>
          <p:cNvSpPr/>
          <p:nvPr/>
        </p:nvSpPr>
        <p:spPr>
          <a:xfrm>
            <a:off x="1051560" y="3401568"/>
            <a:ext cx="3931920" cy="41148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It runs the tools (read, edit, run command), and the results feed back in.</a:t>
            </a:r>
            <a:endParaRPr lang="en-US" sz="1150" dirty="0"/>
          </a:p>
        </p:txBody>
      </p:sp>
      <p:sp>
        <p:nvSpPr>
          <p:cNvPr id="16" name="Shape 14"/>
          <p:cNvSpPr/>
          <p:nvPr/>
        </p:nvSpPr>
        <p:spPr>
          <a:xfrm>
            <a:off x="548640" y="3931920"/>
            <a:ext cx="384048" cy="384048"/>
          </a:xfrm>
          <a:prstGeom prst="ellipse">
            <a:avLst/>
          </a:prstGeom>
          <a:solidFill>
            <a:srgbClr val="4B5A66"/>
          </a:solidFill>
          <a:ln/>
        </p:spPr>
        <p:txBody>
          <a:bodyPr/>
          <a:lstStyle/>
          <a:p>
            <a:endParaRPr lang="en-IN"/>
          </a:p>
        </p:txBody>
      </p:sp>
      <p:sp>
        <p:nvSpPr>
          <p:cNvPr id="17" name="Text 15"/>
          <p:cNvSpPr/>
          <p:nvPr/>
        </p:nvSpPr>
        <p:spPr>
          <a:xfrm>
            <a:off x="548640" y="3931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8" name="Text 16"/>
          <p:cNvSpPr/>
          <p:nvPr/>
        </p:nvSpPr>
        <p:spPr>
          <a:xfrm>
            <a:off x="1051560" y="3895344"/>
            <a:ext cx="3840480" cy="292608"/>
          </a:xfrm>
          <a:prstGeom prst="rect">
            <a:avLst/>
          </a:prstGeom>
          <a:noFill/>
          <a:ln/>
        </p:spPr>
        <p:txBody>
          <a:bodyPr wrap="square" lIns="0" tIns="0" rIns="0" bIns="0" rtlCol="0" anchor="ctr"/>
          <a:lstStyle/>
          <a:p>
            <a:pPr marL="0" indent="0">
              <a:buNone/>
            </a:pPr>
            <a:r>
              <a:rPr lang="en-US" sz="1450" b="1" dirty="0">
                <a:solidFill>
                  <a:srgbClr val="26231E"/>
                </a:solidFill>
                <a:latin typeface="Calibri" pitchFamily="34" charset="0"/>
                <a:ea typeface="Calibri" pitchFamily="34" charset="-122"/>
                <a:cs typeface="Calibri" pitchFamily="34" charset="-120"/>
              </a:rPr>
              <a:t>Repeat the turn</a:t>
            </a:r>
            <a:endParaRPr lang="en-US" sz="1450" dirty="0"/>
          </a:p>
        </p:txBody>
      </p:sp>
      <p:sp>
        <p:nvSpPr>
          <p:cNvPr id="19" name="Text 17"/>
          <p:cNvSpPr/>
          <p:nvPr/>
        </p:nvSpPr>
        <p:spPr>
          <a:xfrm>
            <a:off x="1051560" y="4187952"/>
            <a:ext cx="3931920" cy="411480"/>
          </a:xfrm>
          <a:prstGeom prst="rect">
            <a:avLst/>
          </a:prstGeom>
          <a:noFill/>
          <a:ln/>
        </p:spPr>
        <p:txBody>
          <a:bodyPr wrap="square" lIns="0" tIns="0" rIns="0" bIns="0" rtlCol="0" anchor="ctr"/>
          <a:lstStyle/>
          <a:p>
            <a:pPr marL="0" indent="0">
              <a:lnSpc>
                <a:spcPct val="105000"/>
              </a:lnSpc>
              <a:buNone/>
            </a:pPr>
            <a:r>
              <a:rPr lang="en-US" sz="1150" dirty="0">
                <a:solidFill>
                  <a:srgbClr val="6F665A"/>
                </a:solidFill>
                <a:latin typeface="Calibri" pitchFamily="34" charset="0"/>
                <a:ea typeface="Calibri" pitchFamily="34" charset="-122"/>
                <a:cs typeface="Calibri" pitchFamily="34" charset="-120"/>
              </a:rPr>
              <a:t>Steps 2–3 cycle until the task is complete. Each full cycle is one turn.</a:t>
            </a:r>
            <a:endParaRPr lang="en-US" sz="1150" dirty="0"/>
          </a:p>
        </p:txBody>
      </p:sp>
      <p:sp>
        <p:nvSpPr>
          <p:cNvPr id="20" name="Shape 18"/>
          <p:cNvSpPr/>
          <p:nvPr/>
        </p:nvSpPr>
        <p:spPr>
          <a:xfrm>
            <a:off x="5349240" y="1572768"/>
            <a:ext cx="3246120" cy="2606040"/>
          </a:xfrm>
          <a:prstGeom prst="roundRect">
            <a:avLst>
              <a:gd name="adj" fmla="val 2807"/>
            </a:avLst>
          </a:prstGeom>
          <a:solidFill>
            <a:srgbClr val="F8F5EE"/>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pic>
        <p:nvPicPr>
          <p:cNvPr id="21" name="Image 0" descr="images/image-003a1ce2dcf75d5d901ea83c009745ff.jpg"/>
          <p:cNvPicPr>
            <a:picLocks noChangeAspect="1"/>
          </p:cNvPicPr>
          <p:nvPr/>
        </p:nvPicPr>
        <p:blipFill>
          <a:blip r:embed="rId3"/>
          <a:stretch>
            <a:fillRect/>
          </a:stretch>
        </p:blipFill>
        <p:spPr>
          <a:xfrm>
            <a:off x="5532120" y="1920240"/>
            <a:ext cx="2880360" cy="1920240"/>
          </a:xfrm>
          <a:prstGeom prst="rect">
            <a:avLst/>
          </a:prstGeom>
        </p:spPr>
      </p:pic>
      <p:sp>
        <p:nvSpPr>
          <p:cNvPr id="22" name="Text 19"/>
          <p:cNvSpPr/>
          <p:nvPr/>
        </p:nvSpPr>
        <p:spPr>
          <a:xfrm>
            <a:off x="5349240" y="4224528"/>
            <a:ext cx="3246120" cy="411480"/>
          </a:xfrm>
          <a:prstGeom prst="rect">
            <a:avLst/>
          </a:prstGeom>
          <a:noFill/>
          <a:ln/>
        </p:spPr>
        <p:txBody>
          <a:bodyPr wrap="square" lIns="0" tIns="0" rIns="0" bIns="0" rtlCol="0" anchor="ctr"/>
          <a:lstStyle/>
          <a:p>
            <a:pPr marL="0" indent="0" algn="ctr">
              <a:buNone/>
            </a:pPr>
            <a:r>
              <a:rPr lang="en-US" sz="1100" i="1" dirty="0">
                <a:solidFill>
                  <a:srgbClr val="4B5A66"/>
                </a:solidFill>
                <a:latin typeface="Calibri" pitchFamily="34" charset="0"/>
                <a:ea typeface="Calibri" pitchFamily="34" charset="-122"/>
                <a:cs typeface="Calibri" pitchFamily="34" charset="-120"/>
              </a:rPr>
              <a:t>Watch · redirect · step away — you stay in control of every turn.</a:t>
            </a:r>
            <a:endParaRPr lang="en-US" sz="1100" dirty="0"/>
          </a:p>
        </p:txBody>
      </p:sp>
      <p:sp>
        <p:nvSpPr>
          <p:cNvPr id="23" name="Text 20"/>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24" name="Shape 21"/>
          <p:cNvSpPr/>
          <p:nvPr/>
        </p:nvSpPr>
        <p:spPr>
          <a:xfrm>
            <a:off x="8394192" y="4855464"/>
            <a:ext cx="128016" cy="128016"/>
          </a:xfrm>
          <a:prstGeom prst="ellipse">
            <a:avLst/>
          </a:prstGeom>
          <a:solidFill>
            <a:srgbClr val="C15F3C"/>
          </a:solidFill>
          <a:ln/>
        </p:spPr>
        <p:txBody>
          <a:bodyPr/>
          <a:lstStyle/>
          <a:p>
            <a:endParaRPr lang="en-IN"/>
          </a:p>
        </p:txBody>
      </p:sp>
      <p:sp>
        <p:nvSpPr>
          <p:cNvPr id="25" name="Text 22"/>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PROJECT MEMORY</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Give Claude lasting context with CLAUDE.md</a:t>
            </a:r>
            <a:endParaRPr lang="en-US" sz="2900" dirty="0"/>
          </a:p>
        </p:txBody>
      </p:sp>
      <p:sp>
        <p:nvSpPr>
          <p:cNvPr id="4" name="Text 2"/>
          <p:cNvSpPr/>
          <p:nvPr/>
        </p:nvSpPr>
        <p:spPr>
          <a:xfrm>
            <a:off x="548640" y="1517904"/>
            <a:ext cx="8046720" cy="502920"/>
          </a:xfrm>
          <a:prstGeom prst="rect">
            <a:avLst/>
          </a:prstGeom>
          <a:noFill/>
          <a:ln/>
        </p:spPr>
        <p:txBody>
          <a:bodyPr wrap="square" lIns="0" tIns="0" rIns="0" bIns="0" rtlCol="0" anchor="ctr"/>
          <a:lstStyle/>
          <a:p>
            <a:pPr marL="0" indent="0">
              <a:lnSpc>
                <a:spcPct val="110000"/>
              </a:lnSpc>
              <a:buNone/>
            </a:pPr>
            <a:r>
              <a:rPr lang="en-US" sz="1300" dirty="0">
                <a:solidFill>
                  <a:srgbClr val="6F665A"/>
                </a:solidFill>
                <a:latin typeface="Calibri" pitchFamily="34" charset="0"/>
                <a:ea typeface="Calibri" pitchFamily="34" charset="-122"/>
                <a:cs typeface="Calibri" pitchFamily="34" charset="-120"/>
              </a:rPr>
              <a:t>Every session starts with a fresh context window. Two mechanisms carry knowledge across sessions — both load at the start of every conversation.</a:t>
            </a:r>
            <a:endParaRPr lang="en-US" sz="1300" dirty="0"/>
          </a:p>
        </p:txBody>
      </p:sp>
      <p:sp>
        <p:nvSpPr>
          <p:cNvPr id="5" name="Shape 3"/>
          <p:cNvSpPr/>
          <p:nvPr/>
        </p:nvSpPr>
        <p:spPr>
          <a:xfrm>
            <a:off x="548640" y="2148840"/>
            <a:ext cx="3931920" cy="1691640"/>
          </a:xfrm>
          <a:prstGeom prst="roundRect">
            <a:avLst>
              <a:gd name="adj" fmla="val 4324"/>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6" name="Shape 4"/>
          <p:cNvSpPr/>
          <p:nvPr/>
        </p:nvSpPr>
        <p:spPr>
          <a:xfrm>
            <a:off x="548640" y="2148840"/>
            <a:ext cx="82296" cy="1691640"/>
          </a:xfrm>
          <a:prstGeom prst="rect">
            <a:avLst/>
          </a:prstGeom>
          <a:solidFill>
            <a:srgbClr val="C15F3C"/>
          </a:solidFill>
          <a:ln/>
        </p:spPr>
        <p:txBody>
          <a:bodyPr/>
          <a:lstStyle/>
          <a:p>
            <a:endParaRPr lang="en-IN"/>
          </a:p>
        </p:txBody>
      </p:sp>
      <p:sp>
        <p:nvSpPr>
          <p:cNvPr id="7" name="Text 5"/>
          <p:cNvSpPr/>
          <p:nvPr/>
        </p:nvSpPr>
        <p:spPr>
          <a:xfrm>
            <a:off x="822960" y="2313432"/>
            <a:ext cx="3474720" cy="274320"/>
          </a:xfrm>
          <a:prstGeom prst="rect">
            <a:avLst/>
          </a:prstGeom>
          <a:noFill/>
          <a:ln/>
        </p:spPr>
        <p:txBody>
          <a:bodyPr wrap="square" lIns="0" tIns="0" rIns="0" bIns="0" rtlCol="0" anchor="ctr"/>
          <a:lstStyle/>
          <a:p>
            <a:pPr marL="0" indent="0">
              <a:buNone/>
            </a:pPr>
            <a:r>
              <a:rPr lang="en-US" sz="1400" b="1" dirty="0">
                <a:solidFill>
                  <a:srgbClr val="C15F3C"/>
                </a:solidFill>
                <a:latin typeface="Calibri" pitchFamily="34" charset="0"/>
                <a:ea typeface="Calibri" pitchFamily="34" charset="-122"/>
                <a:cs typeface="Calibri" pitchFamily="34" charset="-120"/>
              </a:rPr>
              <a:t>CLAUDE.md  —  you write it</a:t>
            </a:r>
            <a:endParaRPr lang="en-US" sz="1400" dirty="0"/>
          </a:p>
        </p:txBody>
      </p:sp>
      <p:sp>
        <p:nvSpPr>
          <p:cNvPr id="8" name="Text 6"/>
          <p:cNvSpPr/>
          <p:nvPr/>
        </p:nvSpPr>
        <p:spPr>
          <a:xfrm>
            <a:off x="822960" y="2624328"/>
            <a:ext cx="3474720" cy="457200"/>
          </a:xfrm>
          <a:prstGeom prst="rect">
            <a:avLst/>
          </a:prstGeom>
          <a:noFill/>
          <a:ln/>
        </p:spPr>
        <p:txBody>
          <a:bodyPr wrap="square" lIns="0" tIns="0" rIns="0" bIns="0" rtlCol="0" anchor="ctr"/>
          <a:lstStyle/>
          <a:p>
            <a:pPr marL="0" indent="0">
              <a:lnSpc>
                <a:spcPct val="108000"/>
              </a:lnSpc>
              <a:buNone/>
            </a:pPr>
            <a:r>
              <a:rPr lang="en-US" sz="1200" b="1" dirty="0">
                <a:solidFill>
                  <a:srgbClr val="26231E"/>
                </a:solidFill>
                <a:latin typeface="Calibri" pitchFamily="34" charset="0"/>
                <a:ea typeface="Calibri" pitchFamily="34" charset="-122"/>
                <a:cs typeface="Calibri" pitchFamily="34" charset="-120"/>
              </a:rPr>
              <a:t>Persistent instructions and rules: </a:t>
            </a:r>
            <a:r>
              <a:rPr lang="en-US" sz="1200" dirty="0">
                <a:solidFill>
                  <a:srgbClr val="6F665A"/>
                </a:solidFill>
                <a:latin typeface="Calibri" pitchFamily="34" charset="0"/>
                <a:ea typeface="Calibri" pitchFamily="34" charset="-122"/>
                <a:cs typeface="Calibri" pitchFamily="34" charset="-120"/>
              </a:rPr>
              <a:t>coding standards, workflows, architecture.</a:t>
            </a:r>
            <a:endParaRPr lang="en-US" sz="1200" dirty="0"/>
          </a:p>
        </p:txBody>
      </p:sp>
      <p:sp>
        <p:nvSpPr>
          <p:cNvPr id="9" name="Text 7"/>
          <p:cNvSpPr/>
          <p:nvPr/>
        </p:nvSpPr>
        <p:spPr>
          <a:xfrm>
            <a:off x="822960" y="3136392"/>
            <a:ext cx="3474720" cy="548640"/>
          </a:xfrm>
          <a:prstGeom prst="rect">
            <a:avLst/>
          </a:prstGeom>
          <a:noFill/>
          <a:ln/>
        </p:spPr>
        <p:txBody>
          <a:bodyPr wrap="square" lIns="0" tIns="0" rIns="0" bIns="0" rtlCol="0" anchor="ctr"/>
          <a:lstStyle/>
          <a:p>
            <a:pPr marL="0" indent="0">
              <a:lnSpc>
                <a:spcPct val="108000"/>
              </a:lnSpc>
              <a:buNone/>
            </a:pPr>
            <a:r>
              <a:rPr lang="en-US" sz="1150" dirty="0">
                <a:solidFill>
                  <a:srgbClr val="4B5A66"/>
                </a:solidFill>
                <a:latin typeface="Calibri" pitchFamily="34" charset="0"/>
                <a:ea typeface="Calibri" pitchFamily="34" charset="-122"/>
                <a:cs typeface="Calibri" pitchFamily="34" charset="-120"/>
              </a:rPr>
              <a:t>Scope it project, user, or org. Narrow rules by file type with .claude/rules/.</a:t>
            </a:r>
            <a:endParaRPr lang="en-US" sz="1150" dirty="0"/>
          </a:p>
        </p:txBody>
      </p:sp>
      <p:sp>
        <p:nvSpPr>
          <p:cNvPr id="10" name="Shape 8"/>
          <p:cNvSpPr/>
          <p:nvPr/>
        </p:nvSpPr>
        <p:spPr>
          <a:xfrm>
            <a:off x="4663440" y="2148840"/>
            <a:ext cx="3931920" cy="1691640"/>
          </a:xfrm>
          <a:prstGeom prst="roundRect">
            <a:avLst>
              <a:gd name="adj" fmla="val 4324"/>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1" name="Shape 9"/>
          <p:cNvSpPr/>
          <p:nvPr/>
        </p:nvSpPr>
        <p:spPr>
          <a:xfrm>
            <a:off x="4663440" y="2148840"/>
            <a:ext cx="82296" cy="1691640"/>
          </a:xfrm>
          <a:prstGeom prst="rect">
            <a:avLst/>
          </a:prstGeom>
          <a:solidFill>
            <a:srgbClr val="4B5A66"/>
          </a:solidFill>
          <a:ln/>
        </p:spPr>
        <p:txBody>
          <a:bodyPr/>
          <a:lstStyle/>
          <a:p>
            <a:endParaRPr lang="en-IN"/>
          </a:p>
        </p:txBody>
      </p:sp>
      <p:sp>
        <p:nvSpPr>
          <p:cNvPr id="12" name="Text 10"/>
          <p:cNvSpPr/>
          <p:nvPr/>
        </p:nvSpPr>
        <p:spPr>
          <a:xfrm>
            <a:off x="4937760" y="2313432"/>
            <a:ext cx="3474720" cy="274320"/>
          </a:xfrm>
          <a:prstGeom prst="rect">
            <a:avLst/>
          </a:prstGeom>
          <a:noFill/>
          <a:ln/>
        </p:spPr>
        <p:txBody>
          <a:bodyPr wrap="square" lIns="0" tIns="0" rIns="0" bIns="0" rtlCol="0" anchor="ctr"/>
          <a:lstStyle/>
          <a:p>
            <a:pPr marL="0" indent="0">
              <a:buNone/>
            </a:pPr>
            <a:r>
              <a:rPr lang="en-US" sz="1400" b="1" dirty="0">
                <a:solidFill>
                  <a:srgbClr val="4B5A66"/>
                </a:solidFill>
                <a:latin typeface="Calibri" pitchFamily="34" charset="0"/>
                <a:ea typeface="Calibri" pitchFamily="34" charset="-122"/>
                <a:cs typeface="Calibri" pitchFamily="34" charset="-120"/>
              </a:rPr>
              <a:t>Auto memory  —  Claude writes it</a:t>
            </a:r>
            <a:endParaRPr lang="en-US" sz="1400" dirty="0"/>
          </a:p>
        </p:txBody>
      </p:sp>
      <p:sp>
        <p:nvSpPr>
          <p:cNvPr id="13" name="Text 11"/>
          <p:cNvSpPr/>
          <p:nvPr/>
        </p:nvSpPr>
        <p:spPr>
          <a:xfrm>
            <a:off x="4937760" y="2624328"/>
            <a:ext cx="3474720" cy="548640"/>
          </a:xfrm>
          <a:prstGeom prst="rect">
            <a:avLst/>
          </a:prstGeom>
          <a:noFill/>
          <a:ln/>
        </p:spPr>
        <p:txBody>
          <a:bodyPr wrap="square" lIns="0" tIns="0" rIns="0" bIns="0" rtlCol="0" anchor="ctr"/>
          <a:lstStyle/>
          <a:p>
            <a:pPr marL="0" indent="0">
              <a:lnSpc>
                <a:spcPct val="108000"/>
              </a:lnSpc>
              <a:buNone/>
            </a:pPr>
            <a:r>
              <a:rPr lang="en-US" sz="1200" b="1" dirty="0">
                <a:solidFill>
                  <a:srgbClr val="26231E"/>
                </a:solidFill>
                <a:latin typeface="Calibri" pitchFamily="34" charset="0"/>
                <a:ea typeface="Calibri" pitchFamily="34" charset="-122"/>
                <a:cs typeface="Calibri" pitchFamily="34" charset="-120"/>
              </a:rPr>
              <a:t>Learnings and patterns </a:t>
            </a:r>
            <a:r>
              <a:rPr lang="en-US" sz="1200" dirty="0">
                <a:solidFill>
                  <a:srgbClr val="6F665A"/>
                </a:solidFill>
                <a:latin typeface="Calibri" pitchFamily="34" charset="0"/>
                <a:ea typeface="Calibri" pitchFamily="34" charset="-122"/>
                <a:cs typeface="Calibri" pitchFamily="34" charset="-120"/>
              </a:rPr>
              <a:t>it records from your corrections — build commands, debugging insights, preferences.</a:t>
            </a:r>
            <a:endParaRPr lang="en-US" sz="1200" dirty="0"/>
          </a:p>
        </p:txBody>
      </p:sp>
      <p:sp>
        <p:nvSpPr>
          <p:cNvPr id="14" name="Text 12"/>
          <p:cNvSpPr/>
          <p:nvPr/>
        </p:nvSpPr>
        <p:spPr>
          <a:xfrm>
            <a:off x="4937760" y="3172968"/>
            <a:ext cx="3474720" cy="548640"/>
          </a:xfrm>
          <a:prstGeom prst="rect">
            <a:avLst/>
          </a:prstGeom>
          <a:noFill/>
          <a:ln/>
        </p:spPr>
        <p:txBody>
          <a:bodyPr wrap="square" lIns="0" tIns="0" rIns="0" bIns="0" rtlCol="0" anchor="ctr"/>
          <a:lstStyle/>
          <a:p>
            <a:pPr marL="0" indent="0">
              <a:lnSpc>
                <a:spcPct val="108000"/>
              </a:lnSpc>
              <a:buNone/>
            </a:pPr>
            <a:r>
              <a:rPr lang="en-US" sz="1150" dirty="0">
                <a:solidFill>
                  <a:srgbClr val="4B5A66"/>
                </a:solidFill>
                <a:latin typeface="Calibri" pitchFamily="34" charset="0"/>
                <a:ea typeface="Calibri" pitchFamily="34" charset="-122"/>
                <a:cs typeface="Calibri" pitchFamily="34" charset="-120"/>
              </a:rPr>
              <a:t>Per repository, shared across worktrees. Loads the first ~200 lines each session.</a:t>
            </a:r>
            <a:endParaRPr lang="en-US" sz="1150" dirty="0"/>
          </a:p>
        </p:txBody>
      </p:sp>
      <p:sp>
        <p:nvSpPr>
          <p:cNvPr id="15" name="Text 13"/>
          <p:cNvSpPr/>
          <p:nvPr/>
        </p:nvSpPr>
        <p:spPr>
          <a:xfrm>
            <a:off x="548640" y="4041648"/>
            <a:ext cx="8046720" cy="548640"/>
          </a:xfrm>
          <a:prstGeom prst="rect">
            <a:avLst/>
          </a:prstGeom>
          <a:noFill/>
          <a:ln/>
        </p:spPr>
        <p:txBody>
          <a:bodyPr wrap="square" lIns="0" tIns="0" rIns="0" bIns="0" rtlCol="0" anchor="ctr"/>
          <a:lstStyle/>
          <a:p>
            <a:pPr marL="0" indent="0">
              <a:lnSpc>
                <a:spcPct val="108000"/>
              </a:lnSpc>
              <a:buNone/>
            </a:pPr>
            <a:r>
              <a:rPr lang="en-US" sz="1150" i="1" dirty="0">
                <a:solidFill>
                  <a:srgbClr val="26231E"/>
                </a:solidFill>
                <a:latin typeface="Calibri" pitchFamily="34" charset="0"/>
                <a:ea typeface="Calibri" pitchFamily="34" charset="-122"/>
                <a:cs typeface="Calibri" pitchFamily="34" charset="-120"/>
              </a:rPr>
              <a:t>Tip: the more specific and concise your CLAUDE.md, the more consistently Claude follows it. To hard-block an action, use a PreToolUse hook — memory is context, not enforcement.</a:t>
            </a:r>
            <a:endParaRPr lang="en-US" sz="1150" dirty="0"/>
          </a:p>
        </p:txBody>
      </p:sp>
      <p:sp>
        <p:nvSpPr>
          <p:cNvPr id="16" name="Text 14"/>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7" name="Shape 15"/>
          <p:cNvSpPr/>
          <p:nvPr/>
        </p:nvSpPr>
        <p:spPr>
          <a:xfrm>
            <a:off x="8394192" y="4855464"/>
            <a:ext cx="128016" cy="128016"/>
          </a:xfrm>
          <a:prstGeom prst="ellipse">
            <a:avLst/>
          </a:prstGeom>
          <a:solidFill>
            <a:srgbClr val="C15F3C"/>
          </a:solidFill>
          <a:ln/>
        </p:spPr>
        <p:txBody>
          <a:bodyPr/>
          <a:lstStyle/>
          <a:p>
            <a:endParaRPr lang="en-IN"/>
          </a:p>
        </p:txBody>
      </p:sp>
      <p:sp>
        <p:nvSpPr>
          <p:cNvPr id="18" name="Text 16"/>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THINK BEFORE DOING</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Plan mode</a:t>
            </a:r>
            <a:endParaRPr lang="en-US" sz="2900" dirty="0"/>
          </a:p>
        </p:txBody>
      </p:sp>
      <p:sp>
        <p:nvSpPr>
          <p:cNvPr id="4" name="Shape 2"/>
          <p:cNvSpPr/>
          <p:nvPr/>
        </p:nvSpPr>
        <p:spPr>
          <a:xfrm>
            <a:off x="548640" y="1572768"/>
            <a:ext cx="4572000" cy="3017520"/>
          </a:xfrm>
          <a:prstGeom prst="roundRect">
            <a:avLst>
              <a:gd name="adj" fmla="val 2424"/>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Text 3"/>
          <p:cNvSpPr/>
          <p:nvPr/>
        </p:nvSpPr>
        <p:spPr>
          <a:xfrm>
            <a:off x="777240" y="1783080"/>
            <a:ext cx="4114800" cy="1234440"/>
          </a:xfrm>
          <a:prstGeom prst="rect">
            <a:avLst/>
          </a:prstGeom>
          <a:noFill/>
          <a:ln/>
        </p:spPr>
        <p:txBody>
          <a:bodyPr wrap="square" lIns="0" tIns="0" rIns="0" bIns="0" rtlCol="0" anchor="ctr"/>
          <a:lstStyle/>
          <a:p>
            <a:pPr marL="0" indent="0">
              <a:lnSpc>
                <a:spcPct val="120000"/>
              </a:lnSpc>
              <a:buNone/>
            </a:pPr>
            <a:r>
              <a:rPr lang="en-US" sz="1350" dirty="0">
                <a:solidFill>
                  <a:srgbClr val="26231E"/>
                </a:solidFill>
                <a:latin typeface="Calibri" pitchFamily="34" charset="0"/>
                <a:ea typeface="Calibri" pitchFamily="34" charset="-122"/>
                <a:cs typeface="Calibri" pitchFamily="34" charset="-120"/>
              </a:rPr>
              <a:t>Before Claude edits files, runs commands, or changes state, it produces a plan and waits for your approval. You see what it intends to do, in what order, and why — then say yes, refine, or start over.</a:t>
            </a:r>
            <a:endParaRPr lang="en-US" sz="1350" dirty="0"/>
          </a:p>
        </p:txBody>
      </p:sp>
      <p:sp>
        <p:nvSpPr>
          <p:cNvPr id="6" name="Text 4"/>
          <p:cNvSpPr/>
          <p:nvPr/>
        </p:nvSpPr>
        <p:spPr>
          <a:xfrm>
            <a:off x="777240" y="3035808"/>
            <a:ext cx="4114800" cy="256032"/>
          </a:xfrm>
          <a:prstGeom prst="rect">
            <a:avLst/>
          </a:prstGeom>
          <a:noFill/>
          <a:ln/>
        </p:spPr>
        <p:txBody>
          <a:bodyPr wrap="square" lIns="0" tIns="0" rIns="0" bIns="0" rtlCol="0" anchor="ctr"/>
          <a:lstStyle/>
          <a:p>
            <a:pPr marL="0" indent="0">
              <a:buNone/>
            </a:pPr>
            <a:r>
              <a:rPr lang="en-US" sz="1050" b="1" kern="0" spc="200" dirty="0">
                <a:solidFill>
                  <a:srgbClr val="C15F3C"/>
                </a:solidFill>
                <a:latin typeface="Calibri" pitchFamily="34" charset="0"/>
                <a:ea typeface="Calibri" pitchFamily="34" charset="-122"/>
                <a:cs typeface="Calibri" pitchFamily="34" charset="-120"/>
              </a:rPr>
              <a:t>HOW TO INVOKE</a:t>
            </a:r>
            <a:endParaRPr lang="en-US" sz="1050" dirty="0"/>
          </a:p>
        </p:txBody>
      </p:sp>
      <p:sp>
        <p:nvSpPr>
          <p:cNvPr id="7" name="Text 5"/>
          <p:cNvSpPr/>
          <p:nvPr/>
        </p:nvSpPr>
        <p:spPr>
          <a:xfrm>
            <a:off x="777240" y="3291840"/>
            <a:ext cx="4114800" cy="640080"/>
          </a:xfrm>
          <a:prstGeom prst="rect">
            <a:avLst/>
          </a:prstGeom>
          <a:noFill/>
          <a:ln/>
        </p:spPr>
        <p:txBody>
          <a:bodyPr wrap="square" lIns="0" tIns="0" rIns="0" bIns="0" rtlCol="0" anchor="ctr"/>
          <a:lstStyle/>
          <a:p>
            <a:pPr marL="0" indent="0">
              <a:lnSpc>
                <a:spcPct val="112000"/>
              </a:lnSpc>
              <a:buNone/>
            </a:pPr>
            <a:r>
              <a:rPr lang="en-US" sz="1250" dirty="0">
                <a:solidFill>
                  <a:srgbClr val="6F665A"/>
                </a:solidFill>
                <a:latin typeface="Calibri" pitchFamily="34" charset="0"/>
                <a:ea typeface="Calibri" pitchFamily="34" charset="-122"/>
                <a:cs typeface="Calibri" pitchFamily="34" charset="-120"/>
              </a:rPr>
              <a:t>Press </a:t>
            </a:r>
            <a:r>
              <a:rPr lang="en-US" sz="1250" b="1" dirty="0">
                <a:solidFill>
                  <a:srgbClr val="26231E"/>
                </a:solidFill>
                <a:latin typeface="Calibri" pitchFamily="34" charset="0"/>
                <a:ea typeface="Calibri" pitchFamily="34" charset="-122"/>
                <a:cs typeface="Calibri" pitchFamily="34" charset="-120"/>
              </a:rPr>
              <a:t>Shift + Tab</a:t>
            </a:r>
            <a:r>
              <a:rPr lang="en-US" sz="1250" dirty="0">
                <a:solidFill>
                  <a:srgbClr val="6F665A"/>
                </a:solidFill>
                <a:latin typeface="Calibri" pitchFamily="34" charset="0"/>
                <a:ea typeface="Calibri" pitchFamily="34" charset="-122"/>
                <a:cs typeface="Calibri" pitchFamily="34" charset="-120"/>
              </a:rPr>
              <a:t> twice — first press is Auto-Accept, second lands on Plan Mode.</a:t>
            </a:r>
            <a:endParaRPr lang="en-US" sz="1250" dirty="0"/>
          </a:p>
        </p:txBody>
      </p:sp>
      <p:sp>
        <p:nvSpPr>
          <p:cNvPr id="8" name="Text 6"/>
          <p:cNvSpPr/>
          <p:nvPr/>
        </p:nvSpPr>
        <p:spPr>
          <a:xfrm>
            <a:off x="777240" y="3977640"/>
            <a:ext cx="4114800" cy="502920"/>
          </a:xfrm>
          <a:prstGeom prst="rect">
            <a:avLst/>
          </a:prstGeom>
          <a:noFill/>
          <a:ln/>
        </p:spPr>
        <p:txBody>
          <a:bodyPr wrap="square" lIns="0" tIns="0" rIns="0" bIns="0" rtlCol="0" anchor="ctr"/>
          <a:lstStyle/>
          <a:p>
            <a:pPr marL="0" indent="0">
              <a:lnSpc>
                <a:spcPct val="108000"/>
              </a:lnSpc>
              <a:buNone/>
            </a:pPr>
            <a:r>
              <a:rPr lang="en-US" sz="1150" i="1" dirty="0">
                <a:solidFill>
                  <a:srgbClr val="4B5A66"/>
                </a:solidFill>
                <a:latin typeface="Calibri" pitchFamily="34" charset="0"/>
                <a:ea typeface="Calibri" pitchFamily="34" charset="-122"/>
                <a:cs typeface="Calibri" pitchFamily="34" charset="-120"/>
              </a:rPr>
              <a:t>Plan mode separates thinking from doing — no irreversible action before you both agree on "done."</a:t>
            </a:r>
            <a:endParaRPr lang="en-US" sz="1150" dirty="0"/>
          </a:p>
        </p:txBody>
      </p:sp>
      <p:sp>
        <p:nvSpPr>
          <p:cNvPr id="9" name="Shape 7"/>
          <p:cNvSpPr/>
          <p:nvPr/>
        </p:nvSpPr>
        <p:spPr>
          <a:xfrm>
            <a:off x="5440680" y="1572768"/>
            <a:ext cx="3154680" cy="1417320"/>
          </a:xfrm>
          <a:prstGeom prst="roundRect">
            <a:avLst>
              <a:gd name="adj" fmla="val 5161"/>
            </a:avLst>
          </a:prstGeom>
          <a:solidFill>
            <a:srgbClr val="F6F0E6"/>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Text 8"/>
          <p:cNvSpPr/>
          <p:nvPr/>
        </p:nvSpPr>
        <p:spPr>
          <a:xfrm>
            <a:off x="5669280" y="1719072"/>
            <a:ext cx="2697480" cy="256032"/>
          </a:xfrm>
          <a:prstGeom prst="rect">
            <a:avLst/>
          </a:prstGeom>
          <a:noFill/>
          <a:ln/>
        </p:spPr>
        <p:txBody>
          <a:bodyPr wrap="square" lIns="0" tIns="0" rIns="0" bIns="0" rtlCol="0" anchor="ctr"/>
          <a:lstStyle/>
          <a:p>
            <a:pPr marL="0" indent="0">
              <a:buNone/>
            </a:pPr>
            <a:r>
              <a:rPr lang="en-US" sz="1100" b="1" kern="0" spc="200" dirty="0">
                <a:solidFill>
                  <a:srgbClr val="C15F3C"/>
                </a:solidFill>
                <a:latin typeface="Calibri" pitchFamily="34" charset="0"/>
                <a:ea typeface="Calibri" pitchFamily="34" charset="-122"/>
                <a:cs typeface="Calibri" pitchFamily="34" charset="-120"/>
              </a:rPr>
              <a:t>USE IT FOR</a:t>
            </a:r>
            <a:endParaRPr lang="en-US" sz="1100" dirty="0"/>
          </a:p>
        </p:txBody>
      </p:sp>
      <p:sp>
        <p:nvSpPr>
          <p:cNvPr id="11" name="Text 9"/>
          <p:cNvSpPr/>
          <p:nvPr/>
        </p:nvSpPr>
        <p:spPr>
          <a:xfrm>
            <a:off x="5669280" y="1993392"/>
            <a:ext cx="2743200" cy="914400"/>
          </a:xfrm>
          <a:prstGeom prst="rect">
            <a:avLst/>
          </a:prstGeom>
          <a:noFill/>
          <a:ln/>
        </p:spPr>
        <p:txBody>
          <a:bodyPr wrap="square" lIns="0" tIns="0" rIns="0" bIns="0" rtlCol="0" anchor="ctr"/>
          <a:lstStyle/>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Unfamiliar codebases</a:t>
            </a:r>
            <a:endParaRPr lang="en-US" sz="1200" dirty="0"/>
          </a:p>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Risky, multi-step or destructive work</a:t>
            </a:r>
            <a:endParaRPr lang="en-US" sz="1200" dirty="0"/>
          </a:p>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Multi-file or multi-phase changes</a:t>
            </a:r>
            <a:endParaRPr lang="en-US" sz="1200" dirty="0"/>
          </a:p>
        </p:txBody>
      </p:sp>
      <p:sp>
        <p:nvSpPr>
          <p:cNvPr id="12" name="Shape 10"/>
          <p:cNvSpPr/>
          <p:nvPr/>
        </p:nvSpPr>
        <p:spPr>
          <a:xfrm>
            <a:off x="5440680" y="3172968"/>
            <a:ext cx="3154680" cy="1417320"/>
          </a:xfrm>
          <a:prstGeom prst="roundRect">
            <a:avLst>
              <a:gd name="adj" fmla="val 5161"/>
            </a:avLst>
          </a:prstGeom>
          <a:solidFill>
            <a:srgbClr val="F6F0E6"/>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3" name="Text 11"/>
          <p:cNvSpPr/>
          <p:nvPr/>
        </p:nvSpPr>
        <p:spPr>
          <a:xfrm>
            <a:off x="5669280" y="3319272"/>
            <a:ext cx="2697480" cy="256032"/>
          </a:xfrm>
          <a:prstGeom prst="rect">
            <a:avLst/>
          </a:prstGeom>
          <a:noFill/>
          <a:ln/>
        </p:spPr>
        <p:txBody>
          <a:bodyPr wrap="square" lIns="0" tIns="0" rIns="0" bIns="0" rtlCol="0" anchor="ctr"/>
          <a:lstStyle/>
          <a:p>
            <a:pPr marL="0" indent="0">
              <a:buNone/>
            </a:pPr>
            <a:r>
              <a:rPr lang="en-US" sz="1100" b="1" kern="0" spc="200" dirty="0">
                <a:solidFill>
                  <a:srgbClr val="4B5A66"/>
                </a:solidFill>
                <a:latin typeface="Calibri" pitchFamily="34" charset="0"/>
                <a:ea typeface="Calibri" pitchFamily="34" charset="-122"/>
                <a:cs typeface="Calibri" pitchFamily="34" charset="-120"/>
              </a:rPr>
              <a:t>SKIP IT FOR</a:t>
            </a:r>
            <a:endParaRPr lang="en-US" sz="1100" dirty="0"/>
          </a:p>
        </p:txBody>
      </p:sp>
      <p:sp>
        <p:nvSpPr>
          <p:cNvPr id="14" name="Text 12"/>
          <p:cNvSpPr/>
          <p:nvPr/>
        </p:nvSpPr>
        <p:spPr>
          <a:xfrm>
            <a:off x="5669280" y="3593592"/>
            <a:ext cx="2743200" cy="914400"/>
          </a:xfrm>
          <a:prstGeom prst="rect">
            <a:avLst/>
          </a:prstGeom>
          <a:noFill/>
          <a:ln/>
        </p:spPr>
        <p:txBody>
          <a:bodyPr wrap="square" lIns="0" tIns="0" rIns="0" bIns="0" rtlCol="0" anchor="ctr"/>
          <a:lstStyle/>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Simple, read-only tasks</a:t>
            </a:r>
            <a:endParaRPr lang="en-US" sz="1200" dirty="0"/>
          </a:p>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Small, contained edits</a:t>
            </a:r>
            <a:endParaRPr lang="en-US" sz="1200" dirty="0"/>
          </a:p>
          <a:p>
            <a:pPr marL="342900" indent="-342900">
              <a:lnSpc>
                <a:spcPct val="105000"/>
              </a:lnSpc>
              <a:buSzPct val="100000"/>
              <a:buChar char="•"/>
            </a:pPr>
            <a:r>
              <a:rPr lang="en-US" sz="1200" dirty="0">
                <a:solidFill>
                  <a:srgbClr val="26231E"/>
                </a:solidFill>
                <a:latin typeface="Calibri" pitchFamily="34" charset="0"/>
                <a:ea typeface="Calibri" pitchFamily="34" charset="-122"/>
                <a:cs typeface="Calibri" pitchFamily="34" charset="-120"/>
              </a:rPr>
              <a:t>Work you already understand</a:t>
            </a:r>
            <a:endParaRPr lang="en-US" sz="1200" dirty="0"/>
          </a:p>
        </p:txBody>
      </p:sp>
      <p:sp>
        <p:nvSpPr>
          <p:cNvPr id="15" name="Text 13"/>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6" name="Shape 14"/>
          <p:cNvSpPr/>
          <p:nvPr/>
        </p:nvSpPr>
        <p:spPr>
          <a:xfrm>
            <a:off x="8394192" y="4855464"/>
            <a:ext cx="128016" cy="128016"/>
          </a:xfrm>
          <a:prstGeom prst="ellipse">
            <a:avLst/>
          </a:prstGeom>
          <a:solidFill>
            <a:srgbClr val="C15F3C"/>
          </a:solidFill>
          <a:ln/>
        </p:spPr>
        <p:txBody>
          <a:bodyPr/>
          <a:lstStyle/>
          <a:p>
            <a:endParaRPr lang="en-IN"/>
          </a:p>
        </p:txBody>
      </p:sp>
      <p:sp>
        <p:nvSpPr>
          <p:cNvPr id="17" name="Text 15"/>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EXTENDING CLAUDE CODE</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Slash commands &amp; skills</a:t>
            </a:r>
            <a:endParaRPr lang="en-US" sz="2900" dirty="0"/>
          </a:p>
        </p:txBody>
      </p:sp>
      <p:sp>
        <p:nvSpPr>
          <p:cNvPr id="4" name="Text 2"/>
          <p:cNvSpPr/>
          <p:nvPr/>
        </p:nvSpPr>
        <p:spPr>
          <a:xfrm>
            <a:off x="548640" y="1517904"/>
            <a:ext cx="8046720" cy="457200"/>
          </a:xfrm>
          <a:prstGeom prst="rect">
            <a:avLst/>
          </a:prstGeom>
          <a:noFill/>
          <a:ln/>
        </p:spPr>
        <p:txBody>
          <a:bodyPr wrap="square" lIns="0" tIns="0" rIns="0" bIns="0" rtlCol="0" anchor="ctr"/>
          <a:lstStyle/>
          <a:p>
            <a:pPr marL="0" indent="0">
              <a:lnSpc>
                <a:spcPct val="110000"/>
              </a:lnSpc>
              <a:buNone/>
            </a:pPr>
            <a:r>
              <a:rPr lang="en-US" sz="1300" dirty="0">
                <a:solidFill>
                  <a:srgbClr val="6F665A"/>
                </a:solidFill>
                <a:latin typeface="Calibri" pitchFamily="34" charset="0"/>
                <a:ea typeface="Calibri" pitchFamily="34" charset="-122"/>
                <a:cs typeface="Calibri" pitchFamily="34" charset="-120"/>
              </a:rPr>
              <a:t>In 2026 these are one unified system. Both turn repeatable work into a single invocation — the difference is how much they carry with them.</a:t>
            </a:r>
            <a:endParaRPr lang="en-US" sz="1300" dirty="0"/>
          </a:p>
        </p:txBody>
      </p:sp>
      <p:sp>
        <p:nvSpPr>
          <p:cNvPr id="5" name="Shape 3"/>
          <p:cNvSpPr/>
          <p:nvPr/>
        </p:nvSpPr>
        <p:spPr>
          <a:xfrm>
            <a:off x="548640" y="2103120"/>
            <a:ext cx="3931920" cy="2286000"/>
          </a:xfrm>
          <a:prstGeom prst="roundRect">
            <a:avLst>
              <a:gd name="adj" fmla="val 320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6" name="Text 4"/>
          <p:cNvSpPr/>
          <p:nvPr/>
        </p:nvSpPr>
        <p:spPr>
          <a:xfrm>
            <a:off x="777240" y="2286000"/>
            <a:ext cx="3474720" cy="320040"/>
          </a:xfrm>
          <a:prstGeom prst="rect">
            <a:avLst/>
          </a:prstGeom>
          <a:noFill/>
          <a:ln/>
        </p:spPr>
        <p:txBody>
          <a:bodyPr wrap="square" lIns="0" tIns="0" rIns="0" bIns="0" rtlCol="0" anchor="ctr"/>
          <a:lstStyle/>
          <a:p>
            <a:pPr marL="0" indent="0">
              <a:buNone/>
            </a:pPr>
            <a:r>
              <a:rPr lang="en-US" sz="1600" b="1" dirty="0">
                <a:solidFill>
                  <a:srgbClr val="C15F3C"/>
                </a:solidFill>
                <a:latin typeface="Georgia" pitchFamily="34" charset="0"/>
                <a:ea typeface="Georgia" pitchFamily="34" charset="-122"/>
                <a:cs typeface="Georgia" pitchFamily="34" charset="-120"/>
              </a:rPr>
              <a:t>Slash commands</a:t>
            </a:r>
            <a:endParaRPr lang="en-US" sz="1600" dirty="0"/>
          </a:p>
        </p:txBody>
      </p:sp>
      <p:sp>
        <p:nvSpPr>
          <p:cNvPr id="7" name="Text 5"/>
          <p:cNvSpPr/>
          <p:nvPr/>
        </p:nvSpPr>
        <p:spPr>
          <a:xfrm>
            <a:off x="777240" y="2670048"/>
            <a:ext cx="3474720" cy="548640"/>
          </a:xfrm>
          <a:prstGeom prst="rect">
            <a:avLst/>
          </a:prstGeom>
          <a:noFill/>
          <a:ln/>
        </p:spPr>
        <p:txBody>
          <a:bodyPr wrap="square" lIns="0" tIns="0" rIns="0" bIns="0" rtlCol="0" anchor="ctr"/>
          <a:lstStyle/>
          <a:p>
            <a:pPr marL="0" indent="0">
              <a:lnSpc>
                <a:spcPct val="110000"/>
              </a:lnSpc>
              <a:buNone/>
            </a:pPr>
            <a:r>
              <a:rPr lang="en-US" sz="1200" dirty="0">
                <a:solidFill>
                  <a:srgbClr val="6F665A"/>
                </a:solidFill>
                <a:latin typeface="Calibri" pitchFamily="34" charset="0"/>
                <a:ea typeface="Calibri" pitchFamily="34" charset="-122"/>
                <a:cs typeface="Calibri" pitchFamily="34" charset="-120"/>
              </a:rPr>
              <a:t>Reusable prompts you trigger by name — collapse repetitive typing into one word.</a:t>
            </a:r>
            <a:endParaRPr lang="en-US" sz="1200" dirty="0"/>
          </a:p>
        </p:txBody>
      </p:sp>
      <p:sp>
        <p:nvSpPr>
          <p:cNvPr id="8" name="Text 6"/>
          <p:cNvSpPr/>
          <p:nvPr/>
        </p:nvSpPr>
        <p:spPr>
          <a:xfrm>
            <a:off x="777240" y="3291840"/>
            <a:ext cx="3474720" cy="914400"/>
          </a:xfrm>
          <a:prstGeom prst="rect">
            <a:avLst/>
          </a:prstGeom>
          <a:noFill/>
          <a:ln/>
        </p:spPr>
        <p:txBody>
          <a:bodyPr wrap="square" lIns="0" tIns="0" rIns="0" bIns="0" rtlCol="0" anchor="ctr"/>
          <a:lstStyle/>
          <a:p>
            <a:pPr marL="0" indent="0">
              <a:lnSpc>
                <a:spcPct val="118000"/>
              </a:lnSpc>
              <a:buNone/>
            </a:pPr>
            <a:r>
              <a:rPr lang="en-US" sz="1200" b="1" dirty="0">
                <a:solidFill>
                  <a:srgbClr val="26231E"/>
                </a:solidFill>
                <a:latin typeface="Consolas" pitchFamily="34" charset="0"/>
                <a:ea typeface="Consolas" pitchFamily="34" charset="-122"/>
                <a:cs typeface="Consolas" pitchFamily="34" charset="-120"/>
              </a:rPr>
              <a:t>/commit</a:t>
            </a:r>
            <a:endParaRPr lang="en-US" sz="1200" dirty="0"/>
          </a:p>
          <a:p>
            <a:pPr marL="0" indent="0">
              <a:lnSpc>
                <a:spcPct val="118000"/>
              </a:lnSpc>
              <a:buNone/>
            </a:pPr>
            <a:r>
              <a:rPr lang="en-US" sz="1200" dirty="0">
                <a:solidFill>
                  <a:srgbClr val="6F665A"/>
                </a:solidFill>
                <a:latin typeface="Consolas" pitchFamily="34" charset="0"/>
                <a:ea typeface="Consolas" pitchFamily="34" charset="-122"/>
                <a:cs typeface="Consolas" pitchFamily="34" charset="-120"/>
              </a:rPr>
              <a:t>writes the message from your changes</a:t>
            </a:r>
            <a:endParaRPr lang="en-US" sz="1200" dirty="0"/>
          </a:p>
          <a:p>
            <a:pPr marL="0" indent="0">
              <a:lnSpc>
                <a:spcPct val="118000"/>
              </a:lnSpc>
              <a:buNone/>
            </a:pPr>
            <a:r>
              <a:rPr lang="en-US" sz="1200" b="1" dirty="0">
                <a:solidFill>
                  <a:srgbClr val="26231E"/>
                </a:solidFill>
                <a:latin typeface="Consolas" pitchFamily="34" charset="0"/>
                <a:ea typeface="Consolas" pitchFamily="34" charset="-122"/>
                <a:cs typeface="Consolas" pitchFamily="34" charset="-120"/>
              </a:rPr>
              <a:t>/pr</a:t>
            </a:r>
            <a:endParaRPr lang="en-US" sz="1200" dirty="0"/>
          </a:p>
          <a:p>
            <a:pPr marL="0" indent="0">
              <a:lnSpc>
                <a:spcPct val="118000"/>
              </a:lnSpc>
              <a:buNone/>
            </a:pPr>
            <a:r>
              <a:rPr lang="en-US" sz="1200" dirty="0">
                <a:solidFill>
                  <a:srgbClr val="6F665A"/>
                </a:solidFill>
                <a:latin typeface="Consolas" pitchFamily="34" charset="0"/>
                <a:ea typeface="Consolas" pitchFamily="34" charset="-122"/>
                <a:cs typeface="Consolas" pitchFamily="34" charset="-120"/>
              </a:rPr>
              <a:t>drafts a full PR from your commits</a:t>
            </a:r>
            <a:endParaRPr lang="en-US" sz="1200" dirty="0"/>
          </a:p>
        </p:txBody>
      </p:sp>
      <p:sp>
        <p:nvSpPr>
          <p:cNvPr id="9" name="Shape 7"/>
          <p:cNvSpPr/>
          <p:nvPr/>
        </p:nvSpPr>
        <p:spPr>
          <a:xfrm>
            <a:off x="4663440" y="2103120"/>
            <a:ext cx="3931920" cy="2286000"/>
          </a:xfrm>
          <a:prstGeom prst="roundRect">
            <a:avLst>
              <a:gd name="adj" fmla="val 320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Shape 8"/>
          <p:cNvSpPr/>
          <p:nvPr/>
        </p:nvSpPr>
        <p:spPr>
          <a:xfrm>
            <a:off x="4663440" y="2103120"/>
            <a:ext cx="82296" cy="2286000"/>
          </a:xfrm>
          <a:prstGeom prst="rect">
            <a:avLst/>
          </a:prstGeom>
          <a:solidFill>
            <a:srgbClr val="4B5A66"/>
          </a:solidFill>
          <a:ln/>
        </p:spPr>
        <p:txBody>
          <a:bodyPr/>
          <a:lstStyle/>
          <a:p>
            <a:endParaRPr lang="en-IN"/>
          </a:p>
        </p:txBody>
      </p:sp>
      <p:sp>
        <p:nvSpPr>
          <p:cNvPr id="11" name="Text 9"/>
          <p:cNvSpPr/>
          <p:nvPr/>
        </p:nvSpPr>
        <p:spPr>
          <a:xfrm>
            <a:off x="4937760" y="2286000"/>
            <a:ext cx="3474720" cy="320040"/>
          </a:xfrm>
          <a:prstGeom prst="rect">
            <a:avLst/>
          </a:prstGeom>
          <a:noFill/>
          <a:ln/>
        </p:spPr>
        <p:txBody>
          <a:bodyPr wrap="square" lIns="0" tIns="0" rIns="0" bIns="0" rtlCol="0" anchor="ctr"/>
          <a:lstStyle/>
          <a:p>
            <a:pPr marL="0" indent="0">
              <a:buNone/>
            </a:pPr>
            <a:r>
              <a:rPr lang="en-US" sz="1600" b="1" dirty="0">
                <a:solidFill>
                  <a:srgbClr val="4B5A66"/>
                </a:solidFill>
                <a:latin typeface="Georgia" pitchFamily="34" charset="0"/>
                <a:ea typeface="Georgia" pitchFamily="34" charset="-122"/>
                <a:cs typeface="Georgia" pitchFamily="34" charset="-120"/>
              </a:rPr>
              <a:t>Skills</a:t>
            </a:r>
            <a:endParaRPr lang="en-US" sz="1600" dirty="0"/>
          </a:p>
        </p:txBody>
      </p:sp>
      <p:sp>
        <p:nvSpPr>
          <p:cNvPr id="12" name="Text 10"/>
          <p:cNvSpPr/>
          <p:nvPr/>
        </p:nvSpPr>
        <p:spPr>
          <a:xfrm>
            <a:off x="4937760" y="2670048"/>
            <a:ext cx="3474720" cy="457200"/>
          </a:xfrm>
          <a:prstGeom prst="rect">
            <a:avLst/>
          </a:prstGeom>
          <a:noFill/>
          <a:ln/>
        </p:spPr>
        <p:txBody>
          <a:bodyPr wrap="square" lIns="0" tIns="0" rIns="0" bIns="0" rtlCol="0" anchor="ctr"/>
          <a:lstStyle/>
          <a:p>
            <a:pPr marL="0" indent="0">
              <a:lnSpc>
                <a:spcPct val="110000"/>
              </a:lnSpc>
              <a:buNone/>
            </a:pPr>
            <a:r>
              <a:rPr lang="en-US" sz="1200" dirty="0">
                <a:solidFill>
                  <a:srgbClr val="6F665A"/>
                </a:solidFill>
                <a:latin typeface="Calibri" pitchFamily="34" charset="0"/>
                <a:ea typeface="Calibri" pitchFamily="34" charset="-122"/>
                <a:cs typeface="Calibri" pitchFamily="34" charset="-120"/>
              </a:rPr>
              <a:t>A SKILL.md plus supporting files. Adds what plain commands can't:</a:t>
            </a:r>
            <a:endParaRPr lang="en-US" sz="1200" dirty="0"/>
          </a:p>
        </p:txBody>
      </p:sp>
      <p:sp>
        <p:nvSpPr>
          <p:cNvPr id="13" name="Text 11"/>
          <p:cNvSpPr/>
          <p:nvPr/>
        </p:nvSpPr>
        <p:spPr>
          <a:xfrm>
            <a:off x="4937760" y="3182112"/>
            <a:ext cx="3383280" cy="1097280"/>
          </a:xfrm>
          <a:prstGeom prst="rect">
            <a:avLst/>
          </a:prstGeom>
          <a:noFill/>
          <a:ln/>
        </p:spPr>
        <p:txBody>
          <a:bodyPr wrap="square" lIns="0" tIns="0" rIns="0" bIns="0" rtlCol="0" anchor="ctr"/>
          <a:lstStyle/>
          <a:p>
            <a:pPr marL="342900" indent="-342900">
              <a:lnSpc>
                <a:spcPct val="118000"/>
              </a:lnSpc>
              <a:buSzPct val="100000"/>
              <a:buChar char="•"/>
            </a:pPr>
            <a:r>
              <a:rPr lang="en-US" sz="1200" dirty="0">
                <a:solidFill>
                  <a:srgbClr val="26231E"/>
                </a:solidFill>
                <a:latin typeface="Calibri" pitchFamily="34" charset="0"/>
                <a:ea typeface="Calibri" pitchFamily="34" charset="-122"/>
                <a:cs typeface="Calibri" pitchFamily="34" charset="-120"/>
              </a:rPr>
              <a:t>Automatic context loading</a:t>
            </a:r>
            <a:endParaRPr lang="en-US" sz="1200" dirty="0"/>
          </a:p>
          <a:p>
            <a:pPr marL="342900" indent="-342900">
              <a:lnSpc>
                <a:spcPct val="118000"/>
              </a:lnSpc>
              <a:buSzPct val="100000"/>
              <a:buChar char="•"/>
            </a:pPr>
            <a:r>
              <a:rPr lang="en-US" sz="1200" dirty="0">
                <a:solidFill>
                  <a:srgbClr val="26231E"/>
                </a:solidFill>
                <a:latin typeface="Calibri" pitchFamily="34" charset="0"/>
                <a:ea typeface="Calibri" pitchFamily="34" charset="-122"/>
                <a:cs typeface="Calibri" pitchFamily="34" charset="-120"/>
              </a:rPr>
              <a:t>Supporting file directories</a:t>
            </a:r>
            <a:endParaRPr lang="en-US" sz="1200" dirty="0"/>
          </a:p>
          <a:p>
            <a:pPr marL="342900" indent="-342900">
              <a:lnSpc>
                <a:spcPct val="118000"/>
              </a:lnSpc>
              <a:buSzPct val="100000"/>
              <a:buChar char="•"/>
            </a:pPr>
            <a:r>
              <a:rPr lang="en-US" sz="1200" dirty="0">
                <a:solidFill>
                  <a:srgbClr val="26231E"/>
                </a:solidFill>
                <a:latin typeface="Calibri" pitchFamily="34" charset="0"/>
                <a:ea typeface="Calibri" pitchFamily="34" charset="-122"/>
                <a:cs typeface="Calibri" pitchFamily="34" charset="-120"/>
              </a:rPr>
              <a:t>Frontmatter-controlled invocation</a:t>
            </a:r>
            <a:endParaRPr lang="en-US" sz="1200" dirty="0"/>
          </a:p>
          <a:p>
            <a:pPr marL="342900" indent="-342900">
              <a:lnSpc>
                <a:spcPct val="118000"/>
              </a:lnSpc>
              <a:buSzPct val="100000"/>
              <a:buChar char="•"/>
            </a:pPr>
            <a:r>
              <a:rPr lang="en-US" sz="1200" dirty="0">
                <a:solidFill>
                  <a:srgbClr val="26231E"/>
                </a:solidFill>
                <a:latin typeface="Calibri" pitchFamily="34" charset="0"/>
                <a:ea typeface="Calibri" pitchFamily="34" charset="-122"/>
                <a:cs typeface="Calibri" pitchFamily="34" charset="-120"/>
              </a:rPr>
              <a:t>Run any skill with /skill-name</a:t>
            </a:r>
            <a:endParaRPr lang="en-US" sz="1200" dirty="0"/>
          </a:p>
        </p:txBody>
      </p:sp>
      <p:sp>
        <p:nvSpPr>
          <p:cNvPr id="14" name="Text 12"/>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5" name="Shape 13"/>
          <p:cNvSpPr/>
          <p:nvPr/>
        </p:nvSpPr>
        <p:spPr>
          <a:xfrm>
            <a:off x="8394192" y="4855464"/>
            <a:ext cx="128016" cy="128016"/>
          </a:xfrm>
          <a:prstGeom prst="ellipse">
            <a:avLst/>
          </a:prstGeom>
          <a:solidFill>
            <a:srgbClr val="C15F3C"/>
          </a:solidFill>
          <a:ln/>
        </p:spPr>
        <p:txBody>
          <a:bodyPr/>
          <a:lstStyle/>
          <a:p>
            <a:endParaRPr lang="en-IN"/>
          </a:p>
        </p:txBody>
      </p:sp>
      <p:sp>
        <p:nvSpPr>
          <p:cNvPr id="16" name="Text 14"/>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STAY IN CONTROL</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Reviewing &amp; accepting changes</a:t>
            </a:r>
            <a:endParaRPr lang="en-US" sz="2900" dirty="0"/>
          </a:p>
        </p:txBody>
      </p:sp>
      <p:sp>
        <p:nvSpPr>
          <p:cNvPr id="4" name="Shape 2"/>
          <p:cNvSpPr/>
          <p:nvPr/>
        </p:nvSpPr>
        <p:spPr>
          <a:xfrm>
            <a:off x="548640" y="1591056"/>
            <a:ext cx="8046720" cy="960120"/>
          </a:xfrm>
          <a:prstGeom prst="roundRect">
            <a:avLst>
              <a:gd name="adj" fmla="val 7619"/>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Shape 3"/>
          <p:cNvSpPr/>
          <p:nvPr/>
        </p:nvSpPr>
        <p:spPr>
          <a:xfrm>
            <a:off x="777240" y="1883664"/>
            <a:ext cx="384048" cy="384048"/>
          </a:xfrm>
          <a:prstGeom prst="ellipse">
            <a:avLst/>
          </a:prstGeom>
          <a:solidFill>
            <a:srgbClr val="C15F3C"/>
          </a:solidFill>
          <a:ln/>
        </p:spPr>
        <p:txBody>
          <a:bodyPr/>
          <a:lstStyle/>
          <a:p>
            <a:endParaRPr lang="en-IN"/>
          </a:p>
        </p:txBody>
      </p:sp>
      <p:sp>
        <p:nvSpPr>
          <p:cNvPr id="6" name="Text 4"/>
          <p:cNvSpPr/>
          <p:nvPr/>
        </p:nvSpPr>
        <p:spPr>
          <a:xfrm>
            <a:off x="777240" y="18836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371600" y="1737360"/>
            <a:ext cx="694944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Inspect every diff</a:t>
            </a:r>
            <a:endParaRPr lang="en-US" sz="1500" dirty="0"/>
          </a:p>
        </p:txBody>
      </p:sp>
      <p:sp>
        <p:nvSpPr>
          <p:cNvPr id="8" name="Text 6"/>
          <p:cNvSpPr/>
          <p:nvPr/>
        </p:nvSpPr>
        <p:spPr>
          <a:xfrm>
            <a:off x="1371600" y="2048256"/>
            <a:ext cx="7040880" cy="411480"/>
          </a:xfrm>
          <a:prstGeom prst="rect">
            <a:avLst/>
          </a:prstGeom>
          <a:noFill/>
          <a:ln/>
        </p:spPr>
        <p:txBody>
          <a:bodyPr wrap="square" lIns="0" tIns="0" rIns="0" bIns="0" rtlCol="0" anchor="ctr"/>
          <a:lstStyle/>
          <a:p>
            <a:pPr marL="0" indent="0">
              <a:lnSpc>
                <a:spcPct val="105000"/>
              </a:lnSpc>
              <a:buNone/>
            </a:pPr>
            <a:r>
              <a:rPr lang="en-US" sz="1200" dirty="0">
                <a:solidFill>
                  <a:srgbClr val="6F665A"/>
                </a:solidFill>
                <a:latin typeface="Calibri" pitchFamily="34" charset="0"/>
                <a:ea typeface="Calibri" pitchFamily="34" charset="-122"/>
                <a:cs typeface="Calibri" pitchFamily="34" charset="-120"/>
              </a:rPr>
              <a:t>Claude proposes changes as diffs. Read them before accepting — you approve or reject each edit and command.</a:t>
            </a:r>
            <a:endParaRPr lang="en-US" sz="1200" dirty="0"/>
          </a:p>
        </p:txBody>
      </p:sp>
      <p:sp>
        <p:nvSpPr>
          <p:cNvPr id="9" name="Shape 7"/>
          <p:cNvSpPr/>
          <p:nvPr/>
        </p:nvSpPr>
        <p:spPr>
          <a:xfrm>
            <a:off x="548640" y="2670048"/>
            <a:ext cx="8046720" cy="960120"/>
          </a:xfrm>
          <a:prstGeom prst="roundRect">
            <a:avLst>
              <a:gd name="adj" fmla="val 7619"/>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0" name="Shape 8"/>
          <p:cNvSpPr/>
          <p:nvPr/>
        </p:nvSpPr>
        <p:spPr>
          <a:xfrm>
            <a:off x="777240" y="2962656"/>
            <a:ext cx="384048" cy="384048"/>
          </a:xfrm>
          <a:prstGeom prst="ellipse">
            <a:avLst/>
          </a:prstGeom>
          <a:solidFill>
            <a:srgbClr val="C15F3C"/>
          </a:solidFill>
          <a:ln/>
        </p:spPr>
        <p:txBody>
          <a:bodyPr/>
          <a:lstStyle/>
          <a:p>
            <a:endParaRPr lang="en-IN"/>
          </a:p>
        </p:txBody>
      </p:sp>
      <p:sp>
        <p:nvSpPr>
          <p:cNvPr id="11" name="Text 9"/>
          <p:cNvSpPr/>
          <p:nvPr/>
        </p:nvSpPr>
        <p:spPr>
          <a:xfrm>
            <a:off x="777240" y="29626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1371600" y="2816352"/>
            <a:ext cx="694944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Permission prompts</a:t>
            </a:r>
            <a:endParaRPr lang="en-US" sz="1500" dirty="0"/>
          </a:p>
        </p:txBody>
      </p:sp>
      <p:sp>
        <p:nvSpPr>
          <p:cNvPr id="13" name="Text 11"/>
          <p:cNvSpPr/>
          <p:nvPr/>
        </p:nvSpPr>
        <p:spPr>
          <a:xfrm>
            <a:off x="1371600" y="3127248"/>
            <a:ext cx="7040880" cy="411480"/>
          </a:xfrm>
          <a:prstGeom prst="rect">
            <a:avLst/>
          </a:prstGeom>
          <a:noFill/>
          <a:ln/>
        </p:spPr>
        <p:txBody>
          <a:bodyPr wrap="square" lIns="0" tIns="0" rIns="0" bIns="0" rtlCol="0" anchor="ctr"/>
          <a:lstStyle/>
          <a:p>
            <a:pPr marL="0" indent="0">
              <a:lnSpc>
                <a:spcPct val="105000"/>
              </a:lnSpc>
              <a:buNone/>
            </a:pPr>
            <a:r>
              <a:rPr lang="en-US" sz="1200" dirty="0">
                <a:solidFill>
                  <a:srgbClr val="6F665A"/>
                </a:solidFill>
                <a:latin typeface="Calibri" pitchFamily="34" charset="0"/>
                <a:ea typeface="Calibri" pitchFamily="34" charset="-122"/>
                <a:cs typeface="Calibri" pitchFamily="34" charset="-120"/>
              </a:rPr>
              <a:t>Sensitive actions (running commands, writing files) ask first. Auto-accept mode trades prompts for speed — use it deliberately.</a:t>
            </a:r>
            <a:endParaRPr lang="en-US" sz="1200" dirty="0"/>
          </a:p>
        </p:txBody>
      </p:sp>
      <p:sp>
        <p:nvSpPr>
          <p:cNvPr id="14" name="Shape 12"/>
          <p:cNvSpPr/>
          <p:nvPr/>
        </p:nvSpPr>
        <p:spPr>
          <a:xfrm>
            <a:off x="548640" y="3749040"/>
            <a:ext cx="8046720" cy="960120"/>
          </a:xfrm>
          <a:prstGeom prst="roundRect">
            <a:avLst>
              <a:gd name="adj" fmla="val 7619"/>
            </a:avLst>
          </a:prstGeom>
          <a:solidFill>
            <a:srgbClr val="FBF7E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5" name="Shape 13"/>
          <p:cNvSpPr/>
          <p:nvPr/>
        </p:nvSpPr>
        <p:spPr>
          <a:xfrm>
            <a:off x="777240" y="4041648"/>
            <a:ext cx="384048" cy="384048"/>
          </a:xfrm>
          <a:prstGeom prst="ellipse">
            <a:avLst/>
          </a:prstGeom>
          <a:solidFill>
            <a:srgbClr val="4B5A66"/>
          </a:solidFill>
          <a:ln/>
        </p:spPr>
        <p:txBody>
          <a:bodyPr/>
          <a:lstStyle/>
          <a:p>
            <a:endParaRPr lang="en-IN"/>
          </a:p>
        </p:txBody>
      </p:sp>
      <p:sp>
        <p:nvSpPr>
          <p:cNvPr id="16" name="Text 14"/>
          <p:cNvSpPr/>
          <p:nvPr/>
        </p:nvSpPr>
        <p:spPr>
          <a:xfrm>
            <a:off x="777240" y="40416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371600" y="3895344"/>
            <a:ext cx="6949440" cy="292608"/>
          </a:xfrm>
          <a:prstGeom prst="rect">
            <a:avLst/>
          </a:prstGeom>
          <a:noFill/>
          <a:ln/>
        </p:spPr>
        <p:txBody>
          <a:bodyPr wrap="square" lIns="0" tIns="0" rIns="0" bIns="0" rtlCol="0" anchor="ctr"/>
          <a:lstStyle/>
          <a:p>
            <a:pPr marL="0" indent="0">
              <a:buNone/>
            </a:pPr>
            <a:r>
              <a:rPr lang="en-US" sz="1500" b="1" dirty="0">
                <a:solidFill>
                  <a:srgbClr val="26231E"/>
                </a:solidFill>
                <a:latin typeface="Calibri" pitchFamily="34" charset="0"/>
                <a:ea typeface="Calibri" pitchFamily="34" charset="-122"/>
                <a:cs typeface="Calibri" pitchFamily="34" charset="-120"/>
              </a:rPr>
              <a:t>Automated PR review</a:t>
            </a:r>
            <a:endParaRPr lang="en-US" sz="1500" dirty="0"/>
          </a:p>
        </p:txBody>
      </p:sp>
      <p:sp>
        <p:nvSpPr>
          <p:cNvPr id="18" name="Text 16"/>
          <p:cNvSpPr/>
          <p:nvPr/>
        </p:nvSpPr>
        <p:spPr>
          <a:xfrm>
            <a:off x="1371600" y="4206240"/>
            <a:ext cx="7040880" cy="411480"/>
          </a:xfrm>
          <a:prstGeom prst="rect">
            <a:avLst/>
          </a:prstGeom>
          <a:noFill/>
          <a:ln/>
        </p:spPr>
        <p:txBody>
          <a:bodyPr wrap="square" lIns="0" tIns="0" rIns="0" bIns="0" rtlCol="0" anchor="ctr"/>
          <a:lstStyle/>
          <a:p>
            <a:pPr marL="0" indent="0">
              <a:lnSpc>
                <a:spcPct val="105000"/>
              </a:lnSpc>
              <a:buNone/>
            </a:pPr>
            <a:r>
              <a:rPr lang="en-US" sz="1200" dirty="0">
                <a:solidFill>
                  <a:srgbClr val="6F665A"/>
                </a:solidFill>
                <a:latin typeface="Calibri" pitchFamily="34" charset="0"/>
                <a:ea typeface="Calibri" pitchFamily="34" charset="-122"/>
                <a:cs typeface="Calibri" pitchFamily="34" charset="-120"/>
              </a:rPr>
              <a:t>Code Review runs a fleet of agents over a pull request and posts findings as inline comments on the exact lines.</a:t>
            </a:r>
            <a:endParaRPr lang="en-US" sz="1200" dirty="0"/>
          </a:p>
        </p:txBody>
      </p:sp>
      <p:sp>
        <p:nvSpPr>
          <p:cNvPr id="19" name="Text 17"/>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20" name="Shape 18"/>
          <p:cNvSpPr/>
          <p:nvPr/>
        </p:nvSpPr>
        <p:spPr>
          <a:xfrm>
            <a:off x="8394192" y="4855464"/>
            <a:ext cx="128016" cy="128016"/>
          </a:xfrm>
          <a:prstGeom prst="ellipse">
            <a:avLst/>
          </a:prstGeom>
          <a:solidFill>
            <a:srgbClr val="C15F3C"/>
          </a:solidFill>
          <a:ln/>
        </p:spPr>
        <p:txBody>
          <a:bodyPr/>
          <a:lstStyle/>
          <a:p>
            <a:endParaRPr lang="en-IN"/>
          </a:p>
        </p:txBody>
      </p:sp>
      <p:sp>
        <p:nvSpPr>
          <p:cNvPr id="21" name="Text 19"/>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PRACTICAL PATTERNS</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Keeping output reviewable</a:t>
            </a:r>
            <a:endParaRPr lang="en-US" sz="2900" dirty="0"/>
          </a:p>
        </p:txBody>
      </p:sp>
      <p:sp>
        <p:nvSpPr>
          <p:cNvPr id="4" name="Shape 2"/>
          <p:cNvSpPr/>
          <p:nvPr/>
        </p:nvSpPr>
        <p:spPr>
          <a:xfrm>
            <a:off x="548640" y="1572768"/>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Shape 3"/>
          <p:cNvSpPr/>
          <p:nvPr/>
        </p:nvSpPr>
        <p:spPr>
          <a:xfrm>
            <a:off x="548640" y="1572768"/>
            <a:ext cx="82296" cy="877824"/>
          </a:xfrm>
          <a:prstGeom prst="rect">
            <a:avLst/>
          </a:prstGeom>
          <a:solidFill>
            <a:srgbClr val="C15F3C"/>
          </a:solidFill>
          <a:ln/>
        </p:spPr>
        <p:txBody>
          <a:bodyPr/>
          <a:lstStyle/>
          <a:p>
            <a:endParaRPr lang="en-IN"/>
          </a:p>
        </p:txBody>
      </p:sp>
      <p:sp>
        <p:nvSpPr>
          <p:cNvPr id="6" name="Text 4"/>
          <p:cNvSpPr/>
          <p:nvPr/>
        </p:nvSpPr>
        <p:spPr>
          <a:xfrm>
            <a:off x="822960" y="1691640"/>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Small, scoped tasks</a:t>
            </a:r>
            <a:endParaRPr lang="en-US" sz="1350" dirty="0"/>
          </a:p>
        </p:txBody>
      </p:sp>
      <p:sp>
        <p:nvSpPr>
          <p:cNvPr id="7" name="Text 5"/>
          <p:cNvSpPr/>
          <p:nvPr/>
        </p:nvSpPr>
        <p:spPr>
          <a:xfrm>
            <a:off x="822960" y="1975104"/>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One change per loop. Small diffs are easy to read, test, and roll back.</a:t>
            </a:r>
            <a:endParaRPr lang="en-US" sz="1100" dirty="0"/>
          </a:p>
        </p:txBody>
      </p:sp>
      <p:sp>
        <p:nvSpPr>
          <p:cNvPr id="8" name="Shape 6"/>
          <p:cNvSpPr/>
          <p:nvPr/>
        </p:nvSpPr>
        <p:spPr>
          <a:xfrm>
            <a:off x="4800600" y="1572768"/>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9" name="Shape 7"/>
          <p:cNvSpPr/>
          <p:nvPr/>
        </p:nvSpPr>
        <p:spPr>
          <a:xfrm>
            <a:off x="4800600" y="1572768"/>
            <a:ext cx="82296" cy="877824"/>
          </a:xfrm>
          <a:prstGeom prst="rect">
            <a:avLst/>
          </a:prstGeom>
          <a:solidFill>
            <a:srgbClr val="4B5A66"/>
          </a:solidFill>
          <a:ln/>
        </p:spPr>
        <p:txBody>
          <a:bodyPr/>
          <a:lstStyle/>
          <a:p>
            <a:endParaRPr lang="en-IN"/>
          </a:p>
        </p:txBody>
      </p:sp>
      <p:sp>
        <p:nvSpPr>
          <p:cNvPr id="10" name="Text 8"/>
          <p:cNvSpPr/>
          <p:nvPr/>
        </p:nvSpPr>
        <p:spPr>
          <a:xfrm>
            <a:off x="5074920" y="1691640"/>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Plan, then execute</a:t>
            </a:r>
            <a:endParaRPr lang="en-US" sz="1350" dirty="0"/>
          </a:p>
        </p:txBody>
      </p:sp>
      <p:sp>
        <p:nvSpPr>
          <p:cNvPr id="11" name="Text 9"/>
          <p:cNvSpPr/>
          <p:nvPr/>
        </p:nvSpPr>
        <p:spPr>
          <a:xfrm>
            <a:off x="5074920" y="1975104"/>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Approve a plan first so review starts before any file changes.</a:t>
            </a:r>
            <a:endParaRPr lang="en-US" sz="1100" dirty="0"/>
          </a:p>
        </p:txBody>
      </p:sp>
      <p:sp>
        <p:nvSpPr>
          <p:cNvPr id="12" name="Shape 10"/>
          <p:cNvSpPr/>
          <p:nvPr/>
        </p:nvSpPr>
        <p:spPr>
          <a:xfrm>
            <a:off x="548640" y="2596896"/>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3" name="Shape 11"/>
          <p:cNvSpPr/>
          <p:nvPr/>
        </p:nvSpPr>
        <p:spPr>
          <a:xfrm>
            <a:off x="548640" y="2596896"/>
            <a:ext cx="82296" cy="877824"/>
          </a:xfrm>
          <a:prstGeom prst="rect">
            <a:avLst/>
          </a:prstGeom>
          <a:solidFill>
            <a:srgbClr val="C15F3C"/>
          </a:solidFill>
          <a:ln/>
        </p:spPr>
        <p:txBody>
          <a:bodyPr/>
          <a:lstStyle/>
          <a:p>
            <a:endParaRPr lang="en-IN"/>
          </a:p>
        </p:txBody>
      </p:sp>
      <p:sp>
        <p:nvSpPr>
          <p:cNvPr id="14" name="Text 12"/>
          <p:cNvSpPr/>
          <p:nvPr/>
        </p:nvSpPr>
        <p:spPr>
          <a:xfrm>
            <a:off x="822960" y="2715768"/>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Verify continuously</a:t>
            </a:r>
            <a:endParaRPr lang="en-US" sz="1350" dirty="0"/>
          </a:p>
        </p:txBody>
      </p:sp>
      <p:sp>
        <p:nvSpPr>
          <p:cNvPr id="15" name="Text 13"/>
          <p:cNvSpPr/>
          <p:nvPr/>
        </p:nvSpPr>
        <p:spPr>
          <a:xfrm>
            <a:off x="822960" y="2999232"/>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Ask for tests and have Claude run them — verification beats trust.</a:t>
            </a:r>
            <a:endParaRPr lang="en-US" sz="1100" dirty="0"/>
          </a:p>
        </p:txBody>
      </p:sp>
      <p:sp>
        <p:nvSpPr>
          <p:cNvPr id="16" name="Shape 14"/>
          <p:cNvSpPr/>
          <p:nvPr/>
        </p:nvSpPr>
        <p:spPr>
          <a:xfrm>
            <a:off x="4800600" y="2596896"/>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7" name="Shape 15"/>
          <p:cNvSpPr/>
          <p:nvPr/>
        </p:nvSpPr>
        <p:spPr>
          <a:xfrm>
            <a:off x="4800600" y="2596896"/>
            <a:ext cx="82296" cy="877824"/>
          </a:xfrm>
          <a:prstGeom prst="rect">
            <a:avLst/>
          </a:prstGeom>
          <a:solidFill>
            <a:srgbClr val="4B5A66"/>
          </a:solidFill>
          <a:ln/>
        </p:spPr>
        <p:txBody>
          <a:bodyPr/>
          <a:lstStyle/>
          <a:p>
            <a:endParaRPr lang="en-IN"/>
          </a:p>
        </p:txBody>
      </p:sp>
      <p:sp>
        <p:nvSpPr>
          <p:cNvPr id="18" name="Text 16"/>
          <p:cNvSpPr/>
          <p:nvPr/>
        </p:nvSpPr>
        <p:spPr>
          <a:xfrm>
            <a:off x="5074920" y="2715768"/>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Context minimalism</a:t>
            </a:r>
            <a:endParaRPr lang="en-US" sz="1350" dirty="0"/>
          </a:p>
        </p:txBody>
      </p:sp>
      <p:sp>
        <p:nvSpPr>
          <p:cNvPr id="19" name="Text 17"/>
          <p:cNvSpPr/>
          <p:nvPr/>
        </p:nvSpPr>
        <p:spPr>
          <a:xfrm>
            <a:off x="5074920" y="2999232"/>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Start fresh sessions for new tasks; a full context window degrades quality.</a:t>
            </a:r>
            <a:endParaRPr lang="en-US" sz="1100" dirty="0"/>
          </a:p>
        </p:txBody>
      </p:sp>
      <p:sp>
        <p:nvSpPr>
          <p:cNvPr id="20" name="Shape 18"/>
          <p:cNvSpPr/>
          <p:nvPr/>
        </p:nvSpPr>
        <p:spPr>
          <a:xfrm>
            <a:off x="548640" y="3621024"/>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1" name="Shape 19"/>
          <p:cNvSpPr/>
          <p:nvPr/>
        </p:nvSpPr>
        <p:spPr>
          <a:xfrm>
            <a:off x="548640" y="3621024"/>
            <a:ext cx="82296" cy="877824"/>
          </a:xfrm>
          <a:prstGeom prst="rect">
            <a:avLst/>
          </a:prstGeom>
          <a:solidFill>
            <a:srgbClr val="C15F3C"/>
          </a:solidFill>
          <a:ln/>
        </p:spPr>
        <p:txBody>
          <a:bodyPr/>
          <a:lstStyle/>
          <a:p>
            <a:endParaRPr lang="en-IN"/>
          </a:p>
        </p:txBody>
      </p:sp>
      <p:sp>
        <p:nvSpPr>
          <p:cNvPr id="22" name="Text 20"/>
          <p:cNvSpPr/>
          <p:nvPr/>
        </p:nvSpPr>
        <p:spPr>
          <a:xfrm>
            <a:off x="822960" y="3739896"/>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Commit in steps</a:t>
            </a:r>
            <a:endParaRPr lang="en-US" sz="1350" dirty="0"/>
          </a:p>
        </p:txBody>
      </p:sp>
      <p:sp>
        <p:nvSpPr>
          <p:cNvPr id="23" name="Text 21"/>
          <p:cNvSpPr/>
          <p:nvPr/>
        </p:nvSpPr>
        <p:spPr>
          <a:xfrm>
            <a:off x="822960" y="4023360"/>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Frequent, focused commits create natural review checkpoints.</a:t>
            </a:r>
            <a:endParaRPr lang="en-US" sz="1100" dirty="0"/>
          </a:p>
        </p:txBody>
      </p:sp>
      <p:sp>
        <p:nvSpPr>
          <p:cNvPr id="24" name="Shape 22"/>
          <p:cNvSpPr/>
          <p:nvPr/>
        </p:nvSpPr>
        <p:spPr>
          <a:xfrm>
            <a:off x="4800600" y="3621024"/>
            <a:ext cx="3931920" cy="877824"/>
          </a:xfrm>
          <a:prstGeom prst="roundRect">
            <a:avLst>
              <a:gd name="adj" fmla="val 8333"/>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5" name="Shape 23"/>
          <p:cNvSpPr/>
          <p:nvPr/>
        </p:nvSpPr>
        <p:spPr>
          <a:xfrm>
            <a:off x="4800600" y="3621024"/>
            <a:ext cx="82296" cy="877824"/>
          </a:xfrm>
          <a:prstGeom prst="rect">
            <a:avLst/>
          </a:prstGeom>
          <a:solidFill>
            <a:srgbClr val="4B5A66"/>
          </a:solidFill>
          <a:ln/>
        </p:spPr>
        <p:txBody>
          <a:bodyPr/>
          <a:lstStyle/>
          <a:p>
            <a:endParaRPr lang="en-IN"/>
          </a:p>
        </p:txBody>
      </p:sp>
      <p:sp>
        <p:nvSpPr>
          <p:cNvPr id="26" name="Text 24"/>
          <p:cNvSpPr/>
          <p:nvPr/>
        </p:nvSpPr>
        <p:spPr>
          <a:xfrm>
            <a:off x="5074920" y="3739896"/>
            <a:ext cx="3474720" cy="274320"/>
          </a:xfrm>
          <a:prstGeom prst="rect">
            <a:avLst/>
          </a:prstGeom>
          <a:noFill/>
          <a:ln/>
        </p:spPr>
        <p:txBody>
          <a:bodyPr wrap="square" lIns="0" tIns="0" rIns="0" bIns="0" rtlCol="0" anchor="ctr"/>
          <a:lstStyle/>
          <a:p>
            <a:pPr marL="0" indent="0">
              <a:buNone/>
            </a:pPr>
            <a:r>
              <a:rPr lang="en-US" sz="1350" b="1" dirty="0">
                <a:solidFill>
                  <a:srgbClr val="26231E"/>
                </a:solidFill>
                <a:latin typeface="Calibri" pitchFamily="34" charset="0"/>
                <a:ea typeface="Calibri" pitchFamily="34" charset="-122"/>
                <a:cs typeface="Calibri" pitchFamily="34" charset="-120"/>
              </a:rPr>
              <a:t>Encode the rules</a:t>
            </a:r>
            <a:endParaRPr lang="en-US" sz="1350" dirty="0"/>
          </a:p>
        </p:txBody>
      </p:sp>
      <p:sp>
        <p:nvSpPr>
          <p:cNvPr id="27" name="Text 25"/>
          <p:cNvSpPr/>
          <p:nvPr/>
        </p:nvSpPr>
        <p:spPr>
          <a:xfrm>
            <a:off x="5074920" y="4023360"/>
            <a:ext cx="3474720" cy="420624"/>
          </a:xfrm>
          <a:prstGeom prst="rect">
            <a:avLst/>
          </a:prstGeom>
          <a:noFill/>
          <a:ln/>
        </p:spPr>
        <p:txBody>
          <a:bodyPr wrap="square" lIns="0" tIns="0" rIns="0" bIns="0" rtlCol="0" anchor="ctr"/>
          <a:lstStyle/>
          <a:p>
            <a:pPr marL="0" indent="0">
              <a:lnSpc>
                <a:spcPct val="102000"/>
              </a:lnSpc>
              <a:buNone/>
            </a:pPr>
            <a:r>
              <a:rPr lang="en-US" sz="1100" dirty="0">
                <a:solidFill>
                  <a:srgbClr val="6F665A"/>
                </a:solidFill>
                <a:latin typeface="Calibri" pitchFamily="34" charset="0"/>
                <a:ea typeface="Calibri" pitchFamily="34" charset="-122"/>
                <a:cs typeface="Calibri" pitchFamily="34" charset="-120"/>
              </a:rPr>
              <a:t>Put review standards in CLAUDE.md and skills so they apply every time.</a:t>
            </a:r>
            <a:endParaRPr lang="en-US" sz="1100" dirty="0"/>
          </a:p>
        </p:txBody>
      </p:sp>
      <p:sp>
        <p:nvSpPr>
          <p:cNvPr id="28" name="Text 26"/>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29" name="Shape 27"/>
          <p:cNvSpPr/>
          <p:nvPr/>
        </p:nvSpPr>
        <p:spPr>
          <a:xfrm>
            <a:off x="8394192" y="4855464"/>
            <a:ext cx="128016" cy="128016"/>
          </a:xfrm>
          <a:prstGeom prst="ellipse">
            <a:avLst/>
          </a:prstGeom>
          <a:solidFill>
            <a:srgbClr val="C15F3C"/>
          </a:solidFill>
          <a:ln/>
        </p:spPr>
        <p:txBody>
          <a:bodyPr/>
          <a:lstStyle/>
          <a:p>
            <a:endParaRPr lang="en-IN"/>
          </a:p>
        </p:txBody>
      </p:sp>
      <p:sp>
        <p:nvSpPr>
          <p:cNvPr id="30" name="Text 28"/>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PUTTING IT TOGETHER</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Live demo · build a feature end-to-end</a:t>
            </a:r>
            <a:endParaRPr lang="en-US" sz="2900" dirty="0"/>
          </a:p>
        </p:txBody>
      </p:sp>
      <p:sp>
        <p:nvSpPr>
          <p:cNvPr id="4" name="Text 2"/>
          <p:cNvSpPr/>
          <p:nvPr/>
        </p:nvSpPr>
        <p:spPr>
          <a:xfrm>
            <a:off x="548640" y="1517904"/>
            <a:ext cx="8046720" cy="502920"/>
          </a:xfrm>
          <a:prstGeom prst="rect">
            <a:avLst/>
          </a:prstGeom>
          <a:noFill/>
          <a:ln/>
        </p:spPr>
        <p:txBody>
          <a:bodyPr wrap="square" lIns="0" tIns="0" rIns="0" bIns="0" rtlCol="0" anchor="ctr"/>
          <a:lstStyle/>
          <a:p>
            <a:pPr marL="0" indent="0">
              <a:lnSpc>
                <a:spcPct val="110000"/>
              </a:lnSpc>
              <a:buNone/>
            </a:pPr>
            <a:r>
              <a:rPr lang="en-US" sz="1300" i="1" dirty="0">
                <a:solidFill>
                  <a:srgbClr val="4B5A66"/>
                </a:solidFill>
                <a:latin typeface="Calibri" pitchFamily="34" charset="0"/>
                <a:ea typeface="Calibri" pitchFamily="34" charset="-122"/>
                <a:cs typeface="Calibri" pitchFamily="34" charset="-120"/>
              </a:rPr>
              <a:t>Example task:  “Add a dark-mode toggle to settings — remember the choice and follow the system default until the user picks one.”</a:t>
            </a:r>
            <a:endParaRPr lang="en-US" sz="1300" dirty="0"/>
          </a:p>
        </p:txBody>
      </p:sp>
      <p:sp>
        <p:nvSpPr>
          <p:cNvPr id="5" name="Shape 3"/>
          <p:cNvSpPr/>
          <p:nvPr/>
        </p:nvSpPr>
        <p:spPr>
          <a:xfrm>
            <a:off x="548640" y="2148840"/>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6" name="Shape 4"/>
          <p:cNvSpPr/>
          <p:nvPr/>
        </p:nvSpPr>
        <p:spPr>
          <a:xfrm>
            <a:off x="731520" y="2331720"/>
            <a:ext cx="384048" cy="384048"/>
          </a:xfrm>
          <a:prstGeom prst="ellipse">
            <a:avLst/>
          </a:prstGeom>
          <a:solidFill>
            <a:srgbClr val="C15F3C"/>
          </a:solidFill>
          <a:ln/>
        </p:spPr>
        <p:txBody>
          <a:bodyPr/>
          <a:lstStyle/>
          <a:p>
            <a:endParaRPr lang="en-IN"/>
          </a:p>
        </p:txBody>
      </p:sp>
      <p:sp>
        <p:nvSpPr>
          <p:cNvPr id="7" name="Text 5"/>
          <p:cNvSpPr/>
          <p:nvPr/>
        </p:nvSpPr>
        <p:spPr>
          <a:xfrm>
            <a:off x="731520" y="2331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8" name="Text 6"/>
          <p:cNvSpPr/>
          <p:nvPr/>
        </p:nvSpPr>
        <p:spPr>
          <a:xfrm>
            <a:off x="1225296" y="2350008"/>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Open the repo</a:t>
            </a:r>
            <a:endParaRPr lang="en-US" sz="1300" dirty="0"/>
          </a:p>
        </p:txBody>
      </p:sp>
      <p:sp>
        <p:nvSpPr>
          <p:cNvPr id="9" name="Text 7"/>
          <p:cNvSpPr/>
          <p:nvPr/>
        </p:nvSpPr>
        <p:spPr>
          <a:xfrm>
            <a:off x="731520" y="2752344"/>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Launch Claude Code in the terminal or IDE on a real project.</a:t>
            </a:r>
            <a:endParaRPr lang="en-US" sz="1050" dirty="0"/>
          </a:p>
        </p:txBody>
      </p:sp>
      <p:sp>
        <p:nvSpPr>
          <p:cNvPr id="10" name="Shape 8"/>
          <p:cNvSpPr/>
          <p:nvPr/>
        </p:nvSpPr>
        <p:spPr>
          <a:xfrm>
            <a:off x="3337560" y="2148840"/>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1" name="Shape 9"/>
          <p:cNvSpPr/>
          <p:nvPr/>
        </p:nvSpPr>
        <p:spPr>
          <a:xfrm>
            <a:off x="3520440" y="2331720"/>
            <a:ext cx="384048" cy="384048"/>
          </a:xfrm>
          <a:prstGeom prst="ellipse">
            <a:avLst/>
          </a:prstGeom>
          <a:solidFill>
            <a:srgbClr val="4B5A66"/>
          </a:solidFill>
          <a:ln/>
        </p:spPr>
        <p:txBody>
          <a:bodyPr/>
          <a:lstStyle/>
          <a:p>
            <a:endParaRPr lang="en-IN"/>
          </a:p>
        </p:txBody>
      </p:sp>
      <p:sp>
        <p:nvSpPr>
          <p:cNvPr id="12" name="Text 10"/>
          <p:cNvSpPr/>
          <p:nvPr/>
        </p:nvSpPr>
        <p:spPr>
          <a:xfrm>
            <a:off x="3520440" y="2331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3" name="Text 11"/>
          <p:cNvSpPr/>
          <p:nvPr/>
        </p:nvSpPr>
        <p:spPr>
          <a:xfrm>
            <a:off x="4014216" y="2350008"/>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Set memory</a:t>
            </a:r>
            <a:endParaRPr lang="en-US" sz="1300" dirty="0"/>
          </a:p>
        </p:txBody>
      </p:sp>
      <p:sp>
        <p:nvSpPr>
          <p:cNvPr id="14" name="Text 12"/>
          <p:cNvSpPr/>
          <p:nvPr/>
        </p:nvSpPr>
        <p:spPr>
          <a:xfrm>
            <a:off x="3520440" y="2752344"/>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Confirm CLAUDE.md has build, test, and style rules.</a:t>
            </a:r>
            <a:endParaRPr lang="en-US" sz="1050" dirty="0"/>
          </a:p>
        </p:txBody>
      </p:sp>
      <p:sp>
        <p:nvSpPr>
          <p:cNvPr id="15" name="Shape 13"/>
          <p:cNvSpPr/>
          <p:nvPr/>
        </p:nvSpPr>
        <p:spPr>
          <a:xfrm>
            <a:off x="6126480" y="2148840"/>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16" name="Shape 14"/>
          <p:cNvSpPr/>
          <p:nvPr/>
        </p:nvSpPr>
        <p:spPr>
          <a:xfrm>
            <a:off x="6309360" y="2331720"/>
            <a:ext cx="384048" cy="384048"/>
          </a:xfrm>
          <a:prstGeom prst="ellipse">
            <a:avLst/>
          </a:prstGeom>
          <a:solidFill>
            <a:srgbClr val="C15F3C"/>
          </a:solidFill>
          <a:ln/>
        </p:spPr>
        <p:txBody>
          <a:bodyPr/>
          <a:lstStyle/>
          <a:p>
            <a:endParaRPr lang="en-IN"/>
          </a:p>
        </p:txBody>
      </p:sp>
      <p:sp>
        <p:nvSpPr>
          <p:cNvPr id="17" name="Text 15"/>
          <p:cNvSpPr/>
          <p:nvPr/>
        </p:nvSpPr>
        <p:spPr>
          <a:xfrm>
            <a:off x="6309360" y="2331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8" name="Text 16"/>
          <p:cNvSpPr/>
          <p:nvPr/>
        </p:nvSpPr>
        <p:spPr>
          <a:xfrm>
            <a:off x="6803136" y="2350008"/>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Plan mode</a:t>
            </a:r>
            <a:endParaRPr lang="en-US" sz="1300" dirty="0"/>
          </a:p>
        </p:txBody>
      </p:sp>
      <p:sp>
        <p:nvSpPr>
          <p:cNvPr id="19" name="Text 17"/>
          <p:cNvSpPr/>
          <p:nvPr/>
        </p:nvSpPr>
        <p:spPr>
          <a:xfrm>
            <a:off x="6309360" y="2752344"/>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Shift+Tab twice; review and refine the proposed plan.</a:t>
            </a:r>
            <a:endParaRPr lang="en-US" sz="1050" dirty="0"/>
          </a:p>
        </p:txBody>
      </p:sp>
      <p:sp>
        <p:nvSpPr>
          <p:cNvPr id="20" name="Shape 18"/>
          <p:cNvSpPr/>
          <p:nvPr/>
        </p:nvSpPr>
        <p:spPr>
          <a:xfrm>
            <a:off x="548640" y="3502152"/>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1" name="Shape 19"/>
          <p:cNvSpPr/>
          <p:nvPr/>
        </p:nvSpPr>
        <p:spPr>
          <a:xfrm>
            <a:off x="731520" y="3685032"/>
            <a:ext cx="384048" cy="384048"/>
          </a:xfrm>
          <a:prstGeom prst="ellipse">
            <a:avLst/>
          </a:prstGeom>
          <a:solidFill>
            <a:srgbClr val="4B5A66"/>
          </a:solidFill>
          <a:ln/>
        </p:spPr>
        <p:txBody>
          <a:bodyPr/>
          <a:lstStyle/>
          <a:p>
            <a:endParaRPr lang="en-IN"/>
          </a:p>
        </p:txBody>
      </p:sp>
      <p:sp>
        <p:nvSpPr>
          <p:cNvPr id="22" name="Text 20"/>
          <p:cNvSpPr/>
          <p:nvPr/>
        </p:nvSpPr>
        <p:spPr>
          <a:xfrm>
            <a:off x="731520" y="36850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3" name="Text 21"/>
          <p:cNvSpPr/>
          <p:nvPr/>
        </p:nvSpPr>
        <p:spPr>
          <a:xfrm>
            <a:off x="1225296" y="3703320"/>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Run the loop</a:t>
            </a:r>
            <a:endParaRPr lang="en-US" sz="1300" dirty="0"/>
          </a:p>
        </p:txBody>
      </p:sp>
      <p:sp>
        <p:nvSpPr>
          <p:cNvPr id="24" name="Text 22"/>
          <p:cNvSpPr/>
          <p:nvPr/>
        </p:nvSpPr>
        <p:spPr>
          <a:xfrm>
            <a:off x="731520" y="4105656"/>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Let it edit across files and run the tests.</a:t>
            </a:r>
            <a:endParaRPr lang="en-US" sz="1050" dirty="0"/>
          </a:p>
        </p:txBody>
      </p:sp>
      <p:sp>
        <p:nvSpPr>
          <p:cNvPr id="25" name="Shape 23"/>
          <p:cNvSpPr/>
          <p:nvPr/>
        </p:nvSpPr>
        <p:spPr>
          <a:xfrm>
            <a:off x="3337560" y="3502152"/>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6" name="Shape 24"/>
          <p:cNvSpPr/>
          <p:nvPr/>
        </p:nvSpPr>
        <p:spPr>
          <a:xfrm>
            <a:off x="3520440" y="3685032"/>
            <a:ext cx="384048" cy="384048"/>
          </a:xfrm>
          <a:prstGeom prst="ellipse">
            <a:avLst/>
          </a:prstGeom>
          <a:solidFill>
            <a:srgbClr val="C15F3C"/>
          </a:solidFill>
          <a:ln/>
        </p:spPr>
        <p:txBody>
          <a:bodyPr/>
          <a:lstStyle/>
          <a:p>
            <a:endParaRPr lang="en-IN"/>
          </a:p>
        </p:txBody>
      </p:sp>
      <p:sp>
        <p:nvSpPr>
          <p:cNvPr id="27" name="Text 25"/>
          <p:cNvSpPr/>
          <p:nvPr/>
        </p:nvSpPr>
        <p:spPr>
          <a:xfrm>
            <a:off x="3520440" y="36850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8" name="Text 26"/>
          <p:cNvSpPr/>
          <p:nvPr/>
        </p:nvSpPr>
        <p:spPr>
          <a:xfrm>
            <a:off x="4014216" y="3703320"/>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Review the diff</a:t>
            </a:r>
            <a:endParaRPr lang="en-US" sz="1300" dirty="0"/>
          </a:p>
        </p:txBody>
      </p:sp>
      <p:sp>
        <p:nvSpPr>
          <p:cNvPr id="29" name="Text 27"/>
          <p:cNvSpPr/>
          <p:nvPr/>
        </p:nvSpPr>
        <p:spPr>
          <a:xfrm>
            <a:off x="3520440" y="4105656"/>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Accept good hunks, reject or redirect the rest.</a:t>
            </a:r>
            <a:endParaRPr lang="en-US" sz="1050" dirty="0"/>
          </a:p>
        </p:txBody>
      </p:sp>
      <p:sp>
        <p:nvSpPr>
          <p:cNvPr id="30" name="Shape 28"/>
          <p:cNvSpPr/>
          <p:nvPr/>
        </p:nvSpPr>
        <p:spPr>
          <a:xfrm>
            <a:off x="6126480" y="3502152"/>
            <a:ext cx="2560320" cy="1170432"/>
          </a:xfrm>
          <a:prstGeom prst="roundRect">
            <a:avLst>
              <a:gd name="adj" fmla="val 6250"/>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31" name="Shape 29"/>
          <p:cNvSpPr/>
          <p:nvPr/>
        </p:nvSpPr>
        <p:spPr>
          <a:xfrm>
            <a:off x="6309360" y="3685032"/>
            <a:ext cx="384048" cy="384048"/>
          </a:xfrm>
          <a:prstGeom prst="ellipse">
            <a:avLst/>
          </a:prstGeom>
          <a:solidFill>
            <a:srgbClr val="4B5A66"/>
          </a:solidFill>
          <a:ln/>
        </p:spPr>
        <p:txBody>
          <a:bodyPr/>
          <a:lstStyle/>
          <a:p>
            <a:endParaRPr lang="en-IN"/>
          </a:p>
        </p:txBody>
      </p:sp>
      <p:sp>
        <p:nvSpPr>
          <p:cNvPr id="32" name="Text 30"/>
          <p:cNvSpPr/>
          <p:nvPr/>
        </p:nvSpPr>
        <p:spPr>
          <a:xfrm>
            <a:off x="6309360" y="36850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3" name="Text 31"/>
          <p:cNvSpPr/>
          <p:nvPr/>
        </p:nvSpPr>
        <p:spPr>
          <a:xfrm>
            <a:off x="6803136" y="3703320"/>
            <a:ext cx="1737360" cy="320040"/>
          </a:xfrm>
          <a:prstGeom prst="rect">
            <a:avLst/>
          </a:prstGeom>
          <a:noFill/>
          <a:ln/>
        </p:spPr>
        <p:txBody>
          <a:bodyPr wrap="square" lIns="0" tIns="0" rIns="0" bIns="0" rtlCol="0" anchor="ctr"/>
          <a:lstStyle/>
          <a:p>
            <a:pPr marL="0" indent="0">
              <a:buNone/>
            </a:pPr>
            <a:r>
              <a:rPr lang="en-US" sz="1300" b="1" dirty="0">
                <a:solidFill>
                  <a:srgbClr val="26231E"/>
                </a:solidFill>
                <a:latin typeface="Calibri" pitchFamily="34" charset="0"/>
                <a:ea typeface="Calibri" pitchFamily="34" charset="-122"/>
                <a:cs typeface="Calibri" pitchFamily="34" charset="-120"/>
              </a:rPr>
              <a:t>Commit</a:t>
            </a:r>
            <a:endParaRPr lang="en-US" sz="1300" dirty="0"/>
          </a:p>
        </p:txBody>
      </p:sp>
      <p:sp>
        <p:nvSpPr>
          <p:cNvPr id="34" name="Text 32"/>
          <p:cNvSpPr/>
          <p:nvPr/>
        </p:nvSpPr>
        <p:spPr>
          <a:xfrm>
            <a:off x="6309360" y="4105656"/>
            <a:ext cx="2194560" cy="502920"/>
          </a:xfrm>
          <a:prstGeom prst="rect">
            <a:avLst/>
          </a:prstGeom>
          <a:noFill/>
          <a:ln/>
        </p:spPr>
        <p:txBody>
          <a:bodyPr wrap="square" lIns="0" tIns="0" rIns="0" bIns="0" rtlCol="0" anchor="ctr"/>
          <a:lstStyle/>
          <a:p>
            <a:pPr marL="0" indent="0">
              <a:lnSpc>
                <a:spcPct val="102000"/>
              </a:lnSpc>
              <a:buNone/>
            </a:pPr>
            <a:r>
              <a:rPr lang="en-US" sz="1050" dirty="0">
                <a:solidFill>
                  <a:srgbClr val="6F665A"/>
                </a:solidFill>
                <a:latin typeface="Calibri" pitchFamily="34" charset="0"/>
                <a:ea typeface="Calibri" pitchFamily="34" charset="-122"/>
                <a:cs typeface="Calibri" pitchFamily="34" charset="-120"/>
              </a:rPr>
              <a:t>Use /commit, then /pr to open a reviewable pull request.</a:t>
            </a:r>
            <a:endParaRPr lang="en-US" sz="1050" dirty="0"/>
          </a:p>
        </p:txBody>
      </p:sp>
      <p:sp>
        <p:nvSpPr>
          <p:cNvPr id="35" name="Text 33"/>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36" name="Shape 34"/>
          <p:cNvSpPr/>
          <p:nvPr/>
        </p:nvSpPr>
        <p:spPr>
          <a:xfrm>
            <a:off x="8394192" y="4855464"/>
            <a:ext cx="128016" cy="128016"/>
          </a:xfrm>
          <a:prstGeom prst="ellipse">
            <a:avLst/>
          </a:prstGeom>
          <a:solidFill>
            <a:srgbClr val="C15F3C"/>
          </a:solidFill>
          <a:ln/>
        </p:spPr>
        <p:txBody>
          <a:bodyPr/>
          <a:lstStyle/>
          <a:p>
            <a:endParaRPr lang="en-IN"/>
          </a:p>
        </p:txBody>
      </p:sp>
      <p:sp>
        <p:nvSpPr>
          <p:cNvPr id="37" name="Text 35"/>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YOUR TURN</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Hands-on exercise  ·  20 minutes</a:t>
            </a:r>
            <a:endParaRPr lang="en-US" sz="2900" dirty="0"/>
          </a:p>
        </p:txBody>
      </p:sp>
      <p:sp>
        <p:nvSpPr>
          <p:cNvPr id="4" name="Shape 2"/>
          <p:cNvSpPr/>
          <p:nvPr/>
        </p:nvSpPr>
        <p:spPr>
          <a:xfrm>
            <a:off x="548640" y="1591056"/>
            <a:ext cx="4892040" cy="3017520"/>
          </a:xfrm>
          <a:prstGeom prst="roundRect">
            <a:avLst>
              <a:gd name="adj" fmla="val 2424"/>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Text 3"/>
          <p:cNvSpPr/>
          <p:nvPr/>
        </p:nvSpPr>
        <p:spPr>
          <a:xfrm>
            <a:off x="777240" y="1755648"/>
            <a:ext cx="4389120" cy="256032"/>
          </a:xfrm>
          <a:prstGeom prst="rect">
            <a:avLst/>
          </a:prstGeom>
          <a:noFill/>
          <a:ln/>
        </p:spPr>
        <p:txBody>
          <a:bodyPr wrap="square" lIns="0" tIns="0" rIns="0" bIns="0" rtlCol="0" anchor="ctr"/>
          <a:lstStyle/>
          <a:p>
            <a:pPr marL="0" indent="0">
              <a:buNone/>
            </a:pPr>
            <a:r>
              <a:rPr lang="en-US" sz="1100" b="1" kern="0" spc="200" dirty="0">
                <a:solidFill>
                  <a:srgbClr val="C15F3C"/>
                </a:solidFill>
                <a:latin typeface="Calibri" pitchFamily="34" charset="0"/>
                <a:ea typeface="Calibri" pitchFamily="34" charset="-122"/>
                <a:cs typeface="Calibri" pitchFamily="34" charset="-120"/>
              </a:rPr>
              <a:t>DO THIS</a:t>
            </a:r>
            <a:endParaRPr lang="en-US" sz="1100" dirty="0"/>
          </a:p>
        </p:txBody>
      </p:sp>
      <p:sp>
        <p:nvSpPr>
          <p:cNvPr id="6" name="Text 4"/>
          <p:cNvSpPr/>
          <p:nvPr/>
        </p:nvSpPr>
        <p:spPr>
          <a:xfrm>
            <a:off x="777240" y="2148840"/>
            <a:ext cx="4480560" cy="2286000"/>
          </a:xfrm>
          <a:prstGeom prst="rect">
            <a:avLst/>
          </a:prstGeom>
          <a:noFill/>
          <a:ln/>
        </p:spPr>
        <p:txBody>
          <a:bodyPr wrap="square" lIns="0" tIns="0" rIns="0" bIns="0" rtlCol="0" anchor="t"/>
          <a:lstStyle/>
          <a:p>
            <a:pPr marL="342900" indent="-342900">
              <a:lnSpc>
                <a:spcPct val="140000"/>
              </a:lnSpc>
              <a:buSzPct val="100000"/>
              <a:buFont typeface="+mj-lt"/>
              <a:buAutoNum type="arabicPeriod"/>
            </a:pPr>
            <a:r>
              <a:rPr lang="en-US" sz="1300" dirty="0">
                <a:solidFill>
                  <a:srgbClr val="26231E"/>
                </a:solidFill>
                <a:latin typeface="Calibri" pitchFamily="34" charset="0"/>
                <a:ea typeface="Calibri" pitchFamily="34" charset="-122"/>
                <a:cs typeface="Calibri" pitchFamily="34" charset="-120"/>
              </a:rPr>
              <a:t>Open a sample repo in Claude Code (terminal or IDE).</a:t>
            </a:r>
            <a:endParaRPr lang="en-US" sz="1300" dirty="0"/>
          </a:p>
          <a:p>
            <a:pPr marL="342900" indent="-342900">
              <a:lnSpc>
                <a:spcPct val="140000"/>
              </a:lnSpc>
              <a:buSzPct val="100000"/>
              <a:buFont typeface="+mj-lt"/>
              <a:buAutoNum type="arabicPeriod"/>
            </a:pPr>
            <a:r>
              <a:rPr lang="en-US" sz="1300" dirty="0">
                <a:solidFill>
                  <a:srgbClr val="26231E"/>
                </a:solidFill>
                <a:latin typeface="Calibri" pitchFamily="34" charset="0"/>
                <a:ea typeface="Calibri" pitchFamily="34" charset="-122"/>
                <a:cs typeface="Calibri" pitchFamily="34" charset="-120"/>
              </a:rPr>
              <a:t>Add a short CLAUDE.md with build, test, and style rules.</a:t>
            </a:r>
            <a:endParaRPr lang="en-US" sz="1300" dirty="0"/>
          </a:p>
          <a:p>
            <a:pPr marL="342900" indent="-342900">
              <a:lnSpc>
                <a:spcPct val="140000"/>
              </a:lnSpc>
              <a:buSzPct val="100000"/>
              <a:buFont typeface="+mj-lt"/>
              <a:buAutoNum type="arabicPeriod"/>
            </a:pPr>
            <a:r>
              <a:rPr lang="en-US" sz="1300" dirty="0">
                <a:solidFill>
                  <a:srgbClr val="26231E"/>
                </a:solidFill>
                <a:latin typeface="Calibri" pitchFamily="34" charset="0"/>
                <a:ea typeface="Calibri" pitchFamily="34" charset="-122"/>
                <a:cs typeface="Calibri" pitchFamily="34" charset="-120"/>
              </a:rPr>
              <a:t>Use plan mode to add a small feature; refine the plan.</a:t>
            </a:r>
            <a:endParaRPr lang="en-US" sz="1300" dirty="0"/>
          </a:p>
          <a:p>
            <a:pPr marL="342900" indent="-342900">
              <a:lnSpc>
                <a:spcPct val="140000"/>
              </a:lnSpc>
              <a:buSzPct val="100000"/>
              <a:buFont typeface="+mj-lt"/>
              <a:buAutoNum type="arabicPeriod"/>
            </a:pPr>
            <a:r>
              <a:rPr lang="en-US" sz="1300" dirty="0">
                <a:solidFill>
                  <a:srgbClr val="26231E"/>
                </a:solidFill>
                <a:latin typeface="Calibri" pitchFamily="34" charset="0"/>
                <a:ea typeface="Calibri" pitchFamily="34" charset="-122"/>
                <a:cs typeface="Calibri" pitchFamily="34" charset="-120"/>
              </a:rPr>
              <a:t>Run the loop, then review and accept the diff.</a:t>
            </a:r>
            <a:endParaRPr lang="en-US" sz="1300" dirty="0"/>
          </a:p>
          <a:p>
            <a:pPr marL="342900" indent="-342900">
              <a:lnSpc>
                <a:spcPct val="140000"/>
              </a:lnSpc>
              <a:buSzPct val="100000"/>
              <a:buFont typeface="+mj-lt"/>
              <a:buAutoNum type="arabicPeriod"/>
            </a:pPr>
            <a:r>
              <a:rPr lang="en-US" sz="1300" dirty="0">
                <a:solidFill>
                  <a:srgbClr val="26231E"/>
                </a:solidFill>
                <a:latin typeface="Calibri" pitchFamily="34" charset="0"/>
                <a:ea typeface="Calibri" pitchFamily="34" charset="-122"/>
                <a:cs typeface="Calibri" pitchFamily="34" charset="-120"/>
              </a:rPr>
              <a:t>Finish with a slash command — /commit, then /pr.</a:t>
            </a:r>
            <a:endParaRPr lang="en-US" sz="1300" dirty="0"/>
          </a:p>
        </p:txBody>
      </p:sp>
      <p:sp>
        <p:nvSpPr>
          <p:cNvPr id="7" name="Shape 5"/>
          <p:cNvSpPr/>
          <p:nvPr/>
        </p:nvSpPr>
        <p:spPr>
          <a:xfrm>
            <a:off x="5669280" y="1591056"/>
            <a:ext cx="2926080" cy="3017520"/>
          </a:xfrm>
          <a:prstGeom prst="roundRect">
            <a:avLst>
              <a:gd name="adj" fmla="val 2500"/>
            </a:avLst>
          </a:prstGeom>
          <a:solidFill>
            <a:srgbClr val="F6F0E6"/>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8" name="Text 6"/>
          <p:cNvSpPr/>
          <p:nvPr/>
        </p:nvSpPr>
        <p:spPr>
          <a:xfrm>
            <a:off x="5897880" y="1755648"/>
            <a:ext cx="2468880" cy="256032"/>
          </a:xfrm>
          <a:prstGeom prst="rect">
            <a:avLst/>
          </a:prstGeom>
          <a:noFill/>
          <a:ln/>
        </p:spPr>
        <p:txBody>
          <a:bodyPr wrap="square" lIns="0" tIns="0" rIns="0" bIns="0" rtlCol="0" anchor="ctr"/>
          <a:lstStyle/>
          <a:p>
            <a:pPr marL="0" indent="0">
              <a:buNone/>
            </a:pPr>
            <a:r>
              <a:rPr lang="en-US" sz="1100" b="1" kern="0" spc="200" dirty="0">
                <a:solidFill>
                  <a:srgbClr val="4B5A66"/>
                </a:solidFill>
                <a:latin typeface="Calibri" pitchFamily="34" charset="0"/>
                <a:ea typeface="Calibri" pitchFamily="34" charset="-122"/>
                <a:cs typeface="Calibri" pitchFamily="34" charset="-120"/>
              </a:rPr>
              <a:t>DONE WHEN</a:t>
            </a:r>
            <a:endParaRPr lang="en-US" sz="1100" dirty="0"/>
          </a:p>
        </p:txBody>
      </p:sp>
      <p:sp>
        <p:nvSpPr>
          <p:cNvPr id="9" name="Text 7"/>
          <p:cNvSpPr/>
          <p:nvPr/>
        </p:nvSpPr>
        <p:spPr>
          <a:xfrm>
            <a:off x="5897880" y="2148840"/>
            <a:ext cx="2514600" cy="2194560"/>
          </a:xfrm>
          <a:prstGeom prst="rect">
            <a:avLst/>
          </a:prstGeom>
          <a:noFill/>
          <a:ln/>
        </p:spPr>
        <p:txBody>
          <a:bodyPr wrap="square" lIns="0" tIns="0" rIns="0" bIns="0" rtlCol="0" anchor="t"/>
          <a:lstStyle/>
          <a:p>
            <a:pPr marL="342900" indent="-342900">
              <a:lnSpc>
                <a:spcPct val="140000"/>
              </a:lnSpc>
              <a:buSzPct val="100000"/>
              <a:buChar char="•"/>
            </a:pPr>
            <a:r>
              <a:rPr lang="en-US" sz="1200" dirty="0">
                <a:solidFill>
                  <a:srgbClr val="26231E"/>
                </a:solidFill>
                <a:latin typeface="Calibri" pitchFamily="34" charset="0"/>
                <a:ea typeface="Calibri" pitchFamily="34" charset="-122"/>
                <a:cs typeface="Calibri" pitchFamily="34" charset="-120"/>
              </a:rPr>
              <a:t>A plan approved before any edit</a:t>
            </a:r>
            <a:endParaRPr lang="en-US" sz="1200" dirty="0"/>
          </a:p>
          <a:p>
            <a:pPr marL="342900" indent="-342900">
              <a:lnSpc>
                <a:spcPct val="140000"/>
              </a:lnSpc>
              <a:buSzPct val="100000"/>
              <a:buChar char="•"/>
            </a:pPr>
            <a:r>
              <a:rPr lang="en-US" sz="1200" dirty="0">
                <a:solidFill>
                  <a:srgbClr val="26231E"/>
                </a:solidFill>
                <a:latin typeface="Calibri" pitchFamily="34" charset="0"/>
                <a:ea typeface="Calibri" pitchFamily="34" charset="-122"/>
                <a:cs typeface="Calibri" pitchFamily="34" charset="-120"/>
              </a:rPr>
              <a:t>You rejected at least one hunk</a:t>
            </a:r>
            <a:endParaRPr lang="en-US" sz="1200" dirty="0"/>
          </a:p>
          <a:p>
            <a:pPr marL="342900" indent="-342900">
              <a:lnSpc>
                <a:spcPct val="140000"/>
              </a:lnSpc>
              <a:buSzPct val="100000"/>
              <a:buChar char="•"/>
            </a:pPr>
            <a:r>
              <a:rPr lang="en-US" sz="1200" dirty="0">
                <a:solidFill>
                  <a:srgbClr val="26231E"/>
                </a:solidFill>
                <a:latin typeface="Calibri" pitchFamily="34" charset="0"/>
                <a:ea typeface="Calibri" pitchFamily="34" charset="-122"/>
                <a:cs typeface="Calibri" pitchFamily="34" charset="-120"/>
              </a:rPr>
              <a:t>Tests ran and passed</a:t>
            </a:r>
            <a:endParaRPr lang="en-US" sz="1200" dirty="0"/>
          </a:p>
          <a:p>
            <a:pPr marL="342900" indent="-342900">
              <a:lnSpc>
                <a:spcPct val="140000"/>
              </a:lnSpc>
              <a:buSzPct val="100000"/>
              <a:buChar char="•"/>
            </a:pPr>
            <a:r>
              <a:rPr lang="en-US" sz="1200" dirty="0">
                <a:solidFill>
                  <a:srgbClr val="26231E"/>
                </a:solidFill>
                <a:latin typeface="Calibri" pitchFamily="34" charset="0"/>
                <a:ea typeface="Calibri" pitchFamily="34" charset="-122"/>
                <a:cs typeface="Calibri" pitchFamily="34" charset="-120"/>
              </a:rPr>
              <a:t>A PR is open and reviewable</a:t>
            </a:r>
            <a:endParaRPr lang="en-US" sz="1200" dirty="0"/>
          </a:p>
        </p:txBody>
      </p:sp>
      <p:sp>
        <p:nvSpPr>
          <p:cNvPr id="10" name="Text 8"/>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1" name="Shape 9"/>
          <p:cNvSpPr/>
          <p:nvPr/>
        </p:nvSpPr>
        <p:spPr>
          <a:xfrm>
            <a:off x="8394192" y="4855464"/>
            <a:ext cx="128016" cy="128016"/>
          </a:xfrm>
          <a:prstGeom prst="ellipse">
            <a:avLst/>
          </a:prstGeom>
          <a:solidFill>
            <a:srgbClr val="C15F3C"/>
          </a:solidFill>
          <a:ln/>
        </p:spPr>
        <p:txBody>
          <a:bodyPr/>
          <a:lstStyle/>
          <a:p>
            <a:endParaRPr lang="en-IN"/>
          </a:p>
        </p:txBody>
      </p:sp>
      <p:sp>
        <p:nvSpPr>
          <p:cNvPr id="12" name="Text 10"/>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EE2"/>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marL="0" indent="0">
              <a:buNone/>
            </a:pPr>
            <a:r>
              <a:rPr lang="en-US" sz="1150" b="1" kern="0" spc="300" dirty="0">
                <a:solidFill>
                  <a:srgbClr val="C15F3C"/>
                </a:solidFill>
                <a:latin typeface="Calibri" pitchFamily="34" charset="0"/>
                <a:ea typeface="Calibri" pitchFamily="34" charset="-122"/>
                <a:cs typeface="Calibri" pitchFamily="34" charset="-120"/>
              </a:rPr>
              <a:t>AVOID THE TRAPS</a:t>
            </a:r>
            <a:endParaRPr lang="en-US" sz="1150" dirty="0"/>
          </a:p>
        </p:txBody>
      </p:sp>
      <p:sp>
        <p:nvSpPr>
          <p:cNvPr id="3" name="Text 1"/>
          <p:cNvSpPr/>
          <p:nvPr/>
        </p:nvSpPr>
        <p:spPr>
          <a:xfrm>
            <a:off x="548640" y="640080"/>
            <a:ext cx="8412480" cy="713232"/>
          </a:xfrm>
          <a:prstGeom prst="rect">
            <a:avLst/>
          </a:prstGeom>
          <a:noFill/>
          <a:ln/>
        </p:spPr>
        <p:txBody>
          <a:bodyPr wrap="square" lIns="0" tIns="0" rIns="0" bIns="0" rtlCol="0" anchor="ctr"/>
          <a:lstStyle/>
          <a:p>
            <a:pPr marL="0" indent="0">
              <a:buNone/>
            </a:pPr>
            <a:r>
              <a:rPr lang="en-US" sz="2900" dirty="0">
                <a:solidFill>
                  <a:srgbClr val="26231E"/>
                </a:solidFill>
                <a:latin typeface="Georgia" pitchFamily="34" charset="0"/>
                <a:ea typeface="Georgia" pitchFamily="34" charset="-122"/>
                <a:cs typeface="Georgia" pitchFamily="34" charset="-120"/>
              </a:rPr>
              <a:t>Pitfalls &amp; best practices</a:t>
            </a:r>
            <a:endParaRPr lang="en-US" sz="2900" dirty="0"/>
          </a:p>
        </p:txBody>
      </p:sp>
      <p:sp>
        <p:nvSpPr>
          <p:cNvPr id="4" name="Shape 2"/>
          <p:cNvSpPr/>
          <p:nvPr/>
        </p:nvSpPr>
        <p:spPr>
          <a:xfrm>
            <a:off x="548640" y="1591056"/>
            <a:ext cx="3931920" cy="2834640"/>
          </a:xfrm>
          <a:prstGeom prst="roundRect">
            <a:avLst>
              <a:gd name="adj" fmla="val 2581"/>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5" name="Shape 3"/>
          <p:cNvSpPr/>
          <p:nvPr/>
        </p:nvSpPr>
        <p:spPr>
          <a:xfrm>
            <a:off x="548640" y="1591056"/>
            <a:ext cx="82296" cy="2834640"/>
          </a:xfrm>
          <a:prstGeom prst="rect">
            <a:avLst/>
          </a:prstGeom>
          <a:solidFill>
            <a:srgbClr val="C15F3C"/>
          </a:solidFill>
          <a:ln/>
        </p:spPr>
        <p:txBody>
          <a:bodyPr/>
          <a:lstStyle/>
          <a:p>
            <a:endParaRPr lang="en-IN"/>
          </a:p>
        </p:txBody>
      </p:sp>
      <p:sp>
        <p:nvSpPr>
          <p:cNvPr id="6" name="Text 4"/>
          <p:cNvSpPr/>
          <p:nvPr/>
        </p:nvSpPr>
        <p:spPr>
          <a:xfrm>
            <a:off x="822960" y="1755648"/>
            <a:ext cx="3474720" cy="274320"/>
          </a:xfrm>
          <a:prstGeom prst="rect">
            <a:avLst/>
          </a:prstGeom>
          <a:noFill/>
          <a:ln/>
        </p:spPr>
        <p:txBody>
          <a:bodyPr wrap="square" lIns="0" tIns="0" rIns="0" bIns="0" rtlCol="0" anchor="ctr"/>
          <a:lstStyle/>
          <a:p>
            <a:pPr marL="0" indent="0">
              <a:buNone/>
            </a:pPr>
            <a:r>
              <a:rPr lang="en-US" sz="1300" b="1" kern="0" spc="200" dirty="0">
                <a:solidFill>
                  <a:srgbClr val="C15F3C"/>
                </a:solidFill>
                <a:latin typeface="Calibri" pitchFamily="34" charset="0"/>
                <a:ea typeface="Calibri" pitchFamily="34" charset="-122"/>
                <a:cs typeface="Calibri" pitchFamily="34" charset="-120"/>
              </a:rPr>
              <a:t>DO</a:t>
            </a:r>
            <a:endParaRPr lang="en-US" sz="1300" dirty="0"/>
          </a:p>
        </p:txBody>
      </p:sp>
      <p:sp>
        <p:nvSpPr>
          <p:cNvPr id="7" name="Text 5"/>
          <p:cNvSpPr/>
          <p:nvPr/>
        </p:nvSpPr>
        <p:spPr>
          <a:xfrm>
            <a:off x="822960" y="2139696"/>
            <a:ext cx="3429000" cy="2103120"/>
          </a:xfrm>
          <a:prstGeom prst="rect">
            <a:avLst/>
          </a:prstGeom>
          <a:noFill/>
          <a:ln/>
        </p:spPr>
        <p:txBody>
          <a:bodyPr wrap="square" lIns="0" tIns="0" rIns="0" bIns="0" rtlCol="0" anchor="t"/>
          <a:lstStyle/>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Keep tasks small and scoped</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Plan before risky or multi-file work</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Read every diff before accepting</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Keep CLAUDE.md specific and concise</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Start fresh sessions for new tasks</a:t>
            </a:r>
            <a:endParaRPr lang="en-US" sz="1250" dirty="0"/>
          </a:p>
        </p:txBody>
      </p:sp>
      <p:sp>
        <p:nvSpPr>
          <p:cNvPr id="8" name="Shape 6"/>
          <p:cNvSpPr/>
          <p:nvPr/>
        </p:nvSpPr>
        <p:spPr>
          <a:xfrm>
            <a:off x="4663440" y="1591056"/>
            <a:ext cx="3931920" cy="2834640"/>
          </a:xfrm>
          <a:prstGeom prst="roundRect">
            <a:avLst>
              <a:gd name="adj" fmla="val 2581"/>
            </a:avLst>
          </a:prstGeom>
          <a:solidFill>
            <a:srgbClr val="FFFFFF"/>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9" name="Shape 7"/>
          <p:cNvSpPr/>
          <p:nvPr/>
        </p:nvSpPr>
        <p:spPr>
          <a:xfrm>
            <a:off x="4663440" y="1591056"/>
            <a:ext cx="82296" cy="2834640"/>
          </a:xfrm>
          <a:prstGeom prst="rect">
            <a:avLst/>
          </a:prstGeom>
          <a:solidFill>
            <a:srgbClr val="4B5A66"/>
          </a:solidFill>
          <a:ln/>
        </p:spPr>
        <p:txBody>
          <a:bodyPr/>
          <a:lstStyle/>
          <a:p>
            <a:endParaRPr lang="en-IN"/>
          </a:p>
        </p:txBody>
      </p:sp>
      <p:sp>
        <p:nvSpPr>
          <p:cNvPr id="10" name="Text 8"/>
          <p:cNvSpPr/>
          <p:nvPr/>
        </p:nvSpPr>
        <p:spPr>
          <a:xfrm>
            <a:off x="4937760" y="1755648"/>
            <a:ext cx="3474720" cy="274320"/>
          </a:xfrm>
          <a:prstGeom prst="rect">
            <a:avLst/>
          </a:prstGeom>
          <a:noFill/>
          <a:ln/>
        </p:spPr>
        <p:txBody>
          <a:bodyPr wrap="square" lIns="0" tIns="0" rIns="0" bIns="0" rtlCol="0" anchor="ctr"/>
          <a:lstStyle/>
          <a:p>
            <a:pPr marL="0" indent="0">
              <a:buNone/>
            </a:pPr>
            <a:r>
              <a:rPr lang="en-US" sz="1300" b="1" kern="0" spc="200" dirty="0">
                <a:solidFill>
                  <a:srgbClr val="4B5A66"/>
                </a:solidFill>
                <a:latin typeface="Calibri" pitchFamily="34" charset="0"/>
                <a:ea typeface="Calibri" pitchFamily="34" charset="-122"/>
                <a:cs typeface="Calibri" pitchFamily="34" charset="-120"/>
              </a:rPr>
              <a:t>DON'T</a:t>
            </a:r>
            <a:endParaRPr lang="en-US" sz="1300" dirty="0"/>
          </a:p>
        </p:txBody>
      </p:sp>
      <p:sp>
        <p:nvSpPr>
          <p:cNvPr id="11" name="Text 9"/>
          <p:cNvSpPr/>
          <p:nvPr/>
        </p:nvSpPr>
        <p:spPr>
          <a:xfrm>
            <a:off x="4937760" y="2139696"/>
            <a:ext cx="3429000" cy="2103120"/>
          </a:xfrm>
          <a:prstGeom prst="rect">
            <a:avLst/>
          </a:prstGeom>
          <a:noFill/>
          <a:ln/>
        </p:spPr>
        <p:txBody>
          <a:bodyPr wrap="square" lIns="0" tIns="0" rIns="0" bIns="0" rtlCol="0" anchor="t"/>
          <a:lstStyle/>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Treat it like blind autocomplete</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Auto-accept changes you didn't read</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Let one session run forever</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Rely on memory for hard guarantees</a:t>
            </a:r>
            <a:endParaRPr lang="en-US" sz="1250" dirty="0"/>
          </a:p>
          <a:p>
            <a:pPr marL="342900" indent="-342900">
              <a:lnSpc>
                <a:spcPct val="145000"/>
              </a:lnSpc>
              <a:buSzPct val="100000"/>
              <a:buChar char="•"/>
            </a:pPr>
            <a:r>
              <a:rPr lang="en-US" sz="1250" dirty="0">
                <a:solidFill>
                  <a:srgbClr val="26231E"/>
                </a:solidFill>
                <a:latin typeface="Calibri" pitchFamily="34" charset="0"/>
                <a:ea typeface="Calibri" pitchFamily="34" charset="-122"/>
                <a:cs typeface="Calibri" pitchFamily="34" charset="-120"/>
              </a:rPr>
              <a:t>Skip tests because it “looks right”</a:t>
            </a:r>
            <a:endParaRPr lang="en-US" sz="1250" dirty="0"/>
          </a:p>
        </p:txBody>
      </p:sp>
      <p:sp>
        <p:nvSpPr>
          <p:cNvPr id="12" name="Text 10"/>
          <p:cNvSpPr/>
          <p:nvPr/>
        </p:nvSpPr>
        <p:spPr>
          <a:xfrm>
            <a:off x="548640" y="4828032"/>
            <a:ext cx="5486400" cy="228600"/>
          </a:xfrm>
          <a:prstGeom prst="rect">
            <a:avLst/>
          </a:prstGeom>
          <a:noFill/>
          <a:ln/>
        </p:spPr>
        <p:txBody>
          <a:bodyPr wrap="square" lIns="0" tIns="0" rIns="0" bIns="0" rtlCol="0" anchor="ctr"/>
          <a:lstStyle/>
          <a:p>
            <a:pPr marL="0" indent="0">
              <a:buNone/>
            </a:pPr>
            <a:r>
              <a:rPr lang="en-US" sz="850" dirty="0">
                <a:solidFill>
                  <a:srgbClr val="6F665A"/>
                </a:solidFill>
                <a:latin typeface="Calibri" pitchFamily="34" charset="0"/>
                <a:ea typeface="Calibri" pitchFamily="34" charset="-122"/>
                <a:cs typeface="Calibri" pitchFamily="34" charset="-120"/>
              </a:rPr>
              <a:t>Claude Code in Practice  ·  Developer Training</a:t>
            </a:r>
            <a:endParaRPr lang="en-US" sz="850" dirty="0"/>
          </a:p>
        </p:txBody>
      </p:sp>
      <p:sp>
        <p:nvSpPr>
          <p:cNvPr id="13" name="Shape 11"/>
          <p:cNvSpPr/>
          <p:nvPr/>
        </p:nvSpPr>
        <p:spPr>
          <a:xfrm>
            <a:off x="8394192" y="4855464"/>
            <a:ext cx="128016" cy="128016"/>
          </a:xfrm>
          <a:prstGeom prst="ellipse">
            <a:avLst/>
          </a:prstGeom>
          <a:solidFill>
            <a:srgbClr val="C15F3C"/>
          </a:solidFill>
          <a:ln/>
        </p:spPr>
        <p:txBody>
          <a:bodyPr/>
          <a:lstStyle/>
          <a:p>
            <a:endParaRPr lang="en-IN"/>
          </a:p>
        </p:txBody>
      </p:sp>
      <p:sp>
        <p:nvSpPr>
          <p:cNvPr id="14" name="Text 12"/>
          <p:cNvSpPr/>
          <p:nvPr/>
        </p:nvSpPr>
        <p:spPr>
          <a:xfrm>
            <a:off x="7955280" y="4818888"/>
            <a:ext cx="365760" cy="228600"/>
          </a:xfrm>
          <a:prstGeom prst="rect">
            <a:avLst/>
          </a:prstGeom>
          <a:noFill/>
          <a:ln/>
        </p:spPr>
        <p:txBody>
          <a:bodyPr wrap="square" lIns="0" tIns="0" rIns="0" bIns="0" rtlCol="0" anchor="ctr"/>
          <a:lstStyle/>
          <a:p>
            <a:pPr marL="0" indent="0" algn="r">
              <a:buNone/>
            </a:pPr>
            <a:r>
              <a:rPr lang="en-US" sz="900" dirty="0">
                <a:solidFill>
                  <a:srgbClr val="6F665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6231E"/>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buNone/>
            </a:pPr>
            <a:r>
              <a:rPr lang="en-US" sz="1200" b="1" kern="0" spc="300" dirty="0">
                <a:solidFill>
                  <a:srgbClr val="D97757"/>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749808"/>
            <a:ext cx="7315200" cy="640080"/>
          </a:xfrm>
          <a:prstGeom prst="rect">
            <a:avLst/>
          </a:prstGeom>
          <a:noFill/>
          <a:ln/>
        </p:spPr>
        <p:txBody>
          <a:bodyPr wrap="square" lIns="0" tIns="0" rIns="0" bIns="0" rtlCol="0" anchor="ctr"/>
          <a:lstStyle/>
          <a:p>
            <a:pPr marL="0" indent="0">
              <a:buNone/>
            </a:pPr>
            <a:r>
              <a:rPr lang="en-US" sz="3000" dirty="0">
                <a:solidFill>
                  <a:srgbClr val="F4EEE2"/>
                </a:solidFill>
                <a:latin typeface="Georgia" pitchFamily="34" charset="0"/>
                <a:ea typeface="Georgia" pitchFamily="34" charset="-122"/>
                <a:cs typeface="Georgia" pitchFamily="34" charset="-120"/>
              </a:rPr>
              <a:t>The five things to remember</a:t>
            </a:r>
            <a:endParaRPr lang="en-US" sz="3000" dirty="0"/>
          </a:p>
        </p:txBody>
      </p:sp>
      <p:sp>
        <p:nvSpPr>
          <p:cNvPr id="4" name="Shape 2"/>
          <p:cNvSpPr/>
          <p:nvPr/>
        </p:nvSpPr>
        <p:spPr>
          <a:xfrm>
            <a:off x="548640" y="1627632"/>
            <a:ext cx="384048" cy="384048"/>
          </a:xfrm>
          <a:prstGeom prst="ellipse">
            <a:avLst/>
          </a:prstGeom>
          <a:solidFill>
            <a:srgbClr val="C15F3C"/>
          </a:solidFill>
          <a:ln/>
        </p:spPr>
        <p:txBody>
          <a:bodyPr/>
          <a:lstStyle/>
          <a:p>
            <a:endParaRPr lang="en-IN"/>
          </a:p>
        </p:txBody>
      </p:sp>
      <p:sp>
        <p:nvSpPr>
          <p:cNvPr id="5" name="Text 3"/>
          <p:cNvSpPr/>
          <p:nvPr/>
        </p:nvSpPr>
        <p:spPr>
          <a:xfrm>
            <a:off x="548640" y="1627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6" name="Text 4"/>
          <p:cNvSpPr/>
          <p:nvPr/>
        </p:nvSpPr>
        <p:spPr>
          <a:xfrm>
            <a:off x="1078992" y="1645920"/>
            <a:ext cx="5120640" cy="365760"/>
          </a:xfrm>
          <a:prstGeom prst="rect">
            <a:avLst/>
          </a:prstGeom>
          <a:noFill/>
          <a:ln/>
        </p:spPr>
        <p:txBody>
          <a:bodyPr wrap="square" lIns="0" tIns="0" rIns="0" bIns="0" rtlCol="0" anchor="ctr"/>
          <a:lstStyle/>
          <a:p>
            <a:pPr marL="0" indent="0">
              <a:buNone/>
            </a:pPr>
            <a:r>
              <a:rPr lang="en-US" sz="1350" b="1" dirty="0">
                <a:solidFill>
                  <a:srgbClr val="F4EEE2"/>
                </a:solidFill>
                <a:latin typeface="Calibri" pitchFamily="34" charset="0"/>
                <a:ea typeface="Calibri" pitchFamily="34" charset="-122"/>
                <a:cs typeface="Calibri" pitchFamily="34" charset="-120"/>
              </a:rPr>
              <a:t>Agentic, not autocomplete   </a:t>
            </a:r>
            <a:r>
              <a:rPr lang="en-US" sz="1350" dirty="0">
                <a:solidFill>
                  <a:srgbClr val="C9C1B2"/>
                </a:solidFill>
                <a:latin typeface="Calibri" pitchFamily="34" charset="0"/>
                <a:ea typeface="Calibri" pitchFamily="34" charset="-122"/>
                <a:cs typeface="Calibri" pitchFamily="34" charset="-120"/>
              </a:rPr>
              <a:t>Delegate whole tasks across the terminal and IDE.</a:t>
            </a:r>
            <a:endParaRPr lang="en-US" sz="1350" dirty="0"/>
          </a:p>
        </p:txBody>
      </p:sp>
      <p:sp>
        <p:nvSpPr>
          <p:cNvPr id="7" name="Shape 5"/>
          <p:cNvSpPr/>
          <p:nvPr/>
        </p:nvSpPr>
        <p:spPr>
          <a:xfrm>
            <a:off x="548640" y="2194560"/>
            <a:ext cx="384048" cy="384048"/>
          </a:xfrm>
          <a:prstGeom prst="ellipse">
            <a:avLst/>
          </a:prstGeom>
          <a:solidFill>
            <a:srgbClr val="D97757"/>
          </a:solidFill>
          <a:ln/>
        </p:spPr>
        <p:txBody>
          <a:bodyPr/>
          <a:lstStyle/>
          <a:p>
            <a:endParaRPr lang="en-IN"/>
          </a:p>
        </p:txBody>
      </p:sp>
      <p:sp>
        <p:nvSpPr>
          <p:cNvPr id="8" name="Text 6"/>
          <p:cNvSpPr/>
          <p:nvPr/>
        </p:nvSpPr>
        <p:spPr>
          <a:xfrm>
            <a:off x="5486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9" name="Text 7"/>
          <p:cNvSpPr/>
          <p:nvPr/>
        </p:nvSpPr>
        <p:spPr>
          <a:xfrm>
            <a:off x="1078992" y="2212848"/>
            <a:ext cx="5120640" cy="365760"/>
          </a:xfrm>
          <a:prstGeom prst="rect">
            <a:avLst/>
          </a:prstGeom>
          <a:noFill/>
          <a:ln/>
        </p:spPr>
        <p:txBody>
          <a:bodyPr wrap="square" lIns="0" tIns="0" rIns="0" bIns="0" rtlCol="0" anchor="ctr"/>
          <a:lstStyle/>
          <a:p>
            <a:pPr marL="0" indent="0">
              <a:buNone/>
            </a:pPr>
            <a:r>
              <a:rPr lang="en-US" sz="1350" b="1" dirty="0">
                <a:solidFill>
                  <a:srgbClr val="F4EEE2"/>
                </a:solidFill>
                <a:latin typeface="Calibri" pitchFamily="34" charset="0"/>
                <a:ea typeface="Calibri" pitchFamily="34" charset="-122"/>
                <a:cs typeface="Calibri" pitchFamily="34" charset="-120"/>
              </a:rPr>
              <a:t>Memory drives quality   </a:t>
            </a:r>
            <a:r>
              <a:rPr lang="en-US" sz="1350" dirty="0">
                <a:solidFill>
                  <a:srgbClr val="C9C1B2"/>
                </a:solidFill>
                <a:latin typeface="Calibri" pitchFamily="34" charset="0"/>
                <a:ea typeface="Calibri" pitchFamily="34" charset="-122"/>
                <a:cs typeface="Calibri" pitchFamily="34" charset="-120"/>
              </a:rPr>
              <a:t>A concise CLAUDE.md gives every session lasting context.</a:t>
            </a:r>
            <a:endParaRPr lang="en-US" sz="1350" dirty="0"/>
          </a:p>
        </p:txBody>
      </p:sp>
      <p:sp>
        <p:nvSpPr>
          <p:cNvPr id="10" name="Shape 8"/>
          <p:cNvSpPr/>
          <p:nvPr/>
        </p:nvSpPr>
        <p:spPr>
          <a:xfrm>
            <a:off x="548640" y="2761488"/>
            <a:ext cx="384048" cy="384048"/>
          </a:xfrm>
          <a:prstGeom prst="ellipse">
            <a:avLst/>
          </a:prstGeom>
          <a:solidFill>
            <a:srgbClr val="C15F3C"/>
          </a:solidFill>
          <a:ln/>
        </p:spPr>
        <p:txBody>
          <a:bodyPr/>
          <a:lstStyle/>
          <a:p>
            <a:endParaRPr lang="en-IN"/>
          </a:p>
        </p:txBody>
      </p:sp>
      <p:sp>
        <p:nvSpPr>
          <p:cNvPr id="11" name="Text 9"/>
          <p:cNvSpPr/>
          <p:nvPr/>
        </p:nvSpPr>
        <p:spPr>
          <a:xfrm>
            <a:off x="548640" y="27614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2" name="Text 10"/>
          <p:cNvSpPr/>
          <p:nvPr/>
        </p:nvSpPr>
        <p:spPr>
          <a:xfrm>
            <a:off x="1078992" y="2779776"/>
            <a:ext cx="5120640" cy="365760"/>
          </a:xfrm>
          <a:prstGeom prst="rect">
            <a:avLst/>
          </a:prstGeom>
          <a:noFill/>
          <a:ln/>
        </p:spPr>
        <p:txBody>
          <a:bodyPr wrap="square" lIns="0" tIns="0" rIns="0" bIns="0" rtlCol="0" anchor="ctr"/>
          <a:lstStyle/>
          <a:p>
            <a:pPr marL="0" indent="0">
              <a:buNone/>
            </a:pPr>
            <a:r>
              <a:rPr lang="en-US" sz="1350" b="1" dirty="0">
                <a:solidFill>
                  <a:srgbClr val="F4EEE2"/>
                </a:solidFill>
                <a:latin typeface="Calibri" pitchFamily="34" charset="0"/>
                <a:ea typeface="Calibri" pitchFamily="34" charset="-122"/>
                <a:cs typeface="Calibri" pitchFamily="34" charset="-120"/>
              </a:rPr>
              <a:t>Plan before doing   </a:t>
            </a:r>
            <a:r>
              <a:rPr lang="en-US" sz="1350" dirty="0">
                <a:solidFill>
                  <a:srgbClr val="C9C1B2"/>
                </a:solidFill>
                <a:latin typeface="Calibri" pitchFamily="34" charset="0"/>
                <a:ea typeface="Calibri" pitchFamily="34" charset="-122"/>
                <a:cs typeface="Calibri" pitchFamily="34" charset="-120"/>
              </a:rPr>
              <a:t>Approve a plan first on risky, multi-step work.</a:t>
            </a:r>
            <a:endParaRPr lang="en-US" sz="1350" dirty="0"/>
          </a:p>
        </p:txBody>
      </p:sp>
      <p:sp>
        <p:nvSpPr>
          <p:cNvPr id="13" name="Shape 11"/>
          <p:cNvSpPr/>
          <p:nvPr/>
        </p:nvSpPr>
        <p:spPr>
          <a:xfrm>
            <a:off x="548640" y="3328416"/>
            <a:ext cx="384048" cy="384048"/>
          </a:xfrm>
          <a:prstGeom prst="ellipse">
            <a:avLst/>
          </a:prstGeom>
          <a:solidFill>
            <a:srgbClr val="D97757"/>
          </a:solidFill>
          <a:ln/>
        </p:spPr>
        <p:txBody>
          <a:bodyPr/>
          <a:lstStyle/>
          <a:p>
            <a:endParaRPr lang="en-IN"/>
          </a:p>
        </p:txBody>
      </p:sp>
      <p:sp>
        <p:nvSpPr>
          <p:cNvPr id="14" name="Text 12"/>
          <p:cNvSpPr/>
          <p:nvPr/>
        </p:nvSpPr>
        <p:spPr>
          <a:xfrm>
            <a:off x="548640" y="33284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5" name="Text 13"/>
          <p:cNvSpPr/>
          <p:nvPr/>
        </p:nvSpPr>
        <p:spPr>
          <a:xfrm>
            <a:off x="1078992" y="3346704"/>
            <a:ext cx="5120640" cy="365760"/>
          </a:xfrm>
          <a:prstGeom prst="rect">
            <a:avLst/>
          </a:prstGeom>
          <a:noFill/>
          <a:ln/>
        </p:spPr>
        <p:txBody>
          <a:bodyPr wrap="square" lIns="0" tIns="0" rIns="0" bIns="0" rtlCol="0" anchor="ctr"/>
          <a:lstStyle/>
          <a:p>
            <a:pPr marL="0" indent="0">
              <a:buNone/>
            </a:pPr>
            <a:r>
              <a:rPr lang="en-US" sz="1350" b="1" dirty="0">
                <a:solidFill>
                  <a:srgbClr val="F4EEE2"/>
                </a:solidFill>
                <a:latin typeface="Calibri" pitchFamily="34" charset="0"/>
                <a:ea typeface="Calibri" pitchFamily="34" charset="-122"/>
                <a:cs typeface="Calibri" pitchFamily="34" charset="-120"/>
              </a:rPr>
              <a:t>Extend with skills   </a:t>
            </a:r>
            <a:r>
              <a:rPr lang="en-US" sz="1350" dirty="0">
                <a:solidFill>
                  <a:srgbClr val="C9C1B2"/>
                </a:solidFill>
                <a:latin typeface="Calibri" pitchFamily="34" charset="0"/>
                <a:ea typeface="Calibri" pitchFamily="34" charset="-122"/>
                <a:cs typeface="Calibri" pitchFamily="34" charset="-120"/>
              </a:rPr>
              <a:t>Slash commands and skills encode your team's routines.</a:t>
            </a:r>
            <a:endParaRPr lang="en-US" sz="1350" dirty="0"/>
          </a:p>
        </p:txBody>
      </p:sp>
      <p:sp>
        <p:nvSpPr>
          <p:cNvPr id="16" name="Shape 14"/>
          <p:cNvSpPr/>
          <p:nvPr/>
        </p:nvSpPr>
        <p:spPr>
          <a:xfrm>
            <a:off x="548640" y="3895344"/>
            <a:ext cx="384048" cy="384048"/>
          </a:xfrm>
          <a:prstGeom prst="ellipse">
            <a:avLst/>
          </a:prstGeom>
          <a:solidFill>
            <a:srgbClr val="C15F3C"/>
          </a:solidFill>
          <a:ln/>
        </p:spPr>
        <p:txBody>
          <a:bodyPr/>
          <a:lstStyle/>
          <a:p>
            <a:endParaRPr lang="en-IN"/>
          </a:p>
        </p:txBody>
      </p:sp>
      <p:sp>
        <p:nvSpPr>
          <p:cNvPr id="17" name="Text 15"/>
          <p:cNvSpPr/>
          <p:nvPr/>
        </p:nvSpPr>
        <p:spPr>
          <a:xfrm>
            <a:off x="548640" y="38953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8" name="Text 16"/>
          <p:cNvSpPr/>
          <p:nvPr/>
        </p:nvSpPr>
        <p:spPr>
          <a:xfrm>
            <a:off x="1078992" y="3913632"/>
            <a:ext cx="5120640" cy="365760"/>
          </a:xfrm>
          <a:prstGeom prst="rect">
            <a:avLst/>
          </a:prstGeom>
          <a:noFill/>
          <a:ln/>
        </p:spPr>
        <p:txBody>
          <a:bodyPr wrap="square" lIns="0" tIns="0" rIns="0" bIns="0" rtlCol="0" anchor="ctr"/>
          <a:lstStyle/>
          <a:p>
            <a:pPr marL="0" indent="0">
              <a:buNone/>
            </a:pPr>
            <a:r>
              <a:rPr lang="en-US" sz="1350" b="1" dirty="0">
                <a:solidFill>
                  <a:srgbClr val="F4EEE2"/>
                </a:solidFill>
                <a:latin typeface="Calibri" pitchFamily="34" charset="0"/>
                <a:ea typeface="Calibri" pitchFamily="34" charset="-122"/>
                <a:cs typeface="Calibri" pitchFamily="34" charset="-120"/>
              </a:rPr>
              <a:t>You own the review   </a:t>
            </a:r>
            <a:r>
              <a:rPr lang="en-US" sz="1350" dirty="0">
                <a:solidFill>
                  <a:srgbClr val="C9C1B2"/>
                </a:solidFill>
                <a:latin typeface="Calibri" pitchFamily="34" charset="0"/>
                <a:ea typeface="Calibri" pitchFamily="34" charset="-122"/>
                <a:cs typeface="Calibri" pitchFamily="34" charset="-120"/>
              </a:rPr>
              <a:t>Small diffs, run tests, accept deliberately.</a:t>
            </a:r>
            <a:endParaRPr lang="en-US" sz="1350" dirty="0"/>
          </a:p>
        </p:txBody>
      </p:sp>
      <p:sp>
        <p:nvSpPr>
          <p:cNvPr id="19" name="Shape 17"/>
          <p:cNvSpPr/>
          <p:nvPr/>
        </p:nvSpPr>
        <p:spPr>
          <a:xfrm>
            <a:off x="6355080" y="1627632"/>
            <a:ext cx="2331720" cy="2788920"/>
          </a:xfrm>
          <a:prstGeom prst="roundRect">
            <a:avLst>
              <a:gd name="adj" fmla="val 3137"/>
            </a:avLst>
          </a:prstGeom>
          <a:solidFill>
            <a:srgbClr val="2F2B25"/>
          </a:solidFill>
          <a:ln w="12700">
            <a:solidFill>
              <a:srgbClr val="E4DCCB"/>
            </a:solidFill>
            <a:prstDash val="solid"/>
          </a:ln>
          <a:effectLst>
            <a:outerShdw blurRad="114300" dist="38100" dir="5400000" algn="bl" rotWithShape="0">
              <a:srgbClr val="8A7F6B">
                <a:alpha val="18000"/>
              </a:srgbClr>
            </a:outerShdw>
          </a:effectLst>
        </p:spPr>
        <p:txBody>
          <a:bodyPr/>
          <a:lstStyle/>
          <a:p>
            <a:endParaRPr lang="en-IN"/>
          </a:p>
        </p:txBody>
      </p:sp>
      <p:sp>
        <p:nvSpPr>
          <p:cNvPr id="20" name="Shape 18"/>
          <p:cNvSpPr/>
          <p:nvPr/>
        </p:nvSpPr>
        <p:spPr>
          <a:xfrm>
            <a:off x="6355080" y="1627632"/>
            <a:ext cx="82296" cy="2788920"/>
          </a:xfrm>
          <a:prstGeom prst="rect">
            <a:avLst/>
          </a:prstGeom>
          <a:solidFill>
            <a:srgbClr val="D97757"/>
          </a:solidFill>
          <a:ln/>
        </p:spPr>
        <p:txBody>
          <a:bodyPr/>
          <a:lstStyle/>
          <a:p>
            <a:endParaRPr lang="en-IN"/>
          </a:p>
        </p:txBody>
      </p:sp>
      <p:sp>
        <p:nvSpPr>
          <p:cNvPr id="21" name="Text 19"/>
          <p:cNvSpPr/>
          <p:nvPr/>
        </p:nvSpPr>
        <p:spPr>
          <a:xfrm>
            <a:off x="6583680" y="1792224"/>
            <a:ext cx="1920240" cy="274320"/>
          </a:xfrm>
          <a:prstGeom prst="rect">
            <a:avLst/>
          </a:prstGeom>
          <a:noFill/>
          <a:ln/>
        </p:spPr>
        <p:txBody>
          <a:bodyPr wrap="square" lIns="0" tIns="0" rIns="0" bIns="0" rtlCol="0" anchor="ctr"/>
          <a:lstStyle/>
          <a:p>
            <a:pPr marL="0" indent="0">
              <a:buNone/>
            </a:pPr>
            <a:r>
              <a:rPr lang="en-US" sz="1050" b="1" kern="0" spc="200" dirty="0">
                <a:solidFill>
                  <a:srgbClr val="D97757"/>
                </a:solidFill>
                <a:latin typeface="Calibri" pitchFamily="34" charset="0"/>
                <a:ea typeface="Calibri" pitchFamily="34" charset="-122"/>
                <a:cs typeface="Calibri" pitchFamily="34" charset="-120"/>
              </a:rPr>
              <a:t>TRAINER'S NOTE</a:t>
            </a:r>
            <a:endParaRPr lang="en-US" sz="1050" dirty="0"/>
          </a:p>
        </p:txBody>
      </p:sp>
      <p:sp>
        <p:nvSpPr>
          <p:cNvPr id="22" name="Text 20"/>
          <p:cNvSpPr/>
          <p:nvPr/>
        </p:nvSpPr>
        <p:spPr>
          <a:xfrm>
            <a:off x="6583680" y="2103120"/>
            <a:ext cx="1920240" cy="2194560"/>
          </a:xfrm>
          <a:prstGeom prst="rect">
            <a:avLst/>
          </a:prstGeom>
          <a:noFill/>
          <a:ln/>
        </p:spPr>
        <p:txBody>
          <a:bodyPr wrap="square" lIns="0" tIns="0" rIns="0" bIns="0" rtlCol="0" anchor="ctr"/>
          <a:lstStyle/>
          <a:p>
            <a:pPr marL="0" indent="0">
              <a:lnSpc>
                <a:spcPct val="118000"/>
              </a:lnSpc>
              <a:buNone/>
            </a:pPr>
            <a:r>
              <a:rPr lang="en-US" sz="1050" dirty="0">
                <a:solidFill>
                  <a:srgbClr val="D8D0C2"/>
                </a:solidFill>
                <a:latin typeface="Calibri" pitchFamily="34" charset="0"/>
                <a:ea typeface="Calibri" pitchFamily="34" charset="-122"/>
                <a:cs typeface="Calibri" pitchFamily="34" charset="-120"/>
              </a:rPr>
              <a:t>Close by looping back to the live demo: every feature on this slide showed up in that one workflow. Ask each person to name one habit they'll adopt this week — plan mode, a CLAUDE.md rule, or reading every diff. Point them to the docs and your team's shared skills folder, and offer office hours for follow-up.</a:t>
            </a:r>
            <a:endParaRPr lang="en-US" sz="1050" dirty="0"/>
          </a:p>
        </p:txBody>
      </p:sp>
      <p:sp>
        <p:nvSpPr>
          <p:cNvPr id="23" name="Text 21"/>
          <p:cNvSpPr/>
          <p:nvPr/>
        </p:nvSpPr>
        <p:spPr>
          <a:xfrm>
            <a:off x="548640" y="4828032"/>
            <a:ext cx="6400800" cy="228600"/>
          </a:xfrm>
          <a:prstGeom prst="rect">
            <a:avLst/>
          </a:prstGeom>
          <a:noFill/>
          <a:ln/>
        </p:spPr>
        <p:txBody>
          <a:bodyPr wrap="square" lIns="0" tIns="0" rIns="0" bIns="0" rtlCol="0" anchor="ctr"/>
          <a:lstStyle/>
          <a:p>
            <a:pPr marL="0" indent="0">
              <a:buNone/>
            </a:pPr>
            <a:r>
              <a:rPr lang="en-US" sz="900" dirty="0">
                <a:solidFill>
                  <a:srgbClr val="8A8170"/>
                </a:solidFill>
                <a:latin typeface="Calibri" pitchFamily="34" charset="0"/>
                <a:ea typeface="Calibri" pitchFamily="34" charset="-122"/>
                <a:cs typeface="Calibri" pitchFamily="34" charset="-120"/>
              </a:rPr>
              <a:t>Claude Code in Practice  ·  Developer Training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2866</Words>
  <Application>Microsoft Office PowerPoint</Application>
  <PresentationFormat>On-screen Show (16:9)</PresentationFormat>
  <Paragraphs>238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1</cp:revision>
  <dcterms:created xsi:type="dcterms:W3CDTF">2026-06-28T08:28:00Z</dcterms:created>
  <dcterms:modified xsi:type="dcterms:W3CDTF">2026-06-28T08:32:11Z</dcterms:modified>
</cp:coreProperties>
</file>