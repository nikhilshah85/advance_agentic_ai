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51121" autoAdjust="0"/>
  </p:normalViewPr>
  <p:slideViewPr>
    <p:cSldViewPr snapToGrid="0">
      <p:cViewPr varScale="1">
        <p:scale>
          <a:sx n="61" d="100"/>
          <a:sy n="61" d="100"/>
        </p:scale>
        <p:origin x="919"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tokens</c:v>
                </c:pt>
              </c:strCache>
            </c:strRef>
          </c:tx>
          <c:spPr>
            <a:solidFill>
              <a:srgbClr val="D97757"/>
            </a:solidFill>
            <a:effectLst/>
          </c:spPr>
          <c:invertIfNegative val="0"/>
          <c:cat>
            <c:strRef>
              <c:f>Sheet1!$A$2:$A$6</c:f>
              <c:strCache>
                <c:ptCount val="5"/>
                <c:pt idx="0">
                  <c:v>Autocomplete</c:v>
                </c:pt>
                <c:pt idx="1">
                  <c:v>Chat Q&amp;A</c:v>
                </c:pt>
                <c:pt idx="2">
                  <c:v>Single-file edit</c:v>
                </c:pt>
                <c:pt idx="3">
                  <c:v>Multi-file refactor</c:v>
                </c:pt>
                <c:pt idx="4">
                  <c:v>Autonomous agent</c:v>
                </c:pt>
              </c:strCache>
            </c:strRef>
          </c:cat>
          <c:val>
            <c:numRef>
              <c:f>Sheet1!$B$2:$B$6</c:f>
              <c:numCache>
                <c:formatCode>General</c:formatCode>
                <c:ptCount val="5"/>
                <c:pt idx="0">
                  <c:v>1</c:v>
                </c:pt>
                <c:pt idx="1">
                  <c:v>3</c:v>
                </c:pt>
                <c:pt idx="2">
                  <c:v>6</c:v>
                </c:pt>
                <c:pt idx="3">
                  <c:v>14</c:v>
                </c:pt>
                <c:pt idx="4">
                  <c:v>32</c:v>
                </c:pt>
              </c:numCache>
            </c:numRef>
          </c:val>
          <c:extLst>
            <c:ext xmlns:c16="http://schemas.microsoft.com/office/drawing/2014/chart" uri="{C3380CC4-5D6E-409C-BE32-E72D297353CC}">
              <c16:uniqueId val="{00000000-DBA3-4D31-8771-03664EB25DC7}"/>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A564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BFAF5"/>
        </a:solidFill>
        <a:ln>
          <a:noFill/>
        </a:ln>
        <a:effectLst/>
      </c:spPr>
    </c:plotArea>
    <c:plotVisOnly val="1"/>
    <c:dispBlanksAs val="span"/>
    <c:showDLblsOverMax val="1"/>
  </c:chart>
  <c:spPr>
    <a:solidFill>
      <a:srgbClr val="FBFAF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the session and set a neutral frame.
SAY: "Welcome. Today we're doing a side-by-side look at Claude — including Claude Code — and GitHub Copilot, written for engineering leaders who decide tooling and budgets. This is part of our Claude training, but the comparison itself is deliberately neutral: we're not crowning a winner, we're mapping each tool's strengths to tasks and teams."
DO: Quick poll — who already uses one or both, and for what? Capture answers; you'll refer back to them.
TIMING: ~2 minutes. Keep it warm and brisk.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single most important slide — the whole argument in one view.
SAY: Start with the left panel — the two tools have different "centers of gravity," so the decision is per task and per team, not either-or. Then walk the four points:
- Positioning: Copilot leads on in-editor speed and breadth of IDE coverage; Claude Code leads on repo-scale, agentic work.
- Capability: Both now do multi-file edits, refactoring, test generation and agentic PRs — they differ in how much autonomy they take and how much context they hold.
- Economics: Copilot bundles free completions with a metered credit allowance; Claude is usage-based throughout — agentic work is the cost to watch.
- Recommendation: Match the tool to the workload and the team's bottleneck; many high-performing teams run both.
SAY: "If you remember one slide, remember this one — the rest of the deck is evidence for these four points."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Roadmap the session so people know when their interest peaks.
SAY: Preview the four blocks. Tell budget owners that blocks 3 (metering) and 4 (fit) matter most to them; tell hands-on leads that blocks 1-2 (use cases, context/autonomy) are theirs.
DO: Keep this short — it's a signpost, not a discussion.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shared vocabulary before the deep dives.
SAY: Claude Code is terminal-first and agentic — you define a goal and it executes, with IDE, desktop and web surfaces too. Copilot's center of gravity is inline completion across 12+ editors, backed by multiple models.
WATCH FOR: A useful nuance — Copilot can route to Anthropic models, so "Claude vs Copilot" is not always mutually exclusive at the model layer; the difference is the product experience and how work gets done. Clarify that both have an "agent mode," but their scope differs (covered next).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concrete behavior on the four advanced use cases.
SAY (go row by row):
- Multi-file changes: Claude plans and applies coordinated edits across many files in one pass; Copilot does multi-file work via agent mode, while inline edits stay mostly single-file.
- Refactoring: Claude reasons over the whole repo for large migrations; Copilot is strong for local, in-editor refactors and widens via agent mode.
- Test generation: Claude generates a suite, runs it, and iterates until green; Copilot suggests tests inline or in chat and can add/run them via the agent.
- Agentic tasks: Claude works end-to-end then opens a PR; Copilot's cloud agent turns an issue into a draft PR for review.
DO: Invite a real example from the room and map it to a row.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context handling without jargon.
SAY: "Context window" = how much code and text the model can consider at once. Claude can hold very large contexts (up to about 1M tokens on some models via the API) and load big repositories; subscription tiers expose smaller working windows, and Enterprise extends them. Copilot's context varies by surface and mode — up to about 1M with Claude models — but inline completion uses a tighter, speed-tuned window and leans on indexing and retrieval rather than loading the whole repo.
POINT OUT: The two project-context files — CLAUDE.md vs copilot-instructions — both let teams encode conventions.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Frame autonomy as a spectrum from suggestion to delegation.
SAY: Claude acts at the task level — it runs commands, edits across files, runs tests, and iterates; it can coordinate parallel subagents and reach external tools and data over MCP, and it can run in CI via GitHub Actions. Copilot is reactive inline completion plus a bounded agent mode, with an asynchronous cloud agent that drafts PRs from issues, and automated PR review that can apply fix-ups.
CAUTION: More autonomy means more need for review gates and guardrails — flag this; it sets up the governance slide.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metering mechanics — leaders lean in here.
SAY: A token is roughly three-quarters of a word. Claude is usage-based throughout: subscriptions (Pro, Max) grant allowances that reset on a rolling window; the API bills per input and output token with discounts for prompt caching; reading files and searching code are the biggest token consumers, and /status shows remaining usage. Copilot: code completions are unmetered with a paid seat; agentic features (chat, agent mode, CLI, code review) draw on a metered allowance counted in credits / premium requests with per-model rates; each plan includes a monthly allowance, overage is billed, and orgs get pooling and budgets.
KEY CONTRAST: Seat-inclusive completions vs usage-metered agentic work.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Compare plan tiers — but stress volatility.
SAY: Read the tiers, then point at the footnote: pricing, models and metering change frequently. Claude: no Claude Code on Free; Pro at $20/mo includes it; Max from $100/mo for 5x or 20x usage; Team/Enterprise custom; API pay-per-token. Copilot: Free is limited; Pro $10/mo; Pro+ $39/mo; Business $19/user/mo; Enterprise $39/user/mo with agentic usage metered separately.
DO: Encourage leaders to model their own expected usage rather than compare list prices — the seat-vs-usage philosophies make headline numbers misleading.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why agentic work costs more — and how to control it.
SAY: The chart is illustrative (not a vendor benchmark): relative token use climbs sharply from autocomplete to autonomous agents. Why? Agent loops resend context each step, much of the spend goes to reading and navigating code, and autocomplete is cheap and predictable while agents are variable and can spike.
LEVERS: Set org budgets and allowances; scope tasks tightly; route routine work to lighter models and reserve top models for hard problems; lean on prompt caching and good project context to cut repeat reads.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Turn everything into a decision framework.
SAY:
- Reach for Copilot when daily in-editor velocity matters, for boilerplate, when you need broad IDE coverage, for GitHub-native PR review, and when a low predictable entry cost is key.
- Reach for Claude Code when refactoring or migrating at repo scale, for coordinated multi-file changes, generating and running whole test suites, debugging system-level problems, and delegating a task end-to-end.
- Run both when workloads are mixed, when you want fast flow plus deep reasoning, and to match the team's real bottleneck.
DO: Ask each leader to name their team's current bottleneck out loud — it makes the framework concrete.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 practical rollout guide leaders can act on.
SAY (walk the six): Access &amp; licensing — choose plans/seats and a seat-vs-usage model. Cost controls — set budgets and allowances, monitor usage, turn on alerts. Security &amp; data — review data handling, retention, and IP/compliance settings. Standards &amp; context — add project-context files and shared coding/PR conventions. Enablement — run a pilot, train people, define success metrics. Review cadence — track spend and impact and reassess tool-to-task fit regularly.
RECOMMEND: Start with a small pilot and a budget cap, and assign an owner to each row.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Recap and move to action.
SAY: Reinforce the five takeaways — different centers of gravity; context and autonomy diverge; metering models differ; cost is predictable for autocomplete but variable for agents, so govern it; choose per task and per team, and often run both.
NEXT STEPS: Pick a pilot team, set a budget, define success metrics, and reconvene to review. Then open the floor for Q&amp;A.
TIMING: ~3 minutes plus Q&amp;A.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235689"/>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60520" y="0"/>
            <a:ext cx="4983480" cy="5143500"/>
          </a:xfrm>
          <a:prstGeom prst="rect">
            <a:avLst/>
          </a:prstGeom>
          <a:solidFill>
            <a:srgbClr val="F0EEE6">
              <a:alpha val="82000"/>
            </a:srgbClr>
          </a:solidFill>
          <a:ln/>
        </p:spPr>
        <p:txBody>
          <a:bodyPr/>
          <a:lstStyle/>
          <a:p>
            <a:endParaRPr lang="en-IN"/>
          </a:p>
        </p:txBody>
      </p:sp>
      <p:sp>
        <p:nvSpPr>
          <p:cNvPr id="3" name="Text 1"/>
          <p:cNvSpPr/>
          <p:nvPr/>
        </p:nvSpPr>
        <p:spPr>
          <a:xfrm>
            <a:off x="4343400" y="1024128"/>
            <a:ext cx="4480560" cy="274320"/>
          </a:xfrm>
          <a:prstGeom prst="rect">
            <a:avLst/>
          </a:prstGeom>
          <a:noFill/>
          <a:ln/>
        </p:spPr>
        <p:txBody>
          <a:bodyPr wrap="square" lIns="0" tIns="0" rIns="0" bIns="0" rtlCol="0" anchor="ctr"/>
          <a:lstStyle/>
          <a:p>
            <a:pPr marL="0" indent="0" algn="l">
              <a:buNone/>
            </a:pPr>
            <a:r>
              <a:rPr lang="en-US" sz="1100" b="1" kern="0" spc="200" dirty="0">
                <a:solidFill>
                  <a:srgbClr val="B0552F"/>
                </a:solidFill>
                <a:latin typeface="Calibri" pitchFamily="34" charset="0"/>
                <a:ea typeface="Calibri" pitchFamily="34" charset="-122"/>
                <a:cs typeface="Calibri" pitchFamily="34" charset="-120"/>
              </a:rPr>
              <a:t>CLAUDE TRAINING  ·  ENGINEERING LEADERSHIP</a:t>
            </a:r>
            <a:endParaRPr lang="en-US" sz="1100" dirty="0"/>
          </a:p>
        </p:txBody>
      </p:sp>
      <p:sp>
        <p:nvSpPr>
          <p:cNvPr id="4" name="Text 2"/>
          <p:cNvSpPr/>
          <p:nvPr/>
        </p:nvSpPr>
        <p:spPr>
          <a:xfrm>
            <a:off x="4315968" y="1371600"/>
            <a:ext cx="4572000" cy="1371600"/>
          </a:xfrm>
          <a:prstGeom prst="rect">
            <a:avLst/>
          </a:prstGeom>
          <a:noFill/>
          <a:ln/>
        </p:spPr>
        <p:txBody>
          <a:bodyPr wrap="square" lIns="0" tIns="0" rIns="0" bIns="0" rtlCol="0" anchor="ctr"/>
          <a:lstStyle/>
          <a:p>
            <a:pPr marL="0" indent="0" algn="l">
              <a:lnSpc>
                <a:spcPct val="100000"/>
              </a:lnSpc>
              <a:buNone/>
            </a:pPr>
            <a:r>
              <a:rPr lang="en-US" sz="3600" b="1" dirty="0">
                <a:solidFill>
                  <a:srgbClr val="2A2824"/>
                </a:solidFill>
                <a:latin typeface="Georgia" pitchFamily="34" charset="0"/>
                <a:ea typeface="Georgia" pitchFamily="34" charset="-122"/>
                <a:cs typeface="Georgia" pitchFamily="34" charset="-120"/>
              </a:rPr>
              <a:t>Claude</a:t>
            </a:r>
            <a:endParaRPr lang="en-US" sz="3600" dirty="0"/>
          </a:p>
          <a:p>
            <a:pPr marL="0" indent="0" algn="l">
              <a:lnSpc>
                <a:spcPct val="100000"/>
              </a:lnSpc>
              <a:buNone/>
            </a:pPr>
            <a:r>
              <a:rPr lang="en-US" sz="3600" b="1" dirty="0">
                <a:solidFill>
                  <a:srgbClr val="2A2824"/>
                </a:solidFill>
                <a:latin typeface="Georgia" pitchFamily="34" charset="0"/>
                <a:ea typeface="Georgia" pitchFamily="34" charset="-122"/>
                <a:cs typeface="Georgia" pitchFamily="34" charset="-120"/>
              </a:rPr>
              <a:t>vs GitHub Copilot</a:t>
            </a:r>
            <a:endParaRPr lang="en-US" sz="3600" dirty="0"/>
          </a:p>
        </p:txBody>
      </p:sp>
      <p:sp>
        <p:nvSpPr>
          <p:cNvPr id="5" name="Text 3"/>
          <p:cNvSpPr/>
          <p:nvPr/>
        </p:nvSpPr>
        <p:spPr>
          <a:xfrm>
            <a:off x="4343400" y="3127248"/>
            <a:ext cx="4480560" cy="457200"/>
          </a:xfrm>
          <a:prstGeom prst="rect">
            <a:avLst/>
          </a:prstGeom>
          <a:noFill/>
          <a:ln/>
        </p:spPr>
        <p:txBody>
          <a:bodyPr wrap="square" lIns="0" tIns="0" rIns="0" bIns="0" rtlCol="0" anchor="ctr"/>
          <a:lstStyle/>
          <a:p>
            <a:pPr marL="0" indent="0" algn="l">
              <a:buNone/>
            </a:pPr>
            <a:r>
              <a:rPr lang="en-US" sz="1800" i="1" dirty="0">
                <a:solidFill>
                  <a:srgbClr val="B0552F"/>
                </a:solidFill>
                <a:latin typeface="Georgia" pitchFamily="34" charset="0"/>
                <a:ea typeface="Georgia" pitchFamily="34" charset="-122"/>
                <a:cs typeface="Georgia" pitchFamily="34" charset="-120"/>
              </a:rPr>
              <a:t>Advanced Use Cases &amp; Token Economics</a:t>
            </a:r>
            <a:endParaRPr lang="en-US" sz="1800" dirty="0"/>
          </a:p>
        </p:txBody>
      </p:sp>
      <p:sp>
        <p:nvSpPr>
          <p:cNvPr id="6" name="Text 4"/>
          <p:cNvSpPr/>
          <p:nvPr/>
        </p:nvSpPr>
        <p:spPr>
          <a:xfrm>
            <a:off x="4343400" y="3694176"/>
            <a:ext cx="4480560" cy="640080"/>
          </a:xfrm>
          <a:prstGeom prst="rect">
            <a:avLst/>
          </a:prstGeom>
          <a:noFill/>
          <a:ln/>
        </p:spPr>
        <p:txBody>
          <a:bodyPr wrap="square" lIns="0" tIns="0" rIns="0" bIns="0" rtlCol="0" anchor="ctr"/>
          <a:lstStyle/>
          <a:p>
            <a:pPr marL="0" indent="0" algn="l">
              <a:buNone/>
            </a:pPr>
            <a:r>
              <a:rPr lang="en-US" sz="1200" dirty="0">
                <a:solidFill>
                  <a:srgbClr val="2A2824"/>
                </a:solidFill>
                <a:latin typeface="Calibri" pitchFamily="34" charset="0"/>
                <a:ea typeface="Calibri" pitchFamily="34" charset="-122"/>
                <a:cs typeface="Calibri" pitchFamily="34" charset="-120"/>
              </a:rPr>
              <a:t>A neutral, side-by-side briefing for choosing per task and per team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Executive summary</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THE BOTTOM LINE FOR ENGINEERING LEADERS</a:t>
            </a:r>
            <a:endParaRPr lang="en-US" sz="1050" dirty="0"/>
          </a:p>
        </p:txBody>
      </p:sp>
      <p:sp>
        <p:nvSpPr>
          <p:cNvPr id="16" name="Shape 14"/>
          <p:cNvSpPr/>
          <p:nvPr/>
        </p:nvSpPr>
        <p:spPr>
          <a:xfrm>
            <a:off x="457200" y="1417320"/>
            <a:ext cx="3246120" cy="3108960"/>
          </a:xfrm>
          <a:prstGeom prst="rect">
            <a:avLst/>
          </a:prstGeom>
          <a:solidFill>
            <a:srgbClr val="D97757"/>
          </a:solidFill>
          <a:ln/>
          <a:effectLst>
            <a:outerShdw blurRad="88900" dist="25400" dir="5400000" algn="bl" rotWithShape="0">
              <a:srgbClr val="B9B3A2">
                <a:alpha val="28000"/>
              </a:srgbClr>
            </a:outerShdw>
          </a:effectLst>
        </p:spPr>
        <p:txBody>
          <a:bodyPr/>
          <a:lstStyle/>
          <a:p>
            <a:endParaRPr lang="en-IN"/>
          </a:p>
        </p:txBody>
      </p:sp>
      <p:sp>
        <p:nvSpPr>
          <p:cNvPr id="17" name="Text 15"/>
          <p:cNvSpPr/>
          <p:nvPr/>
        </p:nvSpPr>
        <p:spPr>
          <a:xfrm>
            <a:off x="749808" y="1728216"/>
            <a:ext cx="2697480" cy="274320"/>
          </a:xfrm>
          <a:prstGeom prst="rect">
            <a:avLst/>
          </a:prstGeom>
          <a:noFill/>
          <a:ln/>
        </p:spPr>
        <p:txBody>
          <a:bodyPr wrap="square" lIns="0" tIns="0" rIns="0" bIns="0" rtlCol="0" anchor="ctr"/>
          <a:lstStyle/>
          <a:p>
            <a:pPr marL="0" indent="0">
              <a:buNone/>
            </a:pPr>
            <a:r>
              <a:rPr lang="en-US" sz="1100" b="1" kern="0" spc="200" dirty="0">
                <a:solidFill>
                  <a:srgbClr val="FBE6DC"/>
                </a:solidFill>
                <a:latin typeface="Calibri" pitchFamily="34" charset="0"/>
                <a:ea typeface="Calibri" pitchFamily="34" charset="-122"/>
                <a:cs typeface="Calibri" pitchFamily="34" charset="-120"/>
              </a:rPr>
              <a:t>BOTTOM LINE</a:t>
            </a:r>
            <a:endParaRPr lang="en-US" sz="1100" dirty="0"/>
          </a:p>
        </p:txBody>
      </p:sp>
      <p:sp>
        <p:nvSpPr>
          <p:cNvPr id="18" name="Text 16"/>
          <p:cNvSpPr/>
          <p:nvPr/>
        </p:nvSpPr>
        <p:spPr>
          <a:xfrm>
            <a:off x="749808" y="2130552"/>
            <a:ext cx="2679192" cy="2194560"/>
          </a:xfrm>
          <a:prstGeom prst="rect">
            <a:avLst/>
          </a:prstGeom>
          <a:noFill/>
          <a:ln/>
        </p:spPr>
        <p:txBody>
          <a:bodyPr wrap="square" lIns="0" tIns="0" rIns="0" bIns="0" rtlCol="0" anchor="t"/>
          <a:lstStyle/>
          <a:p>
            <a:pPr marL="0" indent="0">
              <a:lnSpc>
                <a:spcPct val="106000"/>
              </a:lnSpc>
              <a:buNone/>
            </a:pPr>
            <a:r>
              <a:rPr lang="en-US" sz="1900" dirty="0">
                <a:solidFill>
                  <a:srgbClr val="FFFFFF"/>
                </a:solidFill>
                <a:latin typeface="Georgia" pitchFamily="34" charset="0"/>
                <a:ea typeface="Georgia" pitchFamily="34" charset="-122"/>
                <a:cs typeface="Georgia" pitchFamily="34" charset="-120"/>
              </a:rPr>
              <a:t>Two capable tools with different centers of gravity — the choice is per task and per team, not either-or.</a:t>
            </a:r>
            <a:endParaRPr lang="en-US" sz="1900" dirty="0"/>
          </a:p>
        </p:txBody>
      </p:sp>
      <p:sp>
        <p:nvSpPr>
          <p:cNvPr id="19" name="Shape 17"/>
          <p:cNvSpPr/>
          <p:nvPr/>
        </p:nvSpPr>
        <p:spPr>
          <a:xfrm>
            <a:off x="4069080" y="1481328"/>
            <a:ext cx="146304" cy="146304"/>
          </a:xfrm>
          <a:prstGeom prst="ellipse">
            <a:avLst/>
          </a:prstGeom>
          <a:solidFill>
            <a:srgbClr val="D97757"/>
          </a:solidFill>
          <a:ln/>
        </p:spPr>
        <p:txBody>
          <a:bodyPr/>
          <a:lstStyle/>
          <a:p>
            <a:endParaRPr lang="en-IN"/>
          </a:p>
        </p:txBody>
      </p:sp>
      <p:sp>
        <p:nvSpPr>
          <p:cNvPr id="20" name="Text 18"/>
          <p:cNvSpPr/>
          <p:nvPr/>
        </p:nvSpPr>
        <p:spPr>
          <a:xfrm>
            <a:off x="4361688" y="1417320"/>
            <a:ext cx="4325112" cy="274320"/>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Positioning</a:t>
            </a:r>
            <a:endParaRPr lang="en-US" sz="1450" dirty="0"/>
          </a:p>
        </p:txBody>
      </p:sp>
      <p:sp>
        <p:nvSpPr>
          <p:cNvPr id="21" name="Text 19"/>
          <p:cNvSpPr/>
          <p:nvPr/>
        </p:nvSpPr>
        <p:spPr>
          <a:xfrm>
            <a:off x="4361688" y="1709928"/>
            <a:ext cx="4325112" cy="448056"/>
          </a:xfrm>
          <a:prstGeom prst="rect">
            <a:avLst/>
          </a:prstGeom>
          <a:noFill/>
          <a:ln/>
        </p:spPr>
        <p:txBody>
          <a:bodyPr wrap="square" lIns="0" tIns="0" rIns="0" bIns="0" rtlCol="0" anchor="t"/>
          <a:lstStyle/>
          <a:p>
            <a:pPr marL="0" indent="0">
              <a:buNone/>
            </a:pPr>
            <a:r>
              <a:rPr lang="en-US" sz="1200" dirty="0">
                <a:solidFill>
                  <a:srgbClr val="6E6A60"/>
                </a:solidFill>
                <a:latin typeface="Calibri" pitchFamily="34" charset="0"/>
                <a:ea typeface="Calibri" pitchFamily="34" charset="-122"/>
                <a:cs typeface="Calibri" pitchFamily="34" charset="-120"/>
              </a:rPr>
              <a:t>Copilot leads on in-editor speed and IDE breadth; Claude Code on repo-scale, agentic work.</a:t>
            </a:r>
            <a:endParaRPr lang="en-US" sz="1200" dirty="0"/>
          </a:p>
        </p:txBody>
      </p:sp>
      <p:sp>
        <p:nvSpPr>
          <p:cNvPr id="22" name="Shape 20"/>
          <p:cNvSpPr/>
          <p:nvPr/>
        </p:nvSpPr>
        <p:spPr>
          <a:xfrm>
            <a:off x="4069080" y="2258568"/>
            <a:ext cx="146304" cy="146304"/>
          </a:xfrm>
          <a:prstGeom prst="ellipse">
            <a:avLst/>
          </a:prstGeom>
          <a:solidFill>
            <a:srgbClr val="D97757"/>
          </a:solidFill>
          <a:ln/>
        </p:spPr>
        <p:txBody>
          <a:bodyPr/>
          <a:lstStyle/>
          <a:p>
            <a:endParaRPr lang="en-IN"/>
          </a:p>
        </p:txBody>
      </p:sp>
      <p:sp>
        <p:nvSpPr>
          <p:cNvPr id="23" name="Text 21"/>
          <p:cNvSpPr/>
          <p:nvPr/>
        </p:nvSpPr>
        <p:spPr>
          <a:xfrm>
            <a:off x="4361688" y="2194560"/>
            <a:ext cx="4325112" cy="274320"/>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Capability</a:t>
            </a:r>
            <a:endParaRPr lang="en-US" sz="1450" dirty="0"/>
          </a:p>
        </p:txBody>
      </p:sp>
      <p:sp>
        <p:nvSpPr>
          <p:cNvPr id="24" name="Text 22"/>
          <p:cNvSpPr/>
          <p:nvPr/>
        </p:nvSpPr>
        <p:spPr>
          <a:xfrm>
            <a:off x="4361688" y="2487168"/>
            <a:ext cx="4325112" cy="448056"/>
          </a:xfrm>
          <a:prstGeom prst="rect">
            <a:avLst/>
          </a:prstGeom>
          <a:noFill/>
          <a:ln/>
        </p:spPr>
        <p:txBody>
          <a:bodyPr wrap="square" lIns="0" tIns="0" rIns="0" bIns="0" rtlCol="0" anchor="t"/>
          <a:lstStyle/>
          <a:p>
            <a:pPr marL="0" indent="0">
              <a:buNone/>
            </a:pPr>
            <a:r>
              <a:rPr lang="en-US" sz="1200" dirty="0">
                <a:solidFill>
                  <a:srgbClr val="6E6A60"/>
                </a:solidFill>
                <a:latin typeface="Calibri" pitchFamily="34" charset="0"/>
                <a:ea typeface="Calibri" pitchFamily="34" charset="-122"/>
                <a:cs typeface="Calibri" pitchFamily="34" charset="-120"/>
              </a:rPr>
              <a:t>Both handle multi-file edits, refactoring, tests, and agentic PRs — they differ in autonomy and context held.</a:t>
            </a:r>
            <a:endParaRPr lang="en-US" sz="1200" dirty="0"/>
          </a:p>
        </p:txBody>
      </p:sp>
      <p:sp>
        <p:nvSpPr>
          <p:cNvPr id="25" name="Shape 23"/>
          <p:cNvSpPr/>
          <p:nvPr/>
        </p:nvSpPr>
        <p:spPr>
          <a:xfrm>
            <a:off x="4069080" y="3035808"/>
            <a:ext cx="146304" cy="146304"/>
          </a:xfrm>
          <a:prstGeom prst="ellipse">
            <a:avLst/>
          </a:prstGeom>
          <a:solidFill>
            <a:srgbClr val="D97757"/>
          </a:solidFill>
          <a:ln/>
        </p:spPr>
        <p:txBody>
          <a:bodyPr/>
          <a:lstStyle/>
          <a:p>
            <a:endParaRPr lang="en-IN"/>
          </a:p>
        </p:txBody>
      </p:sp>
      <p:sp>
        <p:nvSpPr>
          <p:cNvPr id="26" name="Text 24"/>
          <p:cNvSpPr/>
          <p:nvPr/>
        </p:nvSpPr>
        <p:spPr>
          <a:xfrm>
            <a:off x="4361688" y="2971800"/>
            <a:ext cx="4325112" cy="274320"/>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Economics</a:t>
            </a:r>
            <a:endParaRPr lang="en-US" sz="1450" dirty="0"/>
          </a:p>
        </p:txBody>
      </p:sp>
      <p:sp>
        <p:nvSpPr>
          <p:cNvPr id="27" name="Text 25"/>
          <p:cNvSpPr/>
          <p:nvPr/>
        </p:nvSpPr>
        <p:spPr>
          <a:xfrm>
            <a:off x="4361688" y="3264408"/>
            <a:ext cx="4325112" cy="448056"/>
          </a:xfrm>
          <a:prstGeom prst="rect">
            <a:avLst/>
          </a:prstGeom>
          <a:noFill/>
          <a:ln/>
        </p:spPr>
        <p:txBody>
          <a:bodyPr wrap="square" lIns="0" tIns="0" rIns="0" bIns="0" rtlCol="0" anchor="t"/>
          <a:lstStyle/>
          <a:p>
            <a:pPr marL="0" indent="0">
              <a:buNone/>
            </a:pPr>
            <a:r>
              <a:rPr lang="en-US" sz="1200" dirty="0">
                <a:solidFill>
                  <a:srgbClr val="6E6A60"/>
                </a:solidFill>
                <a:latin typeface="Calibri" pitchFamily="34" charset="0"/>
                <a:ea typeface="Calibri" pitchFamily="34" charset="-122"/>
                <a:cs typeface="Calibri" pitchFamily="34" charset="-120"/>
              </a:rPr>
              <a:t>Copilot bundles free completions with metered credits; Claude is usage-based — agentic work is the spend to govern.</a:t>
            </a:r>
            <a:endParaRPr lang="en-US" sz="1200" dirty="0"/>
          </a:p>
        </p:txBody>
      </p:sp>
      <p:sp>
        <p:nvSpPr>
          <p:cNvPr id="28" name="Shape 26"/>
          <p:cNvSpPr/>
          <p:nvPr/>
        </p:nvSpPr>
        <p:spPr>
          <a:xfrm>
            <a:off x="4069080" y="3813048"/>
            <a:ext cx="146304" cy="146304"/>
          </a:xfrm>
          <a:prstGeom prst="ellipse">
            <a:avLst/>
          </a:prstGeom>
          <a:solidFill>
            <a:srgbClr val="D97757"/>
          </a:solidFill>
          <a:ln/>
        </p:spPr>
        <p:txBody>
          <a:bodyPr/>
          <a:lstStyle/>
          <a:p>
            <a:endParaRPr lang="en-IN"/>
          </a:p>
        </p:txBody>
      </p:sp>
      <p:sp>
        <p:nvSpPr>
          <p:cNvPr id="29" name="Text 27"/>
          <p:cNvSpPr/>
          <p:nvPr/>
        </p:nvSpPr>
        <p:spPr>
          <a:xfrm>
            <a:off x="4361688" y="3749040"/>
            <a:ext cx="4325112" cy="274320"/>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Recommendation</a:t>
            </a:r>
            <a:endParaRPr lang="en-US" sz="1450" dirty="0"/>
          </a:p>
        </p:txBody>
      </p:sp>
      <p:sp>
        <p:nvSpPr>
          <p:cNvPr id="30" name="Text 28"/>
          <p:cNvSpPr/>
          <p:nvPr/>
        </p:nvSpPr>
        <p:spPr>
          <a:xfrm>
            <a:off x="4361688" y="4041648"/>
            <a:ext cx="4325112" cy="448056"/>
          </a:xfrm>
          <a:prstGeom prst="rect">
            <a:avLst/>
          </a:prstGeom>
          <a:noFill/>
          <a:ln/>
        </p:spPr>
        <p:txBody>
          <a:bodyPr wrap="square" lIns="0" tIns="0" rIns="0" bIns="0" rtlCol="0" anchor="t"/>
          <a:lstStyle/>
          <a:p>
            <a:pPr marL="0" indent="0">
              <a:buNone/>
            </a:pPr>
            <a:r>
              <a:rPr lang="en-US" sz="1200" dirty="0">
                <a:solidFill>
                  <a:srgbClr val="6E6A60"/>
                </a:solidFill>
                <a:latin typeface="Calibri" pitchFamily="34" charset="0"/>
                <a:ea typeface="Calibri" pitchFamily="34" charset="-122"/>
                <a:cs typeface="Calibri" pitchFamily="34" charset="-120"/>
              </a:rPr>
              <a:t>Match the tool to the workload and the team's bottleneck; many high-performing teams run both.</a:t>
            </a:r>
            <a:endParaRPr lang="en-US" sz="1200" dirty="0"/>
          </a:p>
        </p:txBody>
      </p:sp>
      <p:sp>
        <p:nvSpPr>
          <p:cNvPr id="31" name="Text 29"/>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32" name="Text 30"/>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What we'll cover</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AGENDA</a:t>
            </a:r>
            <a:endParaRPr lang="en-US" sz="1050" dirty="0"/>
          </a:p>
        </p:txBody>
      </p:sp>
      <p:sp>
        <p:nvSpPr>
          <p:cNvPr id="16" name="Shape 14"/>
          <p:cNvSpPr/>
          <p:nvPr/>
        </p:nvSpPr>
        <p:spPr>
          <a:xfrm>
            <a:off x="457200" y="1371600"/>
            <a:ext cx="3950208" cy="148132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Shape 15"/>
          <p:cNvSpPr/>
          <p:nvPr/>
        </p:nvSpPr>
        <p:spPr>
          <a:xfrm>
            <a:off x="457200" y="1371600"/>
            <a:ext cx="82296" cy="1481328"/>
          </a:xfrm>
          <a:prstGeom prst="rect">
            <a:avLst/>
          </a:prstGeom>
          <a:solidFill>
            <a:srgbClr val="D97757"/>
          </a:solidFill>
          <a:ln/>
        </p:spPr>
        <p:txBody>
          <a:bodyPr/>
          <a:lstStyle/>
          <a:p>
            <a:endParaRPr lang="en-IN"/>
          </a:p>
        </p:txBody>
      </p:sp>
      <p:sp>
        <p:nvSpPr>
          <p:cNvPr id="18" name="Text 16"/>
          <p:cNvSpPr/>
          <p:nvPr/>
        </p:nvSpPr>
        <p:spPr>
          <a:xfrm>
            <a:off x="713232" y="1572768"/>
            <a:ext cx="1005840" cy="640080"/>
          </a:xfrm>
          <a:prstGeom prst="rect">
            <a:avLst/>
          </a:prstGeom>
          <a:noFill/>
          <a:ln/>
        </p:spPr>
        <p:txBody>
          <a:bodyPr wrap="square" lIns="0" tIns="0" rIns="0" bIns="0" rtlCol="0" anchor="ctr"/>
          <a:lstStyle/>
          <a:p>
            <a:pPr marL="0" indent="0" algn="l">
              <a:buNone/>
            </a:pPr>
            <a:r>
              <a:rPr lang="en-US" sz="3400" b="1" dirty="0">
                <a:solidFill>
                  <a:srgbClr val="D97757"/>
                </a:solidFill>
                <a:latin typeface="Georgia" pitchFamily="34" charset="0"/>
                <a:ea typeface="Georgia" pitchFamily="34" charset="-122"/>
                <a:cs typeface="Georgia" pitchFamily="34" charset="-120"/>
              </a:rPr>
              <a:t>01</a:t>
            </a:r>
            <a:endParaRPr lang="en-US" sz="3400" dirty="0"/>
          </a:p>
        </p:txBody>
      </p:sp>
      <p:sp>
        <p:nvSpPr>
          <p:cNvPr id="19" name="Text 17"/>
          <p:cNvSpPr/>
          <p:nvPr/>
        </p:nvSpPr>
        <p:spPr>
          <a:xfrm>
            <a:off x="1691640" y="1591056"/>
            <a:ext cx="2532888" cy="548640"/>
          </a:xfrm>
          <a:prstGeom prst="rect">
            <a:avLst/>
          </a:prstGeom>
          <a:noFill/>
          <a:ln/>
        </p:spPr>
        <p:txBody>
          <a:bodyPr wrap="square" lIns="0" tIns="0" rIns="0" bIns="0" rtlCol="0" anchor="t"/>
          <a:lstStyle/>
          <a:p>
            <a:pPr marL="0" indent="0" algn="l">
              <a:buNone/>
            </a:pPr>
            <a:r>
              <a:rPr lang="en-US" sz="1650" b="1" dirty="0">
                <a:solidFill>
                  <a:srgbClr val="2A2824"/>
                </a:solidFill>
                <a:latin typeface="Georgia" pitchFamily="34" charset="0"/>
                <a:ea typeface="Georgia" pitchFamily="34" charset="-122"/>
                <a:cs typeface="Georgia" pitchFamily="34" charset="-120"/>
              </a:rPr>
              <a:t>Advanced use cases</a:t>
            </a:r>
            <a:endParaRPr lang="en-US" sz="1650" dirty="0"/>
          </a:p>
        </p:txBody>
      </p:sp>
      <p:sp>
        <p:nvSpPr>
          <p:cNvPr id="20" name="Text 18"/>
          <p:cNvSpPr/>
          <p:nvPr/>
        </p:nvSpPr>
        <p:spPr>
          <a:xfrm>
            <a:off x="1691640" y="2084832"/>
            <a:ext cx="2532888" cy="658368"/>
          </a:xfrm>
          <a:prstGeom prst="rect">
            <a:avLst/>
          </a:prstGeom>
          <a:noFill/>
          <a:ln/>
        </p:spPr>
        <p:txBody>
          <a:bodyPr wrap="square" lIns="0" tIns="0" rIns="0" bIns="0" rtlCol="0" anchor="t"/>
          <a:lstStyle/>
          <a:p>
            <a:pPr marL="0" indent="0" algn="l">
              <a:buNone/>
            </a:pPr>
            <a:r>
              <a:rPr lang="en-US" sz="1200" dirty="0">
                <a:solidFill>
                  <a:srgbClr val="6E6A60"/>
                </a:solidFill>
                <a:latin typeface="Calibri" pitchFamily="34" charset="0"/>
                <a:ea typeface="Calibri" pitchFamily="34" charset="-122"/>
                <a:cs typeface="Calibri" pitchFamily="34" charset="-120"/>
              </a:rPr>
              <a:t>Multi-file changes, refactoring, test generation, and agentic tasks</a:t>
            </a:r>
            <a:endParaRPr lang="en-US" sz="1200" dirty="0"/>
          </a:p>
        </p:txBody>
      </p:sp>
      <p:sp>
        <p:nvSpPr>
          <p:cNvPr id="21" name="Shape 19"/>
          <p:cNvSpPr/>
          <p:nvPr/>
        </p:nvSpPr>
        <p:spPr>
          <a:xfrm>
            <a:off x="4736592" y="1371600"/>
            <a:ext cx="3950208" cy="148132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2" name="Shape 20"/>
          <p:cNvSpPr/>
          <p:nvPr/>
        </p:nvSpPr>
        <p:spPr>
          <a:xfrm>
            <a:off x="4736592" y="1371600"/>
            <a:ext cx="82296" cy="1481328"/>
          </a:xfrm>
          <a:prstGeom prst="rect">
            <a:avLst/>
          </a:prstGeom>
          <a:solidFill>
            <a:srgbClr val="D97757"/>
          </a:solidFill>
          <a:ln/>
        </p:spPr>
        <p:txBody>
          <a:bodyPr/>
          <a:lstStyle/>
          <a:p>
            <a:endParaRPr lang="en-IN"/>
          </a:p>
        </p:txBody>
      </p:sp>
      <p:sp>
        <p:nvSpPr>
          <p:cNvPr id="23" name="Text 21"/>
          <p:cNvSpPr/>
          <p:nvPr/>
        </p:nvSpPr>
        <p:spPr>
          <a:xfrm>
            <a:off x="4992624" y="1572768"/>
            <a:ext cx="1005840" cy="640080"/>
          </a:xfrm>
          <a:prstGeom prst="rect">
            <a:avLst/>
          </a:prstGeom>
          <a:noFill/>
          <a:ln/>
        </p:spPr>
        <p:txBody>
          <a:bodyPr wrap="square" lIns="0" tIns="0" rIns="0" bIns="0" rtlCol="0" anchor="ctr"/>
          <a:lstStyle/>
          <a:p>
            <a:pPr marL="0" indent="0" algn="l">
              <a:buNone/>
            </a:pPr>
            <a:r>
              <a:rPr lang="en-US" sz="3400" b="1" dirty="0">
                <a:solidFill>
                  <a:srgbClr val="D97757"/>
                </a:solidFill>
                <a:latin typeface="Georgia" pitchFamily="34" charset="0"/>
                <a:ea typeface="Georgia" pitchFamily="34" charset="-122"/>
                <a:cs typeface="Georgia" pitchFamily="34" charset="-120"/>
              </a:rPr>
              <a:t>02</a:t>
            </a:r>
            <a:endParaRPr lang="en-US" sz="3400" dirty="0"/>
          </a:p>
        </p:txBody>
      </p:sp>
      <p:sp>
        <p:nvSpPr>
          <p:cNvPr id="24" name="Text 22"/>
          <p:cNvSpPr/>
          <p:nvPr/>
        </p:nvSpPr>
        <p:spPr>
          <a:xfrm>
            <a:off x="5971032" y="1591056"/>
            <a:ext cx="2532888" cy="548640"/>
          </a:xfrm>
          <a:prstGeom prst="rect">
            <a:avLst/>
          </a:prstGeom>
          <a:noFill/>
          <a:ln/>
        </p:spPr>
        <p:txBody>
          <a:bodyPr wrap="square" lIns="0" tIns="0" rIns="0" bIns="0" rtlCol="0" anchor="t"/>
          <a:lstStyle/>
          <a:p>
            <a:pPr marL="0" indent="0" algn="l">
              <a:buNone/>
            </a:pPr>
            <a:r>
              <a:rPr lang="en-US" sz="1650" b="1" dirty="0">
                <a:solidFill>
                  <a:srgbClr val="2A2824"/>
                </a:solidFill>
                <a:latin typeface="Georgia" pitchFamily="34" charset="0"/>
                <a:ea typeface="Georgia" pitchFamily="34" charset="-122"/>
                <a:cs typeface="Georgia" pitchFamily="34" charset="-120"/>
              </a:rPr>
              <a:t>Context, autonomy &amp; orchestration</a:t>
            </a:r>
            <a:endParaRPr lang="en-US" sz="1650" dirty="0"/>
          </a:p>
        </p:txBody>
      </p:sp>
      <p:sp>
        <p:nvSpPr>
          <p:cNvPr id="25" name="Text 23"/>
          <p:cNvSpPr/>
          <p:nvPr/>
        </p:nvSpPr>
        <p:spPr>
          <a:xfrm>
            <a:off x="5971032" y="2084832"/>
            <a:ext cx="2532888" cy="658368"/>
          </a:xfrm>
          <a:prstGeom prst="rect">
            <a:avLst/>
          </a:prstGeom>
          <a:noFill/>
          <a:ln/>
        </p:spPr>
        <p:txBody>
          <a:bodyPr wrap="square" lIns="0" tIns="0" rIns="0" bIns="0" rtlCol="0" anchor="t"/>
          <a:lstStyle/>
          <a:p>
            <a:pPr marL="0" indent="0" algn="l">
              <a:buNone/>
            </a:pPr>
            <a:r>
              <a:rPr lang="en-US" sz="1200" dirty="0">
                <a:solidFill>
                  <a:srgbClr val="6E6A60"/>
                </a:solidFill>
                <a:latin typeface="Calibri" pitchFamily="34" charset="0"/>
                <a:ea typeface="Calibri" pitchFamily="34" charset="-122"/>
                <a:cs typeface="Calibri" pitchFamily="34" charset="-120"/>
              </a:rPr>
              <a:t>How each handles context, acts independently, and coordinates work</a:t>
            </a:r>
            <a:endParaRPr lang="en-US" sz="1200" dirty="0"/>
          </a:p>
        </p:txBody>
      </p:sp>
      <p:sp>
        <p:nvSpPr>
          <p:cNvPr id="26" name="Shape 24"/>
          <p:cNvSpPr/>
          <p:nvPr/>
        </p:nvSpPr>
        <p:spPr>
          <a:xfrm>
            <a:off x="457200" y="3145536"/>
            <a:ext cx="3950208" cy="148132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7" name="Shape 25"/>
          <p:cNvSpPr/>
          <p:nvPr/>
        </p:nvSpPr>
        <p:spPr>
          <a:xfrm>
            <a:off x="457200" y="3145536"/>
            <a:ext cx="82296" cy="1481328"/>
          </a:xfrm>
          <a:prstGeom prst="rect">
            <a:avLst/>
          </a:prstGeom>
          <a:solidFill>
            <a:srgbClr val="D97757"/>
          </a:solidFill>
          <a:ln/>
        </p:spPr>
        <p:txBody>
          <a:bodyPr/>
          <a:lstStyle/>
          <a:p>
            <a:endParaRPr lang="en-IN"/>
          </a:p>
        </p:txBody>
      </p:sp>
      <p:sp>
        <p:nvSpPr>
          <p:cNvPr id="28" name="Text 26"/>
          <p:cNvSpPr/>
          <p:nvPr/>
        </p:nvSpPr>
        <p:spPr>
          <a:xfrm>
            <a:off x="713232" y="3346704"/>
            <a:ext cx="1005840" cy="640080"/>
          </a:xfrm>
          <a:prstGeom prst="rect">
            <a:avLst/>
          </a:prstGeom>
          <a:noFill/>
          <a:ln/>
        </p:spPr>
        <p:txBody>
          <a:bodyPr wrap="square" lIns="0" tIns="0" rIns="0" bIns="0" rtlCol="0" anchor="ctr"/>
          <a:lstStyle/>
          <a:p>
            <a:pPr marL="0" indent="0" algn="l">
              <a:buNone/>
            </a:pPr>
            <a:r>
              <a:rPr lang="en-US" sz="3400" b="1" dirty="0">
                <a:solidFill>
                  <a:srgbClr val="D97757"/>
                </a:solidFill>
                <a:latin typeface="Georgia" pitchFamily="34" charset="0"/>
                <a:ea typeface="Georgia" pitchFamily="34" charset="-122"/>
                <a:cs typeface="Georgia" pitchFamily="34" charset="-120"/>
              </a:rPr>
              <a:t>03</a:t>
            </a:r>
            <a:endParaRPr lang="en-US" sz="3400" dirty="0"/>
          </a:p>
        </p:txBody>
      </p:sp>
      <p:sp>
        <p:nvSpPr>
          <p:cNvPr id="29" name="Text 27"/>
          <p:cNvSpPr/>
          <p:nvPr/>
        </p:nvSpPr>
        <p:spPr>
          <a:xfrm>
            <a:off x="1691640" y="3364992"/>
            <a:ext cx="2532888" cy="548640"/>
          </a:xfrm>
          <a:prstGeom prst="rect">
            <a:avLst/>
          </a:prstGeom>
          <a:noFill/>
          <a:ln/>
        </p:spPr>
        <p:txBody>
          <a:bodyPr wrap="square" lIns="0" tIns="0" rIns="0" bIns="0" rtlCol="0" anchor="t"/>
          <a:lstStyle/>
          <a:p>
            <a:pPr marL="0" indent="0" algn="l">
              <a:buNone/>
            </a:pPr>
            <a:r>
              <a:rPr lang="en-US" sz="1650" b="1" dirty="0">
                <a:solidFill>
                  <a:srgbClr val="2A2824"/>
                </a:solidFill>
                <a:latin typeface="Georgia" pitchFamily="34" charset="0"/>
                <a:ea typeface="Georgia" pitchFamily="34" charset="-122"/>
                <a:cs typeface="Georgia" pitchFamily="34" charset="-120"/>
              </a:rPr>
              <a:t>Token consumption &amp; metering</a:t>
            </a:r>
            <a:endParaRPr lang="en-US" sz="1650" dirty="0"/>
          </a:p>
        </p:txBody>
      </p:sp>
      <p:sp>
        <p:nvSpPr>
          <p:cNvPr id="30" name="Text 28"/>
          <p:cNvSpPr/>
          <p:nvPr/>
        </p:nvSpPr>
        <p:spPr>
          <a:xfrm>
            <a:off x="1691640" y="3858768"/>
            <a:ext cx="2532888" cy="658368"/>
          </a:xfrm>
          <a:prstGeom prst="rect">
            <a:avLst/>
          </a:prstGeom>
          <a:noFill/>
          <a:ln/>
        </p:spPr>
        <p:txBody>
          <a:bodyPr wrap="square" lIns="0" tIns="0" rIns="0" bIns="0" rtlCol="0" anchor="t"/>
          <a:lstStyle/>
          <a:p>
            <a:pPr marL="0" indent="0" algn="l">
              <a:buNone/>
            </a:pPr>
            <a:r>
              <a:rPr lang="en-US" sz="1200" dirty="0">
                <a:solidFill>
                  <a:srgbClr val="6E6A60"/>
                </a:solidFill>
                <a:latin typeface="Calibri" pitchFamily="34" charset="0"/>
                <a:ea typeface="Calibri" pitchFamily="34" charset="-122"/>
                <a:cs typeface="Calibri" pitchFamily="34" charset="-120"/>
              </a:rPr>
              <a:t>How usage is measured, priced, and managed in each tool</a:t>
            </a:r>
            <a:endParaRPr lang="en-US" sz="1200" dirty="0"/>
          </a:p>
        </p:txBody>
      </p:sp>
      <p:sp>
        <p:nvSpPr>
          <p:cNvPr id="31" name="Shape 29"/>
          <p:cNvSpPr/>
          <p:nvPr/>
        </p:nvSpPr>
        <p:spPr>
          <a:xfrm>
            <a:off x="4736592" y="3145536"/>
            <a:ext cx="3950208" cy="148132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32" name="Shape 30"/>
          <p:cNvSpPr/>
          <p:nvPr/>
        </p:nvSpPr>
        <p:spPr>
          <a:xfrm>
            <a:off x="4736592" y="3145536"/>
            <a:ext cx="82296" cy="1481328"/>
          </a:xfrm>
          <a:prstGeom prst="rect">
            <a:avLst/>
          </a:prstGeom>
          <a:solidFill>
            <a:srgbClr val="D97757"/>
          </a:solidFill>
          <a:ln/>
        </p:spPr>
        <p:txBody>
          <a:bodyPr/>
          <a:lstStyle/>
          <a:p>
            <a:endParaRPr lang="en-IN"/>
          </a:p>
        </p:txBody>
      </p:sp>
      <p:sp>
        <p:nvSpPr>
          <p:cNvPr id="33" name="Text 31"/>
          <p:cNvSpPr/>
          <p:nvPr/>
        </p:nvSpPr>
        <p:spPr>
          <a:xfrm>
            <a:off x="4992624" y="3346704"/>
            <a:ext cx="1005840" cy="640080"/>
          </a:xfrm>
          <a:prstGeom prst="rect">
            <a:avLst/>
          </a:prstGeom>
          <a:noFill/>
          <a:ln/>
        </p:spPr>
        <p:txBody>
          <a:bodyPr wrap="square" lIns="0" tIns="0" rIns="0" bIns="0" rtlCol="0" anchor="ctr"/>
          <a:lstStyle/>
          <a:p>
            <a:pPr marL="0" indent="0" algn="l">
              <a:buNone/>
            </a:pPr>
            <a:r>
              <a:rPr lang="en-US" sz="3400" b="1" dirty="0">
                <a:solidFill>
                  <a:srgbClr val="D97757"/>
                </a:solidFill>
                <a:latin typeface="Georgia" pitchFamily="34" charset="0"/>
                <a:ea typeface="Georgia" pitchFamily="34" charset="-122"/>
                <a:cs typeface="Georgia" pitchFamily="34" charset="-120"/>
              </a:rPr>
              <a:t>04</a:t>
            </a:r>
            <a:endParaRPr lang="en-US" sz="3400" dirty="0"/>
          </a:p>
        </p:txBody>
      </p:sp>
      <p:sp>
        <p:nvSpPr>
          <p:cNvPr id="34" name="Text 32"/>
          <p:cNvSpPr/>
          <p:nvPr/>
        </p:nvSpPr>
        <p:spPr>
          <a:xfrm>
            <a:off x="5971032" y="3364992"/>
            <a:ext cx="2532888" cy="548640"/>
          </a:xfrm>
          <a:prstGeom prst="rect">
            <a:avLst/>
          </a:prstGeom>
          <a:noFill/>
          <a:ln/>
        </p:spPr>
        <p:txBody>
          <a:bodyPr wrap="square" lIns="0" tIns="0" rIns="0" bIns="0" rtlCol="0" anchor="t"/>
          <a:lstStyle/>
          <a:p>
            <a:pPr marL="0" indent="0" algn="l">
              <a:buNone/>
            </a:pPr>
            <a:r>
              <a:rPr lang="en-US" sz="1650" b="1" dirty="0">
                <a:solidFill>
                  <a:srgbClr val="2A2824"/>
                </a:solidFill>
                <a:latin typeface="Georgia" pitchFamily="34" charset="0"/>
                <a:ea typeface="Georgia" pitchFamily="34" charset="-122"/>
                <a:cs typeface="Georgia" pitchFamily="34" charset="-120"/>
              </a:rPr>
              <a:t>Where each tool fits</a:t>
            </a:r>
            <a:endParaRPr lang="en-US" sz="1650" dirty="0"/>
          </a:p>
        </p:txBody>
      </p:sp>
      <p:sp>
        <p:nvSpPr>
          <p:cNvPr id="35" name="Text 33"/>
          <p:cNvSpPr/>
          <p:nvPr/>
        </p:nvSpPr>
        <p:spPr>
          <a:xfrm>
            <a:off x="5971032" y="3858768"/>
            <a:ext cx="2532888" cy="658368"/>
          </a:xfrm>
          <a:prstGeom prst="rect">
            <a:avLst/>
          </a:prstGeom>
          <a:noFill/>
          <a:ln/>
        </p:spPr>
        <p:txBody>
          <a:bodyPr wrap="square" lIns="0" tIns="0" rIns="0" bIns="0" rtlCol="0" anchor="t"/>
          <a:lstStyle/>
          <a:p>
            <a:pPr marL="0" indent="0" algn="l">
              <a:buNone/>
            </a:pPr>
            <a:r>
              <a:rPr lang="en-US" sz="1200" dirty="0">
                <a:solidFill>
                  <a:srgbClr val="6E6A60"/>
                </a:solidFill>
                <a:latin typeface="Calibri" pitchFamily="34" charset="0"/>
                <a:ea typeface="Calibri" pitchFamily="34" charset="-122"/>
                <a:cs typeface="Calibri" pitchFamily="34" charset="-120"/>
              </a:rPr>
              <a:t>Choosing per task and per team — including running both</a:t>
            </a:r>
            <a:endParaRPr lang="en-US" sz="1200" dirty="0"/>
          </a:p>
        </p:txBody>
      </p:sp>
      <p:sp>
        <p:nvSpPr>
          <p:cNvPr id="36" name="Text 34"/>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37" name="Text 35"/>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The two tools at a glance</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ORIENTATION</a:t>
            </a:r>
            <a:endParaRPr lang="en-US" sz="1050" dirty="0"/>
          </a:p>
        </p:txBody>
      </p:sp>
      <p:sp>
        <p:nvSpPr>
          <p:cNvPr id="16" name="Shape 14"/>
          <p:cNvSpPr/>
          <p:nvPr/>
        </p:nvSpPr>
        <p:spPr>
          <a:xfrm>
            <a:off x="457200" y="1371600"/>
            <a:ext cx="3950208" cy="324612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Shape 15"/>
          <p:cNvSpPr/>
          <p:nvPr/>
        </p:nvSpPr>
        <p:spPr>
          <a:xfrm>
            <a:off x="457200" y="1371600"/>
            <a:ext cx="3950208" cy="566928"/>
          </a:xfrm>
          <a:prstGeom prst="rect">
            <a:avLst/>
          </a:prstGeom>
          <a:solidFill>
            <a:srgbClr val="D97757"/>
          </a:solidFill>
          <a:ln/>
        </p:spPr>
        <p:txBody>
          <a:bodyPr/>
          <a:lstStyle/>
          <a:p>
            <a:endParaRPr lang="en-IN"/>
          </a:p>
        </p:txBody>
      </p:sp>
      <p:sp>
        <p:nvSpPr>
          <p:cNvPr id="18" name="Text 16"/>
          <p:cNvSpPr/>
          <p:nvPr/>
        </p:nvSpPr>
        <p:spPr>
          <a:xfrm>
            <a:off x="731520" y="1371600"/>
            <a:ext cx="3401568" cy="5669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Claude  ·  Claude Code</a:t>
            </a:r>
            <a:endParaRPr lang="en-US" sz="1700" dirty="0"/>
          </a:p>
        </p:txBody>
      </p:sp>
      <p:sp>
        <p:nvSpPr>
          <p:cNvPr id="19" name="Shape 17"/>
          <p:cNvSpPr/>
          <p:nvPr/>
        </p:nvSpPr>
        <p:spPr>
          <a:xfrm>
            <a:off x="4736592" y="1371600"/>
            <a:ext cx="3950208" cy="324612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0" name="Shape 18"/>
          <p:cNvSpPr/>
          <p:nvPr/>
        </p:nvSpPr>
        <p:spPr>
          <a:xfrm>
            <a:off x="4736592" y="1371600"/>
            <a:ext cx="3950208" cy="566928"/>
          </a:xfrm>
          <a:prstGeom prst="rect">
            <a:avLst/>
          </a:prstGeom>
          <a:solidFill>
            <a:srgbClr val="4A5563"/>
          </a:solidFill>
          <a:ln/>
        </p:spPr>
        <p:txBody>
          <a:bodyPr/>
          <a:lstStyle/>
          <a:p>
            <a:endParaRPr lang="en-IN"/>
          </a:p>
        </p:txBody>
      </p:sp>
      <p:sp>
        <p:nvSpPr>
          <p:cNvPr id="21" name="Text 19"/>
          <p:cNvSpPr/>
          <p:nvPr/>
        </p:nvSpPr>
        <p:spPr>
          <a:xfrm>
            <a:off x="5010912" y="1371600"/>
            <a:ext cx="3401568" cy="5669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GitHub Copilot</a:t>
            </a:r>
            <a:endParaRPr lang="en-US" sz="1700" dirty="0"/>
          </a:p>
        </p:txBody>
      </p:sp>
      <p:sp>
        <p:nvSpPr>
          <p:cNvPr id="22" name="Text 20"/>
          <p:cNvSpPr/>
          <p:nvPr/>
        </p:nvSpPr>
        <p:spPr>
          <a:xfrm>
            <a:off x="731520" y="2084832"/>
            <a:ext cx="3401568" cy="201168"/>
          </a:xfrm>
          <a:prstGeom prst="rect">
            <a:avLst/>
          </a:prstGeom>
          <a:noFill/>
          <a:ln/>
        </p:spPr>
        <p:txBody>
          <a:bodyPr wrap="square" lIns="0" tIns="0" rIns="0" bIns="0" rtlCol="0" anchor="ctr"/>
          <a:lstStyle/>
          <a:p>
            <a:pPr marL="0" indent="0">
              <a:buNone/>
            </a:pPr>
            <a:r>
              <a:rPr lang="en-US" sz="950" b="1" kern="0" spc="100" dirty="0">
                <a:solidFill>
                  <a:srgbClr val="B0552F"/>
                </a:solidFill>
                <a:latin typeface="Calibri" pitchFamily="34" charset="0"/>
                <a:ea typeface="Calibri" pitchFamily="34" charset="-122"/>
                <a:cs typeface="Calibri" pitchFamily="34" charset="-120"/>
              </a:rPr>
              <a:t>NATURE</a:t>
            </a:r>
            <a:endParaRPr lang="en-US" sz="950" dirty="0"/>
          </a:p>
        </p:txBody>
      </p:sp>
      <p:sp>
        <p:nvSpPr>
          <p:cNvPr id="23" name="Text 21"/>
          <p:cNvSpPr/>
          <p:nvPr/>
        </p:nvSpPr>
        <p:spPr>
          <a:xfrm>
            <a:off x="731520" y="227685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Agentic coding tool — define a goal, it executes</a:t>
            </a:r>
            <a:endParaRPr lang="en-US" sz="1200" dirty="0"/>
          </a:p>
        </p:txBody>
      </p:sp>
      <p:sp>
        <p:nvSpPr>
          <p:cNvPr id="24" name="Text 22"/>
          <p:cNvSpPr/>
          <p:nvPr/>
        </p:nvSpPr>
        <p:spPr>
          <a:xfrm>
            <a:off x="5010912" y="2084832"/>
            <a:ext cx="3401568" cy="201168"/>
          </a:xfrm>
          <a:prstGeom prst="rect">
            <a:avLst/>
          </a:prstGeom>
          <a:noFill/>
          <a:ln/>
        </p:spPr>
        <p:txBody>
          <a:bodyPr wrap="square" lIns="0" tIns="0" rIns="0" bIns="0" rtlCol="0" anchor="ctr"/>
          <a:lstStyle/>
          <a:p>
            <a:pPr marL="0" indent="0">
              <a:buNone/>
            </a:pPr>
            <a:r>
              <a:rPr lang="en-US" sz="950" b="1" kern="0" spc="100" dirty="0">
                <a:solidFill>
                  <a:srgbClr val="4A5563"/>
                </a:solidFill>
                <a:latin typeface="Calibri" pitchFamily="34" charset="0"/>
                <a:ea typeface="Calibri" pitchFamily="34" charset="-122"/>
                <a:cs typeface="Calibri" pitchFamily="34" charset="-120"/>
              </a:rPr>
              <a:t>NATURE</a:t>
            </a:r>
            <a:endParaRPr lang="en-US" sz="950" dirty="0"/>
          </a:p>
        </p:txBody>
      </p:sp>
      <p:sp>
        <p:nvSpPr>
          <p:cNvPr id="25" name="Text 23"/>
          <p:cNvSpPr/>
          <p:nvPr/>
        </p:nvSpPr>
        <p:spPr>
          <a:xfrm>
            <a:off x="5010912" y="227685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AI pair-programmer embedded in the editor</a:t>
            </a:r>
            <a:endParaRPr lang="en-US" sz="1200" dirty="0"/>
          </a:p>
        </p:txBody>
      </p:sp>
      <p:sp>
        <p:nvSpPr>
          <p:cNvPr id="26" name="Text 24"/>
          <p:cNvSpPr/>
          <p:nvPr/>
        </p:nvSpPr>
        <p:spPr>
          <a:xfrm>
            <a:off x="731520" y="2679192"/>
            <a:ext cx="3401568" cy="201168"/>
          </a:xfrm>
          <a:prstGeom prst="rect">
            <a:avLst/>
          </a:prstGeom>
          <a:noFill/>
          <a:ln/>
        </p:spPr>
        <p:txBody>
          <a:bodyPr wrap="square" lIns="0" tIns="0" rIns="0" bIns="0" rtlCol="0" anchor="ctr"/>
          <a:lstStyle/>
          <a:p>
            <a:pPr marL="0" indent="0">
              <a:buNone/>
            </a:pPr>
            <a:r>
              <a:rPr lang="en-US" sz="950" b="1" kern="0" spc="100" dirty="0">
                <a:solidFill>
                  <a:srgbClr val="B0552F"/>
                </a:solidFill>
                <a:latin typeface="Calibri" pitchFamily="34" charset="0"/>
                <a:ea typeface="Calibri" pitchFamily="34" charset="-122"/>
                <a:cs typeface="Calibri" pitchFamily="34" charset="-120"/>
              </a:rPr>
              <a:t>PRIMARY SURFACE</a:t>
            </a:r>
            <a:endParaRPr lang="en-US" sz="950" dirty="0"/>
          </a:p>
        </p:txBody>
      </p:sp>
      <p:sp>
        <p:nvSpPr>
          <p:cNvPr id="27" name="Text 25"/>
          <p:cNvSpPr/>
          <p:nvPr/>
        </p:nvSpPr>
        <p:spPr>
          <a:xfrm>
            <a:off x="731520" y="287121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Terminal-first CLI, plus IDE extensions, desktop &amp; web</a:t>
            </a:r>
            <a:endParaRPr lang="en-US" sz="1200" dirty="0"/>
          </a:p>
        </p:txBody>
      </p:sp>
      <p:sp>
        <p:nvSpPr>
          <p:cNvPr id="28" name="Text 26"/>
          <p:cNvSpPr/>
          <p:nvPr/>
        </p:nvSpPr>
        <p:spPr>
          <a:xfrm>
            <a:off x="5010912" y="2679192"/>
            <a:ext cx="3401568" cy="201168"/>
          </a:xfrm>
          <a:prstGeom prst="rect">
            <a:avLst/>
          </a:prstGeom>
          <a:noFill/>
          <a:ln/>
        </p:spPr>
        <p:txBody>
          <a:bodyPr wrap="square" lIns="0" tIns="0" rIns="0" bIns="0" rtlCol="0" anchor="ctr"/>
          <a:lstStyle/>
          <a:p>
            <a:pPr marL="0" indent="0">
              <a:buNone/>
            </a:pPr>
            <a:r>
              <a:rPr lang="en-US" sz="950" b="1" kern="0" spc="100" dirty="0">
                <a:solidFill>
                  <a:srgbClr val="4A5563"/>
                </a:solidFill>
                <a:latin typeface="Calibri" pitchFamily="34" charset="0"/>
                <a:ea typeface="Calibri" pitchFamily="34" charset="-122"/>
                <a:cs typeface="Calibri" pitchFamily="34" charset="-120"/>
              </a:rPr>
              <a:t>PRIMARY SURFACE</a:t>
            </a:r>
            <a:endParaRPr lang="en-US" sz="950" dirty="0"/>
          </a:p>
        </p:txBody>
      </p:sp>
      <p:sp>
        <p:nvSpPr>
          <p:cNvPr id="29" name="Text 27"/>
          <p:cNvSpPr/>
          <p:nvPr/>
        </p:nvSpPr>
        <p:spPr>
          <a:xfrm>
            <a:off x="5010912" y="287121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Inline completion across 12+ editors</a:t>
            </a:r>
            <a:endParaRPr lang="en-US" sz="1200" dirty="0"/>
          </a:p>
        </p:txBody>
      </p:sp>
      <p:sp>
        <p:nvSpPr>
          <p:cNvPr id="30" name="Text 28"/>
          <p:cNvSpPr/>
          <p:nvPr/>
        </p:nvSpPr>
        <p:spPr>
          <a:xfrm>
            <a:off x="731520" y="3273552"/>
            <a:ext cx="3401568" cy="201168"/>
          </a:xfrm>
          <a:prstGeom prst="rect">
            <a:avLst/>
          </a:prstGeom>
          <a:noFill/>
          <a:ln/>
        </p:spPr>
        <p:txBody>
          <a:bodyPr wrap="square" lIns="0" tIns="0" rIns="0" bIns="0" rtlCol="0" anchor="ctr"/>
          <a:lstStyle/>
          <a:p>
            <a:pPr marL="0" indent="0">
              <a:buNone/>
            </a:pPr>
            <a:r>
              <a:rPr lang="en-US" sz="950" b="1" kern="0" spc="100" dirty="0">
                <a:solidFill>
                  <a:srgbClr val="B0552F"/>
                </a:solidFill>
                <a:latin typeface="Calibri" pitchFamily="34" charset="0"/>
                <a:ea typeface="Calibri" pitchFamily="34" charset="-122"/>
                <a:cs typeface="Calibri" pitchFamily="34" charset="-120"/>
              </a:rPr>
              <a:t>MODELS</a:t>
            </a:r>
            <a:endParaRPr lang="en-US" sz="950" dirty="0"/>
          </a:p>
        </p:txBody>
      </p:sp>
      <p:sp>
        <p:nvSpPr>
          <p:cNvPr id="31" name="Text 29"/>
          <p:cNvSpPr/>
          <p:nvPr/>
        </p:nvSpPr>
        <p:spPr>
          <a:xfrm>
            <a:off x="731520" y="346557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Anthropic Claude family (Opus, Sonnet, Haiku)</a:t>
            </a:r>
            <a:endParaRPr lang="en-US" sz="1200" dirty="0"/>
          </a:p>
        </p:txBody>
      </p:sp>
      <p:sp>
        <p:nvSpPr>
          <p:cNvPr id="32" name="Text 30"/>
          <p:cNvSpPr/>
          <p:nvPr/>
        </p:nvSpPr>
        <p:spPr>
          <a:xfrm>
            <a:off x="5010912" y="3273552"/>
            <a:ext cx="3401568" cy="201168"/>
          </a:xfrm>
          <a:prstGeom prst="rect">
            <a:avLst/>
          </a:prstGeom>
          <a:noFill/>
          <a:ln/>
        </p:spPr>
        <p:txBody>
          <a:bodyPr wrap="square" lIns="0" tIns="0" rIns="0" bIns="0" rtlCol="0" anchor="ctr"/>
          <a:lstStyle/>
          <a:p>
            <a:pPr marL="0" indent="0">
              <a:buNone/>
            </a:pPr>
            <a:r>
              <a:rPr lang="en-US" sz="950" b="1" kern="0" spc="100" dirty="0">
                <a:solidFill>
                  <a:srgbClr val="4A5563"/>
                </a:solidFill>
                <a:latin typeface="Calibri" pitchFamily="34" charset="0"/>
                <a:ea typeface="Calibri" pitchFamily="34" charset="-122"/>
                <a:cs typeface="Calibri" pitchFamily="34" charset="-120"/>
              </a:rPr>
              <a:t>MODELS</a:t>
            </a:r>
            <a:endParaRPr lang="en-US" sz="950" dirty="0"/>
          </a:p>
        </p:txBody>
      </p:sp>
      <p:sp>
        <p:nvSpPr>
          <p:cNvPr id="33" name="Text 31"/>
          <p:cNvSpPr/>
          <p:nvPr/>
        </p:nvSpPr>
        <p:spPr>
          <a:xfrm>
            <a:off x="5010912" y="346557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Multi-model: routes to Anthropic, OpenAI, Google</a:t>
            </a:r>
            <a:endParaRPr lang="en-US" sz="1200" dirty="0"/>
          </a:p>
        </p:txBody>
      </p:sp>
      <p:sp>
        <p:nvSpPr>
          <p:cNvPr id="34" name="Text 32"/>
          <p:cNvSpPr/>
          <p:nvPr/>
        </p:nvSpPr>
        <p:spPr>
          <a:xfrm>
            <a:off x="731520" y="3867912"/>
            <a:ext cx="3401568" cy="201168"/>
          </a:xfrm>
          <a:prstGeom prst="rect">
            <a:avLst/>
          </a:prstGeom>
          <a:noFill/>
          <a:ln/>
        </p:spPr>
        <p:txBody>
          <a:bodyPr wrap="square" lIns="0" tIns="0" rIns="0" bIns="0" rtlCol="0" anchor="ctr"/>
          <a:lstStyle/>
          <a:p>
            <a:pPr marL="0" indent="0">
              <a:buNone/>
            </a:pPr>
            <a:r>
              <a:rPr lang="en-US" sz="950" b="1" kern="0" spc="100" dirty="0">
                <a:solidFill>
                  <a:srgbClr val="B0552F"/>
                </a:solidFill>
                <a:latin typeface="Calibri" pitchFamily="34" charset="0"/>
                <a:ea typeface="Calibri" pitchFamily="34" charset="-122"/>
                <a:cs typeface="Calibri" pitchFamily="34" charset="-120"/>
              </a:rPr>
              <a:t>CENTER OF GRAVITY</a:t>
            </a:r>
            <a:endParaRPr lang="en-US" sz="950" dirty="0"/>
          </a:p>
        </p:txBody>
      </p:sp>
      <p:sp>
        <p:nvSpPr>
          <p:cNvPr id="35" name="Text 33"/>
          <p:cNvSpPr/>
          <p:nvPr/>
        </p:nvSpPr>
        <p:spPr>
          <a:xfrm>
            <a:off x="731520" y="405993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Task-level delegation and codebase reasoning</a:t>
            </a:r>
            <a:endParaRPr lang="en-US" sz="1200" dirty="0"/>
          </a:p>
        </p:txBody>
      </p:sp>
      <p:sp>
        <p:nvSpPr>
          <p:cNvPr id="36" name="Text 34"/>
          <p:cNvSpPr/>
          <p:nvPr/>
        </p:nvSpPr>
        <p:spPr>
          <a:xfrm>
            <a:off x="5010912" y="3867912"/>
            <a:ext cx="3401568" cy="201168"/>
          </a:xfrm>
          <a:prstGeom prst="rect">
            <a:avLst/>
          </a:prstGeom>
          <a:noFill/>
          <a:ln/>
        </p:spPr>
        <p:txBody>
          <a:bodyPr wrap="square" lIns="0" tIns="0" rIns="0" bIns="0" rtlCol="0" anchor="ctr"/>
          <a:lstStyle/>
          <a:p>
            <a:pPr marL="0" indent="0">
              <a:buNone/>
            </a:pPr>
            <a:r>
              <a:rPr lang="en-US" sz="950" b="1" kern="0" spc="100" dirty="0">
                <a:solidFill>
                  <a:srgbClr val="4A5563"/>
                </a:solidFill>
                <a:latin typeface="Calibri" pitchFamily="34" charset="0"/>
                <a:ea typeface="Calibri" pitchFamily="34" charset="-122"/>
                <a:cs typeface="Calibri" pitchFamily="34" charset="-120"/>
              </a:rPr>
              <a:t>CENTER OF GRAVITY</a:t>
            </a:r>
            <a:endParaRPr lang="en-US" sz="950" dirty="0"/>
          </a:p>
        </p:txBody>
      </p:sp>
      <p:sp>
        <p:nvSpPr>
          <p:cNvPr id="37" name="Text 35"/>
          <p:cNvSpPr/>
          <p:nvPr/>
        </p:nvSpPr>
        <p:spPr>
          <a:xfrm>
            <a:off x="5010912" y="4059936"/>
            <a:ext cx="3401568" cy="374904"/>
          </a:xfrm>
          <a:prstGeom prst="rect">
            <a:avLst/>
          </a:prstGeom>
          <a:noFill/>
          <a:ln/>
        </p:spPr>
        <p:txBody>
          <a:bodyPr wrap="square" lIns="0" tIns="0" rIns="0" bIns="0" rtlCol="0" anchor="t"/>
          <a:lstStyle/>
          <a:p>
            <a:pPr marL="0" indent="0">
              <a:buNone/>
            </a:pPr>
            <a:r>
              <a:rPr lang="en-US" sz="1200" dirty="0">
                <a:solidFill>
                  <a:srgbClr val="2A2824"/>
                </a:solidFill>
                <a:latin typeface="Calibri" pitchFamily="34" charset="0"/>
                <a:ea typeface="Calibri" pitchFamily="34" charset="-122"/>
                <a:cs typeface="Calibri" pitchFamily="34" charset="-120"/>
              </a:rPr>
              <a:t>Fast in-flow suggestions, plus an agent mode</a:t>
            </a:r>
            <a:endParaRPr lang="en-US" sz="1200" dirty="0"/>
          </a:p>
        </p:txBody>
      </p:sp>
      <p:sp>
        <p:nvSpPr>
          <p:cNvPr id="38" name="Text 36"/>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39" name="Text 37"/>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Advanced use cases, side by side</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MULTI-FILE · REFACTORING · TESTS · AGENTS</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2327451934"/>
              </p:ext>
            </p:extLst>
          </p:nvPr>
        </p:nvGraphicFramePr>
        <p:xfrm>
          <a:off x="457200" y="137160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2A28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D9775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GitHub Copilot</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4A5563"/>
                    </a:solidFill>
                  </a:tcPr>
                </a:tc>
                <a:extLst>
                  <a:ext uri="{0D108BD9-81ED-4DB2-BD59-A6C34878D82A}">
                    <a16:rowId xmlns:a16="http://schemas.microsoft.com/office/drawing/2014/main" val="10000"/>
                  </a:ext>
                </a:extLst>
              </a:tr>
              <a:tr h="676656">
                <a:tc>
                  <a:txBody>
                    <a:bodyPr/>
                    <a:lstStyle/>
                    <a:p>
                      <a:pPr marL="0" indent="0" algn="l">
                        <a:buNone/>
                      </a:pPr>
                      <a:r>
                        <a:rPr lang="en-US" sz="1200" b="1" dirty="0">
                          <a:solidFill>
                            <a:srgbClr val="2A2824"/>
                          </a:solidFill>
                          <a:latin typeface="Calibri" pitchFamily="34" charset="0"/>
                          <a:ea typeface="Calibri" pitchFamily="34" charset="-122"/>
                          <a:cs typeface="Calibri" pitchFamily="34" charset="-120"/>
                        </a:rPr>
                        <a:t>Multi-file changes</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Plans and applies coordinated edits across many files in one pass.</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Agent mode edits multiple files; inline edits are mostly single-file.</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BFAF5"/>
                    </a:solidFill>
                  </a:tcPr>
                </a:tc>
                <a:extLst>
                  <a:ext uri="{0D108BD9-81ED-4DB2-BD59-A6C34878D82A}">
                    <a16:rowId xmlns:a16="http://schemas.microsoft.com/office/drawing/2014/main" val="10001"/>
                  </a:ext>
                </a:extLst>
              </a:tr>
              <a:tr h="676656">
                <a:tc>
                  <a:txBody>
                    <a:bodyPr/>
                    <a:lstStyle/>
                    <a:p>
                      <a:pPr marL="0" indent="0" algn="l">
                        <a:buNone/>
                      </a:pPr>
                      <a:r>
                        <a:rPr lang="en-US" sz="1200" b="1" dirty="0">
                          <a:solidFill>
                            <a:srgbClr val="2A2824"/>
                          </a:solidFill>
                          <a:latin typeface="Calibri" pitchFamily="34" charset="0"/>
                          <a:ea typeface="Calibri" pitchFamily="34" charset="-122"/>
                          <a:cs typeface="Calibri" pitchFamily="34" charset="-120"/>
                        </a:rPr>
                        <a:t>Refactoring</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Reasons over the whole repo for large, cross-cutting refactors and migrations.</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Strong for local in-editor refactors; wider scope via agent mode.</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BFAF5"/>
                    </a:solidFill>
                  </a:tcPr>
                </a:tc>
                <a:extLst>
                  <a:ext uri="{0D108BD9-81ED-4DB2-BD59-A6C34878D82A}">
                    <a16:rowId xmlns:a16="http://schemas.microsoft.com/office/drawing/2014/main" val="10002"/>
                  </a:ext>
                </a:extLst>
              </a:tr>
              <a:tr h="676656">
                <a:tc>
                  <a:txBody>
                    <a:bodyPr/>
                    <a:lstStyle/>
                    <a:p>
                      <a:pPr marL="0" indent="0" algn="l">
                        <a:buNone/>
                      </a:pPr>
                      <a:r>
                        <a:rPr lang="en-US" sz="1200" b="1" dirty="0">
                          <a:solidFill>
                            <a:srgbClr val="2A2824"/>
                          </a:solidFill>
                          <a:latin typeface="Calibri" pitchFamily="34" charset="0"/>
                          <a:ea typeface="Calibri" pitchFamily="34" charset="-122"/>
                          <a:cs typeface="Calibri" pitchFamily="34" charset="-120"/>
                        </a:rPr>
                        <a:t>Test generation</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Generates suites, runs them, and iterates until they pass.</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Suggests tests inline or in chat; agent can add and run them.</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BFAF5"/>
                    </a:solidFill>
                  </a:tcPr>
                </a:tc>
                <a:extLst>
                  <a:ext uri="{0D108BD9-81ED-4DB2-BD59-A6C34878D82A}">
                    <a16:rowId xmlns:a16="http://schemas.microsoft.com/office/drawing/2014/main" val="10003"/>
                  </a:ext>
                </a:extLst>
              </a:tr>
              <a:tr h="676656">
                <a:tc>
                  <a:txBody>
                    <a:bodyPr/>
                    <a:lstStyle/>
                    <a:p>
                      <a:pPr marL="0" indent="0" algn="l">
                        <a:buNone/>
                      </a:pPr>
                      <a:r>
                        <a:rPr lang="en-US" sz="1200" b="1" dirty="0">
                          <a:solidFill>
                            <a:srgbClr val="2A2824"/>
                          </a:solidFill>
                          <a:latin typeface="Calibri" pitchFamily="34" charset="0"/>
                          <a:ea typeface="Calibri" pitchFamily="34" charset="-122"/>
                          <a:cs typeface="Calibri" pitchFamily="34" charset="-120"/>
                        </a:rPr>
                        <a:t>Agentic tasks</a:t>
                      </a:r>
                      <a:endParaRPr lang="en-US" sz="120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Set a goal and it works end-to-end, then opens a pull request.</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824"/>
                          </a:solidFill>
                          <a:latin typeface="Calibri" pitchFamily="34" charset="0"/>
                          <a:ea typeface="Calibri" pitchFamily="34" charset="-122"/>
                          <a:cs typeface="Calibri" pitchFamily="34" charset="-120"/>
                        </a:rPr>
                        <a:t>Cloud agent turns an issue into a draft PR for review.</a:t>
                      </a:r>
                      <a:endParaRPr lang="en-US" sz="1150" dirty="0">
                        <a:latin typeface="Calibri" charset="0"/>
                        <a:ea typeface="Calibri" charset="0"/>
                        <a:cs typeface="Calibri" charset="0"/>
                      </a:endParaRPr>
                    </a:p>
                  </a:txBody>
                  <a:tcPr marL="76200" marR="76200" marT="38100" marB="38100" anchor="ctr">
                    <a:lnL w="12700" cap="flat" cmpd="sng" algn="ctr">
                      <a:solidFill>
                        <a:srgbClr val="E2DDCD"/>
                      </a:solidFill>
                      <a:prstDash val="solid"/>
                      <a:round/>
                      <a:headEnd type="none" w="med" len="med"/>
                      <a:tailEnd type="none" w="med" len="med"/>
                    </a:lnL>
                    <a:lnR w="12700" cap="flat" cmpd="sng" algn="ctr">
                      <a:solidFill>
                        <a:srgbClr val="E2DDCD"/>
                      </a:solidFill>
                      <a:prstDash val="solid"/>
                      <a:round/>
                      <a:headEnd type="none" w="med" len="med"/>
                      <a:tailEnd type="none" w="med" len="med"/>
                    </a:lnR>
                    <a:lnT w="12700" cap="flat" cmpd="sng" algn="ctr">
                      <a:solidFill>
                        <a:srgbClr val="E2DDCD"/>
                      </a:solidFill>
                      <a:prstDash val="solid"/>
                      <a:round/>
                      <a:headEnd type="none" w="med" len="med"/>
                      <a:tailEnd type="none" w="med" len="med"/>
                    </a:lnT>
                    <a:lnB w="12700" cap="flat" cmpd="sng" algn="ctr">
                      <a:solidFill>
                        <a:srgbClr val="E2DDCD"/>
                      </a:solidFill>
                      <a:prstDash val="solid"/>
                      <a:round/>
                      <a:headEnd type="none" w="med" len="med"/>
                      <a:tailEnd type="none" w="med" len="med"/>
                    </a:lnB>
                    <a:solidFill>
                      <a:srgbClr val="FBFAF5"/>
                    </a:solidFill>
                  </a:tcPr>
                </a:tc>
                <a:extLst>
                  <a:ext uri="{0D108BD9-81ED-4DB2-BD59-A6C34878D82A}">
                    <a16:rowId xmlns:a16="http://schemas.microsoft.com/office/drawing/2014/main" val="10004"/>
                  </a:ext>
                </a:extLst>
              </a:tr>
            </a:tbl>
          </a:graphicData>
        </a:graphic>
      </p:graphicFrame>
      <p:sp>
        <p:nvSpPr>
          <p:cNvPr id="17" name="Text 14"/>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18" name="Text 15"/>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Handling context</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CONTEXT WINDOWS &amp; CODEBASE AWARENESS</a:t>
            </a:r>
            <a:endParaRPr lang="en-US" sz="1050" dirty="0"/>
          </a:p>
        </p:txBody>
      </p:sp>
      <p:sp>
        <p:nvSpPr>
          <p:cNvPr id="16" name="Shape 14"/>
          <p:cNvSpPr/>
          <p:nvPr/>
        </p:nvSpPr>
        <p:spPr>
          <a:xfrm>
            <a:off x="457200" y="1417320"/>
            <a:ext cx="3950208"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Text 15"/>
          <p:cNvSpPr/>
          <p:nvPr/>
        </p:nvSpPr>
        <p:spPr>
          <a:xfrm>
            <a:off x="731520" y="1618488"/>
            <a:ext cx="3401568" cy="365760"/>
          </a:xfrm>
          <a:prstGeom prst="rect">
            <a:avLst/>
          </a:prstGeom>
          <a:noFill/>
          <a:ln/>
        </p:spPr>
        <p:txBody>
          <a:bodyPr wrap="square" lIns="0" tIns="0" rIns="0" bIns="0" rtlCol="0" anchor="ctr"/>
          <a:lstStyle/>
          <a:p>
            <a:pPr marL="0" indent="0">
              <a:buNone/>
            </a:pPr>
            <a:r>
              <a:rPr lang="en-US" sz="1800" b="1" dirty="0">
                <a:solidFill>
                  <a:srgbClr val="B0552F"/>
                </a:solidFill>
                <a:latin typeface="Georgia" pitchFamily="34" charset="0"/>
                <a:ea typeface="Georgia" pitchFamily="34" charset="-122"/>
                <a:cs typeface="Georgia" pitchFamily="34" charset="-120"/>
              </a:rPr>
              <a:t>Claude</a:t>
            </a:r>
            <a:endParaRPr lang="en-US" sz="1800" dirty="0"/>
          </a:p>
        </p:txBody>
      </p:sp>
      <p:sp>
        <p:nvSpPr>
          <p:cNvPr id="18" name="Text 16"/>
          <p:cNvSpPr/>
          <p:nvPr/>
        </p:nvSpPr>
        <p:spPr>
          <a:xfrm>
            <a:off x="731520" y="2057400"/>
            <a:ext cx="3401568"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Large context window — up to ~1M tokens on Claude models via the API.</a:t>
            </a:r>
            <a:endParaRPr lang="en-US" sz="1250" dirty="0"/>
          </a:p>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Holds large repositories and monorepos in working memory at once.</a:t>
            </a:r>
            <a:endParaRPr lang="en-US" sz="1250" dirty="0"/>
          </a:p>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Subscription plans expose smaller working windows; Enterprise extends them.</a:t>
            </a:r>
            <a:endParaRPr lang="en-US" sz="1250" dirty="0"/>
          </a:p>
          <a:p>
            <a:pPr marL="342900" indent="-342900">
              <a:buSzPct val="100000"/>
              <a:buChar char="•"/>
            </a:pPr>
            <a:r>
              <a:rPr lang="en-US" sz="1250" dirty="0">
                <a:solidFill>
                  <a:srgbClr val="2A2824"/>
                </a:solidFill>
                <a:latin typeface="Calibri" pitchFamily="34" charset="0"/>
                <a:ea typeface="Calibri" pitchFamily="34" charset="-122"/>
                <a:cs typeface="Calibri" pitchFamily="34" charset="-120"/>
              </a:rPr>
              <a:t>A CLAUDE.md project file carries standing context and conventions.</a:t>
            </a:r>
            <a:endParaRPr lang="en-US" sz="1250" dirty="0"/>
          </a:p>
        </p:txBody>
      </p:sp>
      <p:sp>
        <p:nvSpPr>
          <p:cNvPr id="19" name="Shape 17"/>
          <p:cNvSpPr/>
          <p:nvPr/>
        </p:nvSpPr>
        <p:spPr>
          <a:xfrm>
            <a:off x="4736592" y="1417320"/>
            <a:ext cx="3950208"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0" name="Text 18"/>
          <p:cNvSpPr/>
          <p:nvPr/>
        </p:nvSpPr>
        <p:spPr>
          <a:xfrm>
            <a:off x="5010912" y="1618488"/>
            <a:ext cx="3401568" cy="365760"/>
          </a:xfrm>
          <a:prstGeom prst="rect">
            <a:avLst/>
          </a:prstGeom>
          <a:noFill/>
          <a:ln/>
        </p:spPr>
        <p:txBody>
          <a:bodyPr wrap="square" lIns="0" tIns="0" rIns="0" bIns="0" rtlCol="0" anchor="ctr"/>
          <a:lstStyle/>
          <a:p>
            <a:pPr marL="0" indent="0">
              <a:buNone/>
            </a:pPr>
            <a:r>
              <a:rPr lang="en-US" sz="1800" b="1" dirty="0">
                <a:solidFill>
                  <a:srgbClr val="323A45"/>
                </a:solidFill>
                <a:latin typeface="Georgia" pitchFamily="34" charset="0"/>
                <a:ea typeface="Georgia" pitchFamily="34" charset="-122"/>
                <a:cs typeface="Georgia" pitchFamily="34" charset="-120"/>
              </a:rPr>
              <a:t>GitHub Copilot</a:t>
            </a:r>
            <a:endParaRPr lang="en-US" sz="1800" dirty="0"/>
          </a:p>
        </p:txBody>
      </p:sp>
      <p:sp>
        <p:nvSpPr>
          <p:cNvPr id="21" name="Text 19"/>
          <p:cNvSpPr/>
          <p:nvPr/>
        </p:nvSpPr>
        <p:spPr>
          <a:xfrm>
            <a:off x="5010912" y="2057400"/>
            <a:ext cx="3401568"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Context varies by surface and mode; up to ~1M tokens with Claude models.</a:t>
            </a:r>
            <a:endParaRPr lang="en-US" sz="1250" dirty="0"/>
          </a:p>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Indexes and retrieves from the repo rather than loading it wholesale.</a:t>
            </a:r>
            <a:endParaRPr lang="en-US" sz="1250" dirty="0"/>
          </a:p>
          <a:p>
            <a:pPr marL="342900" indent="-342900">
              <a:spcAft>
                <a:spcPts val="800"/>
              </a:spcAft>
              <a:buSzPct val="100000"/>
              <a:buChar char="•"/>
            </a:pPr>
            <a:r>
              <a:rPr lang="en-US" sz="1250" dirty="0">
                <a:solidFill>
                  <a:srgbClr val="2A2824"/>
                </a:solidFill>
                <a:latin typeface="Calibri" pitchFamily="34" charset="0"/>
                <a:ea typeface="Calibri" pitchFamily="34" charset="-122"/>
                <a:cs typeface="Calibri" pitchFamily="34" charset="-120"/>
              </a:rPr>
              <a:t>Inline completion uses a tighter window tuned for speed and flow.</a:t>
            </a:r>
            <a:endParaRPr lang="en-US" sz="1250" dirty="0"/>
          </a:p>
          <a:p>
            <a:pPr marL="342900" indent="-342900">
              <a:buSzPct val="100000"/>
              <a:buChar char="•"/>
            </a:pPr>
            <a:r>
              <a:rPr lang="en-US" sz="1250" dirty="0">
                <a:solidFill>
                  <a:srgbClr val="2A2824"/>
                </a:solidFill>
                <a:latin typeface="Calibri" pitchFamily="34" charset="0"/>
                <a:ea typeface="Calibri" pitchFamily="34" charset="-122"/>
                <a:cs typeface="Calibri" pitchFamily="34" charset="-120"/>
              </a:rPr>
              <a:t>A copilot-instructions file supplies repo-level guidance.</a:t>
            </a:r>
            <a:endParaRPr lang="en-US" sz="1250" dirty="0"/>
          </a:p>
        </p:txBody>
      </p:sp>
      <p:sp>
        <p:nvSpPr>
          <p:cNvPr id="22" name="Text 20"/>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3" name="Text 21"/>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Autonomy &amp; orchestration</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FROM SUGGESTIONS TO DELEGATED WORK</a:t>
            </a:r>
            <a:endParaRPr lang="en-US" sz="1050" dirty="0"/>
          </a:p>
        </p:txBody>
      </p:sp>
      <p:sp>
        <p:nvSpPr>
          <p:cNvPr id="16" name="Shape 14"/>
          <p:cNvSpPr/>
          <p:nvPr/>
        </p:nvSpPr>
        <p:spPr>
          <a:xfrm>
            <a:off x="5806440" y="1371600"/>
            <a:ext cx="2880360" cy="315468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pic>
        <p:nvPicPr>
          <p:cNvPr id="17" name="Image 0" descr="/agent/turn1/workspace/images/image-c58696c78d4fcf57d1ed0f47c8ce8885.jpg"/>
          <p:cNvPicPr>
            <a:picLocks noChangeAspect="1"/>
          </p:cNvPicPr>
          <p:nvPr/>
        </p:nvPicPr>
        <p:blipFill>
          <a:blip r:embed="rId3"/>
          <a:srcRect l="25687" r="25687"/>
          <a:stretch/>
        </p:blipFill>
        <p:spPr>
          <a:xfrm>
            <a:off x="5916168" y="1481328"/>
            <a:ext cx="2660904" cy="2935224"/>
          </a:xfrm>
          <a:prstGeom prst="rect">
            <a:avLst/>
          </a:prstGeom>
        </p:spPr>
      </p:pic>
      <p:sp>
        <p:nvSpPr>
          <p:cNvPr id="18" name="Text 15"/>
          <p:cNvSpPr/>
          <p:nvPr/>
        </p:nvSpPr>
        <p:spPr>
          <a:xfrm>
            <a:off x="457200" y="1417320"/>
            <a:ext cx="5074920" cy="292608"/>
          </a:xfrm>
          <a:prstGeom prst="rect">
            <a:avLst/>
          </a:prstGeom>
          <a:noFill/>
          <a:ln/>
        </p:spPr>
        <p:txBody>
          <a:bodyPr wrap="square" lIns="0" tIns="0" rIns="0" bIns="0" rtlCol="0" anchor="ctr"/>
          <a:lstStyle/>
          <a:p>
            <a:pPr marL="0" indent="0">
              <a:buNone/>
            </a:pPr>
            <a:r>
              <a:rPr lang="en-US" sz="1500" b="1" dirty="0">
                <a:solidFill>
                  <a:srgbClr val="B0552F"/>
                </a:solidFill>
                <a:latin typeface="Georgia" pitchFamily="34" charset="0"/>
                <a:ea typeface="Georgia" pitchFamily="34" charset="-122"/>
                <a:cs typeface="Georgia" pitchFamily="34" charset="-120"/>
              </a:rPr>
              <a:t>Claude</a:t>
            </a:r>
            <a:endParaRPr lang="en-US" sz="1500" dirty="0"/>
          </a:p>
        </p:txBody>
      </p:sp>
      <p:sp>
        <p:nvSpPr>
          <p:cNvPr id="19" name="Text 16"/>
          <p:cNvSpPr/>
          <p:nvPr/>
        </p:nvSpPr>
        <p:spPr>
          <a:xfrm>
            <a:off x="457200" y="1728216"/>
            <a:ext cx="5074920"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A2824"/>
                </a:solidFill>
                <a:latin typeface="Calibri" pitchFamily="34" charset="0"/>
                <a:ea typeface="Calibri" pitchFamily="34" charset="-122"/>
                <a:cs typeface="Calibri" pitchFamily="34" charset="-120"/>
              </a:rPr>
              <a:t>Acts at the task level: runs commands, edits across files, runs tests, and iterates.</a:t>
            </a:r>
            <a:endParaRPr lang="en-US" sz="1200" dirty="0"/>
          </a:p>
          <a:p>
            <a:pPr marL="342900" indent="-342900">
              <a:spcAft>
                <a:spcPts val="600"/>
              </a:spcAft>
              <a:buSzPct val="100000"/>
              <a:buChar char="•"/>
            </a:pPr>
            <a:r>
              <a:rPr lang="en-US" sz="1200" dirty="0">
                <a:solidFill>
                  <a:srgbClr val="2A2824"/>
                </a:solidFill>
                <a:latin typeface="Calibri" pitchFamily="34" charset="0"/>
                <a:ea typeface="Calibri" pitchFamily="34" charset="-122"/>
                <a:cs typeface="Calibri" pitchFamily="34" charset="-120"/>
              </a:rPr>
              <a:t>Coordinates parallel subagents and can extend to outside tools and data over MCP.</a:t>
            </a:r>
            <a:endParaRPr lang="en-US" sz="1200" dirty="0"/>
          </a:p>
          <a:p>
            <a:pPr marL="342900" indent="-342900">
              <a:buSzPct val="100000"/>
              <a:buChar char="•"/>
            </a:pPr>
            <a:r>
              <a:rPr lang="en-US" sz="1200" dirty="0">
                <a:solidFill>
                  <a:srgbClr val="2A2824"/>
                </a:solidFill>
                <a:latin typeface="Calibri" pitchFamily="34" charset="0"/>
                <a:ea typeface="Calibri" pitchFamily="34" charset="-122"/>
                <a:cs typeface="Calibri" pitchFamily="34" charset="-120"/>
              </a:rPr>
              <a:t>Runs in CI via GitHub Actions for hands-off, repeatable jobs.</a:t>
            </a:r>
            <a:endParaRPr lang="en-US" sz="1200" dirty="0"/>
          </a:p>
        </p:txBody>
      </p:sp>
      <p:sp>
        <p:nvSpPr>
          <p:cNvPr id="20" name="Text 17"/>
          <p:cNvSpPr/>
          <p:nvPr/>
        </p:nvSpPr>
        <p:spPr>
          <a:xfrm>
            <a:off x="457200" y="2990088"/>
            <a:ext cx="5074920" cy="292608"/>
          </a:xfrm>
          <a:prstGeom prst="rect">
            <a:avLst/>
          </a:prstGeom>
          <a:noFill/>
          <a:ln/>
        </p:spPr>
        <p:txBody>
          <a:bodyPr wrap="square" lIns="0" tIns="0" rIns="0" bIns="0" rtlCol="0" anchor="ctr"/>
          <a:lstStyle/>
          <a:p>
            <a:pPr marL="0" indent="0">
              <a:buNone/>
            </a:pPr>
            <a:r>
              <a:rPr lang="en-US" sz="1500" b="1" dirty="0">
                <a:solidFill>
                  <a:srgbClr val="323A45"/>
                </a:solidFill>
                <a:latin typeface="Georgia" pitchFamily="34" charset="0"/>
                <a:ea typeface="Georgia" pitchFamily="34" charset="-122"/>
                <a:cs typeface="Georgia" pitchFamily="34" charset="-120"/>
              </a:rPr>
              <a:t>GitHub Copilot</a:t>
            </a:r>
            <a:endParaRPr lang="en-US" sz="1500" dirty="0"/>
          </a:p>
        </p:txBody>
      </p:sp>
      <p:sp>
        <p:nvSpPr>
          <p:cNvPr id="21" name="Text 18"/>
          <p:cNvSpPr/>
          <p:nvPr/>
        </p:nvSpPr>
        <p:spPr>
          <a:xfrm>
            <a:off x="457200" y="3300984"/>
            <a:ext cx="5074920"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A2824"/>
                </a:solidFill>
                <a:latin typeface="Calibri" pitchFamily="34" charset="0"/>
                <a:ea typeface="Calibri" pitchFamily="34" charset="-122"/>
                <a:cs typeface="Calibri" pitchFamily="34" charset="-120"/>
              </a:rPr>
              <a:t>Reactive inline completion, plus an agent mode for bounded multi-step tasks.</a:t>
            </a:r>
            <a:endParaRPr lang="en-US" sz="1200" dirty="0"/>
          </a:p>
          <a:p>
            <a:pPr marL="342900" indent="-342900">
              <a:spcAft>
                <a:spcPts val="600"/>
              </a:spcAft>
              <a:buSzPct val="100000"/>
              <a:buChar char="•"/>
            </a:pPr>
            <a:r>
              <a:rPr lang="en-US" sz="1200" dirty="0">
                <a:solidFill>
                  <a:srgbClr val="2A2824"/>
                </a:solidFill>
                <a:latin typeface="Calibri" pitchFamily="34" charset="0"/>
                <a:ea typeface="Calibri" pitchFamily="34" charset="-122"/>
                <a:cs typeface="Calibri" pitchFamily="34" charset="-120"/>
              </a:rPr>
              <a:t>A cloud coding agent turns a GitHub issue into a draft pull request, asynchronously.</a:t>
            </a:r>
            <a:endParaRPr lang="en-US" sz="1200" dirty="0"/>
          </a:p>
          <a:p>
            <a:pPr marL="342900" indent="-342900">
              <a:buSzPct val="100000"/>
              <a:buChar char="•"/>
            </a:pPr>
            <a:r>
              <a:rPr lang="en-US" sz="1200" dirty="0">
                <a:solidFill>
                  <a:srgbClr val="2A2824"/>
                </a:solidFill>
                <a:latin typeface="Calibri" pitchFamily="34" charset="0"/>
                <a:ea typeface="Calibri" pitchFamily="34" charset="-122"/>
                <a:cs typeface="Calibri" pitchFamily="34" charset="-120"/>
              </a:rPr>
              <a:t>Automated PR review can suggest and apply fix-up changes.</a:t>
            </a:r>
            <a:endParaRPr lang="en-US" sz="1200" dirty="0"/>
          </a:p>
        </p:txBody>
      </p:sp>
      <p:sp>
        <p:nvSpPr>
          <p:cNvPr id="22" name="Text 19"/>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3" name="Text 20"/>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Token consumption &amp; how it's metered</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WHAT YOU PAY FOR, AND HOW IT'S COUNTED</a:t>
            </a:r>
            <a:endParaRPr lang="en-US" sz="1050" dirty="0"/>
          </a:p>
        </p:txBody>
      </p:sp>
      <p:sp>
        <p:nvSpPr>
          <p:cNvPr id="16" name="Shape 14"/>
          <p:cNvSpPr/>
          <p:nvPr/>
        </p:nvSpPr>
        <p:spPr>
          <a:xfrm>
            <a:off x="457200" y="1417320"/>
            <a:ext cx="3950208"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Text 15"/>
          <p:cNvSpPr/>
          <p:nvPr/>
        </p:nvSpPr>
        <p:spPr>
          <a:xfrm>
            <a:off x="731520" y="1618488"/>
            <a:ext cx="3401568" cy="365760"/>
          </a:xfrm>
          <a:prstGeom prst="rect">
            <a:avLst/>
          </a:prstGeom>
          <a:noFill/>
          <a:ln/>
        </p:spPr>
        <p:txBody>
          <a:bodyPr wrap="square" lIns="0" tIns="0" rIns="0" bIns="0" rtlCol="0" anchor="ctr"/>
          <a:lstStyle/>
          <a:p>
            <a:pPr marL="0" indent="0">
              <a:buNone/>
            </a:pPr>
            <a:r>
              <a:rPr lang="en-US" sz="1800" b="1" dirty="0">
                <a:solidFill>
                  <a:srgbClr val="B0552F"/>
                </a:solidFill>
                <a:latin typeface="Georgia" pitchFamily="34" charset="0"/>
                <a:ea typeface="Georgia" pitchFamily="34" charset="-122"/>
                <a:cs typeface="Georgia" pitchFamily="34" charset="-120"/>
              </a:rPr>
              <a:t>Claude</a:t>
            </a:r>
            <a:endParaRPr lang="en-US" sz="1800" dirty="0"/>
          </a:p>
        </p:txBody>
      </p:sp>
      <p:sp>
        <p:nvSpPr>
          <p:cNvPr id="18" name="Text 16"/>
          <p:cNvSpPr/>
          <p:nvPr/>
        </p:nvSpPr>
        <p:spPr>
          <a:xfrm>
            <a:off x="731520" y="2057400"/>
            <a:ext cx="3401568"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Usage-based throughout — you pay for tokens consumed, not seats alone.</a:t>
            </a:r>
            <a:endParaRPr lang="en-US" sz="1150" dirty="0"/>
          </a:p>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Subscriptions (Pro, Max) grant usage allowances that reset on a rolling window.</a:t>
            </a:r>
            <a:endParaRPr lang="en-US" sz="1150" dirty="0"/>
          </a:p>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The API bills per input and output token, with discounts for prompt caching.</a:t>
            </a:r>
            <a:endParaRPr lang="en-US" sz="1150" dirty="0"/>
          </a:p>
          <a:p>
            <a:pPr marL="342900" indent="-342900">
              <a:buSzPct val="100000"/>
              <a:buChar char="•"/>
            </a:pPr>
            <a:r>
              <a:rPr lang="en-US" sz="1150" dirty="0">
                <a:solidFill>
                  <a:srgbClr val="2A2824"/>
                </a:solidFill>
                <a:latin typeface="Calibri" pitchFamily="34" charset="0"/>
                <a:ea typeface="Calibri" pitchFamily="34" charset="-122"/>
                <a:cs typeface="Calibri" pitchFamily="34" charset="-120"/>
              </a:rPr>
              <a:t>Reading files and searching code are the biggest token consumers; /status shows remaining usage.</a:t>
            </a:r>
            <a:endParaRPr lang="en-US" sz="1150" dirty="0"/>
          </a:p>
        </p:txBody>
      </p:sp>
      <p:sp>
        <p:nvSpPr>
          <p:cNvPr id="19" name="Shape 17"/>
          <p:cNvSpPr/>
          <p:nvPr/>
        </p:nvSpPr>
        <p:spPr>
          <a:xfrm>
            <a:off x="4736592" y="1417320"/>
            <a:ext cx="3950208"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0" name="Text 18"/>
          <p:cNvSpPr/>
          <p:nvPr/>
        </p:nvSpPr>
        <p:spPr>
          <a:xfrm>
            <a:off x="5010912" y="1618488"/>
            <a:ext cx="3401568" cy="365760"/>
          </a:xfrm>
          <a:prstGeom prst="rect">
            <a:avLst/>
          </a:prstGeom>
          <a:noFill/>
          <a:ln/>
        </p:spPr>
        <p:txBody>
          <a:bodyPr wrap="square" lIns="0" tIns="0" rIns="0" bIns="0" rtlCol="0" anchor="ctr"/>
          <a:lstStyle/>
          <a:p>
            <a:pPr marL="0" indent="0">
              <a:buNone/>
            </a:pPr>
            <a:r>
              <a:rPr lang="en-US" sz="1800" b="1" dirty="0">
                <a:solidFill>
                  <a:srgbClr val="323A45"/>
                </a:solidFill>
                <a:latin typeface="Georgia" pitchFamily="34" charset="0"/>
                <a:ea typeface="Georgia" pitchFamily="34" charset="-122"/>
                <a:cs typeface="Georgia" pitchFamily="34" charset="-120"/>
              </a:rPr>
              <a:t>GitHub Copilot</a:t>
            </a:r>
            <a:endParaRPr lang="en-US" sz="1800" dirty="0"/>
          </a:p>
        </p:txBody>
      </p:sp>
      <p:sp>
        <p:nvSpPr>
          <p:cNvPr id="21" name="Text 19"/>
          <p:cNvSpPr/>
          <p:nvPr/>
        </p:nvSpPr>
        <p:spPr>
          <a:xfrm>
            <a:off x="5010912" y="2057400"/>
            <a:ext cx="3401568"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Code completions are unmetered — included with every paid seat.</a:t>
            </a:r>
            <a:endParaRPr lang="en-US" sz="1150" dirty="0"/>
          </a:p>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Agentic features (chat, agent mode, CLI, code review) draw on a metered allowance.</a:t>
            </a:r>
            <a:endParaRPr lang="en-US" sz="1150" dirty="0"/>
          </a:p>
          <a:p>
            <a:pPr marL="342900" indent="-342900">
              <a:spcAft>
                <a:spcPts val="700"/>
              </a:spcAft>
              <a:buSzPct val="100000"/>
              <a:buChar char="•"/>
            </a:pPr>
            <a:r>
              <a:rPr lang="en-US" sz="1150" dirty="0">
                <a:solidFill>
                  <a:srgbClr val="2A2824"/>
                </a:solidFill>
                <a:latin typeface="Calibri" pitchFamily="34" charset="0"/>
                <a:ea typeface="Calibri" pitchFamily="34" charset="-122"/>
                <a:cs typeface="Calibri" pitchFamily="34" charset="-120"/>
              </a:rPr>
              <a:t>Usage is counted in credits / premium requests, with per-model rates and multipliers.</a:t>
            </a:r>
            <a:endParaRPr lang="en-US" sz="1150" dirty="0"/>
          </a:p>
          <a:p>
            <a:pPr marL="342900" indent="-342900">
              <a:buSzPct val="100000"/>
              <a:buChar char="•"/>
            </a:pPr>
            <a:r>
              <a:rPr lang="en-US" sz="1150" dirty="0">
                <a:solidFill>
                  <a:srgbClr val="2A2824"/>
                </a:solidFill>
                <a:latin typeface="Calibri" pitchFamily="34" charset="0"/>
                <a:ea typeface="Calibri" pitchFamily="34" charset="-122"/>
                <a:cs typeface="Calibri" pitchFamily="34" charset="-120"/>
              </a:rPr>
              <a:t>Each plan includes a monthly allowance; overage is billed, with org-level pooling and budgets.</a:t>
            </a:r>
            <a:endParaRPr lang="en-US" sz="1150" dirty="0"/>
          </a:p>
        </p:txBody>
      </p:sp>
      <p:sp>
        <p:nvSpPr>
          <p:cNvPr id="22" name="Text 20"/>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3" name="Text 21"/>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Pricing compared</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REPRESENTATIVE PLANS</a:t>
            </a:r>
            <a:endParaRPr lang="en-US" sz="1050" dirty="0"/>
          </a:p>
        </p:txBody>
      </p:sp>
      <p:sp>
        <p:nvSpPr>
          <p:cNvPr id="16" name="Shape 14"/>
          <p:cNvSpPr/>
          <p:nvPr/>
        </p:nvSpPr>
        <p:spPr>
          <a:xfrm>
            <a:off x="457200" y="1371600"/>
            <a:ext cx="3950208" cy="297180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Shape 15"/>
          <p:cNvSpPr/>
          <p:nvPr/>
        </p:nvSpPr>
        <p:spPr>
          <a:xfrm>
            <a:off x="457200" y="1371600"/>
            <a:ext cx="3950208" cy="457200"/>
          </a:xfrm>
          <a:prstGeom prst="rect">
            <a:avLst/>
          </a:prstGeom>
          <a:solidFill>
            <a:srgbClr val="D97757"/>
          </a:solidFill>
          <a:ln/>
        </p:spPr>
        <p:txBody>
          <a:bodyPr/>
          <a:lstStyle/>
          <a:p>
            <a:endParaRPr lang="en-IN"/>
          </a:p>
        </p:txBody>
      </p:sp>
      <p:sp>
        <p:nvSpPr>
          <p:cNvPr id="18" name="Text 16"/>
          <p:cNvSpPr/>
          <p:nvPr/>
        </p:nvSpPr>
        <p:spPr>
          <a:xfrm>
            <a:off x="731520" y="1371600"/>
            <a:ext cx="3401568" cy="45720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Claude</a:t>
            </a:r>
            <a:endParaRPr lang="en-US" sz="1500" dirty="0"/>
          </a:p>
        </p:txBody>
      </p:sp>
      <p:sp>
        <p:nvSpPr>
          <p:cNvPr id="19" name="Text 17"/>
          <p:cNvSpPr/>
          <p:nvPr/>
        </p:nvSpPr>
        <p:spPr>
          <a:xfrm>
            <a:off x="731520" y="1938528"/>
            <a:ext cx="3447288" cy="457200"/>
          </a:xfrm>
          <a:prstGeom prst="rect">
            <a:avLst/>
          </a:prstGeom>
          <a:noFill/>
          <a:ln/>
        </p:spPr>
        <p:txBody>
          <a:bodyPr wrap="square" lIns="0" tIns="0" rIns="0" bIns="0" rtlCol="0" anchor="t"/>
          <a:lstStyle/>
          <a:p>
            <a:pPr marL="0" indent="0">
              <a:buNone/>
            </a:pPr>
            <a:r>
              <a:rPr lang="en-US" sz="1150" b="1" dirty="0">
                <a:solidFill>
                  <a:srgbClr val="B0552F"/>
                </a:solidFill>
                <a:latin typeface="Calibri" pitchFamily="34" charset="0"/>
                <a:ea typeface="Calibri" pitchFamily="34" charset="-122"/>
                <a:cs typeface="Calibri" pitchFamily="34" charset="-120"/>
              </a:rPr>
              <a:t>Free   </a:t>
            </a:r>
            <a:r>
              <a:rPr lang="en-US" sz="1150" dirty="0">
                <a:solidFill>
                  <a:srgbClr val="2A2824"/>
                </a:solidFill>
                <a:latin typeface="Calibri" pitchFamily="34" charset="0"/>
                <a:ea typeface="Calibri" pitchFamily="34" charset="-122"/>
                <a:cs typeface="Calibri" pitchFamily="34" charset="-120"/>
              </a:rPr>
              <a:t>Chat only — no Claude Code</a:t>
            </a:r>
            <a:endParaRPr lang="en-US" sz="1150" dirty="0"/>
          </a:p>
        </p:txBody>
      </p:sp>
      <p:sp>
        <p:nvSpPr>
          <p:cNvPr id="20" name="Text 18"/>
          <p:cNvSpPr/>
          <p:nvPr/>
        </p:nvSpPr>
        <p:spPr>
          <a:xfrm>
            <a:off x="731520" y="2395728"/>
            <a:ext cx="3447288" cy="457200"/>
          </a:xfrm>
          <a:prstGeom prst="rect">
            <a:avLst/>
          </a:prstGeom>
          <a:noFill/>
          <a:ln/>
        </p:spPr>
        <p:txBody>
          <a:bodyPr wrap="square" lIns="0" tIns="0" rIns="0" bIns="0" rtlCol="0" anchor="t"/>
          <a:lstStyle/>
          <a:p>
            <a:pPr marL="0" indent="0">
              <a:buNone/>
            </a:pPr>
            <a:r>
              <a:rPr lang="en-US" sz="1150" b="1" dirty="0">
                <a:solidFill>
                  <a:srgbClr val="B0552F"/>
                </a:solidFill>
                <a:latin typeface="Calibri" pitchFamily="34" charset="0"/>
                <a:ea typeface="Calibri" pitchFamily="34" charset="-122"/>
                <a:cs typeface="Calibri" pitchFamily="34" charset="-120"/>
              </a:rPr>
              <a:t>Pro   </a:t>
            </a:r>
            <a:r>
              <a:rPr lang="en-US" sz="1150" dirty="0">
                <a:solidFill>
                  <a:srgbClr val="2A2824"/>
                </a:solidFill>
                <a:latin typeface="Calibri" pitchFamily="34" charset="0"/>
                <a:ea typeface="Calibri" pitchFamily="34" charset="-122"/>
                <a:cs typeface="Calibri" pitchFamily="34" charset="-120"/>
              </a:rPr>
              <a:t>$20/mo — includes Claude Code, weekly usage allowance</a:t>
            </a:r>
            <a:endParaRPr lang="en-US" sz="1150" dirty="0"/>
          </a:p>
        </p:txBody>
      </p:sp>
      <p:sp>
        <p:nvSpPr>
          <p:cNvPr id="21" name="Text 19"/>
          <p:cNvSpPr/>
          <p:nvPr/>
        </p:nvSpPr>
        <p:spPr>
          <a:xfrm>
            <a:off x="731520" y="2852928"/>
            <a:ext cx="3447288" cy="457200"/>
          </a:xfrm>
          <a:prstGeom prst="rect">
            <a:avLst/>
          </a:prstGeom>
          <a:noFill/>
          <a:ln/>
        </p:spPr>
        <p:txBody>
          <a:bodyPr wrap="square" lIns="0" tIns="0" rIns="0" bIns="0" rtlCol="0" anchor="t"/>
          <a:lstStyle/>
          <a:p>
            <a:pPr marL="0" indent="0">
              <a:buNone/>
            </a:pPr>
            <a:r>
              <a:rPr lang="en-US" sz="1150" b="1" dirty="0">
                <a:solidFill>
                  <a:srgbClr val="B0552F"/>
                </a:solidFill>
                <a:latin typeface="Calibri" pitchFamily="34" charset="0"/>
                <a:ea typeface="Calibri" pitchFamily="34" charset="-122"/>
                <a:cs typeface="Calibri" pitchFamily="34" charset="-120"/>
              </a:rPr>
              <a:t>Max   </a:t>
            </a:r>
            <a:r>
              <a:rPr lang="en-US" sz="1150" dirty="0">
                <a:solidFill>
                  <a:srgbClr val="2A2824"/>
                </a:solidFill>
                <a:latin typeface="Calibri" pitchFamily="34" charset="0"/>
                <a:ea typeface="Calibri" pitchFamily="34" charset="-122"/>
                <a:cs typeface="Calibri" pitchFamily="34" charset="-120"/>
              </a:rPr>
              <a:t>From $100/mo — choose 5× or 20× Pro usage</a:t>
            </a:r>
            <a:endParaRPr lang="en-US" sz="1150" dirty="0"/>
          </a:p>
        </p:txBody>
      </p:sp>
      <p:sp>
        <p:nvSpPr>
          <p:cNvPr id="22" name="Text 20"/>
          <p:cNvSpPr/>
          <p:nvPr/>
        </p:nvSpPr>
        <p:spPr>
          <a:xfrm>
            <a:off x="731520" y="3310128"/>
            <a:ext cx="3447288" cy="457200"/>
          </a:xfrm>
          <a:prstGeom prst="rect">
            <a:avLst/>
          </a:prstGeom>
          <a:noFill/>
          <a:ln/>
        </p:spPr>
        <p:txBody>
          <a:bodyPr wrap="square" lIns="0" tIns="0" rIns="0" bIns="0" rtlCol="0" anchor="t"/>
          <a:lstStyle/>
          <a:p>
            <a:pPr marL="0" indent="0">
              <a:buNone/>
            </a:pPr>
            <a:r>
              <a:rPr lang="en-US" sz="1150" b="1" dirty="0">
                <a:solidFill>
                  <a:srgbClr val="B0552F"/>
                </a:solidFill>
                <a:latin typeface="Calibri" pitchFamily="34" charset="0"/>
                <a:ea typeface="Calibri" pitchFamily="34" charset="-122"/>
                <a:cs typeface="Calibri" pitchFamily="34" charset="-120"/>
              </a:rPr>
              <a:t>Team / Enterprise   </a:t>
            </a:r>
            <a:r>
              <a:rPr lang="en-US" sz="1150" dirty="0">
                <a:solidFill>
                  <a:srgbClr val="2A2824"/>
                </a:solidFill>
                <a:latin typeface="Calibri" pitchFamily="34" charset="0"/>
                <a:ea typeface="Calibri" pitchFamily="34" charset="-122"/>
                <a:cs typeface="Calibri" pitchFamily="34" charset="-120"/>
              </a:rPr>
              <a:t>Custom — shared pool, larger context window</a:t>
            </a:r>
            <a:endParaRPr lang="en-US" sz="1150" dirty="0"/>
          </a:p>
        </p:txBody>
      </p:sp>
      <p:sp>
        <p:nvSpPr>
          <p:cNvPr id="23" name="Text 21"/>
          <p:cNvSpPr/>
          <p:nvPr/>
        </p:nvSpPr>
        <p:spPr>
          <a:xfrm>
            <a:off x="731520" y="3767328"/>
            <a:ext cx="3447288" cy="457200"/>
          </a:xfrm>
          <a:prstGeom prst="rect">
            <a:avLst/>
          </a:prstGeom>
          <a:noFill/>
          <a:ln/>
        </p:spPr>
        <p:txBody>
          <a:bodyPr wrap="square" lIns="0" tIns="0" rIns="0" bIns="0" rtlCol="0" anchor="t"/>
          <a:lstStyle/>
          <a:p>
            <a:pPr marL="0" indent="0">
              <a:buNone/>
            </a:pPr>
            <a:r>
              <a:rPr lang="en-US" sz="1150" b="1" dirty="0">
                <a:solidFill>
                  <a:srgbClr val="B0552F"/>
                </a:solidFill>
                <a:latin typeface="Calibri" pitchFamily="34" charset="0"/>
                <a:ea typeface="Calibri" pitchFamily="34" charset="-122"/>
                <a:cs typeface="Calibri" pitchFamily="34" charset="-120"/>
              </a:rPr>
              <a:t>API   </a:t>
            </a:r>
            <a:r>
              <a:rPr lang="en-US" sz="1150" dirty="0">
                <a:solidFill>
                  <a:srgbClr val="2A2824"/>
                </a:solidFill>
                <a:latin typeface="Calibri" pitchFamily="34" charset="0"/>
                <a:ea typeface="Calibri" pitchFamily="34" charset="-122"/>
                <a:cs typeface="Calibri" pitchFamily="34" charset="-120"/>
              </a:rPr>
              <a:t>Pay-per-token — input + output, caching discounts</a:t>
            </a:r>
            <a:endParaRPr lang="en-US" sz="1150" dirty="0"/>
          </a:p>
        </p:txBody>
      </p:sp>
      <p:sp>
        <p:nvSpPr>
          <p:cNvPr id="24" name="Shape 22"/>
          <p:cNvSpPr/>
          <p:nvPr/>
        </p:nvSpPr>
        <p:spPr>
          <a:xfrm>
            <a:off x="4736592" y="1371600"/>
            <a:ext cx="3950208" cy="297180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5" name="Shape 23"/>
          <p:cNvSpPr/>
          <p:nvPr/>
        </p:nvSpPr>
        <p:spPr>
          <a:xfrm>
            <a:off x="4736592" y="1371600"/>
            <a:ext cx="3950208" cy="457200"/>
          </a:xfrm>
          <a:prstGeom prst="rect">
            <a:avLst/>
          </a:prstGeom>
          <a:solidFill>
            <a:srgbClr val="4A5563"/>
          </a:solidFill>
          <a:ln/>
        </p:spPr>
        <p:txBody>
          <a:bodyPr/>
          <a:lstStyle/>
          <a:p>
            <a:endParaRPr lang="en-IN"/>
          </a:p>
        </p:txBody>
      </p:sp>
      <p:sp>
        <p:nvSpPr>
          <p:cNvPr id="26" name="Text 24"/>
          <p:cNvSpPr/>
          <p:nvPr/>
        </p:nvSpPr>
        <p:spPr>
          <a:xfrm>
            <a:off x="5010912" y="1371600"/>
            <a:ext cx="3401568" cy="45720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GitHub Copilot</a:t>
            </a:r>
            <a:endParaRPr lang="en-US" sz="1500" dirty="0"/>
          </a:p>
        </p:txBody>
      </p:sp>
      <p:sp>
        <p:nvSpPr>
          <p:cNvPr id="27" name="Text 25"/>
          <p:cNvSpPr/>
          <p:nvPr/>
        </p:nvSpPr>
        <p:spPr>
          <a:xfrm>
            <a:off x="5010912" y="1938528"/>
            <a:ext cx="3447288" cy="457200"/>
          </a:xfrm>
          <a:prstGeom prst="rect">
            <a:avLst/>
          </a:prstGeom>
          <a:noFill/>
          <a:ln/>
        </p:spPr>
        <p:txBody>
          <a:bodyPr wrap="square" lIns="0" tIns="0" rIns="0" bIns="0" rtlCol="0" anchor="t"/>
          <a:lstStyle/>
          <a:p>
            <a:pPr marL="0" indent="0">
              <a:buNone/>
            </a:pPr>
            <a:r>
              <a:rPr lang="en-US" sz="1150" b="1" dirty="0">
                <a:solidFill>
                  <a:srgbClr val="323A45"/>
                </a:solidFill>
                <a:latin typeface="Calibri" pitchFamily="34" charset="0"/>
                <a:ea typeface="Calibri" pitchFamily="34" charset="-122"/>
                <a:cs typeface="Calibri" pitchFamily="34" charset="-120"/>
              </a:rPr>
              <a:t>Free   </a:t>
            </a:r>
            <a:r>
              <a:rPr lang="en-US" sz="1150" dirty="0">
                <a:solidFill>
                  <a:srgbClr val="2A2824"/>
                </a:solidFill>
                <a:latin typeface="Calibri" pitchFamily="34" charset="0"/>
                <a:ea typeface="Calibri" pitchFamily="34" charset="-122"/>
                <a:cs typeface="Calibri" pitchFamily="34" charset="-120"/>
              </a:rPr>
              <a:t>Limited monthly completions + chat</a:t>
            </a:r>
            <a:endParaRPr lang="en-US" sz="1150" dirty="0"/>
          </a:p>
        </p:txBody>
      </p:sp>
      <p:sp>
        <p:nvSpPr>
          <p:cNvPr id="28" name="Text 26"/>
          <p:cNvSpPr/>
          <p:nvPr/>
        </p:nvSpPr>
        <p:spPr>
          <a:xfrm>
            <a:off x="5010912" y="2395728"/>
            <a:ext cx="3447288" cy="457200"/>
          </a:xfrm>
          <a:prstGeom prst="rect">
            <a:avLst/>
          </a:prstGeom>
          <a:noFill/>
          <a:ln/>
        </p:spPr>
        <p:txBody>
          <a:bodyPr wrap="square" lIns="0" tIns="0" rIns="0" bIns="0" rtlCol="0" anchor="t"/>
          <a:lstStyle/>
          <a:p>
            <a:pPr marL="0" indent="0">
              <a:buNone/>
            </a:pPr>
            <a:r>
              <a:rPr lang="en-US" sz="1150" b="1" dirty="0">
                <a:solidFill>
                  <a:srgbClr val="323A45"/>
                </a:solidFill>
                <a:latin typeface="Calibri" pitchFamily="34" charset="0"/>
                <a:ea typeface="Calibri" pitchFamily="34" charset="-122"/>
                <a:cs typeface="Calibri" pitchFamily="34" charset="-120"/>
              </a:rPr>
              <a:t>Pro   </a:t>
            </a:r>
            <a:r>
              <a:rPr lang="en-US" sz="1150" dirty="0">
                <a:solidFill>
                  <a:srgbClr val="2A2824"/>
                </a:solidFill>
                <a:latin typeface="Calibri" pitchFamily="34" charset="0"/>
                <a:ea typeface="Calibri" pitchFamily="34" charset="-122"/>
                <a:cs typeface="Calibri" pitchFamily="34" charset="-120"/>
              </a:rPr>
              <a:t>$10/mo (individual)</a:t>
            </a:r>
            <a:endParaRPr lang="en-US" sz="1150" dirty="0"/>
          </a:p>
        </p:txBody>
      </p:sp>
      <p:sp>
        <p:nvSpPr>
          <p:cNvPr id="29" name="Text 27"/>
          <p:cNvSpPr/>
          <p:nvPr/>
        </p:nvSpPr>
        <p:spPr>
          <a:xfrm>
            <a:off x="5010912" y="2852928"/>
            <a:ext cx="3447288" cy="457200"/>
          </a:xfrm>
          <a:prstGeom prst="rect">
            <a:avLst/>
          </a:prstGeom>
          <a:noFill/>
          <a:ln/>
        </p:spPr>
        <p:txBody>
          <a:bodyPr wrap="square" lIns="0" tIns="0" rIns="0" bIns="0" rtlCol="0" anchor="t"/>
          <a:lstStyle/>
          <a:p>
            <a:pPr marL="0" indent="0">
              <a:buNone/>
            </a:pPr>
            <a:r>
              <a:rPr lang="en-US" sz="1150" b="1" dirty="0">
                <a:solidFill>
                  <a:srgbClr val="323A45"/>
                </a:solidFill>
                <a:latin typeface="Calibri" pitchFamily="34" charset="0"/>
                <a:ea typeface="Calibri" pitchFamily="34" charset="-122"/>
                <a:cs typeface="Calibri" pitchFamily="34" charset="-120"/>
              </a:rPr>
              <a:t>Pro+   </a:t>
            </a:r>
            <a:r>
              <a:rPr lang="en-US" sz="1150" dirty="0">
                <a:solidFill>
                  <a:srgbClr val="2A2824"/>
                </a:solidFill>
                <a:latin typeface="Calibri" pitchFamily="34" charset="0"/>
                <a:ea typeface="Calibri" pitchFamily="34" charset="-122"/>
                <a:cs typeface="Calibri" pitchFamily="34" charset="-120"/>
              </a:rPr>
              <a:t>$39/mo (individual)</a:t>
            </a:r>
            <a:endParaRPr lang="en-US" sz="1150" dirty="0"/>
          </a:p>
        </p:txBody>
      </p:sp>
      <p:sp>
        <p:nvSpPr>
          <p:cNvPr id="30" name="Text 28"/>
          <p:cNvSpPr/>
          <p:nvPr/>
        </p:nvSpPr>
        <p:spPr>
          <a:xfrm>
            <a:off x="5010912" y="3310128"/>
            <a:ext cx="3447288" cy="457200"/>
          </a:xfrm>
          <a:prstGeom prst="rect">
            <a:avLst/>
          </a:prstGeom>
          <a:noFill/>
          <a:ln/>
        </p:spPr>
        <p:txBody>
          <a:bodyPr wrap="square" lIns="0" tIns="0" rIns="0" bIns="0" rtlCol="0" anchor="t"/>
          <a:lstStyle/>
          <a:p>
            <a:pPr marL="0" indent="0">
              <a:buNone/>
            </a:pPr>
            <a:r>
              <a:rPr lang="en-US" sz="1150" b="1" dirty="0">
                <a:solidFill>
                  <a:srgbClr val="323A45"/>
                </a:solidFill>
                <a:latin typeface="Calibri" pitchFamily="34" charset="0"/>
                <a:ea typeface="Calibri" pitchFamily="34" charset="-122"/>
                <a:cs typeface="Calibri" pitchFamily="34" charset="-120"/>
              </a:rPr>
              <a:t>Business   </a:t>
            </a:r>
            <a:r>
              <a:rPr lang="en-US" sz="1150" dirty="0">
                <a:solidFill>
                  <a:srgbClr val="2A2824"/>
                </a:solidFill>
                <a:latin typeface="Calibri" pitchFamily="34" charset="0"/>
                <a:ea typeface="Calibri" pitchFamily="34" charset="-122"/>
                <a:cs typeface="Calibri" pitchFamily="34" charset="-120"/>
              </a:rPr>
              <a:t>$19/user/mo</a:t>
            </a:r>
            <a:endParaRPr lang="en-US" sz="1150" dirty="0"/>
          </a:p>
        </p:txBody>
      </p:sp>
      <p:sp>
        <p:nvSpPr>
          <p:cNvPr id="31" name="Text 29"/>
          <p:cNvSpPr/>
          <p:nvPr/>
        </p:nvSpPr>
        <p:spPr>
          <a:xfrm>
            <a:off x="5010912" y="3767328"/>
            <a:ext cx="3447288" cy="457200"/>
          </a:xfrm>
          <a:prstGeom prst="rect">
            <a:avLst/>
          </a:prstGeom>
          <a:noFill/>
          <a:ln/>
        </p:spPr>
        <p:txBody>
          <a:bodyPr wrap="square" lIns="0" tIns="0" rIns="0" bIns="0" rtlCol="0" anchor="t"/>
          <a:lstStyle/>
          <a:p>
            <a:pPr marL="0" indent="0">
              <a:buNone/>
            </a:pPr>
            <a:r>
              <a:rPr lang="en-US" sz="1150" b="1" dirty="0">
                <a:solidFill>
                  <a:srgbClr val="323A45"/>
                </a:solidFill>
                <a:latin typeface="Calibri" pitchFamily="34" charset="0"/>
                <a:ea typeface="Calibri" pitchFamily="34" charset="-122"/>
                <a:cs typeface="Calibri" pitchFamily="34" charset="-120"/>
              </a:rPr>
              <a:t>Enterprise   </a:t>
            </a:r>
            <a:r>
              <a:rPr lang="en-US" sz="1150" dirty="0">
                <a:solidFill>
                  <a:srgbClr val="2A2824"/>
                </a:solidFill>
                <a:latin typeface="Calibri" pitchFamily="34" charset="0"/>
                <a:ea typeface="Calibri" pitchFamily="34" charset="-122"/>
                <a:cs typeface="Calibri" pitchFamily="34" charset="-120"/>
              </a:rPr>
              <a:t>$39/user/mo — agentic usage metered separately</a:t>
            </a:r>
            <a:endParaRPr lang="en-US" sz="1150" dirty="0"/>
          </a:p>
        </p:txBody>
      </p:sp>
      <p:sp>
        <p:nvSpPr>
          <p:cNvPr id="32" name="Text 30"/>
          <p:cNvSpPr/>
          <p:nvPr/>
        </p:nvSpPr>
        <p:spPr>
          <a:xfrm>
            <a:off x="457200" y="4443984"/>
            <a:ext cx="8229600" cy="310896"/>
          </a:xfrm>
          <a:prstGeom prst="rect">
            <a:avLst/>
          </a:prstGeom>
          <a:noFill/>
          <a:ln/>
        </p:spPr>
        <p:txBody>
          <a:bodyPr wrap="square" lIns="0" tIns="0" rIns="0" bIns="0" rtlCol="0" anchor="ctr"/>
          <a:lstStyle/>
          <a:p>
            <a:pPr marL="0" indent="0" algn="l">
              <a:buNone/>
            </a:pPr>
            <a:r>
              <a:rPr lang="en-US" sz="950" i="1" dirty="0">
                <a:solidFill>
                  <a:srgbClr val="6E6A60"/>
                </a:solidFill>
                <a:latin typeface="Calibri" pitchFamily="34" charset="0"/>
                <a:ea typeface="Calibri" pitchFamily="34" charset="-122"/>
                <a:cs typeface="Calibri" pitchFamily="34" charset="-120"/>
              </a:rPr>
              <a:t>Representative pricing as of mid-2026. Plans, models, and metering change frequently — confirm current terms before budgeting.</a:t>
            </a:r>
            <a:endParaRPr lang="en-US" sz="950" dirty="0"/>
          </a:p>
        </p:txBody>
      </p:sp>
      <p:sp>
        <p:nvSpPr>
          <p:cNvPr id="33" name="Text 31"/>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34" name="Text 32"/>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What drives cost</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WHY AGENTIC WORK SPENDS MORE</a:t>
            </a:r>
            <a:endParaRPr lang="en-US" sz="1050" dirty="0"/>
          </a:p>
        </p:txBody>
      </p:sp>
      <p:sp>
        <p:nvSpPr>
          <p:cNvPr id="16" name="Shape 14"/>
          <p:cNvSpPr/>
          <p:nvPr/>
        </p:nvSpPr>
        <p:spPr>
          <a:xfrm>
            <a:off x="457200" y="1417320"/>
            <a:ext cx="4160520" cy="306324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Text 15"/>
          <p:cNvSpPr/>
          <p:nvPr/>
        </p:nvSpPr>
        <p:spPr>
          <a:xfrm>
            <a:off x="640080" y="1536192"/>
            <a:ext cx="3840480" cy="274320"/>
          </a:xfrm>
          <a:prstGeom prst="rect">
            <a:avLst/>
          </a:prstGeom>
          <a:noFill/>
          <a:ln/>
        </p:spPr>
        <p:txBody>
          <a:bodyPr wrap="square" lIns="0" tIns="0" rIns="0" bIns="0" rtlCol="0" anchor="ctr"/>
          <a:lstStyle/>
          <a:p>
            <a:pPr marL="0" indent="0">
              <a:buNone/>
            </a:pPr>
            <a:r>
              <a:rPr lang="en-US" sz="1100" b="1" dirty="0">
                <a:solidFill>
                  <a:srgbClr val="2A2824"/>
                </a:solidFill>
                <a:latin typeface="Calibri" pitchFamily="34" charset="0"/>
                <a:ea typeface="Calibri" pitchFamily="34" charset="-122"/>
                <a:cs typeface="Calibri" pitchFamily="34" charset="-120"/>
              </a:rPr>
              <a:t>Relative token use by workload (illustrative)</a:t>
            </a:r>
            <a:endParaRPr lang="en-US" sz="1100" dirty="0"/>
          </a:p>
        </p:txBody>
      </p:sp>
      <p:graphicFrame>
        <p:nvGraphicFramePr>
          <p:cNvPr id="18" name="Chart 0"/>
          <p:cNvGraphicFramePr/>
          <p:nvPr/>
        </p:nvGraphicFramePr>
        <p:xfrm>
          <a:off x="566928" y="1828800"/>
          <a:ext cx="3950208" cy="2542032"/>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4892040" y="1481328"/>
            <a:ext cx="3794760" cy="274320"/>
          </a:xfrm>
          <a:prstGeom prst="rect">
            <a:avLst/>
          </a:prstGeom>
          <a:noFill/>
          <a:ln/>
        </p:spPr>
        <p:txBody>
          <a:bodyPr wrap="square" lIns="0" tIns="0" rIns="0" bIns="0" rtlCol="0" anchor="ctr"/>
          <a:lstStyle/>
          <a:p>
            <a:pPr marL="0" indent="0">
              <a:buNone/>
            </a:pPr>
            <a:r>
              <a:rPr lang="en-US" sz="1500" b="1" dirty="0">
                <a:solidFill>
                  <a:srgbClr val="B0552F"/>
                </a:solidFill>
                <a:latin typeface="Georgia" pitchFamily="34" charset="0"/>
                <a:ea typeface="Georgia" pitchFamily="34" charset="-122"/>
                <a:cs typeface="Georgia" pitchFamily="34" charset="-120"/>
              </a:rPr>
              <a:t>Cost drivers</a:t>
            </a:r>
            <a:endParaRPr lang="en-US" sz="1500" dirty="0"/>
          </a:p>
        </p:txBody>
      </p:sp>
      <p:sp>
        <p:nvSpPr>
          <p:cNvPr id="20" name="Text 17"/>
          <p:cNvSpPr/>
          <p:nvPr/>
        </p:nvSpPr>
        <p:spPr>
          <a:xfrm>
            <a:off x="4892040" y="1792224"/>
            <a:ext cx="3794760" cy="13258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A2824"/>
                </a:solidFill>
                <a:latin typeface="Calibri" pitchFamily="34" charset="0"/>
                <a:ea typeface="Calibri" pitchFamily="34" charset="-122"/>
                <a:cs typeface="Calibri" pitchFamily="34" charset="-120"/>
              </a:rPr>
              <a:t>Agent loops resend context each step, so tokens can grow faster than the task itself.</a:t>
            </a:r>
            <a:endParaRPr lang="en-US" sz="1150" dirty="0"/>
          </a:p>
          <a:p>
            <a:pPr marL="342900" indent="-342900">
              <a:spcAft>
                <a:spcPts val="600"/>
              </a:spcAft>
              <a:buSzPct val="100000"/>
              <a:buChar char="•"/>
            </a:pPr>
            <a:r>
              <a:rPr lang="en-US" sz="1150" dirty="0">
                <a:solidFill>
                  <a:srgbClr val="2A2824"/>
                </a:solidFill>
                <a:latin typeface="Calibri" pitchFamily="34" charset="0"/>
                <a:ea typeface="Calibri" pitchFamily="34" charset="-122"/>
                <a:cs typeface="Calibri" pitchFamily="34" charset="-120"/>
              </a:rPr>
              <a:t>Much of an agent's spend goes to reading and navigating the codebase.</a:t>
            </a:r>
            <a:endParaRPr lang="en-US" sz="1150" dirty="0"/>
          </a:p>
          <a:p>
            <a:pPr marL="342900" indent="-342900">
              <a:buSzPct val="100000"/>
              <a:buChar char="•"/>
            </a:pPr>
            <a:r>
              <a:rPr lang="en-US" sz="1150" dirty="0">
                <a:solidFill>
                  <a:srgbClr val="2A2824"/>
                </a:solidFill>
                <a:latin typeface="Calibri" pitchFamily="34" charset="0"/>
                <a:ea typeface="Calibri" pitchFamily="34" charset="-122"/>
                <a:cs typeface="Calibri" pitchFamily="34" charset="-120"/>
              </a:rPr>
              <a:t>Autocomplete is cheap and predictable; autonomous tasks are variable and can spike.</a:t>
            </a:r>
            <a:endParaRPr lang="en-US" sz="1150" dirty="0"/>
          </a:p>
        </p:txBody>
      </p:sp>
      <p:sp>
        <p:nvSpPr>
          <p:cNvPr id="21" name="Text 18"/>
          <p:cNvSpPr/>
          <p:nvPr/>
        </p:nvSpPr>
        <p:spPr>
          <a:xfrm>
            <a:off x="4892040" y="3200400"/>
            <a:ext cx="3794760" cy="274320"/>
          </a:xfrm>
          <a:prstGeom prst="rect">
            <a:avLst/>
          </a:prstGeom>
          <a:noFill/>
          <a:ln/>
        </p:spPr>
        <p:txBody>
          <a:bodyPr wrap="square" lIns="0" tIns="0" rIns="0" bIns="0" rtlCol="0" anchor="ctr"/>
          <a:lstStyle/>
          <a:p>
            <a:pPr marL="0" indent="0">
              <a:buNone/>
            </a:pPr>
            <a:r>
              <a:rPr lang="en-US" sz="1500" b="1" dirty="0">
                <a:solidFill>
                  <a:srgbClr val="323A45"/>
                </a:solidFill>
                <a:latin typeface="Georgia" pitchFamily="34" charset="0"/>
                <a:ea typeface="Georgia" pitchFamily="34" charset="-122"/>
                <a:cs typeface="Georgia" pitchFamily="34" charset="-120"/>
              </a:rPr>
              <a:t>Keeping it in check</a:t>
            </a:r>
            <a:endParaRPr lang="en-US" sz="1500" dirty="0"/>
          </a:p>
        </p:txBody>
      </p:sp>
      <p:sp>
        <p:nvSpPr>
          <p:cNvPr id="22" name="Text 19"/>
          <p:cNvSpPr/>
          <p:nvPr/>
        </p:nvSpPr>
        <p:spPr>
          <a:xfrm>
            <a:off x="4892040" y="3511296"/>
            <a:ext cx="379476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A2824"/>
                </a:solidFill>
                <a:latin typeface="Calibri" pitchFamily="34" charset="0"/>
                <a:ea typeface="Calibri" pitchFamily="34" charset="-122"/>
                <a:cs typeface="Calibri" pitchFamily="34" charset="-120"/>
              </a:rPr>
              <a:t>Set org budgets and allowances; scope tasks tightly.</a:t>
            </a:r>
            <a:endParaRPr lang="en-US" sz="1150" dirty="0"/>
          </a:p>
          <a:p>
            <a:pPr marL="342900" indent="-342900">
              <a:spcAft>
                <a:spcPts val="600"/>
              </a:spcAft>
              <a:buSzPct val="100000"/>
              <a:buChar char="•"/>
            </a:pPr>
            <a:r>
              <a:rPr lang="en-US" sz="1150" dirty="0">
                <a:solidFill>
                  <a:srgbClr val="2A2824"/>
                </a:solidFill>
                <a:latin typeface="Calibri" pitchFamily="34" charset="0"/>
                <a:ea typeface="Calibri" pitchFamily="34" charset="-122"/>
                <a:cs typeface="Calibri" pitchFamily="34" charset="-120"/>
              </a:rPr>
              <a:t>Route routine work to lighter models; reserve top models for hard problems.</a:t>
            </a:r>
            <a:endParaRPr lang="en-US" sz="1150" dirty="0"/>
          </a:p>
          <a:p>
            <a:pPr marL="342900" indent="-342900">
              <a:buSzPct val="100000"/>
              <a:buChar char="•"/>
            </a:pPr>
            <a:r>
              <a:rPr lang="en-US" sz="1150" dirty="0">
                <a:solidFill>
                  <a:srgbClr val="2A2824"/>
                </a:solidFill>
                <a:latin typeface="Calibri" pitchFamily="34" charset="0"/>
                <a:ea typeface="Calibri" pitchFamily="34" charset="-122"/>
                <a:cs typeface="Calibri" pitchFamily="34" charset="-120"/>
              </a:rPr>
              <a:t>Lean on prompt caching and good project context to cut repeat reads.</a:t>
            </a:r>
            <a:endParaRPr lang="en-US" sz="1150" dirty="0"/>
          </a:p>
        </p:txBody>
      </p:sp>
      <p:sp>
        <p:nvSpPr>
          <p:cNvPr id="23" name="Text 20"/>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4" name="Text 21"/>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Where each tool fits</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CHOOSING PER TASK AND PER TEAM</a:t>
            </a:r>
            <a:endParaRPr lang="en-US" sz="1050" dirty="0"/>
          </a:p>
        </p:txBody>
      </p:sp>
      <p:sp>
        <p:nvSpPr>
          <p:cNvPr id="16" name="Shape 14"/>
          <p:cNvSpPr/>
          <p:nvPr/>
        </p:nvSpPr>
        <p:spPr>
          <a:xfrm>
            <a:off x="457200" y="1417320"/>
            <a:ext cx="2679192"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Shape 15"/>
          <p:cNvSpPr/>
          <p:nvPr/>
        </p:nvSpPr>
        <p:spPr>
          <a:xfrm>
            <a:off x="457200" y="1417320"/>
            <a:ext cx="2679192" cy="512064"/>
          </a:xfrm>
          <a:prstGeom prst="rect">
            <a:avLst/>
          </a:prstGeom>
          <a:solidFill>
            <a:srgbClr val="4A5563"/>
          </a:solidFill>
          <a:ln/>
        </p:spPr>
        <p:txBody>
          <a:bodyPr/>
          <a:lstStyle/>
          <a:p>
            <a:endParaRPr lang="en-IN"/>
          </a:p>
        </p:txBody>
      </p:sp>
      <p:sp>
        <p:nvSpPr>
          <p:cNvPr id="18" name="Text 16"/>
          <p:cNvSpPr/>
          <p:nvPr/>
        </p:nvSpPr>
        <p:spPr>
          <a:xfrm>
            <a:off x="621792" y="1417320"/>
            <a:ext cx="2350008" cy="512064"/>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Reach for Copilot when…</a:t>
            </a:r>
            <a:endParaRPr lang="en-US" sz="1350" dirty="0"/>
          </a:p>
        </p:txBody>
      </p:sp>
      <p:sp>
        <p:nvSpPr>
          <p:cNvPr id="19" name="Text 17"/>
          <p:cNvSpPr/>
          <p:nvPr/>
        </p:nvSpPr>
        <p:spPr>
          <a:xfrm>
            <a:off x="658368" y="2075688"/>
            <a:ext cx="2313432" cy="228600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Daily in-editor velocity matters most</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Writing boilerplate or repetitive code</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You need broad editor and IDE coverage</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GitHub-native PR review fits the flow</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A low, predictable entry cost is key</a:t>
            </a:r>
            <a:endParaRPr lang="en-US" sz="1150" dirty="0"/>
          </a:p>
        </p:txBody>
      </p:sp>
      <p:sp>
        <p:nvSpPr>
          <p:cNvPr id="20" name="Shape 18"/>
          <p:cNvSpPr/>
          <p:nvPr/>
        </p:nvSpPr>
        <p:spPr>
          <a:xfrm>
            <a:off x="3415284" y="1417320"/>
            <a:ext cx="2679192"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1" name="Shape 19"/>
          <p:cNvSpPr/>
          <p:nvPr/>
        </p:nvSpPr>
        <p:spPr>
          <a:xfrm>
            <a:off x="3415284" y="1417320"/>
            <a:ext cx="2679192" cy="512064"/>
          </a:xfrm>
          <a:prstGeom prst="rect">
            <a:avLst/>
          </a:prstGeom>
          <a:solidFill>
            <a:srgbClr val="D97757"/>
          </a:solidFill>
          <a:ln/>
        </p:spPr>
        <p:txBody>
          <a:bodyPr/>
          <a:lstStyle/>
          <a:p>
            <a:endParaRPr lang="en-IN"/>
          </a:p>
        </p:txBody>
      </p:sp>
      <p:sp>
        <p:nvSpPr>
          <p:cNvPr id="22" name="Text 20"/>
          <p:cNvSpPr/>
          <p:nvPr/>
        </p:nvSpPr>
        <p:spPr>
          <a:xfrm>
            <a:off x="3579876" y="1417320"/>
            <a:ext cx="2350008" cy="512064"/>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Reach for Claude Code when…</a:t>
            </a:r>
            <a:endParaRPr lang="en-US" sz="1350" dirty="0"/>
          </a:p>
        </p:txBody>
      </p:sp>
      <p:sp>
        <p:nvSpPr>
          <p:cNvPr id="23" name="Text 21"/>
          <p:cNvSpPr/>
          <p:nvPr/>
        </p:nvSpPr>
        <p:spPr>
          <a:xfrm>
            <a:off x="3616452" y="2075688"/>
            <a:ext cx="2313432" cy="228600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Refactoring or migrating at repo scale</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Coordinated multi-file, cross-file changes</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Generating and running whole test suites</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Debugging system-level problems</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Delegating a task end-to-end</a:t>
            </a:r>
            <a:endParaRPr lang="en-US" sz="1150" dirty="0"/>
          </a:p>
        </p:txBody>
      </p:sp>
      <p:sp>
        <p:nvSpPr>
          <p:cNvPr id="24" name="Shape 22"/>
          <p:cNvSpPr/>
          <p:nvPr/>
        </p:nvSpPr>
        <p:spPr>
          <a:xfrm>
            <a:off x="6373368" y="1417320"/>
            <a:ext cx="2679192" cy="3108960"/>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5" name="Shape 23"/>
          <p:cNvSpPr/>
          <p:nvPr/>
        </p:nvSpPr>
        <p:spPr>
          <a:xfrm>
            <a:off x="6373368" y="1417320"/>
            <a:ext cx="2679192" cy="512064"/>
          </a:xfrm>
          <a:prstGeom prst="rect">
            <a:avLst/>
          </a:prstGeom>
          <a:solidFill>
            <a:srgbClr val="2A2824"/>
          </a:solidFill>
          <a:ln/>
        </p:spPr>
        <p:txBody>
          <a:bodyPr/>
          <a:lstStyle/>
          <a:p>
            <a:endParaRPr lang="en-IN"/>
          </a:p>
        </p:txBody>
      </p:sp>
      <p:sp>
        <p:nvSpPr>
          <p:cNvPr id="26" name="Text 24"/>
          <p:cNvSpPr/>
          <p:nvPr/>
        </p:nvSpPr>
        <p:spPr>
          <a:xfrm>
            <a:off x="6537960" y="1417320"/>
            <a:ext cx="2350008" cy="512064"/>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Run both when…</a:t>
            </a:r>
            <a:endParaRPr lang="en-US" sz="1350" dirty="0"/>
          </a:p>
        </p:txBody>
      </p:sp>
      <p:sp>
        <p:nvSpPr>
          <p:cNvPr id="27" name="Text 25"/>
          <p:cNvSpPr/>
          <p:nvPr/>
        </p:nvSpPr>
        <p:spPr>
          <a:xfrm>
            <a:off x="6574536" y="2075688"/>
            <a:ext cx="2313432" cy="228600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The team has mixed, varied workloads</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Fast flow plus deep reasoning together</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Routine work pairs with high-scope work</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Tooling matches the real bottleneck</a:t>
            </a:r>
            <a:endParaRPr lang="en-US" sz="1150" dirty="0"/>
          </a:p>
          <a:p>
            <a:pPr marL="342900" indent="-342900">
              <a:spcAft>
                <a:spcPts val="900"/>
              </a:spcAft>
              <a:buSzPct val="100000"/>
              <a:buChar char="•"/>
            </a:pPr>
            <a:r>
              <a:rPr lang="en-US" sz="1150" dirty="0">
                <a:solidFill>
                  <a:srgbClr val="2A2824"/>
                </a:solidFill>
                <a:latin typeface="Calibri" pitchFamily="34" charset="0"/>
                <a:ea typeface="Calibri" pitchFamily="34" charset="-122"/>
                <a:cs typeface="Calibri" pitchFamily="34" charset="-120"/>
              </a:rPr>
              <a:t>Budgets allow complementary spend</a:t>
            </a:r>
            <a:endParaRPr lang="en-US" sz="1150" dirty="0"/>
          </a:p>
        </p:txBody>
      </p:sp>
      <p:sp>
        <p:nvSpPr>
          <p:cNvPr id="28" name="Text 26"/>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9" name="Text 27"/>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589788" y="292608"/>
            <a:ext cx="27432" cy="274320"/>
          </a:xfrm>
          <a:prstGeom prst="rect">
            <a:avLst/>
          </a:prstGeom>
          <a:solidFill>
            <a:srgbClr val="D97757"/>
          </a:solidFill>
          <a:ln/>
        </p:spPr>
        <p:txBody>
          <a:bodyPr/>
          <a:lstStyle/>
          <a:p>
            <a:endParaRPr lang="en-IN"/>
          </a:p>
        </p:txBody>
      </p:sp>
      <p:sp>
        <p:nvSpPr>
          <p:cNvPr id="3" name="Shape 1"/>
          <p:cNvSpPr/>
          <p:nvPr/>
        </p:nvSpPr>
        <p:spPr>
          <a:xfrm rot="1800000">
            <a:off x="658368" y="310984"/>
            <a:ext cx="27432" cy="274320"/>
          </a:xfrm>
          <a:prstGeom prst="rect">
            <a:avLst/>
          </a:prstGeom>
          <a:solidFill>
            <a:srgbClr val="D97757"/>
          </a:solidFill>
          <a:ln/>
        </p:spPr>
        <p:txBody>
          <a:bodyPr/>
          <a:lstStyle/>
          <a:p>
            <a:endParaRPr lang="en-IN"/>
          </a:p>
        </p:txBody>
      </p:sp>
      <p:sp>
        <p:nvSpPr>
          <p:cNvPr id="4" name="Shape 2"/>
          <p:cNvSpPr/>
          <p:nvPr/>
        </p:nvSpPr>
        <p:spPr>
          <a:xfrm rot="3600000">
            <a:off x="708572" y="361188"/>
            <a:ext cx="27432" cy="274320"/>
          </a:xfrm>
          <a:prstGeom prst="rect">
            <a:avLst/>
          </a:prstGeom>
          <a:solidFill>
            <a:srgbClr val="D97757"/>
          </a:solidFill>
          <a:ln/>
        </p:spPr>
        <p:txBody>
          <a:bodyPr/>
          <a:lstStyle/>
          <a:p>
            <a:endParaRPr lang="en-IN"/>
          </a:p>
        </p:txBody>
      </p:sp>
      <p:sp>
        <p:nvSpPr>
          <p:cNvPr id="5" name="Shape 3"/>
          <p:cNvSpPr/>
          <p:nvPr/>
        </p:nvSpPr>
        <p:spPr>
          <a:xfrm rot="5400000">
            <a:off x="726948" y="429768"/>
            <a:ext cx="27432" cy="274320"/>
          </a:xfrm>
          <a:prstGeom prst="rect">
            <a:avLst/>
          </a:prstGeom>
          <a:solidFill>
            <a:srgbClr val="D97757"/>
          </a:solidFill>
          <a:ln/>
        </p:spPr>
        <p:txBody>
          <a:bodyPr/>
          <a:lstStyle/>
          <a:p>
            <a:endParaRPr lang="en-IN"/>
          </a:p>
        </p:txBody>
      </p:sp>
      <p:sp>
        <p:nvSpPr>
          <p:cNvPr id="6" name="Shape 4"/>
          <p:cNvSpPr/>
          <p:nvPr/>
        </p:nvSpPr>
        <p:spPr>
          <a:xfrm rot="7200000">
            <a:off x="708572" y="498348"/>
            <a:ext cx="27432" cy="274320"/>
          </a:xfrm>
          <a:prstGeom prst="rect">
            <a:avLst/>
          </a:prstGeom>
          <a:solidFill>
            <a:srgbClr val="D97757"/>
          </a:solidFill>
          <a:ln/>
        </p:spPr>
        <p:txBody>
          <a:bodyPr/>
          <a:lstStyle/>
          <a:p>
            <a:endParaRPr lang="en-IN"/>
          </a:p>
        </p:txBody>
      </p:sp>
      <p:sp>
        <p:nvSpPr>
          <p:cNvPr id="7" name="Shape 5"/>
          <p:cNvSpPr/>
          <p:nvPr/>
        </p:nvSpPr>
        <p:spPr>
          <a:xfrm rot="9000000">
            <a:off x="658368" y="548552"/>
            <a:ext cx="27432" cy="274320"/>
          </a:xfrm>
          <a:prstGeom prst="rect">
            <a:avLst/>
          </a:prstGeom>
          <a:solidFill>
            <a:srgbClr val="D97757"/>
          </a:solidFill>
          <a:ln/>
        </p:spPr>
        <p:txBody>
          <a:bodyPr/>
          <a:lstStyle/>
          <a:p>
            <a:endParaRPr lang="en-IN"/>
          </a:p>
        </p:txBody>
      </p:sp>
      <p:sp>
        <p:nvSpPr>
          <p:cNvPr id="8" name="Shape 6"/>
          <p:cNvSpPr/>
          <p:nvPr/>
        </p:nvSpPr>
        <p:spPr>
          <a:xfrm rot="10800000">
            <a:off x="589788" y="566928"/>
            <a:ext cx="27432" cy="274320"/>
          </a:xfrm>
          <a:prstGeom prst="rect">
            <a:avLst/>
          </a:prstGeom>
          <a:solidFill>
            <a:srgbClr val="D97757"/>
          </a:solidFill>
          <a:ln/>
        </p:spPr>
        <p:txBody>
          <a:bodyPr/>
          <a:lstStyle/>
          <a:p>
            <a:endParaRPr lang="en-IN"/>
          </a:p>
        </p:txBody>
      </p:sp>
      <p:sp>
        <p:nvSpPr>
          <p:cNvPr id="9" name="Shape 7"/>
          <p:cNvSpPr/>
          <p:nvPr/>
        </p:nvSpPr>
        <p:spPr>
          <a:xfrm rot="12600000">
            <a:off x="521208" y="548552"/>
            <a:ext cx="27432" cy="274320"/>
          </a:xfrm>
          <a:prstGeom prst="rect">
            <a:avLst/>
          </a:prstGeom>
          <a:solidFill>
            <a:srgbClr val="D97757"/>
          </a:solidFill>
          <a:ln/>
        </p:spPr>
        <p:txBody>
          <a:bodyPr/>
          <a:lstStyle/>
          <a:p>
            <a:endParaRPr lang="en-IN"/>
          </a:p>
        </p:txBody>
      </p:sp>
      <p:sp>
        <p:nvSpPr>
          <p:cNvPr id="10" name="Shape 8"/>
          <p:cNvSpPr/>
          <p:nvPr/>
        </p:nvSpPr>
        <p:spPr>
          <a:xfrm rot="14400000">
            <a:off x="471004" y="498348"/>
            <a:ext cx="27432" cy="274320"/>
          </a:xfrm>
          <a:prstGeom prst="rect">
            <a:avLst/>
          </a:prstGeom>
          <a:solidFill>
            <a:srgbClr val="D97757"/>
          </a:solidFill>
          <a:ln/>
        </p:spPr>
        <p:txBody>
          <a:bodyPr/>
          <a:lstStyle/>
          <a:p>
            <a:endParaRPr lang="en-IN"/>
          </a:p>
        </p:txBody>
      </p:sp>
      <p:sp>
        <p:nvSpPr>
          <p:cNvPr id="11" name="Shape 9"/>
          <p:cNvSpPr/>
          <p:nvPr/>
        </p:nvSpPr>
        <p:spPr>
          <a:xfrm rot="16200000">
            <a:off x="452628" y="429768"/>
            <a:ext cx="27432" cy="274320"/>
          </a:xfrm>
          <a:prstGeom prst="rect">
            <a:avLst/>
          </a:prstGeom>
          <a:solidFill>
            <a:srgbClr val="D97757"/>
          </a:solidFill>
          <a:ln/>
        </p:spPr>
        <p:txBody>
          <a:bodyPr/>
          <a:lstStyle/>
          <a:p>
            <a:endParaRPr lang="en-IN"/>
          </a:p>
        </p:txBody>
      </p:sp>
      <p:sp>
        <p:nvSpPr>
          <p:cNvPr id="12" name="Shape 10"/>
          <p:cNvSpPr/>
          <p:nvPr/>
        </p:nvSpPr>
        <p:spPr>
          <a:xfrm rot="18000000">
            <a:off x="471004" y="361188"/>
            <a:ext cx="27432" cy="274320"/>
          </a:xfrm>
          <a:prstGeom prst="rect">
            <a:avLst/>
          </a:prstGeom>
          <a:solidFill>
            <a:srgbClr val="D97757"/>
          </a:solidFill>
          <a:ln/>
        </p:spPr>
        <p:txBody>
          <a:bodyPr/>
          <a:lstStyle/>
          <a:p>
            <a:endParaRPr lang="en-IN"/>
          </a:p>
        </p:txBody>
      </p:sp>
      <p:sp>
        <p:nvSpPr>
          <p:cNvPr id="13" name="Shape 11"/>
          <p:cNvSpPr/>
          <p:nvPr/>
        </p:nvSpPr>
        <p:spPr>
          <a:xfrm rot="19800000">
            <a:off x="521208" y="310984"/>
            <a:ext cx="27432" cy="274320"/>
          </a:xfrm>
          <a:prstGeom prst="rect">
            <a:avLst/>
          </a:prstGeom>
          <a:solidFill>
            <a:srgbClr val="D97757"/>
          </a:solidFill>
          <a:ln/>
        </p:spPr>
        <p:txBody>
          <a:bodyPr/>
          <a:lstStyle/>
          <a:p>
            <a:endParaRPr lang="en-IN"/>
          </a:p>
        </p:txBody>
      </p:sp>
      <p:sp>
        <p:nvSpPr>
          <p:cNvPr id="14" name="Text 12"/>
          <p:cNvSpPr/>
          <p:nvPr/>
        </p:nvSpPr>
        <p:spPr>
          <a:xfrm>
            <a:off x="914400" y="274320"/>
            <a:ext cx="7863840" cy="548640"/>
          </a:xfrm>
          <a:prstGeom prst="rect">
            <a:avLst/>
          </a:prstGeom>
          <a:noFill/>
          <a:ln/>
        </p:spPr>
        <p:txBody>
          <a:bodyPr wrap="square" lIns="0" tIns="0" rIns="0" bIns="0" rtlCol="0" anchor="ctr"/>
          <a:lstStyle/>
          <a:p>
            <a:pPr marL="0" indent="0" algn="l">
              <a:buNone/>
            </a:pPr>
            <a:r>
              <a:rPr lang="en-US" sz="2700" b="1" dirty="0">
                <a:solidFill>
                  <a:srgbClr val="2A2824"/>
                </a:solidFill>
                <a:latin typeface="Georgia" pitchFamily="34" charset="0"/>
                <a:ea typeface="Georgia" pitchFamily="34" charset="-122"/>
                <a:cs typeface="Georgia" pitchFamily="34" charset="-120"/>
              </a:rPr>
              <a:t>Rolling it out: a governance checklist</a:t>
            </a:r>
            <a:endParaRPr lang="en-US" sz="2700" dirty="0"/>
          </a:p>
        </p:txBody>
      </p:sp>
      <p:sp>
        <p:nvSpPr>
          <p:cNvPr id="15" name="Text 13"/>
          <p:cNvSpPr/>
          <p:nvPr/>
        </p:nvSpPr>
        <p:spPr>
          <a:xfrm>
            <a:off x="914400" y="786384"/>
            <a:ext cx="7863840" cy="237744"/>
          </a:xfrm>
          <a:prstGeom prst="rect">
            <a:avLst/>
          </a:prstGeom>
          <a:noFill/>
          <a:ln/>
        </p:spPr>
        <p:txBody>
          <a:bodyPr wrap="square" lIns="0" tIns="0" rIns="0" bIns="0" rtlCol="0" anchor="ctr"/>
          <a:lstStyle/>
          <a:p>
            <a:pPr marL="0" indent="0" algn="l">
              <a:buNone/>
            </a:pPr>
            <a:r>
              <a:rPr lang="en-US" sz="1050" kern="0" spc="200" dirty="0">
                <a:solidFill>
                  <a:srgbClr val="B0552F"/>
                </a:solidFill>
                <a:latin typeface="Calibri" pitchFamily="34" charset="0"/>
                <a:ea typeface="Calibri" pitchFamily="34" charset="-122"/>
                <a:cs typeface="Calibri" pitchFamily="34" charset="-120"/>
              </a:rPr>
              <a:t>ADOPTING EITHER TOOL ACROSS A TEAM</a:t>
            </a:r>
            <a:endParaRPr lang="en-US" sz="1050" dirty="0"/>
          </a:p>
        </p:txBody>
      </p:sp>
      <p:sp>
        <p:nvSpPr>
          <p:cNvPr id="16" name="Shape 14"/>
          <p:cNvSpPr/>
          <p:nvPr/>
        </p:nvSpPr>
        <p:spPr>
          <a:xfrm>
            <a:off x="457200" y="1417320"/>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17" name="Shape 15"/>
          <p:cNvSpPr/>
          <p:nvPr/>
        </p:nvSpPr>
        <p:spPr>
          <a:xfrm>
            <a:off x="694944" y="1691640"/>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18" name="Shape 16"/>
          <p:cNvSpPr/>
          <p:nvPr/>
        </p:nvSpPr>
        <p:spPr>
          <a:xfrm>
            <a:off x="772668" y="1906524"/>
            <a:ext cx="100584" cy="105156"/>
          </a:xfrm>
          <a:prstGeom prst="line">
            <a:avLst/>
          </a:prstGeom>
          <a:noFill/>
          <a:ln w="28575">
            <a:solidFill>
              <a:srgbClr val="B0552F"/>
            </a:solidFill>
            <a:prstDash val="solid"/>
          </a:ln>
        </p:spPr>
        <p:txBody>
          <a:bodyPr/>
          <a:lstStyle/>
          <a:p>
            <a:endParaRPr lang="en-IN"/>
          </a:p>
        </p:txBody>
      </p:sp>
      <p:sp>
        <p:nvSpPr>
          <p:cNvPr id="19" name="Shape 17"/>
          <p:cNvSpPr/>
          <p:nvPr/>
        </p:nvSpPr>
        <p:spPr>
          <a:xfrm flipV="1">
            <a:off x="873252" y="1792224"/>
            <a:ext cx="182880" cy="219456"/>
          </a:xfrm>
          <a:prstGeom prst="line">
            <a:avLst/>
          </a:prstGeom>
          <a:noFill/>
          <a:ln w="28575">
            <a:solidFill>
              <a:srgbClr val="B0552F"/>
            </a:solidFill>
            <a:prstDash val="solid"/>
          </a:ln>
        </p:spPr>
        <p:txBody>
          <a:bodyPr/>
          <a:lstStyle/>
          <a:p>
            <a:endParaRPr lang="en-IN"/>
          </a:p>
        </p:txBody>
      </p:sp>
      <p:sp>
        <p:nvSpPr>
          <p:cNvPr id="20" name="Text 18"/>
          <p:cNvSpPr/>
          <p:nvPr/>
        </p:nvSpPr>
        <p:spPr>
          <a:xfrm>
            <a:off x="1298448" y="1563624"/>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Access &amp; licensing</a:t>
            </a:r>
            <a:endParaRPr lang="en-US" sz="1450" dirty="0"/>
          </a:p>
        </p:txBody>
      </p:sp>
      <p:sp>
        <p:nvSpPr>
          <p:cNvPr id="21" name="Text 19"/>
          <p:cNvSpPr/>
          <p:nvPr/>
        </p:nvSpPr>
        <p:spPr>
          <a:xfrm>
            <a:off x="1298448" y="1874520"/>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Choose plans and seats; decide a seat-based or usage-based model.</a:t>
            </a:r>
            <a:endParaRPr lang="en-US" sz="1150" dirty="0"/>
          </a:p>
        </p:txBody>
      </p:sp>
      <p:sp>
        <p:nvSpPr>
          <p:cNvPr id="22" name="Shape 20"/>
          <p:cNvSpPr/>
          <p:nvPr/>
        </p:nvSpPr>
        <p:spPr>
          <a:xfrm>
            <a:off x="4736592" y="1417320"/>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3" name="Shape 21"/>
          <p:cNvSpPr/>
          <p:nvPr/>
        </p:nvSpPr>
        <p:spPr>
          <a:xfrm>
            <a:off x="4974336" y="1691640"/>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24" name="Shape 22"/>
          <p:cNvSpPr/>
          <p:nvPr/>
        </p:nvSpPr>
        <p:spPr>
          <a:xfrm>
            <a:off x="5052060" y="1906524"/>
            <a:ext cx="100584" cy="105156"/>
          </a:xfrm>
          <a:prstGeom prst="line">
            <a:avLst/>
          </a:prstGeom>
          <a:noFill/>
          <a:ln w="28575">
            <a:solidFill>
              <a:srgbClr val="B0552F"/>
            </a:solidFill>
            <a:prstDash val="solid"/>
          </a:ln>
        </p:spPr>
        <p:txBody>
          <a:bodyPr/>
          <a:lstStyle/>
          <a:p>
            <a:endParaRPr lang="en-IN"/>
          </a:p>
        </p:txBody>
      </p:sp>
      <p:sp>
        <p:nvSpPr>
          <p:cNvPr id="25" name="Shape 23"/>
          <p:cNvSpPr/>
          <p:nvPr/>
        </p:nvSpPr>
        <p:spPr>
          <a:xfrm flipV="1">
            <a:off x="5152644" y="1792224"/>
            <a:ext cx="182880" cy="219456"/>
          </a:xfrm>
          <a:prstGeom prst="line">
            <a:avLst/>
          </a:prstGeom>
          <a:noFill/>
          <a:ln w="28575">
            <a:solidFill>
              <a:srgbClr val="B0552F"/>
            </a:solidFill>
            <a:prstDash val="solid"/>
          </a:ln>
        </p:spPr>
        <p:txBody>
          <a:bodyPr/>
          <a:lstStyle/>
          <a:p>
            <a:endParaRPr lang="en-IN"/>
          </a:p>
        </p:txBody>
      </p:sp>
      <p:sp>
        <p:nvSpPr>
          <p:cNvPr id="26" name="Text 24"/>
          <p:cNvSpPr/>
          <p:nvPr/>
        </p:nvSpPr>
        <p:spPr>
          <a:xfrm>
            <a:off x="5577840" y="1563624"/>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Cost controls</a:t>
            </a:r>
            <a:endParaRPr lang="en-US" sz="1450" dirty="0"/>
          </a:p>
        </p:txBody>
      </p:sp>
      <p:sp>
        <p:nvSpPr>
          <p:cNvPr id="27" name="Text 25"/>
          <p:cNvSpPr/>
          <p:nvPr/>
        </p:nvSpPr>
        <p:spPr>
          <a:xfrm>
            <a:off x="5577840" y="1874520"/>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Set budgets and allowances, monitor usage, and turn on spend alerts.</a:t>
            </a:r>
            <a:endParaRPr lang="en-US" sz="1150" dirty="0"/>
          </a:p>
        </p:txBody>
      </p:sp>
      <p:sp>
        <p:nvSpPr>
          <p:cNvPr id="28" name="Shape 26"/>
          <p:cNvSpPr/>
          <p:nvPr/>
        </p:nvSpPr>
        <p:spPr>
          <a:xfrm>
            <a:off x="457200" y="2496312"/>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29" name="Shape 27"/>
          <p:cNvSpPr/>
          <p:nvPr/>
        </p:nvSpPr>
        <p:spPr>
          <a:xfrm>
            <a:off x="694944" y="2770632"/>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30" name="Shape 28"/>
          <p:cNvSpPr/>
          <p:nvPr/>
        </p:nvSpPr>
        <p:spPr>
          <a:xfrm>
            <a:off x="772668" y="2985516"/>
            <a:ext cx="100584" cy="105156"/>
          </a:xfrm>
          <a:prstGeom prst="line">
            <a:avLst/>
          </a:prstGeom>
          <a:noFill/>
          <a:ln w="28575">
            <a:solidFill>
              <a:srgbClr val="B0552F"/>
            </a:solidFill>
            <a:prstDash val="solid"/>
          </a:ln>
        </p:spPr>
        <p:txBody>
          <a:bodyPr/>
          <a:lstStyle/>
          <a:p>
            <a:endParaRPr lang="en-IN"/>
          </a:p>
        </p:txBody>
      </p:sp>
      <p:sp>
        <p:nvSpPr>
          <p:cNvPr id="31" name="Shape 29"/>
          <p:cNvSpPr/>
          <p:nvPr/>
        </p:nvSpPr>
        <p:spPr>
          <a:xfrm flipV="1">
            <a:off x="873252" y="2871216"/>
            <a:ext cx="182880" cy="219456"/>
          </a:xfrm>
          <a:prstGeom prst="line">
            <a:avLst/>
          </a:prstGeom>
          <a:noFill/>
          <a:ln w="28575">
            <a:solidFill>
              <a:srgbClr val="B0552F"/>
            </a:solidFill>
            <a:prstDash val="solid"/>
          </a:ln>
        </p:spPr>
        <p:txBody>
          <a:bodyPr/>
          <a:lstStyle/>
          <a:p>
            <a:endParaRPr lang="en-IN"/>
          </a:p>
        </p:txBody>
      </p:sp>
      <p:sp>
        <p:nvSpPr>
          <p:cNvPr id="32" name="Text 30"/>
          <p:cNvSpPr/>
          <p:nvPr/>
        </p:nvSpPr>
        <p:spPr>
          <a:xfrm>
            <a:off x="1298448" y="2642616"/>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Security &amp; data</a:t>
            </a:r>
            <a:endParaRPr lang="en-US" sz="1450" dirty="0"/>
          </a:p>
        </p:txBody>
      </p:sp>
      <p:sp>
        <p:nvSpPr>
          <p:cNvPr id="33" name="Text 31"/>
          <p:cNvSpPr/>
          <p:nvPr/>
        </p:nvSpPr>
        <p:spPr>
          <a:xfrm>
            <a:off x="1298448" y="2953512"/>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Review data handling, code retention, and IP / compliance settings.</a:t>
            </a:r>
            <a:endParaRPr lang="en-US" sz="1150" dirty="0"/>
          </a:p>
        </p:txBody>
      </p:sp>
      <p:sp>
        <p:nvSpPr>
          <p:cNvPr id="34" name="Shape 32"/>
          <p:cNvSpPr/>
          <p:nvPr/>
        </p:nvSpPr>
        <p:spPr>
          <a:xfrm>
            <a:off x="4736592" y="2496312"/>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35" name="Shape 33"/>
          <p:cNvSpPr/>
          <p:nvPr/>
        </p:nvSpPr>
        <p:spPr>
          <a:xfrm>
            <a:off x="4974336" y="2770632"/>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36" name="Shape 34"/>
          <p:cNvSpPr/>
          <p:nvPr/>
        </p:nvSpPr>
        <p:spPr>
          <a:xfrm>
            <a:off x="5052060" y="2985516"/>
            <a:ext cx="100584" cy="105156"/>
          </a:xfrm>
          <a:prstGeom prst="line">
            <a:avLst/>
          </a:prstGeom>
          <a:noFill/>
          <a:ln w="28575">
            <a:solidFill>
              <a:srgbClr val="B0552F"/>
            </a:solidFill>
            <a:prstDash val="solid"/>
          </a:ln>
        </p:spPr>
        <p:txBody>
          <a:bodyPr/>
          <a:lstStyle/>
          <a:p>
            <a:endParaRPr lang="en-IN"/>
          </a:p>
        </p:txBody>
      </p:sp>
      <p:sp>
        <p:nvSpPr>
          <p:cNvPr id="37" name="Shape 35"/>
          <p:cNvSpPr/>
          <p:nvPr/>
        </p:nvSpPr>
        <p:spPr>
          <a:xfrm flipV="1">
            <a:off x="5152644" y="2871216"/>
            <a:ext cx="182880" cy="219456"/>
          </a:xfrm>
          <a:prstGeom prst="line">
            <a:avLst/>
          </a:prstGeom>
          <a:noFill/>
          <a:ln w="28575">
            <a:solidFill>
              <a:srgbClr val="B0552F"/>
            </a:solidFill>
            <a:prstDash val="solid"/>
          </a:ln>
        </p:spPr>
        <p:txBody>
          <a:bodyPr/>
          <a:lstStyle/>
          <a:p>
            <a:endParaRPr lang="en-IN"/>
          </a:p>
        </p:txBody>
      </p:sp>
      <p:sp>
        <p:nvSpPr>
          <p:cNvPr id="38" name="Text 36"/>
          <p:cNvSpPr/>
          <p:nvPr/>
        </p:nvSpPr>
        <p:spPr>
          <a:xfrm>
            <a:off x="5577840" y="2642616"/>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Standards &amp; context</a:t>
            </a:r>
            <a:endParaRPr lang="en-US" sz="1450" dirty="0"/>
          </a:p>
        </p:txBody>
      </p:sp>
      <p:sp>
        <p:nvSpPr>
          <p:cNvPr id="39" name="Text 37"/>
          <p:cNvSpPr/>
          <p:nvPr/>
        </p:nvSpPr>
        <p:spPr>
          <a:xfrm>
            <a:off x="5577840" y="2953512"/>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Add project context files and shared coding and pull-request conventions.</a:t>
            </a:r>
            <a:endParaRPr lang="en-US" sz="1150" dirty="0"/>
          </a:p>
        </p:txBody>
      </p:sp>
      <p:sp>
        <p:nvSpPr>
          <p:cNvPr id="40" name="Shape 38"/>
          <p:cNvSpPr/>
          <p:nvPr/>
        </p:nvSpPr>
        <p:spPr>
          <a:xfrm>
            <a:off x="457200" y="3575304"/>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41" name="Shape 39"/>
          <p:cNvSpPr/>
          <p:nvPr/>
        </p:nvSpPr>
        <p:spPr>
          <a:xfrm>
            <a:off x="694944" y="3849624"/>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42" name="Shape 40"/>
          <p:cNvSpPr/>
          <p:nvPr/>
        </p:nvSpPr>
        <p:spPr>
          <a:xfrm>
            <a:off x="772668" y="4064508"/>
            <a:ext cx="100584" cy="105156"/>
          </a:xfrm>
          <a:prstGeom prst="line">
            <a:avLst/>
          </a:prstGeom>
          <a:noFill/>
          <a:ln w="28575">
            <a:solidFill>
              <a:srgbClr val="B0552F"/>
            </a:solidFill>
            <a:prstDash val="solid"/>
          </a:ln>
        </p:spPr>
        <p:txBody>
          <a:bodyPr/>
          <a:lstStyle/>
          <a:p>
            <a:endParaRPr lang="en-IN"/>
          </a:p>
        </p:txBody>
      </p:sp>
      <p:sp>
        <p:nvSpPr>
          <p:cNvPr id="43" name="Shape 41"/>
          <p:cNvSpPr/>
          <p:nvPr/>
        </p:nvSpPr>
        <p:spPr>
          <a:xfrm flipV="1">
            <a:off x="873252" y="3950208"/>
            <a:ext cx="182880" cy="219456"/>
          </a:xfrm>
          <a:prstGeom prst="line">
            <a:avLst/>
          </a:prstGeom>
          <a:noFill/>
          <a:ln w="28575">
            <a:solidFill>
              <a:srgbClr val="B0552F"/>
            </a:solidFill>
            <a:prstDash val="solid"/>
          </a:ln>
        </p:spPr>
        <p:txBody>
          <a:bodyPr/>
          <a:lstStyle/>
          <a:p>
            <a:endParaRPr lang="en-IN"/>
          </a:p>
        </p:txBody>
      </p:sp>
      <p:sp>
        <p:nvSpPr>
          <p:cNvPr id="44" name="Text 42"/>
          <p:cNvSpPr/>
          <p:nvPr/>
        </p:nvSpPr>
        <p:spPr>
          <a:xfrm>
            <a:off x="1298448" y="3721608"/>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Enablement</a:t>
            </a:r>
            <a:endParaRPr lang="en-US" sz="1450" dirty="0"/>
          </a:p>
        </p:txBody>
      </p:sp>
      <p:sp>
        <p:nvSpPr>
          <p:cNvPr id="45" name="Text 43"/>
          <p:cNvSpPr/>
          <p:nvPr/>
        </p:nvSpPr>
        <p:spPr>
          <a:xfrm>
            <a:off x="1298448" y="4032504"/>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Run a pilot team, train people, and define success metrics up front.</a:t>
            </a:r>
            <a:endParaRPr lang="en-US" sz="1150" dirty="0"/>
          </a:p>
        </p:txBody>
      </p:sp>
      <p:sp>
        <p:nvSpPr>
          <p:cNvPr id="46" name="Shape 44"/>
          <p:cNvSpPr/>
          <p:nvPr/>
        </p:nvSpPr>
        <p:spPr>
          <a:xfrm>
            <a:off x="4736592" y="3575304"/>
            <a:ext cx="3950208" cy="932688"/>
          </a:xfrm>
          <a:prstGeom prst="rect">
            <a:avLst/>
          </a:prstGeom>
          <a:solidFill>
            <a:srgbClr val="FBFAF5"/>
          </a:solidFill>
          <a:ln w="12700">
            <a:solidFill>
              <a:srgbClr val="E2DDCD"/>
            </a:solidFill>
            <a:prstDash val="solid"/>
          </a:ln>
          <a:effectLst>
            <a:outerShdw blurRad="88900" dist="25400" dir="5400000" algn="bl" rotWithShape="0">
              <a:srgbClr val="B9B3A2">
                <a:alpha val="28000"/>
              </a:srgbClr>
            </a:outerShdw>
          </a:effectLst>
        </p:spPr>
        <p:txBody>
          <a:bodyPr/>
          <a:lstStyle/>
          <a:p>
            <a:endParaRPr lang="en-IN"/>
          </a:p>
        </p:txBody>
      </p:sp>
      <p:sp>
        <p:nvSpPr>
          <p:cNvPr id="47" name="Shape 45"/>
          <p:cNvSpPr/>
          <p:nvPr/>
        </p:nvSpPr>
        <p:spPr>
          <a:xfrm>
            <a:off x="4974336" y="3849624"/>
            <a:ext cx="384048" cy="384048"/>
          </a:xfrm>
          <a:prstGeom prst="roundRect">
            <a:avLst>
              <a:gd name="adj" fmla="val 14286"/>
            </a:avLst>
          </a:prstGeom>
          <a:solidFill>
            <a:srgbClr val="F5E7DF"/>
          </a:solidFill>
          <a:ln w="15875">
            <a:solidFill>
              <a:srgbClr val="D97757"/>
            </a:solidFill>
            <a:prstDash val="solid"/>
          </a:ln>
        </p:spPr>
        <p:txBody>
          <a:bodyPr/>
          <a:lstStyle/>
          <a:p>
            <a:endParaRPr lang="en-IN"/>
          </a:p>
        </p:txBody>
      </p:sp>
      <p:sp>
        <p:nvSpPr>
          <p:cNvPr id="48" name="Shape 46"/>
          <p:cNvSpPr/>
          <p:nvPr/>
        </p:nvSpPr>
        <p:spPr>
          <a:xfrm>
            <a:off x="5052060" y="4064508"/>
            <a:ext cx="100584" cy="105156"/>
          </a:xfrm>
          <a:prstGeom prst="line">
            <a:avLst/>
          </a:prstGeom>
          <a:noFill/>
          <a:ln w="28575">
            <a:solidFill>
              <a:srgbClr val="B0552F"/>
            </a:solidFill>
            <a:prstDash val="solid"/>
          </a:ln>
        </p:spPr>
        <p:txBody>
          <a:bodyPr/>
          <a:lstStyle/>
          <a:p>
            <a:endParaRPr lang="en-IN"/>
          </a:p>
        </p:txBody>
      </p:sp>
      <p:sp>
        <p:nvSpPr>
          <p:cNvPr id="49" name="Shape 47"/>
          <p:cNvSpPr/>
          <p:nvPr/>
        </p:nvSpPr>
        <p:spPr>
          <a:xfrm flipV="1">
            <a:off x="5152644" y="3950208"/>
            <a:ext cx="182880" cy="219456"/>
          </a:xfrm>
          <a:prstGeom prst="line">
            <a:avLst/>
          </a:prstGeom>
          <a:noFill/>
          <a:ln w="28575">
            <a:solidFill>
              <a:srgbClr val="B0552F"/>
            </a:solidFill>
            <a:prstDash val="solid"/>
          </a:ln>
        </p:spPr>
        <p:txBody>
          <a:bodyPr/>
          <a:lstStyle/>
          <a:p>
            <a:endParaRPr lang="en-IN"/>
          </a:p>
        </p:txBody>
      </p:sp>
      <p:sp>
        <p:nvSpPr>
          <p:cNvPr id="50" name="Text 48"/>
          <p:cNvSpPr/>
          <p:nvPr/>
        </p:nvSpPr>
        <p:spPr>
          <a:xfrm>
            <a:off x="5577840" y="3721608"/>
            <a:ext cx="2944368" cy="310896"/>
          </a:xfrm>
          <a:prstGeom prst="rect">
            <a:avLst/>
          </a:prstGeom>
          <a:noFill/>
          <a:ln/>
        </p:spPr>
        <p:txBody>
          <a:bodyPr wrap="square" lIns="0" tIns="0" rIns="0" bIns="0" rtlCol="0" anchor="ctr"/>
          <a:lstStyle/>
          <a:p>
            <a:pPr marL="0" indent="0">
              <a:buNone/>
            </a:pPr>
            <a:r>
              <a:rPr lang="en-US" sz="1450" b="1" dirty="0">
                <a:solidFill>
                  <a:srgbClr val="2A2824"/>
                </a:solidFill>
                <a:latin typeface="Georgia" pitchFamily="34" charset="0"/>
                <a:ea typeface="Georgia" pitchFamily="34" charset="-122"/>
                <a:cs typeface="Georgia" pitchFamily="34" charset="-120"/>
              </a:rPr>
              <a:t>Review cadence</a:t>
            </a:r>
            <a:endParaRPr lang="en-US" sz="1450" dirty="0"/>
          </a:p>
        </p:txBody>
      </p:sp>
      <p:sp>
        <p:nvSpPr>
          <p:cNvPr id="51" name="Text 49"/>
          <p:cNvSpPr/>
          <p:nvPr/>
        </p:nvSpPr>
        <p:spPr>
          <a:xfrm>
            <a:off x="5577840" y="4032504"/>
            <a:ext cx="2926080" cy="420624"/>
          </a:xfrm>
          <a:prstGeom prst="rect">
            <a:avLst/>
          </a:prstGeom>
          <a:noFill/>
          <a:ln/>
        </p:spPr>
        <p:txBody>
          <a:bodyPr wrap="square" lIns="0" tIns="0" rIns="0" bIns="0" rtlCol="0" anchor="t"/>
          <a:lstStyle/>
          <a:p>
            <a:pPr marL="0" indent="0">
              <a:buNone/>
            </a:pPr>
            <a:r>
              <a:rPr lang="en-US" sz="1150" dirty="0">
                <a:solidFill>
                  <a:srgbClr val="6E6A60"/>
                </a:solidFill>
                <a:latin typeface="Calibri" pitchFamily="34" charset="0"/>
                <a:ea typeface="Calibri" pitchFamily="34" charset="-122"/>
                <a:cs typeface="Calibri" pitchFamily="34" charset="-120"/>
              </a:rPr>
              <a:t>Track spend and impact; reassess tool-to-task fit on a regular cycle.</a:t>
            </a:r>
            <a:endParaRPr lang="en-US" sz="1150" dirty="0"/>
          </a:p>
        </p:txBody>
      </p:sp>
      <p:sp>
        <p:nvSpPr>
          <p:cNvPr id="52" name="Text 50"/>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53" name="Text 51"/>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EE6"/>
        </a:solidFill>
        <a:effectLst/>
      </p:bgPr>
    </p:bg>
    <p:spTree>
      <p:nvGrpSpPr>
        <p:cNvPr id="1" name=""/>
        <p:cNvGrpSpPr/>
        <p:nvPr/>
      </p:nvGrpSpPr>
      <p:grpSpPr>
        <a:xfrm>
          <a:off x="0" y="0"/>
          <a:ext cx="0" cy="0"/>
          <a:chOff x="0" y="0"/>
          <a:chExt cx="0" cy="0"/>
        </a:xfrm>
      </p:grpSpPr>
      <p:sp>
        <p:nvSpPr>
          <p:cNvPr id="2" name="Shape 0"/>
          <p:cNvSpPr/>
          <p:nvPr/>
        </p:nvSpPr>
        <p:spPr>
          <a:xfrm>
            <a:off x="713232" y="411480"/>
            <a:ext cx="36576" cy="457200"/>
          </a:xfrm>
          <a:prstGeom prst="rect">
            <a:avLst/>
          </a:prstGeom>
          <a:solidFill>
            <a:srgbClr val="D97757"/>
          </a:solidFill>
          <a:ln/>
        </p:spPr>
        <p:txBody>
          <a:bodyPr/>
          <a:lstStyle/>
          <a:p>
            <a:endParaRPr lang="en-IN"/>
          </a:p>
        </p:txBody>
      </p:sp>
      <p:sp>
        <p:nvSpPr>
          <p:cNvPr id="3" name="Shape 1"/>
          <p:cNvSpPr/>
          <p:nvPr/>
        </p:nvSpPr>
        <p:spPr>
          <a:xfrm rot="1800000">
            <a:off x="827532" y="442107"/>
            <a:ext cx="36576" cy="457200"/>
          </a:xfrm>
          <a:prstGeom prst="rect">
            <a:avLst/>
          </a:prstGeom>
          <a:solidFill>
            <a:srgbClr val="D97757"/>
          </a:solidFill>
          <a:ln/>
        </p:spPr>
        <p:txBody>
          <a:bodyPr/>
          <a:lstStyle/>
          <a:p>
            <a:endParaRPr lang="en-IN"/>
          </a:p>
        </p:txBody>
      </p:sp>
      <p:sp>
        <p:nvSpPr>
          <p:cNvPr id="4" name="Shape 2"/>
          <p:cNvSpPr/>
          <p:nvPr/>
        </p:nvSpPr>
        <p:spPr>
          <a:xfrm rot="3600000">
            <a:off x="911205" y="525780"/>
            <a:ext cx="36576" cy="457200"/>
          </a:xfrm>
          <a:prstGeom prst="rect">
            <a:avLst/>
          </a:prstGeom>
          <a:solidFill>
            <a:srgbClr val="D97757"/>
          </a:solidFill>
          <a:ln/>
        </p:spPr>
        <p:txBody>
          <a:bodyPr/>
          <a:lstStyle/>
          <a:p>
            <a:endParaRPr lang="en-IN"/>
          </a:p>
        </p:txBody>
      </p:sp>
      <p:sp>
        <p:nvSpPr>
          <p:cNvPr id="5" name="Shape 3"/>
          <p:cNvSpPr/>
          <p:nvPr/>
        </p:nvSpPr>
        <p:spPr>
          <a:xfrm rot="5400000">
            <a:off x="941832" y="640080"/>
            <a:ext cx="36576" cy="457200"/>
          </a:xfrm>
          <a:prstGeom prst="rect">
            <a:avLst/>
          </a:prstGeom>
          <a:solidFill>
            <a:srgbClr val="D97757"/>
          </a:solidFill>
          <a:ln/>
        </p:spPr>
        <p:txBody>
          <a:bodyPr/>
          <a:lstStyle/>
          <a:p>
            <a:endParaRPr lang="en-IN"/>
          </a:p>
        </p:txBody>
      </p:sp>
      <p:sp>
        <p:nvSpPr>
          <p:cNvPr id="6" name="Shape 4"/>
          <p:cNvSpPr/>
          <p:nvPr/>
        </p:nvSpPr>
        <p:spPr>
          <a:xfrm rot="7200000">
            <a:off x="911205" y="754380"/>
            <a:ext cx="36576" cy="457200"/>
          </a:xfrm>
          <a:prstGeom prst="rect">
            <a:avLst/>
          </a:prstGeom>
          <a:solidFill>
            <a:srgbClr val="D97757"/>
          </a:solidFill>
          <a:ln/>
        </p:spPr>
        <p:txBody>
          <a:bodyPr/>
          <a:lstStyle/>
          <a:p>
            <a:endParaRPr lang="en-IN"/>
          </a:p>
        </p:txBody>
      </p:sp>
      <p:sp>
        <p:nvSpPr>
          <p:cNvPr id="7" name="Shape 5"/>
          <p:cNvSpPr/>
          <p:nvPr/>
        </p:nvSpPr>
        <p:spPr>
          <a:xfrm rot="9000000">
            <a:off x="827532" y="838053"/>
            <a:ext cx="36576" cy="457200"/>
          </a:xfrm>
          <a:prstGeom prst="rect">
            <a:avLst/>
          </a:prstGeom>
          <a:solidFill>
            <a:srgbClr val="D97757"/>
          </a:solidFill>
          <a:ln/>
        </p:spPr>
        <p:txBody>
          <a:bodyPr/>
          <a:lstStyle/>
          <a:p>
            <a:endParaRPr lang="en-IN"/>
          </a:p>
        </p:txBody>
      </p:sp>
      <p:sp>
        <p:nvSpPr>
          <p:cNvPr id="8" name="Shape 6"/>
          <p:cNvSpPr/>
          <p:nvPr/>
        </p:nvSpPr>
        <p:spPr>
          <a:xfrm rot="10800000">
            <a:off x="713232" y="868680"/>
            <a:ext cx="36576" cy="457200"/>
          </a:xfrm>
          <a:prstGeom prst="rect">
            <a:avLst/>
          </a:prstGeom>
          <a:solidFill>
            <a:srgbClr val="D97757"/>
          </a:solidFill>
          <a:ln/>
        </p:spPr>
        <p:txBody>
          <a:bodyPr/>
          <a:lstStyle/>
          <a:p>
            <a:endParaRPr lang="en-IN"/>
          </a:p>
        </p:txBody>
      </p:sp>
      <p:sp>
        <p:nvSpPr>
          <p:cNvPr id="9" name="Shape 7"/>
          <p:cNvSpPr/>
          <p:nvPr/>
        </p:nvSpPr>
        <p:spPr>
          <a:xfrm rot="12600000">
            <a:off x="598932" y="838053"/>
            <a:ext cx="36576" cy="457200"/>
          </a:xfrm>
          <a:prstGeom prst="rect">
            <a:avLst/>
          </a:prstGeom>
          <a:solidFill>
            <a:srgbClr val="D97757"/>
          </a:solidFill>
          <a:ln/>
        </p:spPr>
        <p:txBody>
          <a:bodyPr/>
          <a:lstStyle/>
          <a:p>
            <a:endParaRPr lang="en-IN"/>
          </a:p>
        </p:txBody>
      </p:sp>
      <p:sp>
        <p:nvSpPr>
          <p:cNvPr id="10" name="Shape 8"/>
          <p:cNvSpPr/>
          <p:nvPr/>
        </p:nvSpPr>
        <p:spPr>
          <a:xfrm rot="14400000">
            <a:off x="515259" y="754380"/>
            <a:ext cx="36576" cy="457200"/>
          </a:xfrm>
          <a:prstGeom prst="rect">
            <a:avLst/>
          </a:prstGeom>
          <a:solidFill>
            <a:srgbClr val="D97757"/>
          </a:solidFill>
          <a:ln/>
        </p:spPr>
        <p:txBody>
          <a:bodyPr/>
          <a:lstStyle/>
          <a:p>
            <a:endParaRPr lang="en-IN"/>
          </a:p>
        </p:txBody>
      </p:sp>
      <p:sp>
        <p:nvSpPr>
          <p:cNvPr id="11" name="Shape 9"/>
          <p:cNvSpPr/>
          <p:nvPr/>
        </p:nvSpPr>
        <p:spPr>
          <a:xfrm rot="16200000">
            <a:off x="484632" y="640080"/>
            <a:ext cx="36576" cy="457200"/>
          </a:xfrm>
          <a:prstGeom prst="rect">
            <a:avLst/>
          </a:prstGeom>
          <a:solidFill>
            <a:srgbClr val="D97757"/>
          </a:solidFill>
          <a:ln/>
        </p:spPr>
        <p:txBody>
          <a:bodyPr/>
          <a:lstStyle/>
          <a:p>
            <a:endParaRPr lang="en-IN"/>
          </a:p>
        </p:txBody>
      </p:sp>
      <p:sp>
        <p:nvSpPr>
          <p:cNvPr id="12" name="Shape 10"/>
          <p:cNvSpPr/>
          <p:nvPr/>
        </p:nvSpPr>
        <p:spPr>
          <a:xfrm rot="18000000">
            <a:off x="515259" y="525780"/>
            <a:ext cx="36576" cy="457200"/>
          </a:xfrm>
          <a:prstGeom prst="rect">
            <a:avLst/>
          </a:prstGeom>
          <a:solidFill>
            <a:srgbClr val="D97757"/>
          </a:solidFill>
          <a:ln/>
        </p:spPr>
        <p:txBody>
          <a:bodyPr/>
          <a:lstStyle/>
          <a:p>
            <a:endParaRPr lang="en-IN"/>
          </a:p>
        </p:txBody>
      </p:sp>
      <p:sp>
        <p:nvSpPr>
          <p:cNvPr id="13" name="Shape 11"/>
          <p:cNvSpPr/>
          <p:nvPr/>
        </p:nvSpPr>
        <p:spPr>
          <a:xfrm rot="19800000">
            <a:off x="598932" y="442107"/>
            <a:ext cx="36576" cy="457200"/>
          </a:xfrm>
          <a:prstGeom prst="rect">
            <a:avLst/>
          </a:prstGeom>
          <a:solidFill>
            <a:srgbClr val="D97757"/>
          </a:solidFill>
          <a:ln/>
        </p:spPr>
        <p:txBody>
          <a:bodyPr/>
          <a:lstStyle/>
          <a:p>
            <a:endParaRPr lang="en-IN"/>
          </a:p>
        </p:txBody>
      </p:sp>
      <p:sp>
        <p:nvSpPr>
          <p:cNvPr id="14" name="Text 12"/>
          <p:cNvSpPr/>
          <p:nvPr/>
        </p:nvSpPr>
        <p:spPr>
          <a:xfrm>
            <a:off x="1417320" y="548640"/>
            <a:ext cx="6858000" cy="640080"/>
          </a:xfrm>
          <a:prstGeom prst="rect">
            <a:avLst/>
          </a:prstGeom>
          <a:noFill/>
          <a:ln/>
        </p:spPr>
        <p:txBody>
          <a:bodyPr wrap="square" lIns="0" tIns="0" rIns="0" bIns="0" rtlCol="0" anchor="ctr"/>
          <a:lstStyle/>
          <a:p>
            <a:pPr marL="0" indent="0">
              <a:buNone/>
            </a:pPr>
            <a:r>
              <a:rPr lang="en-US" sz="3000" b="1" dirty="0">
                <a:solidFill>
                  <a:srgbClr val="2A2824"/>
                </a:solidFill>
                <a:latin typeface="Georgia" pitchFamily="34" charset="0"/>
                <a:ea typeface="Georgia" pitchFamily="34" charset="-122"/>
                <a:cs typeface="Georgia" pitchFamily="34" charset="-120"/>
              </a:rPr>
              <a:t>Key takeaways</a:t>
            </a:r>
            <a:endParaRPr lang="en-US" sz="3000" dirty="0"/>
          </a:p>
        </p:txBody>
      </p:sp>
      <p:sp>
        <p:nvSpPr>
          <p:cNvPr id="15" name="Shape 13"/>
          <p:cNvSpPr/>
          <p:nvPr/>
        </p:nvSpPr>
        <p:spPr>
          <a:xfrm>
            <a:off x="566928" y="1636776"/>
            <a:ext cx="182880" cy="182880"/>
          </a:xfrm>
          <a:prstGeom prst="ellipse">
            <a:avLst/>
          </a:prstGeom>
          <a:solidFill>
            <a:srgbClr val="D97757"/>
          </a:solidFill>
          <a:ln/>
        </p:spPr>
        <p:txBody>
          <a:bodyPr/>
          <a:lstStyle/>
          <a:p>
            <a:endParaRPr lang="en-IN"/>
          </a:p>
        </p:txBody>
      </p:sp>
      <p:sp>
        <p:nvSpPr>
          <p:cNvPr id="16" name="Text 14"/>
          <p:cNvSpPr/>
          <p:nvPr/>
        </p:nvSpPr>
        <p:spPr>
          <a:xfrm>
            <a:off x="914400" y="1545336"/>
            <a:ext cx="7772400" cy="566928"/>
          </a:xfrm>
          <a:prstGeom prst="rect">
            <a:avLst/>
          </a:prstGeom>
          <a:noFill/>
          <a:ln/>
        </p:spPr>
        <p:txBody>
          <a:bodyPr wrap="square" lIns="0" tIns="0" rIns="0" bIns="0" rtlCol="0" anchor="t"/>
          <a:lstStyle/>
          <a:p>
            <a:pPr marL="0" indent="0">
              <a:buNone/>
            </a:pPr>
            <a:r>
              <a:rPr lang="en-US" sz="1300" b="1" dirty="0">
                <a:solidFill>
                  <a:srgbClr val="2A2824"/>
                </a:solidFill>
                <a:latin typeface="Calibri" pitchFamily="34" charset="0"/>
                <a:ea typeface="Calibri" pitchFamily="34" charset="-122"/>
                <a:cs typeface="Calibri" pitchFamily="34" charset="-120"/>
              </a:rPr>
              <a:t>Different centers of gravity.  </a:t>
            </a:r>
            <a:r>
              <a:rPr lang="en-US" sz="1300" dirty="0">
                <a:solidFill>
                  <a:srgbClr val="6E6A60"/>
                </a:solidFill>
                <a:latin typeface="Calibri" pitchFamily="34" charset="0"/>
                <a:ea typeface="Calibri" pitchFamily="34" charset="-122"/>
                <a:cs typeface="Calibri" pitchFamily="34" charset="-120"/>
              </a:rPr>
              <a:t>Copilot optimizes in-editor assistance; Claude Code optimizes delegated, agentic work.</a:t>
            </a:r>
            <a:endParaRPr lang="en-US" sz="1300" dirty="0"/>
          </a:p>
        </p:txBody>
      </p:sp>
      <p:sp>
        <p:nvSpPr>
          <p:cNvPr id="17" name="Shape 15"/>
          <p:cNvSpPr/>
          <p:nvPr/>
        </p:nvSpPr>
        <p:spPr>
          <a:xfrm>
            <a:off x="566928" y="2258568"/>
            <a:ext cx="182880" cy="182880"/>
          </a:xfrm>
          <a:prstGeom prst="ellipse">
            <a:avLst/>
          </a:prstGeom>
          <a:solidFill>
            <a:srgbClr val="D97757"/>
          </a:solidFill>
          <a:ln/>
        </p:spPr>
        <p:txBody>
          <a:bodyPr/>
          <a:lstStyle/>
          <a:p>
            <a:endParaRPr lang="en-IN"/>
          </a:p>
        </p:txBody>
      </p:sp>
      <p:sp>
        <p:nvSpPr>
          <p:cNvPr id="18" name="Text 16"/>
          <p:cNvSpPr/>
          <p:nvPr/>
        </p:nvSpPr>
        <p:spPr>
          <a:xfrm>
            <a:off x="914400" y="2167128"/>
            <a:ext cx="7772400" cy="566928"/>
          </a:xfrm>
          <a:prstGeom prst="rect">
            <a:avLst/>
          </a:prstGeom>
          <a:noFill/>
          <a:ln/>
        </p:spPr>
        <p:txBody>
          <a:bodyPr wrap="square" lIns="0" tIns="0" rIns="0" bIns="0" rtlCol="0" anchor="t"/>
          <a:lstStyle/>
          <a:p>
            <a:pPr marL="0" indent="0">
              <a:buNone/>
            </a:pPr>
            <a:r>
              <a:rPr lang="en-US" sz="1300" b="1" dirty="0">
                <a:solidFill>
                  <a:srgbClr val="2A2824"/>
                </a:solidFill>
                <a:latin typeface="Calibri" pitchFamily="34" charset="0"/>
                <a:ea typeface="Calibri" pitchFamily="34" charset="-122"/>
                <a:cs typeface="Calibri" pitchFamily="34" charset="-120"/>
              </a:rPr>
              <a:t>Context and autonomy diverge.  </a:t>
            </a:r>
            <a:r>
              <a:rPr lang="en-US" sz="1300" dirty="0">
                <a:solidFill>
                  <a:srgbClr val="6E6A60"/>
                </a:solidFill>
                <a:latin typeface="Calibri" pitchFamily="34" charset="0"/>
                <a:ea typeface="Calibri" pitchFamily="34" charset="-122"/>
                <a:cs typeface="Calibri" pitchFamily="34" charset="-120"/>
              </a:rPr>
              <a:t>Claude reasons over whole repos and acts task-level; Copilot retrieves context and suggests in flow.</a:t>
            </a:r>
            <a:endParaRPr lang="en-US" sz="1300" dirty="0"/>
          </a:p>
        </p:txBody>
      </p:sp>
      <p:sp>
        <p:nvSpPr>
          <p:cNvPr id="19" name="Shape 17"/>
          <p:cNvSpPr/>
          <p:nvPr/>
        </p:nvSpPr>
        <p:spPr>
          <a:xfrm>
            <a:off x="566928" y="2880360"/>
            <a:ext cx="182880" cy="182880"/>
          </a:xfrm>
          <a:prstGeom prst="ellipse">
            <a:avLst/>
          </a:prstGeom>
          <a:solidFill>
            <a:srgbClr val="D97757"/>
          </a:solidFill>
          <a:ln/>
        </p:spPr>
        <p:txBody>
          <a:bodyPr/>
          <a:lstStyle/>
          <a:p>
            <a:endParaRPr lang="en-IN"/>
          </a:p>
        </p:txBody>
      </p:sp>
      <p:sp>
        <p:nvSpPr>
          <p:cNvPr id="20" name="Text 18"/>
          <p:cNvSpPr/>
          <p:nvPr/>
        </p:nvSpPr>
        <p:spPr>
          <a:xfrm>
            <a:off x="914400" y="2788920"/>
            <a:ext cx="7772400" cy="566928"/>
          </a:xfrm>
          <a:prstGeom prst="rect">
            <a:avLst/>
          </a:prstGeom>
          <a:noFill/>
          <a:ln/>
        </p:spPr>
        <p:txBody>
          <a:bodyPr wrap="square" lIns="0" tIns="0" rIns="0" bIns="0" rtlCol="0" anchor="t"/>
          <a:lstStyle/>
          <a:p>
            <a:pPr marL="0" indent="0">
              <a:buNone/>
            </a:pPr>
            <a:r>
              <a:rPr lang="en-US" sz="1300" b="1" dirty="0">
                <a:solidFill>
                  <a:srgbClr val="2A2824"/>
                </a:solidFill>
                <a:latin typeface="Calibri" pitchFamily="34" charset="0"/>
                <a:ea typeface="Calibri" pitchFamily="34" charset="-122"/>
                <a:cs typeface="Calibri" pitchFamily="34" charset="-120"/>
              </a:rPr>
              <a:t>Metering models differ.  </a:t>
            </a:r>
            <a:r>
              <a:rPr lang="en-US" sz="1300" dirty="0">
                <a:solidFill>
                  <a:srgbClr val="6E6A60"/>
                </a:solidFill>
                <a:latin typeface="Calibri" pitchFamily="34" charset="0"/>
                <a:ea typeface="Calibri" pitchFamily="34" charset="-122"/>
                <a:cs typeface="Calibri" pitchFamily="34" charset="-120"/>
              </a:rPr>
              <a:t>Copilot bundles free completions with metered agentic credits; Claude is usage-based via allowances or per-token.</a:t>
            </a:r>
            <a:endParaRPr lang="en-US" sz="1300" dirty="0"/>
          </a:p>
        </p:txBody>
      </p:sp>
      <p:sp>
        <p:nvSpPr>
          <p:cNvPr id="21" name="Shape 19"/>
          <p:cNvSpPr/>
          <p:nvPr/>
        </p:nvSpPr>
        <p:spPr>
          <a:xfrm>
            <a:off x="566928" y="3502152"/>
            <a:ext cx="182880" cy="182880"/>
          </a:xfrm>
          <a:prstGeom prst="ellipse">
            <a:avLst/>
          </a:prstGeom>
          <a:solidFill>
            <a:srgbClr val="D97757"/>
          </a:solidFill>
          <a:ln/>
        </p:spPr>
        <p:txBody>
          <a:bodyPr/>
          <a:lstStyle/>
          <a:p>
            <a:endParaRPr lang="en-IN"/>
          </a:p>
        </p:txBody>
      </p:sp>
      <p:sp>
        <p:nvSpPr>
          <p:cNvPr id="22" name="Text 20"/>
          <p:cNvSpPr/>
          <p:nvPr/>
        </p:nvSpPr>
        <p:spPr>
          <a:xfrm>
            <a:off x="914400" y="3410712"/>
            <a:ext cx="7772400" cy="566928"/>
          </a:xfrm>
          <a:prstGeom prst="rect">
            <a:avLst/>
          </a:prstGeom>
          <a:noFill/>
          <a:ln/>
        </p:spPr>
        <p:txBody>
          <a:bodyPr wrap="square" lIns="0" tIns="0" rIns="0" bIns="0" rtlCol="0" anchor="t"/>
          <a:lstStyle/>
          <a:p>
            <a:pPr marL="0" indent="0">
              <a:buNone/>
            </a:pPr>
            <a:r>
              <a:rPr lang="en-US" sz="1300" b="1" dirty="0">
                <a:solidFill>
                  <a:srgbClr val="2A2824"/>
                </a:solidFill>
                <a:latin typeface="Calibri" pitchFamily="34" charset="0"/>
                <a:ea typeface="Calibri" pitchFamily="34" charset="-122"/>
                <a:cs typeface="Calibri" pitchFamily="34" charset="-120"/>
              </a:rPr>
              <a:t>Cost is predictable vs variable.  </a:t>
            </a:r>
            <a:r>
              <a:rPr lang="en-US" sz="1300" dirty="0">
                <a:solidFill>
                  <a:srgbClr val="6E6A60"/>
                </a:solidFill>
                <a:latin typeface="Calibri" pitchFamily="34" charset="0"/>
                <a:ea typeface="Calibri" pitchFamily="34" charset="-122"/>
                <a:cs typeface="Calibri" pitchFamily="34" charset="-120"/>
              </a:rPr>
              <a:t>Autocomplete spend is steady; agentic spend can spike — govern it with budgets, scoping, and model choice.</a:t>
            </a:r>
            <a:endParaRPr lang="en-US" sz="1300" dirty="0"/>
          </a:p>
        </p:txBody>
      </p:sp>
      <p:sp>
        <p:nvSpPr>
          <p:cNvPr id="23" name="Shape 21"/>
          <p:cNvSpPr/>
          <p:nvPr/>
        </p:nvSpPr>
        <p:spPr>
          <a:xfrm>
            <a:off x="566928" y="4123944"/>
            <a:ext cx="182880" cy="182880"/>
          </a:xfrm>
          <a:prstGeom prst="ellipse">
            <a:avLst/>
          </a:prstGeom>
          <a:solidFill>
            <a:srgbClr val="D97757"/>
          </a:solidFill>
          <a:ln/>
        </p:spPr>
        <p:txBody>
          <a:bodyPr/>
          <a:lstStyle/>
          <a:p>
            <a:endParaRPr lang="en-IN"/>
          </a:p>
        </p:txBody>
      </p:sp>
      <p:sp>
        <p:nvSpPr>
          <p:cNvPr id="24" name="Text 22"/>
          <p:cNvSpPr/>
          <p:nvPr/>
        </p:nvSpPr>
        <p:spPr>
          <a:xfrm>
            <a:off x="914400" y="4032504"/>
            <a:ext cx="7772400" cy="566928"/>
          </a:xfrm>
          <a:prstGeom prst="rect">
            <a:avLst/>
          </a:prstGeom>
          <a:noFill/>
          <a:ln/>
        </p:spPr>
        <p:txBody>
          <a:bodyPr wrap="square" lIns="0" tIns="0" rIns="0" bIns="0" rtlCol="0" anchor="t"/>
          <a:lstStyle/>
          <a:p>
            <a:pPr marL="0" indent="0">
              <a:buNone/>
            </a:pPr>
            <a:r>
              <a:rPr lang="en-US" sz="1300" b="1" dirty="0">
                <a:solidFill>
                  <a:srgbClr val="2A2824"/>
                </a:solidFill>
                <a:latin typeface="Calibri" pitchFamily="34" charset="0"/>
                <a:ea typeface="Calibri" pitchFamily="34" charset="-122"/>
                <a:cs typeface="Calibri" pitchFamily="34" charset="-120"/>
              </a:rPr>
              <a:t>Choose per task and per team.  </a:t>
            </a:r>
            <a:r>
              <a:rPr lang="en-US" sz="1300" dirty="0">
                <a:solidFill>
                  <a:srgbClr val="6E6A60"/>
                </a:solidFill>
                <a:latin typeface="Calibri" pitchFamily="34" charset="0"/>
                <a:ea typeface="Calibri" pitchFamily="34" charset="-122"/>
                <a:cs typeface="Calibri" pitchFamily="34" charset="-120"/>
              </a:rPr>
              <a:t>Match the tool to the workload and the bottleneck — many high-performing teams run both.</a:t>
            </a:r>
            <a:endParaRPr lang="en-US" sz="1300" dirty="0"/>
          </a:p>
        </p:txBody>
      </p:sp>
      <p:sp>
        <p:nvSpPr>
          <p:cNvPr id="25" name="Text 23"/>
          <p:cNvSpPr/>
          <p:nvPr/>
        </p:nvSpPr>
        <p:spPr>
          <a:xfrm>
            <a:off x="457200" y="4809744"/>
            <a:ext cx="6400800" cy="274320"/>
          </a:xfrm>
          <a:prstGeom prst="rect">
            <a:avLst/>
          </a:prstGeom>
          <a:noFill/>
          <a:ln/>
        </p:spPr>
        <p:txBody>
          <a:bodyPr wrap="square" lIns="0" tIns="0" rIns="0" bIns="0" rtlCol="0" anchor="ctr"/>
          <a:lstStyle/>
          <a:p>
            <a:pPr marL="0" indent="0" algn="l">
              <a:buNone/>
            </a:pPr>
            <a:r>
              <a:rPr lang="en-US" sz="850" dirty="0">
                <a:solidFill>
                  <a:srgbClr val="6E6A60"/>
                </a:solidFill>
                <a:latin typeface="Calibri" pitchFamily="34" charset="0"/>
                <a:ea typeface="Calibri" pitchFamily="34" charset="-122"/>
                <a:cs typeface="Calibri" pitchFamily="34" charset="-120"/>
              </a:rPr>
              <a:t>Claude vs GitHub Copilot  ·  Claude Training</a:t>
            </a:r>
            <a:endParaRPr lang="en-US" sz="850" dirty="0"/>
          </a:p>
        </p:txBody>
      </p:sp>
      <p:sp>
        <p:nvSpPr>
          <p:cNvPr id="26" name="Text 24"/>
          <p:cNvSpPr/>
          <p:nvPr/>
        </p:nvSpPr>
        <p:spPr>
          <a:xfrm>
            <a:off x="8229600" y="4809744"/>
            <a:ext cx="457200" cy="274320"/>
          </a:xfrm>
          <a:prstGeom prst="rect">
            <a:avLst/>
          </a:prstGeom>
          <a:noFill/>
          <a:ln/>
        </p:spPr>
        <p:txBody>
          <a:bodyPr wrap="square" lIns="0" tIns="0" rIns="0" bIns="0" rtlCol="0" anchor="ctr"/>
          <a:lstStyle/>
          <a:p>
            <a:pPr marL="0" indent="0" algn="r">
              <a:buNone/>
            </a:pPr>
            <a:r>
              <a:rPr lang="en-US" sz="850" dirty="0">
                <a:solidFill>
                  <a:srgbClr val="6E6A60"/>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3171</Words>
  <Application>Microsoft Office PowerPoint</Application>
  <PresentationFormat>On-screen Show (16:9)</PresentationFormat>
  <Paragraphs>218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1</cp:revision>
  <dcterms:created xsi:type="dcterms:W3CDTF">2026-06-28T10:40:47Z</dcterms:created>
  <dcterms:modified xsi:type="dcterms:W3CDTF">2026-06-28T11:03:49Z</dcterms:modified>
</cp:coreProperties>
</file>